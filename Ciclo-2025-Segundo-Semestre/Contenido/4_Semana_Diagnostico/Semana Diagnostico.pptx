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10287000" cx="18288000"/>
  <p:notesSz cx="6858000" cy="9144000"/>
  <p:embeddedFontLst>
    <p:embeddedFont>
      <p:font typeface="Play"/>
      <p:regular r:id="rId16"/>
      <p:bold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jmz5OV8wC6LdP9vrVCQTDd0GG7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70C935-6431-458A-A5BB-2060C2ED3524}">
  <a:tblStyle styleId="{4370C935-6431-458A-A5BB-2060C2ED352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5.xml"/><Relationship Id="rId22" Type="http://customschemas.google.com/relationships/presentationmetadata" Target="metadata"/><Relationship Id="rId10" Type="http://schemas.openxmlformats.org/officeDocument/2006/relationships/slide" Target="slides/slide4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OpenSans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penSans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0bc694bfc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a0bc694b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bc694bfc_0_8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g3a0bc694bfc_0_86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3" name="Google Shape;83;g3a0bc694bfc_0_8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forms.gle/2zVJjNHKjR1iDpa96" TargetMode="External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create.kahoot.it/share/evaluacion-de-diagnostico/306181d0-184c-4664-948f-66bad9677e15" TargetMode="External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0bc694bfc_0_0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" name="Google Shape;89;g3a0bc694bfc_0_0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{4370C935-6431-458A-A5BB-2060C2ED3524}</a:tableStyleId>
              </a:tblPr>
              <a:tblGrid>
                <a:gridCol w="3036400"/>
                <a:gridCol w="4344750"/>
              </a:tblGrid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/>
                        <a:t>00</a:t>
                      </a:r>
                      <a:r>
                        <a:rPr lang="en-US" sz="3600" u="none" cap="none" strike="noStrike"/>
                        <a:t>/0</a:t>
                      </a:r>
                      <a:r>
                        <a:rPr lang="en-US" sz="3600"/>
                        <a:t>0</a:t>
                      </a:r>
                      <a:r>
                        <a:rPr lang="en-US" sz="3600" u="none" cap="none" strike="noStrike"/>
                        <a:t>/202</a:t>
                      </a:r>
                      <a:r>
                        <a:rPr lang="en-US" sz="3600"/>
                        <a:t>6</a:t>
                      </a:r>
                      <a:endParaRPr sz="3600" u="none" cap="none" strike="noStrike"/>
                    </a:p>
                  </a:txBody>
                  <a:tcPr marT="182850" marB="182850" marR="182850" marL="182850">
                    <a:noFill/>
                  </a:tcPr>
                </a:tc>
              </a:tr>
              <a:tr h="9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28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82850" marB="182850" marR="182850" marL="182850">
                    <a:noFill/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600"/>
                        <a:buFont typeface="Calibri"/>
                        <a:buNone/>
                      </a:pPr>
                      <a:r>
                        <a:rPr lang="en-US" sz="3600" u="none" cap="none" strike="noStrike"/>
                        <a:t>7:00 pm</a:t>
                      </a:r>
                      <a:endParaRPr sz="3600" u="none" cap="none" strike="noStrike"/>
                    </a:p>
                  </a:txBody>
                  <a:tcPr marT="182850" marB="182850" marR="182850" marL="182850">
                    <a:noFill/>
                  </a:tcPr>
                </a:tc>
              </a:tr>
            </a:tbl>
          </a:graphicData>
        </a:graphic>
      </p:graphicFrame>
      <p:sp>
        <p:nvSpPr>
          <p:cNvPr id="90" name="Google Shape;90;g3a0bc694bfc_0_0"/>
          <p:cNvSpPr txBox="1"/>
          <p:nvPr/>
        </p:nvSpPr>
        <p:spPr>
          <a:xfrm>
            <a:off x="2880350" y="4516600"/>
            <a:ext cx="147087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Sistemas Organizacionales y Gerenciales 1 [A]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g3a0bc694bfc_0_0"/>
          <p:cNvSpPr txBox="1"/>
          <p:nvPr/>
        </p:nvSpPr>
        <p:spPr>
          <a:xfrm>
            <a:off x="3557400" y="5801500"/>
            <a:ext cx="11173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 Tutor Academico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/>
        </p:nvSpPr>
        <p:spPr>
          <a:xfrm>
            <a:off x="1267996" y="2553699"/>
            <a:ext cx="154335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900"/>
              <a:buFont typeface="Arial"/>
              <a:buNone/>
            </a:pPr>
            <a:r>
              <a:rPr b="1" i="0" lang="en-US" sz="89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545691" y="9210675"/>
            <a:ext cx="4586748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585325"/>
            <a:ext cx="6407944" cy="5384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3175" y="0"/>
            <a:ext cx="11214823" cy="11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1405646" y="3692152"/>
            <a:ext cx="7269518" cy="845385"/>
            <a:chOff x="0" y="-76200"/>
            <a:chExt cx="3095001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2"/>
          <p:cNvGrpSpPr/>
          <p:nvPr/>
        </p:nvGrpSpPr>
        <p:grpSpPr>
          <a:xfrm>
            <a:off x="651748" y="-320617"/>
            <a:ext cx="8516026" cy="3120467"/>
            <a:chOff x="-7" y="-95250"/>
            <a:chExt cx="11354700" cy="4160623"/>
          </a:xfrm>
        </p:grpSpPr>
        <p:sp>
          <p:nvSpPr>
            <p:cNvPr id="110" name="Google Shape;110;p2"/>
            <p:cNvSpPr txBox="1"/>
            <p:nvPr/>
          </p:nvSpPr>
          <p:spPr>
            <a:xfrm>
              <a:off x="-7" y="986773"/>
              <a:ext cx="113547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0"/>
                <a:buFont typeface="Arial"/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1519265" y="5533944"/>
            <a:ext cx="9055351" cy="845566"/>
            <a:chOff x="-148044" y="-53657"/>
            <a:chExt cx="3855320" cy="36000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-148044" y="-53657"/>
              <a:ext cx="3593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116" name="Google Shape;116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" name="Google Shape;118;p2"/>
          <p:cNvGrpSpPr/>
          <p:nvPr/>
        </p:nvGrpSpPr>
        <p:grpSpPr>
          <a:xfrm>
            <a:off x="1944725" y="4586573"/>
            <a:ext cx="5935056" cy="845385"/>
            <a:chOff x="0" y="-76200"/>
            <a:chExt cx="2526853" cy="359923"/>
          </a:xfrm>
        </p:grpSpPr>
        <p:sp>
          <p:nvSpPr>
            <p:cNvPr id="119" name="Google Shape;119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866989" y="7571169"/>
            <a:ext cx="2796960" cy="845566"/>
            <a:chOff x="0" y="-38101"/>
            <a:chExt cx="1190807" cy="360000"/>
          </a:xfrm>
        </p:grpSpPr>
        <p:sp>
          <p:nvSpPr>
            <p:cNvPr id="122" name="Google Shape;122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"/>
            <p:cNvSpPr txBox="1"/>
            <p:nvPr/>
          </p:nvSpPr>
          <p:spPr>
            <a:xfrm>
              <a:off x="234407" y="-38101"/>
              <a:ext cx="956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/>
          <p:nvPr/>
        </p:nvSpPr>
        <p:spPr>
          <a:xfrm>
            <a:off x="4337966" y="395245"/>
            <a:ext cx="9612067" cy="21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erson in a pink shirt"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3819" y="2701024"/>
            <a:ext cx="7015418" cy="7316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/>
          <p:nvPr/>
        </p:nvSpPr>
        <p:spPr>
          <a:xfrm>
            <a:off x="4337966" y="317778"/>
            <a:ext cx="961206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4337966" y="3698875"/>
            <a:ext cx="8869033" cy="28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Seleccionar 5 estudiantes de manera aleatoria a través de sorteo para que se presenten ante la clase.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13371222" y="4942444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13874788" y="5844712"/>
            <a:ext cx="3808200" cy="3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turno! Conociendo a algunos compañeros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deberá compartir: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8"/>
              <a:buFont typeface="Arial"/>
              <a:buNone/>
            </a:pPr>
            <a:r>
              <a:t/>
            </a:r>
            <a:endParaRPr b="0" i="0" sz="153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2245583" y="2811227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 txBox="1"/>
          <p:nvPr/>
        </p:nvSpPr>
        <p:spPr>
          <a:xfrm>
            <a:off x="2116023" y="428019"/>
            <a:ext cx="14055954" cy="168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8"/>
              <a:buFont typeface="Arial"/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1310185" y="3080412"/>
            <a:ext cx="15171741" cy="38082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debe colocar enlace a actividad (Cuestionario media Quizz, Kahoot, ) para evaluar los conocimientos que el estudiante posee del curso anterior</a:t>
            </a:r>
            <a:endParaRPr/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t/>
            </a:r>
            <a:endParaRPr b="0" i="0" sz="357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80"/>
              <a:buFont typeface="Arial"/>
              <a:buNone/>
            </a:pPr>
            <a:r>
              <a:rPr b="0" i="0" lang="en-US" sz="358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https://forms.gle/2zVJjNHKjR1iDpa96</a:t>
            </a:r>
            <a:endParaRPr b="0" i="0" sz="35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3326948" y="485624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3739579" y="5376123"/>
            <a:ext cx="3238236" cy="387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2116023" y="1944637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 txBox="1"/>
          <p:nvPr/>
        </p:nvSpPr>
        <p:spPr>
          <a:xfrm>
            <a:off x="1843948" y="2289328"/>
            <a:ext cx="12625499" cy="1640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25"/>
              <a:buFont typeface="Arial"/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412317" y="560459"/>
            <a:ext cx="17463365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98"/>
              <a:buFont typeface="Arial"/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14"/>
              <a:buFont typeface="Arial"/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56614" y="4488814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14"/>
              <a:buFont typeface="Arial"/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1843948" y="1568914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"/>
          <p:cNvSpPr txBox="1"/>
          <p:nvPr/>
        </p:nvSpPr>
        <p:spPr>
          <a:xfrm>
            <a:off x="3392183" y="246636"/>
            <a:ext cx="11503634" cy="248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8"/>
              <a:buFont typeface="Arial"/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2043523" y="3896418"/>
            <a:ext cx="14365800" cy="322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https://create.kahoot.it/share/evaluacion-de-diagnostico/306181d0-184c-4664-948f-66bad9677e15</a:t>
            </a:r>
            <a:endParaRPr b="0" i="0" sz="357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t/>
            </a:r>
            <a:endParaRPr b="0" i="0" sz="357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13395371" y="571100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14089487" y="6819434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14"/>
              <a:buFont typeface="Arial"/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2043573" y="3287905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75"/>
              <a:buFont typeface="Arial"/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