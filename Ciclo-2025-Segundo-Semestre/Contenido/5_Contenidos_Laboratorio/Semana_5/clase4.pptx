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Lora"/>
      <p:regular r:id="rId27"/>
      <p:bold r:id="rId28"/>
      <p:italic r:id="rId29"/>
      <p:boldItalic r:id="rId30"/>
    </p:embeddedFont>
    <p:embeddedFont>
      <p:font typeface="Open Sans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jYh76cby/h1iinoOv/LkN2k0cU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4CF018-7A39-4B63-9685-5891221457AE}">
  <a:tblStyle styleId="{824CF018-7A39-4B63-9685-5891221457A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Lora-bold.fntdata"/><Relationship Id="rId27" Type="http://schemas.openxmlformats.org/officeDocument/2006/relationships/font" Target="fonts/Lor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Lora-boldItalic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a653b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a653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2" name="Google Shape;152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3" name="Google Shape;153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5" name="Google Shape;155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2" name="Google Shape;172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3" name="Google Shape;173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5" name="Google Shape;175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4" name="Google Shape;214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6" name="Google Shape;216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7" name="Google Shape;217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47" name="Google Shape;247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9" name="Google Shape;279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0" name="Google Shape;280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82" name="Google Shape;282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3" name="Google Shape;283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0" name="Google Shape;310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1" name="Google Shape;311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13" name="Google Shape;313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4" name="Google Shape;314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5" name="Google Shape;345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6" name="Google Shape;346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48" name="Google Shape;348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0" name="Google Shape;38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1" name="Google Shape;38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383" name="Google Shape;38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4" name="Google Shape;38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5" name="Google Shape;415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6" name="Google Shape;416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18" name="Google Shape;418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9" name="Google Shape;419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0" name="Google Shape;460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1" name="Google Shape;461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63" name="Google Shape;463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4" name="Google Shape;464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a653b8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a653b8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a653b8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hyperlink" Target="https://youtu.be/jXaomJP1SSQ" TargetMode="External"/><Relationship Id="rId6" Type="http://schemas.openxmlformats.org/officeDocument/2006/relationships/hyperlink" Target="https://youtu.be/jXaomJP1SS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a653b8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a653b8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{824CF018-7A39-4B63-9685-5891221457AE}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a653b8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a653b8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83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236134" y="4383331"/>
            <a:ext cx="16313497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gestión del conocimiento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0" y="-320617"/>
            <a:ext cx="6613651" cy="3120467"/>
            <a:chOff x="-6" y="-95250"/>
            <a:chExt cx="8818200" cy="4160624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-6" y="986774"/>
              <a:ext cx="88182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9580290" y="773217"/>
            <a:ext cx="8416800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Recursos</a:t>
            </a:r>
            <a:endParaRPr/>
          </a:p>
        </p:txBody>
      </p:sp>
      <p:grpSp>
        <p:nvGrpSpPr>
          <p:cNvPr id="122" name="Google Shape;122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3" name="Google Shape;123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/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" name="Google Shape;13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/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9" name="Google Shape;13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/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159" name="Google Shape;15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descr="preencoded.png" id="160" name="Google Shape;160;p4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1" name="Google Shape;161;p4"/>
          <p:cNvGrpSpPr/>
          <p:nvPr/>
        </p:nvGrpSpPr>
        <p:grpSpPr>
          <a:xfrm>
            <a:off x="1047155" y="3377804"/>
            <a:ext cx="9335691" cy="2062163"/>
            <a:chOff x="0" y="-19050"/>
            <a:chExt cx="12447588" cy="2749550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12447588" cy="2730500"/>
            </a:xfrm>
            <a:custGeom>
              <a:rect b="b" l="l" r="r" t="t"/>
              <a:pathLst>
                <a:path extrusionOk="0" h="2730500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2730500"/>
                  </a:lnTo>
                  <a:lnTo>
                    <a:pt x="0" y="2730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3" name="Google Shape;163;p4"/>
            <p:cNvSpPr txBox="1"/>
            <p:nvPr/>
          </p:nvSpPr>
          <p:spPr>
            <a:xfrm>
              <a:off x="0" y="-19050"/>
              <a:ext cx="12447588" cy="2749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Gestión del Conocimiento en la Era Digital</a:t>
              </a:r>
              <a:endParaRPr/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1047155" y="5529411"/>
            <a:ext cx="9335691" cy="550218"/>
            <a:chOff x="0" y="-95250"/>
            <a:chExt cx="12447588" cy="733623"/>
          </a:xfrm>
        </p:grpSpPr>
        <p:sp>
          <p:nvSpPr>
            <p:cNvPr id="165" name="Google Shape;165;p4"/>
            <p:cNvSpPr/>
            <p:nvPr/>
          </p:nvSpPr>
          <p:spPr>
            <a:xfrm>
              <a:off x="0" y="0"/>
              <a:ext cx="12447588" cy="638373"/>
            </a:xfrm>
            <a:custGeom>
              <a:rect b="b" l="l" r="r" t="t"/>
              <a:pathLst>
                <a:path extrusionOk="0" h="638373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6" name="Google Shape;166;p4"/>
            <p:cNvSpPr txBox="1"/>
            <p:nvPr/>
          </p:nvSpPr>
          <p:spPr>
            <a:xfrm>
              <a:off x="0" y="-95250"/>
              <a:ext cx="12447588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Descubre cómo las TIC transforman la gestión del conocimiento.</a:t>
              </a:r>
              <a:endParaRPr/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1047155" y="6344691"/>
            <a:ext cx="9335691" cy="550218"/>
            <a:chOff x="0" y="-95250"/>
            <a:chExt cx="12447588" cy="733623"/>
          </a:xfrm>
        </p:grpSpPr>
        <p:sp>
          <p:nvSpPr>
            <p:cNvPr id="168" name="Google Shape;168;p4"/>
            <p:cNvSpPr/>
            <p:nvPr/>
          </p:nvSpPr>
          <p:spPr>
            <a:xfrm>
              <a:off x="0" y="0"/>
              <a:ext cx="12447588" cy="638373"/>
            </a:xfrm>
            <a:custGeom>
              <a:rect b="b" l="l" r="r" t="t"/>
              <a:pathLst>
                <a:path extrusionOk="0" h="638373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9" name="Google Shape;169;p4"/>
            <p:cNvSpPr txBox="1"/>
            <p:nvPr/>
          </p:nvSpPr>
          <p:spPr>
            <a:xfrm>
              <a:off x="0" y="-95250"/>
              <a:ext cx="12447588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Su relevancia crece en las organizaciones modernas y digitales. 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179" name="Google Shape;179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descr="preencoded.png" id="180" name="Google Shape;180;p5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1" name="Google Shape;181;p5"/>
          <p:cNvGrpSpPr/>
          <p:nvPr/>
        </p:nvGrpSpPr>
        <p:grpSpPr>
          <a:xfrm>
            <a:off x="7905155" y="2035374"/>
            <a:ext cx="7040613" cy="894308"/>
            <a:chOff x="0" y="-19050"/>
            <a:chExt cx="9387484" cy="1192412"/>
          </a:xfrm>
        </p:grpSpPr>
        <p:sp>
          <p:nvSpPr>
            <p:cNvPr id="182" name="Google Shape;182;p5"/>
            <p:cNvSpPr/>
            <p:nvPr/>
          </p:nvSpPr>
          <p:spPr>
            <a:xfrm>
              <a:off x="0" y="0"/>
              <a:ext cx="9387484" cy="1173362"/>
            </a:xfrm>
            <a:custGeom>
              <a:rect b="b" l="l" r="r" t="t"/>
              <a:pathLst>
                <a:path extrusionOk="0" h="1173362" w="9387484">
                  <a:moveTo>
                    <a:pt x="0" y="0"/>
                  </a:moveTo>
                  <a:lnTo>
                    <a:pt x="9387484" y="0"/>
                  </a:lnTo>
                  <a:lnTo>
                    <a:pt x="9387484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3" name="Google Shape;183;p5"/>
            <p:cNvSpPr txBox="1"/>
            <p:nvPr/>
          </p:nvSpPr>
          <p:spPr>
            <a:xfrm>
              <a:off x="0" y="-19050"/>
              <a:ext cx="9387483" cy="1192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¿Qué son las TIC?</a:t>
              </a:r>
              <a:endParaRPr/>
            </a:p>
          </p:txBody>
        </p:sp>
      </p:grpSp>
      <p:sp>
        <p:nvSpPr>
          <p:cNvPr id="184" name="Google Shape;184;p5"/>
          <p:cNvSpPr/>
          <p:nvPr/>
        </p:nvSpPr>
        <p:spPr>
          <a:xfrm>
            <a:off x="7905155" y="3378399"/>
            <a:ext cx="4518279" cy="2863311"/>
          </a:xfrm>
          <a:custGeom>
            <a:rect b="b" l="l" r="r" t="t"/>
            <a:pathLst>
              <a:path extrusionOk="0" h="3817747" w="6024372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5964555" y="0"/>
                </a:lnTo>
                <a:cubicBezTo>
                  <a:pt x="5997575" y="0"/>
                  <a:pt x="6024372" y="26797"/>
                  <a:pt x="6024372" y="59817"/>
                </a:cubicBezTo>
                <a:lnTo>
                  <a:pt x="6024372" y="3757930"/>
                </a:lnTo>
                <a:cubicBezTo>
                  <a:pt x="6024372" y="3790950"/>
                  <a:pt x="5997575" y="3817747"/>
                  <a:pt x="5964555" y="3817747"/>
                </a:cubicBezTo>
                <a:lnTo>
                  <a:pt x="59817" y="3817747"/>
                </a:lnTo>
                <a:cubicBezTo>
                  <a:pt x="26797" y="3817747"/>
                  <a:pt x="0" y="3790950"/>
                  <a:pt x="0" y="3757930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8204299" y="3663255"/>
            <a:ext cx="3520231" cy="454223"/>
            <a:chOff x="0" y="-19050"/>
            <a:chExt cx="4693642" cy="605632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7" name="Google Shape;187;p5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Definición</a:t>
              </a:r>
              <a:endParaRPr/>
            </a:p>
          </p:txBody>
        </p:sp>
      </p:grpSp>
      <p:grpSp>
        <p:nvGrpSpPr>
          <p:cNvPr id="188" name="Google Shape;188;p5"/>
          <p:cNvGrpSpPr/>
          <p:nvPr/>
        </p:nvGrpSpPr>
        <p:grpSpPr>
          <a:xfrm>
            <a:off x="8204299" y="4225529"/>
            <a:ext cx="3919984" cy="1507778"/>
            <a:chOff x="0" y="-95250"/>
            <a:chExt cx="5226645" cy="2010370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5226645" cy="1915120"/>
            </a:xfrm>
            <a:custGeom>
              <a:rect b="b" l="l" r="r" t="t"/>
              <a:pathLst>
                <a:path extrusionOk="0" h="1915120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95250"/>
              <a:ext cx="5226645" cy="2010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Tecnologías que facilitan el almacenamiento, acceso y transmisión de información.</a:t>
              </a:r>
              <a:endParaRPr/>
            </a:p>
          </p:txBody>
        </p:sp>
      </p:grpSp>
      <p:sp>
        <p:nvSpPr>
          <p:cNvPr id="191" name="Google Shape;191;p5"/>
          <p:cNvSpPr/>
          <p:nvPr/>
        </p:nvSpPr>
        <p:spPr>
          <a:xfrm>
            <a:off x="12722572" y="3378399"/>
            <a:ext cx="4518279" cy="2863311"/>
          </a:xfrm>
          <a:custGeom>
            <a:rect b="b" l="l" r="r" t="t"/>
            <a:pathLst>
              <a:path extrusionOk="0" h="3817747" w="6024372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5964555" y="0"/>
                </a:lnTo>
                <a:cubicBezTo>
                  <a:pt x="5997575" y="0"/>
                  <a:pt x="6024372" y="26797"/>
                  <a:pt x="6024372" y="59817"/>
                </a:cubicBezTo>
                <a:lnTo>
                  <a:pt x="6024372" y="3757930"/>
                </a:lnTo>
                <a:cubicBezTo>
                  <a:pt x="6024372" y="3790950"/>
                  <a:pt x="5997575" y="3817747"/>
                  <a:pt x="5964555" y="3817747"/>
                </a:cubicBezTo>
                <a:lnTo>
                  <a:pt x="59817" y="3817747"/>
                </a:lnTo>
                <a:cubicBezTo>
                  <a:pt x="26797" y="3817747"/>
                  <a:pt x="0" y="3790950"/>
                  <a:pt x="0" y="3757930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5"/>
          <p:cNvGrpSpPr/>
          <p:nvPr/>
        </p:nvGrpSpPr>
        <p:grpSpPr>
          <a:xfrm>
            <a:off x="13021716" y="3663255"/>
            <a:ext cx="3520231" cy="454223"/>
            <a:chOff x="0" y="-19050"/>
            <a:chExt cx="4693642" cy="605632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Ejemplos</a:t>
              </a:r>
              <a:endParaRPr/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13021716" y="4225528"/>
            <a:ext cx="3919984" cy="550218"/>
            <a:chOff x="0" y="-95250"/>
            <a:chExt cx="5226645" cy="733623"/>
          </a:xfrm>
        </p:grpSpPr>
        <p:sp>
          <p:nvSpPr>
            <p:cNvPr id="196" name="Google Shape;196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7" name="Google Shape;197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D6E5EF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Internet</a:t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13021716" y="4808933"/>
            <a:ext cx="3919984" cy="550218"/>
            <a:chOff x="0" y="-95250"/>
            <a:chExt cx="5226645" cy="733623"/>
          </a:xfrm>
        </p:grpSpPr>
        <p:sp>
          <p:nvSpPr>
            <p:cNvPr id="199" name="Google Shape;199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D6E5EF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Aplicaciones móviles</a:t>
              </a:r>
              <a:endParaRPr/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13021716" y="5392341"/>
            <a:ext cx="3919984" cy="550218"/>
            <a:chOff x="0" y="-95250"/>
            <a:chExt cx="5226645" cy="733623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D6E5EF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Plataformas colaborativas</a:t>
              </a:r>
              <a:endParaRPr/>
            </a:p>
          </p:txBody>
        </p:sp>
      </p:grpSp>
      <p:sp>
        <p:nvSpPr>
          <p:cNvPr id="204" name="Google Shape;204;p5"/>
          <p:cNvSpPr/>
          <p:nvPr/>
        </p:nvSpPr>
        <p:spPr>
          <a:xfrm>
            <a:off x="7905155" y="6540847"/>
            <a:ext cx="9335643" cy="1696498"/>
          </a:xfrm>
          <a:custGeom>
            <a:rect b="b" l="l" r="r" t="t"/>
            <a:pathLst>
              <a:path extrusionOk="0" h="2261997" w="12447524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12387707" y="0"/>
                </a:lnTo>
                <a:cubicBezTo>
                  <a:pt x="12420727" y="0"/>
                  <a:pt x="12447524" y="26797"/>
                  <a:pt x="12447524" y="59817"/>
                </a:cubicBezTo>
                <a:lnTo>
                  <a:pt x="12447524" y="2202180"/>
                </a:lnTo>
                <a:cubicBezTo>
                  <a:pt x="12447524" y="2235200"/>
                  <a:pt x="12420727" y="2261997"/>
                  <a:pt x="12387707" y="2261997"/>
                </a:cubicBezTo>
                <a:lnTo>
                  <a:pt x="59817" y="2261997"/>
                </a:lnTo>
                <a:cubicBezTo>
                  <a:pt x="26797" y="2261997"/>
                  <a:pt x="0" y="2235200"/>
                  <a:pt x="0" y="2202180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5"/>
          <p:cNvGrpSpPr/>
          <p:nvPr/>
        </p:nvGrpSpPr>
        <p:grpSpPr>
          <a:xfrm>
            <a:off x="8204299" y="6825704"/>
            <a:ext cx="3520231" cy="454223"/>
            <a:chOff x="0" y="-19050"/>
            <a:chExt cx="4693642" cy="605632"/>
          </a:xfrm>
        </p:grpSpPr>
        <p:sp>
          <p:nvSpPr>
            <p:cNvPr id="206" name="Google Shape;206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7" name="Google Shape;207;p5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Función</a:t>
              </a:r>
              <a:endParaRPr/>
            </a:p>
          </p:txBody>
        </p:sp>
      </p:grpSp>
      <p:grpSp>
        <p:nvGrpSpPr>
          <p:cNvPr id="208" name="Google Shape;208;p5"/>
          <p:cNvGrpSpPr/>
          <p:nvPr/>
        </p:nvGrpSpPr>
        <p:grpSpPr>
          <a:xfrm>
            <a:off x="8204299" y="7387977"/>
            <a:ext cx="8737401" cy="550218"/>
            <a:chOff x="0" y="-95250"/>
            <a:chExt cx="11649868" cy="733623"/>
          </a:xfrm>
        </p:grpSpPr>
        <p:sp>
          <p:nvSpPr>
            <p:cNvPr id="209" name="Google Shape;209;p5"/>
            <p:cNvSpPr/>
            <p:nvPr/>
          </p:nvSpPr>
          <p:spPr>
            <a:xfrm>
              <a:off x="0" y="0"/>
              <a:ext cx="11649868" cy="638373"/>
            </a:xfrm>
            <a:custGeom>
              <a:rect b="b" l="l" r="r" t="t"/>
              <a:pathLst>
                <a:path extrusionOk="0" h="638373" w="11649868">
                  <a:moveTo>
                    <a:pt x="0" y="0"/>
                  </a:moveTo>
                  <a:lnTo>
                    <a:pt x="11649868" y="0"/>
                  </a:lnTo>
                  <a:lnTo>
                    <a:pt x="11649868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0" name="Google Shape;210;p5"/>
            <p:cNvSpPr txBox="1"/>
            <p:nvPr/>
          </p:nvSpPr>
          <p:spPr>
            <a:xfrm>
              <a:off x="0" y="-95250"/>
              <a:ext cx="11649868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Permiten la gestión eficaz del conocimiento organizacional.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220" name="Google Shape;220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grpSp>
        <p:nvGrpSpPr>
          <p:cNvPr id="221" name="Google Shape;221;p6"/>
          <p:cNvGrpSpPr/>
          <p:nvPr/>
        </p:nvGrpSpPr>
        <p:grpSpPr>
          <a:xfrm>
            <a:off x="1047155" y="3332262"/>
            <a:ext cx="12218640" cy="894308"/>
            <a:chOff x="0" y="-19050"/>
            <a:chExt cx="16291520" cy="1192412"/>
          </a:xfrm>
        </p:grpSpPr>
        <p:sp>
          <p:nvSpPr>
            <p:cNvPr id="222" name="Google Shape;222;p6"/>
            <p:cNvSpPr/>
            <p:nvPr/>
          </p:nvSpPr>
          <p:spPr>
            <a:xfrm>
              <a:off x="0" y="0"/>
              <a:ext cx="16291520" cy="1173362"/>
            </a:xfrm>
            <a:custGeom>
              <a:rect b="b" l="l" r="r" t="t"/>
              <a:pathLst>
                <a:path extrusionOk="0" h="1173362" w="16291520">
                  <a:moveTo>
                    <a:pt x="0" y="0"/>
                  </a:moveTo>
                  <a:lnTo>
                    <a:pt x="16291520" y="0"/>
                  </a:lnTo>
                  <a:lnTo>
                    <a:pt x="16291520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3" name="Google Shape;223;p6"/>
            <p:cNvSpPr txBox="1"/>
            <p:nvPr/>
          </p:nvSpPr>
          <p:spPr>
            <a:xfrm>
              <a:off x="0" y="-19050"/>
              <a:ext cx="16291520" cy="1192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Herramientas Tecnológicas Aplicadas</a:t>
              </a:r>
              <a:endParaRPr/>
            </a:p>
          </p:txBody>
        </p:sp>
      </p:grpSp>
      <p:grpSp>
        <p:nvGrpSpPr>
          <p:cNvPr id="224" name="Google Shape;224;p6"/>
          <p:cNvGrpSpPr/>
          <p:nvPr/>
        </p:nvGrpSpPr>
        <p:grpSpPr>
          <a:xfrm>
            <a:off x="1047155" y="4960144"/>
            <a:ext cx="3520231" cy="454223"/>
            <a:chOff x="0" y="-19050"/>
            <a:chExt cx="4693642" cy="605632"/>
          </a:xfrm>
        </p:grpSpPr>
        <p:sp>
          <p:nvSpPr>
            <p:cNvPr id="225" name="Google Shape;225;p6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6" name="Google Shape;226;p6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Sistemas LMS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1047155" y="5642074"/>
            <a:ext cx="4910732" cy="1028997"/>
            <a:chOff x="0" y="-95250"/>
            <a:chExt cx="6547643" cy="1371997"/>
          </a:xfrm>
        </p:grpSpPr>
        <p:sp>
          <p:nvSpPr>
            <p:cNvPr id="228" name="Google Shape;228;p6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9" name="Google Shape;229;p6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Aprendizaje y capacitación constante y personalizada para empleados.</a:t>
              </a:r>
              <a:endParaRPr/>
            </a:p>
          </p:txBody>
        </p:sp>
      </p:grpSp>
      <p:grpSp>
        <p:nvGrpSpPr>
          <p:cNvPr id="230" name="Google Shape;230;p6"/>
          <p:cNvGrpSpPr/>
          <p:nvPr/>
        </p:nvGrpSpPr>
        <p:grpSpPr>
          <a:xfrm>
            <a:off x="6697266" y="4960144"/>
            <a:ext cx="4252616" cy="454223"/>
            <a:chOff x="0" y="-19050"/>
            <a:chExt cx="5670154" cy="605632"/>
          </a:xfrm>
        </p:grpSpPr>
        <p:sp>
          <p:nvSpPr>
            <p:cNvPr id="231" name="Google Shape;231;p6"/>
            <p:cNvSpPr/>
            <p:nvPr/>
          </p:nvSpPr>
          <p:spPr>
            <a:xfrm>
              <a:off x="0" y="0"/>
              <a:ext cx="5670154" cy="586582"/>
            </a:xfrm>
            <a:custGeom>
              <a:rect b="b" l="l" r="r" t="t"/>
              <a:pathLst>
                <a:path extrusionOk="0" h="586582" w="5670154">
                  <a:moveTo>
                    <a:pt x="0" y="0"/>
                  </a:moveTo>
                  <a:lnTo>
                    <a:pt x="5670154" y="0"/>
                  </a:lnTo>
                  <a:lnTo>
                    <a:pt x="5670154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2" name="Google Shape;232;p6"/>
            <p:cNvSpPr txBox="1"/>
            <p:nvPr/>
          </p:nvSpPr>
          <p:spPr>
            <a:xfrm>
              <a:off x="0" y="-19050"/>
              <a:ext cx="5670153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Plataformas Colaborativas</a:t>
              </a:r>
              <a:endParaRPr/>
            </a:p>
          </p:txBody>
        </p:sp>
      </p:grpSp>
      <p:grpSp>
        <p:nvGrpSpPr>
          <p:cNvPr id="233" name="Google Shape;233;p6"/>
          <p:cNvGrpSpPr/>
          <p:nvPr/>
        </p:nvGrpSpPr>
        <p:grpSpPr>
          <a:xfrm>
            <a:off x="6697266" y="5642074"/>
            <a:ext cx="4910732" cy="1028997"/>
            <a:chOff x="0" y="-95250"/>
            <a:chExt cx="6547643" cy="1371997"/>
          </a:xfrm>
        </p:grpSpPr>
        <p:sp>
          <p:nvSpPr>
            <p:cNvPr id="234" name="Google Shape;234;p6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5" name="Google Shape;235;p6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Slack, Teams y otras facilitan comunicación y trabajo en equipo.</a:t>
              </a:r>
              <a:endParaRPr/>
            </a:p>
          </p:txBody>
        </p:sp>
      </p:grpSp>
      <p:grpSp>
        <p:nvGrpSpPr>
          <p:cNvPr id="236" name="Google Shape;236;p6"/>
          <p:cNvGrpSpPr/>
          <p:nvPr/>
        </p:nvGrpSpPr>
        <p:grpSpPr>
          <a:xfrm>
            <a:off x="12347376" y="4960144"/>
            <a:ext cx="4396531" cy="454223"/>
            <a:chOff x="0" y="-19050"/>
            <a:chExt cx="5862042" cy="605632"/>
          </a:xfrm>
        </p:grpSpPr>
        <p:sp>
          <p:nvSpPr>
            <p:cNvPr id="237" name="Google Shape;237;p6"/>
            <p:cNvSpPr/>
            <p:nvPr/>
          </p:nvSpPr>
          <p:spPr>
            <a:xfrm>
              <a:off x="0" y="0"/>
              <a:ext cx="5862042" cy="586582"/>
            </a:xfrm>
            <a:custGeom>
              <a:rect b="b" l="l" r="r" t="t"/>
              <a:pathLst>
                <a:path extrusionOk="0" h="586582" w="5862042">
                  <a:moveTo>
                    <a:pt x="0" y="0"/>
                  </a:moveTo>
                  <a:lnTo>
                    <a:pt x="5862042" y="0"/>
                  </a:lnTo>
                  <a:lnTo>
                    <a:pt x="58620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8" name="Google Shape;238;p6"/>
            <p:cNvSpPr txBox="1"/>
            <p:nvPr/>
          </p:nvSpPr>
          <p:spPr>
            <a:xfrm>
              <a:off x="0" y="-19050"/>
              <a:ext cx="58620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Repositorios Centralizados</a:t>
              </a:r>
              <a:endParaRPr/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12347376" y="5642074"/>
            <a:ext cx="4910732" cy="1028997"/>
            <a:chOff x="0" y="-95250"/>
            <a:chExt cx="6547643" cy="1371997"/>
          </a:xfrm>
        </p:grpSpPr>
        <p:sp>
          <p:nvSpPr>
            <p:cNvPr id="240" name="Google Shape;240;p6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1" name="Google Shape;241;p6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Almacenan documentos y bases de datos para acceso unificado.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251" name="Google Shape;251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descr="preencoded.png" id="252" name="Google Shape;252;p7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3" name="Google Shape;253;p7"/>
          <p:cNvGrpSpPr/>
          <p:nvPr/>
        </p:nvGrpSpPr>
        <p:grpSpPr>
          <a:xfrm>
            <a:off x="7905155" y="2265761"/>
            <a:ext cx="8989665" cy="894308"/>
            <a:chOff x="0" y="-19050"/>
            <a:chExt cx="11986220" cy="1192412"/>
          </a:xfrm>
        </p:grpSpPr>
        <p:sp>
          <p:nvSpPr>
            <p:cNvPr id="254" name="Google Shape;254;p7"/>
            <p:cNvSpPr/>
            <p:nvPr/>
          </p:nvSpPr>
          <p:spPr>
            <a:xfrm>
              <a:off x="0" y="0"/>
              <a:ext cx="11986220" cy="1173362"/>
            </a:xfrm>
            <a:custGeom>
              <a:rect b="b" l="l" r="r" t="t"/>
              <a:pathLst>
                <a:path extrusionOk="0" h="1173362" w="11986220">
                  <a:moveTo>
                    <a:pt x="0" y="0"/>
                  </a:moveTo>
                  <a:lnTo>
                    <a:pt x="11986220" y="0"/>
                  </a:lnTo>
                  <a:lnTo>
                    <a:pt x="11986220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5" name="Google Shape;255;p7"/>
            <p:cNvSpPr txBox="1"/>
            <p:nvPr/>
          </p:nvSpPr>
          <p:spPr>
            <a:xfrm>
              <a:off x="0" y="-19050"/>
              <a:ext cx="11986220" cy="1192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Impacto en la Organización</a:t>
              </a:r>
              <a:endParaRPr/>
            </a:p>
          </p:txBody>
        </p:sp>
      </p:grpSp>
      <p:sp>
        <p:nvSpPr>
          <p:cNvPr id="256" name="Google Shape;256;p7"/>
          <p:cNvSpPr/>
          <p:nvPr/>
        </p:nvSpPr>
        <p:spPr>
          <a:xfrm>
            <a:off x="7905155" y="3608785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7"/>
          <p:cNvGrpSpPr/>
          <p:nvPr/>
        </p:nvGrpSpPr>
        <p:grpSpPr>
          <a:xfrm>
            <a:off x="8877449" y="3697338"/>
            <a:ext cx="3508622" cy="894159"/>
            <a:chOff x="0" y="-19050"/>
            <a:chExt cx="4678163" cy="1192213"/>
          </a:xfrm>
        </p:grpSpPr>
        <p:sp>
          <p:nvSpPr>
            <p:cNvPr id="258" name="Google Shape;258;p7"/>
            <p:cNvSpPr/>
            <p:nvPr/>
          </p:nvSpPr>
          <p:spPr>
            <a:xfrm>
              <a:off x="0" y="0"/>
              <a:ext cx="4678163" cy="1173163"/>
            </a:xfrm>
            <a:custGeom>
              <a:rect b="b" l="l" r="r" t="t"/>
              <a:pathLst>
                <a:path extrusionOk="0" h="1173163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173163"/>
                  </a:lnTo>
                  <a:lnTo>
                    <a:pt x="0" y="1173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9" name="Google Shape;259;p7"/>
            <p:cNvSpPr txBox="1"/>
            <p:nvPr/>
          </p:nvSpPr>
          <p:spPr>
            <a:xfrm>
              <a:off x="0" y="-19050"/>
              <a:ext cx="4678163" cy="119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Aumento de Productividad</a:t>
              </a:r>
              <a:endParaRPr/>
            </a:p>
          </p:txBody>
        </p:sp>
      </p:grpSp>
      <p:grpSp>
        <p:nvGrpSpPr>
          <p:cNvPr id="260" name="Google Shape;260;p7"/>
          <p:cNvGrpSpPr/>
          <p:nvPr/>
        </p:nvGrpSpPr>
        <p:grpSpPr>
          <a:xfrm>
            <a:off x="8877449" y="4699547"/>
            <a:ext cx="3508622" cy="1507778"/>
            <a:chOff x="0" y="-95250"/>
            <a:chExt cx="4678163" cy="2010370"/>
          </a:xfrm>
        </p:grpSpPr>
        <p:sp>
          <p:nvSpPr>
            <p:cNvPr id="261" name="Google Shape;261;p7"/>
            <p:cNvSpPr/>
            <p:nvPr/>
          </p:nvSpPr>
          <p:spPr>
            <a:xfrm>
              <a:off x="0" y="0"/>
              <a:ext cx="4678163" cy="1915120"/>
            </a:xfrm>
            <a:custGeom>
              <a:rect b="b" l="l" r="r" t="t"/>
              <a:pathLst>
                <a:path extrusionOk="0" h="1915120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2" name="Google Shape;262;p7"/>
            <p:cNvSpPr txBox="1"/>
            <p:nvPr/>
          </p:nvSpPr>
          <p:spPr>
            <a:xfrm>
              <a:off x="0" y="-95250"/>
              <a:ext cx="4678163" cy="2010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76% de empresas reportan mejoras con estas herramientas.</a:t>
              </a:r>
              <a:endParaRPr/>
            </a:p>
          </p:txBody>
        </p:sp>
      </p:grpSp>
      <p:sp>
        <p:nvSpPr>
          <p:cNvPr id="263" name="Google Shape;263;p7"/>
          <p:cNvSpPr/>
          <p:nvPr/>
        </p:nvSpPr>
        <p:spPr>
          <a:xfrm>
            <a:off x="12760077" y="3608785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7"/>
          <p:cNvGrpSpPr/>
          <p:nvPr/>
        </p:nvGrpSpPr>
        <p:grpSpPr>
          <a:xfrm>
            <a:off x="13732371" y="3697338"/>
            <a:ext cx="3508622" cy="894159"/>
            <a:chOff x="0" y="-19050"/>
            <a:chExt cx="4678163" cy="1192213"/>
          </a:xfrm>
        </p:grpSpPr>
        <p:sp>
          <p:nvSpPr>
            <p:cNvPr id="265" name="Google Shape;265;p7"/>
            <p:cNvSpPr/>
            <p:nvPr/>
          </p:nvSpPr>
          <p:spPr>
            <a:xfrm>
              <a:off x="0" y="0"/>
              <a:ext cx="4678163" cy="1173163"/>
            </a:xfrm>
            <a:custGeom>
              <a:rect b="b" l="l" r="r" t="t"/>
              <a:pathLst>
                <a:path extrusionOk="0" h="1173163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173163"/>
                  </a:lnTo>
                  <a:lnTo>
                    <a:pt x="0" y="1173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6" name="Google Shape;266;p7"/>
            <p:cNvSpPr txBox="1"/>
            <p:nvPr/>
          </p:nvSpPr>
          <p:spPr>
            <a:xfrm>
              <a:off x="0" y="-19050"/>
              <a:ext cx="4678163" cy="119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Incremento en Eficiencia</a:t>
              </a:r>
              <a:endParaRPr/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13732371" y="4699547"/>
            <a:ext cx="3508622" cy="1507778"/>
            <a:chOff x="0" y="-95250"/>
            <a:chExt cx="4678163" cy="2010370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4678163" cy="1915120"/>
            </a:xfrm>
            <a:custGeom>
              <a:rect b="b" l="l" r="r" t="t"/>
              <a:pathLst>
                <a:path extrusionOk="0" h="1915120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9" name="Google Shape;269;p7"/>
            <p:cNvSpPr txBox="1"/>
            <p:nvPr/>
          </p:nvSpPr>
          <p:spPr>
            <a:xfrm>
              <a:off x="0" y="-95250"/>
              <a:ext cx="4678163" cy="2010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30% más rápido en resolver problemas gracias a plataformas colaborativas.</a:t>
              </a:r>
              <a:endParaRPr/>
            </a:p>
          </p:txBody>
        </p:sp>
      </p:grpSp>
      <p:sp>
        <p:nvSpPr>
          <p:cNvPr id="270" name="Google Shape;270;p7"/>
          <p:cNvSpPr/>
          <p:nvPr/>
        </p:nvSpPr>
        <p:spPr>
          <a:xfrm>
            <a:off x="7905155" y="6805761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7"/>
          <p:cNvGrpSpPr/>
          <p:nvPr/>
        </p:nvGrpSpPr>
        <p:grpSpPr>
          <a:xfrm>
            <a:off x="8877449" y="6894314"/>
            <a:ext cx="3520231" cy="454223"/>
            <a:chOff x="0" y="-19050"/>
            <a:chExt cx="4693642" cy="605632"/>
          </a:xfrm>
        </p:grpSpPr>
        <p:sp>
          <p:nvSpPr>
            <p:cNvPr id="272" name="Google Shape;272;p7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3" name="Google Shape;273;p7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Retención y Cultura</a:t>
              </a:r>
              <a:endParaRPr/>
            </a:p>
          </p:txBody>
        </p:sp>
      </p:grpSp>
      <p:grpSp>
        <p:nvGrpSpPr>
          <p:cNvPr id="274" name="Google Shape;274;p7"/>
          <p:cNvGrpSpPr/>
          <p:nvPr/>
        </p:nvGrpSpPr>
        <p:grpSpPr>
          <a:xfrm>
            <a:off x="8877449" y="7456586"/>
            <a:ext cx="8363396" cy="550218"/>
            <a:chOff x="0" y="-95250"/>
            <a:chExt cx="11151195" cy="733623"/>
          </a:xfrm>
        </p:grpSpPr>
        <p:sp>
          <p:nvSpPr>
            <p:cNvPr id="275" name="Google Shape;275;p7"/>
            <p:cNvSpPr/>
            <p:nvPr/>
          </p:nvSpPr>
          <p:spPr>
            <a:xfrm>
              <a:off x="0" y="0"/>
              <a:ext cx="11151195" cy="638373"/>
            </a:xfrm>
            <a:custGeom>
              <a:rect b="b" l="l" r="r" t="t"/>
              <a:pathLst>
                <a:path extrusionOk="0" h="638373" w="11151195">
                  <a:moveTo>
                    <a:pt x="0" y="0"/>
                  </a:moveTo>
                  <a:lnTo>
                    <a:pt x="11151195" y="0"/>
                  </a:lnTo>
                  <a:lnTo>
                    <a:pt x="1115119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6" name="Google Shape;276;p7"/>
            <p:cNvSpPr txBox="1"/>
            <p:nvPr/>
          </p:nvSpPr>
          <p:spPr>
            <a:xfrm>
              <a:off x="0" y="-95250"/>
              <a:ext cx="1115119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Mayor compromiso y ambiente colaborativo entre empleados.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286" name="Google Shape;28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grpSp>
        <p:nvGrpSpPr>
          <p:cNvPr id="287" name="Google Shape;287;p8"/>
          <p:cNvGrpSpPr/>
          <p:nvPr/>
        </p:nvGrpSpPr>
        <p:grpSpPr>
          <a:xfrm>
            <a:off x="1047155" y="3332262"/>
            <a:ext cx="12775406" cy="894308"/>
            <a:chOff x="0" y="-19050"/>
            <a:chExt cx="17033875" cy="1192412"/>
          </a:xfrm>
        </p:grpSpPr>
        <p:sp>
          <p:nvSpPr>
            <p:cNvPr id="288" name="Google Shape;288;p8"/>
            <p:cNvSpPr/>
            <p:nvPr/>
          </p:nvSpPr>
          <p:spPr>
            <a:xfrm>
              <a:off x="0" y="0"/>
              <a:ext cx="17033875" cy="1173362"/>
            </a:xfrm>
            <a:custGeom>
              <a:rect b="b" l="l" r="r" t="t"/>
              <a:pathLst>
                <a:path extrusionOk="0" h="1173362" w="17033875">
                  <a:moveTo>
                    <a:pt x="0" y="0"/>
                  </a:moveTo>
                  <a:lnTo>
                    <a:pt x="17033875" y="0"/>
                  </a:lnTo>
                  <a:lnTo>
                    <a:pt x="17033875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9" name="Google Shape;289;p8"/>
            <p:cNvSpPr txBox="1"/>
            <p:nvPr/>
          </p:nvSpPr>
          <p:spPr>
            <a:xfrm>
              <a:off x="0" y="-19050"/>
              <a:ext cx="17033875" cy="1192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¿Cómo Funcionan Estas Herramientas?</a:t>
              </a:r>
              <a:endParaRPr/>
            </a:p>
          </p:txBody>
        </p:sp>
      </p:grpSp>
      <p:grpSp>
        <p:nvGrpSpPr>
          <p:cNvPr id="290" name="Google Shape;290;p8"/>
          <p:cNvGrpSpPr/>
          <p:nvPr/>
        </p:nvGrpSpPr>
        <p:grpSpPr>
          <a:xfrm>
            <a:off x="1047155" y="4960144"/>
            <a:ext cx="3520231" cy="454223"/>
            <a:chOff x="0" y="-19050"/>
            <a:chExt cx="4693642" cy="605632"/>
          </a:xfrm>
        </p:grpSpPr>
        <p:sp>
          <p:nvSpPr>
            <p:cNvPr id="291" name="Google Shape;291;p8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2" name="Google Shape;292;p8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Centralización</a:t>
              </a:r>
              <a:endParaRPr/>
            </a:p>
          </p:txBody>
        </p:sp>
      </p:grpSp>
      <p:grpSp>
        <p:nvGrpSpPr>
          <p:cNvPr id="293" name="Google Shape;293;p8"/>
          <p:cNvGrpSpPr/>
          <p:nvPr/>
        </p:nvGrpSpPr>
        <p:grpSpPr>
          <a:xfrm>
            <a:off x="1047155" y="5642074"/>
            <a:ext cx="4910732" cy="1028997"/>
            <a:chOff x="0" y="-95250"/>
            <a:chExt cx="6547643" cy="1371997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5" name="Google Shape;295;p8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Almacenan manuales, informes y guías accesibles para todos.</a:t>
              </a:r>
              <a:endParaRPr/>
            </a:p>
          </p:txBody>
        </p:sp>
      </p:grpSp>
      <p:grpSp>
        <p:nvGrpSpPr>
          <p:cNvPr id="296" name="Google Shape;296;p8"/>
          <p:cNvGrpSpPr/>
          <p:nvPr/>
        </p:nvGrpSpPr>
        <p:grpSpPr>
          <a:xfrm>
            <a:off x="6697266" y="4960144"/>
            <a:ext cx="4490889" cy="454223"/>
            <a:chOff x="0" y="-19050"/>
            <a:chExt cx="5987852" cy="605632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5987852" cy="586582"/>
            </a:xfrm>
            <a:custGeom>
              <a:rect b="b" l="l" r="r" t="t"/>
              <a:pathLst>
                <a:path extrusionOk="0" h="586582" w="5987852">
                  <a:moveTo>
                    <a:pt x="0" y="0"/>
                  </a:moveTo>
                  <a:lnTo>
                    <a:pt x="5987852" y="0"/>
                  </a:lnTo>
                  <a:lnTo>
                    <a:pt x="598785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8" name="Google Shape;298;p8"/>
            <p:cNvSpPr txBox="1"/>
            <p:nvPr/>
          </p:nvSpPr>
          <p:spPr>
            <a:xfrm>
              <a:off x="0" y="-19050"/>
              <a:ext cx="598785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Capacitación Personalizada</a:t>
              </a:r>
              <a:endParaRPr/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6697266" y="5642074"/>
            <a:ext cx="4910732" cy="1028997"/>
            <a:chOff x="0" y="-95250"/>
            <a:chExt cx="6547643" cy="1371997"/>
          </a:xfrm>
        </p:grpSpPr>
        <p:sp>
          <p:nvSpPr>
            <p:cNvPr id="300" name="Google Shape;300;p8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1" name="Google Shape;301;p8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LMS permite formación continua ajustada a cada empleado.</a:t>
              </a:r>
              <a:endParaRPr/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12347376" y="4960144"/>
            <a:ext cx="3520231" cy="454223"/>
            <a:chOff x="0" y="-19050"/>
            <a:chExt cx="4693642" cy="605632"/>
          </a:xfrm>
        </p:grpSpPr>
        <p:sp>
          <p:nvSpPr>
            <p:cNvPr id="303" name="Google Shape;303;p8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4" name="Google Shape;304;p8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Intercambio Ágil</a:t>
              </a:r>
              <a:endParaRPr/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12347376" y="5642074"/>
            <a:ext cx="4910732" cy="1028997"/>
            <a:chOff x="0" y="-95250"/>
            <a:chExt cx="6547643" cy="1371997"/>
          </a:xfrm>
        </p:grpSpPr>
        <p:sp>
          <p:nvSpPr>
            <p:cNvPr id="306" name="Google Shape;306;p8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7" name="Google Shape;307;p8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Facilitan colaboración rápida incluso en equipos remotos.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317" name="Google Shape;317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descr="preencoded.png" id="318" name="Google Shape;318;p9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9" name="Google Shape;319;p9"/>
          <p:cNvGrpSpPr/>
          <p:nvPr/>
        </p:nvGrpSpPr>
        <p:grpSpPr>
          <a:xfrm>
            <a:off x="7905155" y="2030165"/>
            <a:ext cx="9335691" cy="1774328"/>
            <a:chOff x="0" y="-19050"/>
            <a:chExt cx="12447588" cy="2365772"/>
          </a:xfrm>
        </p:grpSpPr>
        <p:sp>
          <p:nvSpPr>
            <p:cNvPr id="320" name="Google Shape;320;p9"/>
            <p:cNvSpPr/>
            <p:nvPr/>
          </p:nvSpPr>
          <p:spPr>
            <a:xfrm>
              <a:off x="0" y="0"/>
              <a:ext cx="12447588" cy="2346722"/>
            </a:xfrm>
            <a:custGeom>
              <a:rect b="b" l="l" r="r" t="t"/>
              <a:pathLst>
                <a:path extrusionOk="0" h="2346722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2346722"/>
                  </a:lnTo>
                  <a:lnTo>
                    <a:pt x="0" y="234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1" name="Google Shape;321;p9"/>
            <p:cNvSpPr txBox="1"/>
            <p:nvPr/>
          </p:nvSpPr>
          <p:spPr>
            <a:xfrm>
              <a:off x="0" y="-19050"/>
              <a:ext cx="12447588" cy="2365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Ejemplos de Gestión del Conocimiento</a:t>
              </a:r>
              <a:endParaRPr/>
            </a:p>
          </p:txBody>
        </p:sp>
      </p:grpSp>
      <p:sp>
        <p:nvSpPr>
          <p:cNvPr descr="preencoded.png" id="322" name="Google Shape;322;p9"/>
          <p:cNvSpPr/>
          <p:nvPr/>
        </p:nvSpPr>
        <p:spPr>
          <a:xfrm>
            <a:off x="7905155" y="4253210"/>
            <a:ext cx="715566" cy="715566"/>
          </a:xfrm>
          <a:custGeom>
            <a:rect b="b" l="l" r="r" t="t"/>
            <a:pathLst>
              <a:path extrusionOk="0" h="715566" w="715566">
                <a:moveTo>
                  <a:pt x="0" y="0"/>
                </a:moveTo>
                <a:lnTo>
                  <a:pt x="715566" y="0"/>
                </a:lnTo>
                <a:lnTo>
                  <a:pt x="715566" y="715566"/>
                </a:lnTo>
                <a:lnTo>
                  <a:pt x="0" y="715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3" name="Google Shape;323;p9"/>
          <p:cNvGrpSpPr/>
          <p:nvPr/>
        </p:nvGrpSpPr>
        <p:grpSpPr>
          <a:xfrm>
            <a:off x="7905155" y="5253633"/>
            <a:ext cx="2862560" cy="894159"/>
            <a:chOff x="0" y="-19050"/>
            <a:chExt cx="3816747" cy="1192213"/>
          </a:xfrm>
        </p:grpSpPr>
        <p:sp>
          <p:nvSpPr>
            <p:cNvPr id="324" name="Google Shape;324;p9"/>
            <p:cNvSpPr/>
            <p:nvPr/>
          </p:nvSpPr>
          <p:spPr>
            <a:xfrm>
              <a:off x="0" y="0"/>
              <a:ext cx="3816747" cy="1173163"/>
            </a:xfrm>
            <a:custGeom>
              <a:rect b="b" l="l" r="r" t="t"/>
              <a:pathLst>
                <a:path extrusionOk="0" h="1173163" w="3816747">
                  <a:moveTo>
                    <a:pt x="0" y="0"/>
                  </a:moveTo>
                  <a:lnTo>
                    <a:pt x="3816747" y="0"/>
                  </a:lnTo>
                  <a:lnTo>
                    <a:pt x="3816747" y="1173163"/>
                  </a:lnTo>
                  <a:lnTo>
                    <a:pt x="0" y="1173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5" name="Google Shape;325;p9"/>
            <p:cNvSpPr txBox="1"/>
            <p:nvPr/>
          </p:nvSpPr>
          <p:spPr>
            <a:xfrm>
              <a:off x="0" y="-19050"/>
              <a:ext cx="3816747" cy="119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Manuales y Guiones</a:t>
              </a:r>
              <a:endParaRPr/>
            </a:p>
          </p:txBody>
        </p:sp>
      </p:grpSp>
      <p:grpSp>
        <p:nvGrpSpPr>
          <p:cNvPr id="326" name="Google Shape;326;p9"/>
          <p:cNvGrpSpPr/>
          <p:nvPr/>
        </p:nvGrpSpPr>
        <p:grpSpPr>
          <a:xfrm>
            <a:off x="7905155" y="6255842"/>
            <a:ext cx="2862560" cy="1507778"/>
            <a:chOff x="0" y="-95250"/>
            <a:chExt cx="3816747" cy="2010370"/>
          </a:xfrm>
        </p:grpSpPr>
        <p:sp>
          <p:nvSpPr>
            <p:cNvPr id="327" name="Google Shape;327;p9"/>
            <p:cNvSpPr/>
            <p:nvPr/>
          </p:nvSpPr>
          <p:spPr>
            <a:xfrm>
              <a:off x="0" y="0"/>
              <a:ext cx="3816747" cy="1915120"/>
            </a:xfrm>
            <a:custGeom>
              <a:rect b="b" l="l" r="r" t="t"/>
              <a:pathLst>
                <a:path extrusionOk="0" h="1915120" w="3816747">
                  <a:moveTo>
                    <a:pt x="0" y="0"/>
                  </a:moveTo>
                  <a:lnTo>
                    <a:pt x="3816747" y="0"/>
                  </a:lnTo>
                  <a:lnTo>
                    <a:pt x="3816747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8" name="Google Shape;328;p9"/>
            <p:cNvSpPr txBox="1"/>
            <p:nvPr/>
          </p:nvSpPr>
          <p:spPr>
            <a:xfrm>
              <a:off x="0" y="-95250"/>
              <a:ext cx="3816747" cy="2010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Disponibles para todos, estandarizando procesos y ventas.</a:t>
              </a:r>
              <a:endParaRPr/>
            </a:p>
          </p:txBody>
        </p:sp>
      </p:grpSp>
      <p:sp>
        <p:nvSpPr>
          <p:cNvPr descr="preencoded.png" id="329" name="Google Shape;329;p9"/>
          <p:cNvSpPr/>
          <p:nvPr/>
        </p:nvSpPr>
        <p:spPr>
          <a:xfrm>
            <a:off x="11141720" y="4253210"/>
            <a:ext cx="715566" cy="715566"/>
          </a:xfrm>
          <a:custGeom>
            <a:rect b="b" l="l" r="r" t="t"/>
            <a:pathLst>
              <a:path extrusionOk="0" h="715566" w="715566">
                <a:moveTo>
                  <a:pt x="0" y="0"/>
                </a:moveTo>
                <a:lnTo>
                  <a:pt x="715566" y="0"/>
                </a:lnTo>
                <a:lnTo>
                  <a:pt x="715566" y="715566"/>
                </a:lnTo>
                <a:lnTo>
                  <a:pt x="0" y="715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0" name="Google Shape;330;p9"/>
          <p:cNvGrpSpPr/>
          <p:nvPr/>
        </p:nvGrpSpPr>
        <p:grpSpPr>
          <a:xfrm>
            <a:off x="11141720" y="5253633"/>
            <a:ext cx="2862560" cy="454223"/>
            <a:chOff x="0" y="-19050"/>
            <a:chExt cx="3816747" cy="605632"/>
          </a:xfrm>
        </p:grpSpPr>
        <p:sp>
          <p:nvSpPr>
            <p:cNvPr id="331" name="Google Shape;331;p9"/>
            <p:cNvSpPr/>
            <p:nvPr/>
          </p:nvSpPr>
          <p:spPr>
            <a:xfrm>
              <a:off x="0" y="0"/>
              <a:ext cx="3816747" cy="586582"/>
            </a:xfrm>
            <a:custGeom>
              <a:rect b="b" l="l" r="r" t="t"/>
              <a:pathLst>
                <a:path extrusionOk="0" h="586582" w="3816747">
                  <a:moveTo>
                    <a:pt x="0" y="0"/>
                  </a:moveTo>
                  <a:lnTo>
                    <a:pt x="3816747" y="0"/>
                  </a:lnTo>
                  <a:lnTo>
                    <a:pt x="3816747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2" name="Google Shape;332;p9"/>
            <p:cNvSpPr txBox="1"/>
            <p:nvPr/>
          </p:nvSpPr>
          <p:spPr>
            <a:xfrm>
              <a:off x="0" y="-19050"/>
              <a:ext cx="3816747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Casos Prácticos</a:t>
              </a:r>
              <a:endParaRPr/>
            </a:p>
          </p:txBody>
        </p:sp>
      </p:grpSp>
      <p:grpSp>
        <p:nvGrpSpPr>
          <p:cNvPr id="333" name="Google Shape;333;p9"/>
          <p:cNvGrpSpPr/>
          <p:nvPr/>
        </p:nvGrpSpPr>
        <p:grpSpPr>
          <a:xfrm>
            <a:off x="11141720" y="5815904"/>
            <a:ext cx="2862560" cy="1986558"/>
            <a:chOff x="0" y="-95250"/>
            <a:chExt cx="3816747" cy="2648743"/>
          </a:xfrm>
        </p:grpSpPr>
        <p:sp>
          <p:nvSpPr>
            <p:cNvPr id="334" name="Google Shape;334;p9"/>
            <p:cNvSpPr/>
            <p:nvPr/>
          </p:nvSpPr>
          <p:spPr>
            <a:xfrm>
              <a:off x="0" y="0"/>
              <a:ext cx="3816747" cy="2553493"/>
            </a:xfrm>
            <a:custGeom>
              <a:rect b="b" l="l" r="r" t="t"/>
              <a:pathLst>
                <a:path extrusionOk="0" h="2553493" w="3816747">
                  <a:moveTo>
                    <a:pt x="0" y="0"/>
                  </a:moveTo>
                  <a:lnTo>
                    <a:pt x="3816747" y="0"/>
                  </a:lnTo>
                  <a:lnTo>
                    <a:pt x="3816747" y="2553493"/>
                  </a:lnTo>
                  <a:lnTo>
                    <a:pt x="0" y="25534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5" name="Google Shape;335;p9"/>
            <p:cNvSpPr txBox="1"/>
            <p:nvPr/>
          </p:nvSpPr>
          <p:spPr>
            <a:xfrm>
              <a:off x="0" y="-95250"/>
              <a:ext cx="3816747" cy="2648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Estudios y conocimientos compartidos en intranets corporativas.</a:t>
              </a:r>
              <a:endParaRPr/>
            </a:p>
          </p:txBody>
        </p:sp>
      </p:grpSp>
      <p:sp>
        <p:nvSpPr>
          <p:cNvPr descr="preencoded.png" id="336" name="Google Shape;336;p9"/>
          <p:cNvSpPr/>
          <p:nvPr/>
        </p:nvSpPr>
        <p:spPr>
          <a:xfrm>
            <a:off x="14378285" y="4253210"/>
            <a:ext cx="715566" cy="715566"/>
          </a:xfrm>
          <a:custGeom>
            <a:rect b="b" l="l" r="r" t="t"/>
            <a:pathLst>
              <a:path extrusionOk="0" h="715566" w="715566">
                <a:moveTo>
                  <a:pt x="0" y="0"/>
                </a:moveTo>
                <a:lnTo>
                  <a:pt x="715566" y="0"/>
                </a:lnTo>
                <a:lnTo>
                  <a:pt x="715566" y="715566"/>
                </a:lnTo>
                <a:lnTo>
                  <a:pt x="0" y="715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7" name="Google Shape;337;p9"/>
          <p:cNvGrpSpPr/>
          <p:nvPr/>
        </p:nvGrpSpPr>
        <p:grpSpPr>
          <a:xfrm>
            <a:off x="14378285" y="5253633"/>
            <a:ext cx="2862560" cy="894159"/>
            <a:chOff x="0" y="-19050"/>
            <a:chExt cx="3816747" cy="1192213"/>
          </a:xfrm>
        </p:grpSpPr>
        <p:sp>
          <p:nvSpPr>
            <p:cNvPr id="338" name="Google Shape;338;p9"/>
            <p:cNvSpPr/>
            <p:nvPr/>
          </p:nvSpPr>
          <p:spPr>
            <a:xfrm>
              <a:off x="0" y="0"/>
              <a:ext cx="3816747" cy="1173163"/>
            </a:xfrm>
            <a:custGeom>
              <a:rect b="b" l="l" r="r" t="t"/>
              <a:pathLst>
                <a:path extrusionOk="0" h="1173163" w="3816747">
                  <a:moveTo>
                    <a:pt x="0" y="0"/>
                  </a:moveTo>
                  <a:lnTo>
                    <a:pt x="3816747" y="0"/>
                  </a:lnTo>
                  <a:lnTo>
                    <a:pt x="3816747" y="1173163"/>
                  </a:lnTo>
                  <a:lnTo>
                    <a:pt x="0" y="1173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9" name="Google Shape;339;p9"/>
            <p:cNvSpPr txBox="1"/>
            <p:nvPr/>
          </p:nvSpPr>
          <p:spPr>
            <a:xfrm>
              <a:off x="0" y="-19050"/>
              <a:ext cx="3816747" cy="119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Informes Automatizados</a:t>
              </a:r>
              <a:endParaRPr/>
            </a:p>
          </p:txBody>
        </p:sp>
      </p:grpSp>
      <p:grpSp>
        <p:nvGrpSpPr>
          <p:cNvPr id="340" name="Google Shape;340;p9"/>
          <p:cNvGrpSpPr/>
          <p:nvPr/>
        </p:nvGrpSpPr>
        <p:grpSpPr>
          <a:xfrm>
            <a:off x="14378285" y="6255841"/>
            <a:ext cx="2862560" cy="1986558"/>
            <a:chOff x="0" y="-95250"/>
            <a:chExt cx="3816747" cy="2648743"/>
          </a:xfrm>
        </p:grpSpPr>
        <p:sp>
          <p:nvSpPr>
            <p:cNvPr id="341" name="Google Shape;341;p9"/>
            <p:cNvSpPr/>
            <p:nvPr/>
          </p:nvSpPr>
          <p:spPr>
            <a:xfrm>
              <a:off x="0" y="0"/>
              <a:ext cx="3816747" cy="2553493"/>
            </a:xfrm>
            <a:custGeom>
              <a:rect b="b" l="l" r="r" t="t"/>
              <a:pathLst>
                <a:path extrusionOk="0" h="2553493" w="3816747">
                  <a:moveTo>
                    <a:pt x="0" y="0"/>
                  </a:moveTo>
                  <a:lnTo>
                    <a:pt x="3816747" y="0"/>
                  </a:lnTo>
                  <a:lnTo>
                    <a:pt x="3816747" y="2553493"/>
                  </a:lnTo>
                  <a:lnTo>
                    <a:pt x="0" y="25534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2" name="Google Shape;342;p9"/>
            <p:cNvSpPr txBox="1"/>
            <p:nvPr/>
          </p:nvSpPr>
          <p:spPr>
            <a:xfrm>
              <a:off x="0" y="-95250"/>
              <a:ext cx="3816747" cy="2648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KPI y materiales de formación actualizados automáticamente.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352" name="Google Shape;352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descr="preencoded.png" id="353" name="Google Shape;353;p10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4" name="Google Shape;354;p10"/>
          <p:cNvGrpSpPr/>
          <p:nvPr/>
        </p:nvGrpSpPr>
        <p:grpSpPr>
          <a:xfrm>
            <a:off x="1047155" y="1689348"/>
            <a:ext cx="9335691" cy="1774328"/>
            <a:chOff x="0" y="-19050"/>
            <a:chExt cx="12447588" cy="2365772"/>
          </a:xfrm>
        </p:grpSpPr>
        <p:sp>
          <p:nvSpPr>
            <p:cNvPr id="355" name="Google Shape;355;p10"/>
            <p:cNvSpPr/>
            <p:nvPr/>
          </p:nvSpPr>
          <p:spPr>
            <a:xfrm>
              <a:off x="0" y="0"/>
              <a:ext cx="12447588" cy="2346722"/>
            </a:xfrm>
            <a:custGeom>
              <a:rect b="b" l="l" r="r" t="t"/>
              <a:pathLst>
                <a:path extrusionOk="0" h="2346722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2346722"/>
                  </a:lnTo>
                  <a:lnTo>
                    <a:pt x="0" y="234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6" name="Google Shape;356;p10"/>
            <p:cNvSpPr txBox="1"/>
            <p:nvPr/>
          </p:nvSpPr>
          <p:spPr>
            <a:xfrm>
              <a:off x="0" y="-19050"/>
              <a:ext cx="12447588" cy="2365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Caso de Estudio: Implementación de un LMS</a:t>
              </a:r>
              <a:endParaRPr/>
            </a:p>
          </p:txBody>
        </p:sp>
      </p:grpSp>
      <p:sp>
        <p:nvSpPr>
          <p:cNvPr id="357" name="Google Shape;357;p10"/>
          <p:cNvSpPr/>
          <p:nvPr/>
        </p:nvSpPr>
        <p:spPr>
          <a:xfrm>
            <a:off x="1047155" y="3912394"/>
            <a:ext cx="224219" cy="1098138"/>
          </a:xfrm>
          <a:custGeom>
            <a:rect b="b" l="l" r="r" t="t"/>
            <a:pathLst>
              <a:path extrusionOk="0" h="1464183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1404366"/>
                </a:lnTo>
                <a:cubicBezTo>
                  <a:pt x="298958" y="1437386"/>
                  <a:pt x="272161" y="1464183"/>
                  <a:pt x="239141" y="1464183"/>
                </a:cubicBezTo>
                <a:lnTo>
                  <a:pt x="59817" y="1464183"/>
                </a:lnTo>
                <a:cubicBezTo>
                  <a:pt x="26797" y="1464183"/>
                  <a:pt x="0" y="1437386"/>
                  <a:pt x="0" y="1404366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10"/>
          <p:cNvGrpSpPr/>
          <p:nvPr/>
        </p:nvGrpSpPr>
        <p:grpSpPr>
          <a:xfrm>
            <a:off x="1720155" y="3898107"/>
            <a:ext cx="3863578" cy="454223"/>
            <a:chOff x="0" y="-19050"/>
            <a:chExt cx="5151437" cy="605632"/>
          </a:xfrm>
        </p:grpSpPr>
        <p:sp>
          <p:nvSpPr>
            <p:cNvPr id="359" name="Google Shape;359;p10"/>
            <p:cNvSpPr/>
            <p:nvPr/>
          </p:nvSpPr>
          <p:spPr>
            <a:xfrm>
              <a:off x="0" y="0"/>
              <a:ext cx="5151437" cy="586582"/>
            </a:xfrm>
            <a:custGeom>
              <a:rect b="b" l="l" r="r" t="t"/>
              <a:pathLst>
                <a:path extrusionOk="0" h="586582" w="5151437">
                  <a:moveTo>
                    <a:pt x="0" y="0"/>
                  </a:moveTo>
                  <a:lnTo>
                    <a:pt x="5151437" y="0"/>
                  </a:lnTo>
                  <a:lnTo>
                    <a:pt x="5151437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0" name="Google Shape;360;p10"/>
            <p:cNvSpPr txBox="1"/>
            <p:nvPr/>
          </p:nvSpPr>
          <p:spPr>
            <a:xfrm>
              <a:off x="0" y="-19050"/>
              <a:ext cx="5151437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Mejora en Capacitación</a:t>
              </a:r>
              <a:endParaRPr/>
            </a:p>
          </p:txBody>
        </p:sp>
      </p:grpSp>
      <p:grpSp>
        <p:nvGrpSpPr>
          <p:cNvPr id="361" name="Google Shape;361;p10"/>
          <p:cNvGrpSpPr/>
          <p:nvPr/>
        </p:nvGrpSpPr>
        <p:grpSpPr>
          <a:xfrm>
            <a:off x="1720155" y="4460378"/>
            <a:ext cx="8662690" cy="550218"/>
            <a:chOff x="0" y="-95250"/>
            <a:chExt cx="11550253" cy="733623"/>
          </a:xfrm>
        </p:grpSpPr>
        <p:sp>
          <p:nvSpPr>
            <p:cNvPr id="362" name="Google Shape;362;p10"/>
            <p:cNvSpPr/>
            <p:nvPr/>
          </p:nvSpPr>
          <p:spPr>
            <a:xfrm>
              <a:off x="0" y="0"/>
              <a:ext cx="11550253" cy="638373"/>
            </a:xfrm>
            <a:custGeom>
              <a:rect b="b" l="l" r="r" t="t"/>
              <a:pathLst>
                <a:path extrusionOk="0" h="638373" w="11550253">
                  <a:moveTo>
                    <a:pt x="0" y="0"/>
                  </a:moveTo>
                  <a:lnTo>
                    <a:pt x="11550253" y="0"/>
                  </a:lnTo>
                  <a:lnTo>
                    <a:pt x="11550253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3" name="Google Shape;363;p10"/>
            <p:cNvSpPr txBox="1"/>
            <p:nvPr/>
          </p:nvSpPr>
          <p:spPr>
            <a:xfrm>
              <a:off x="0" y="-95250"/>
              <a:ext cx="11550253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82% de empresas mejoran formación y retención con LMS.</a:t>
              </a:r>
              <a:endParaRPr/>
            </a:p>
          </p:txBody>
        </p:sp>
      </p:grpSp>
      <p:sp>
        <p:nvSpPr>
          <p:cNvPr id="364" name="Google Shape;364;p10"/>
          <p:cNvSpPr/>
          <p:nvPr/>
        </p:nvSpPr>
        <p:spPr>
          <a:xfrm>
            <a:off x="1495871" y="5309741"/>
            <a:ext cx="224219" cy="1098137"/>
          </a:xfrm>
          <a:custGeom>
            <a:rect b="b" l="l" r="r" t="t"/>
            <a:pathLst>
              <a:path extrusionOk="0" h="1464183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1404366"/>
                </a:lnTo>
                <a:cubicBezTo>
                  <a:pt x="298958" y="1437386"/>
                  <a:pt x="272161" y="1464183"/>
                  <a:pt x="239141" y="1464183"/>
                </a:cubicBezTo>
                <a:lnTo>
                  <a:pt x="59817" y="1464183"/>
                </a:lnTo>
                <a:cubicBezTo>
                  <a:pt x="26797" y="1464183"/>
                  <a:pt x="0" y="1437386"/>
                  <a:pt x="0" y="1404366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10"/>
          <p:cNvGrpSpPr/>
          <p:nvPr/>
        </p:nvGrpSpPr>
        <p:grpSpPr>
          <a:xfrm>
            <a:off x="2168872" y="5295454"/>
            <a:ext cx="3520231" cy="454223"/>
            <a:chOff x="0" y="-19050"/>
            <a:chExt cx="4693642" cy="605632"/>
          </a:xfrm>
        </p:grpSpPr>
        <p:sp>
          <p:nvSpPr>
            <p:cNvPr id="366" name="Google Shape;366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7" name="Google Shape;367;p10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Ejemplo Real</a:t>
              </a:r>
              <a:endParaRPr/>
            </a:p>
          </p:txBody>
        </p:sp>
      </p:grpSp>
      <p:grpSp>
        <p:nvGrpSpPr>
          <p:cNvPr id="368" name="Google Shape;368;p10"/>
          <p:cNvGrpSpPr/>
          <p:nvPr/>
        </p:nvGrpSpPr>
        <p:grpSpPr>
          <a:xfrm>
            <a:off x="2168872" y="5857726"/>
            <a:ext cx="8213972" cy="550218"/>
            <a:chOff x="0" y="-95250"/>
            <a:chExt cx="10951963" cy="733623"/>
          </a:xfrm>
        </p:grpSpPr>
        <p:sp>
          <p:nvSpPr>
            <p:cNvPr id="369" name="Google Shape;369;p10"/>
            <p:cNvSpPr/>
            <p:nvPr/>
          </p:nvSpPr>
          <p:spPr>
            <a:xfrm>
              <a:off x="0" y="0"/>
              <a:ext cx="10951963" cy="638373"/>
            </a:xfrm>
            <a:custGeom>
              <a:rect b="b" l="l" r="r" t="t"/>
              <a:pathLst>
                <a:path extrusionOk="0" h="638373" w="10951963">
                  <a:moveTo>
                    <a:pt x="0" y="0"/>
                  </a:moveTo>
                  <a:lnTo>
                    <a:pt x="10951963" y="0"/>
                  </a:lnTo>
                  <a:lnTo>
                    <a:pt x="10951963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0" name="Google Shape;370;p10"/>
            <p:cNvSpPr txBox="1"/>
            <p:nvPr/>
          </p:nvSpPr>
          <p:spPr>
            <a:xfrm>
              <a:off x="0" y="-95250"/>
              <a:ext cx="10951963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Multinacional optimiza onboarding y formación continua.</a:t>
              </a:r>
              <a:endParaRPr/>
            </a:p>
          </p:txBody>
        </p:sp>
      </p:grpSp>
      <p:sp>
        <p:nvSpPr>
          <p:cNvPr id="371" name="Google Shape;371;p10"/>
          <p:cNvSpPr/>
          <p:nvPr/>
        </p:nvSpPr>
        <p:spPr>
          <a:xfrm>
            <a:off x="1944738" y="6707089"/>
            <a:ext cx="224219" cy="1576959"/>
          </a:xfrm>
          <a:custGeom>
            <a:rect b="b" l="l" r="r" t="t"/>
            <a:pathLst>
              <a:path extrusionOk="0" h="2102612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2042795"/>
                </a:lnTo>
                <a:cubicBezTo>
                  <a:pt x="298958" y="2075815"/>
                  <a:pt x="272161" y="2102612"/>
                  <a:pt x="239141" y="2102612"/>
                </a:cubicBezTo>
                <a:lnTo>
                  <a:pt x="59817" y="2102612"/>
                </a:lnTo>
                <a:cubicBezTo>
                  <a:pt x="26797" y="2102612"/>
                  <a:pt x="0" y="2075815"/>
                  <a:pt x="0" y="2042795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10"/>
          <p:cNvGrpSpPr/>
          <p:nvPr/>
        </p:nvGrpSpPr>
        <p:grpSpPr>
          <a:xfrm>
            <a:off x="2617738" y="6692802"/>
            <a:ext cx="3520231" cy="454223"/>
            <a:chOff x="0" y="-19050"/>
            <a:chExt cx="4693642" cy="605632"/>
          </a:xfrm>
        </p:grpSpPr>
        <p:sp>
          <p:nvSpPr>
            <p:cNvPr id="373" name="Google Shape;373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4" name="Google Shape;374;p10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Resultados Clave</a:t>
              </a:r>
              <a:endParaRPr/>
            </a:p>
          </p:txBody>
        </p:sp>
      </p:grpSp>
      <p:grpSp>
        <p:nvGrpSpPr>
          <p:cNvPr id="375" name="Google Shape;375;p10"/>
          <p:cNvGrpSpPr/>
          <p:nvPr/>
        </p:nvGrpSpPr>
        <p:grpSpPr>
          <a:xfrm>
            <a:off x="2617738" y="7255074"/>
            <a:ext cx="7765108" cy="1028997"/>
            <a:chOff x="0" y="-95250"/>
            <a:chExt cx="10353477" cy="1371997"/>
          </a:xfrm>
        </p:grpSpPr>
        <p:sp>
          <p:nvSpPr>
            <p:cNvPr id="376" name="Google Shape;376;p10"/>
            <p:cNvSpPr/>
            <p:nvPr/>
          </p:nvSpPr>
          <p:spPr>
            <a:xfrm>
              <a:off x="0" y="0"/>
              <a:ext cx="10353477" cy="1276747"/>
            </a:xfrm>
            <a:custGeom>
              <a:rect b="b" l="l" r="r" t="t"/>
              <a:pathLst>
                <a:path extrusionOk="0" h="1276747" w="10353477">
                  <a:moveTo>
                    <a:pt x="0" y="0"/>
                  </a:moveTo>
                  <a:lnTo>
                    <a:pt x="10353477" y="0"/>
                  </a:lnTo>
                  <a:lnTo>
                    <a:pt x="10353477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7" name="Google Shape;377;p10"/>
            <p:cNvSpPr txBox="1"/>
            <p:nvPr/>
          </p:nvSpPr>
          <p:spPr>
            <a:xfrm>
              <a:off x="0" y="-95250"/>
              <a:ext cx="10353477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Reducción de tiempos de inducción y mayor satisfacción laboral.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387" name="Google Shape;38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descr="preencoded.png" id="388" name="Google Shape;388;p11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9" name="Google Shape;389;p11"/>
          <p:cNvGrpSpPr/>
          <p:nvPr/>
        </p:nvGrpSpPr>
        <p:grpSpPr>
          <a:xfrm>
            <a:off x="1047155" y="1825824"/>
            <a:ext cx="9335691" cy="1774328"/>
            <a:chOff x="0" y="-19050"/>
            <a:chExt cx="12447588" cy="2365772"/>
          </a:xfrm>
        </p:grpSpPr>
        <p:sp>
          <p:nvSpPr>
            <p:cNvPr id="390" name="Google Shape;390;p11"/>
            <p:cNvSpPr/>
            <p:nvPr/>
          </p:nvSpPr>
          <p:spPr>
            <a:xfrm>
              <a:off x="0" y="0"/>
              <a:ext cx="12447588" cy="2346722"/>
            </a:xfrm>
            <a:custGeom>
              <a:rect b="b" l="l" r="r" t="t"/>
              <a:pathLst>
                <a:path extrusionOk="0" h="2346722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2346722"/>
                  </a:lnTo>
                  <a:lnTo>
                    <a:pt x="0" y="234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1" name="Google Shape;391;p11"/>
            <p:cNvSpPr txBox="1"/>
            <p:nvPr/>
          </p:nvSpPr>
          <p:spPr>
            <a:xfrm>
              <a:off x="0" y="-19050"/>
              <a:ext cx="12447588" cy="2365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Desafíos en la Gestión del Conocimiento</a:t>
              </a:r>
              <a:endParaRPr/>
            </a:p>
          </p:txBody>
        </p:sp>
      </p:grpSp>
      <p:sp>
        <p:nvSpPr>
          <p:cNvPr id="392" name="Google Shape;392;p11"/>
          <p:cNvSpPr/>
          <p:nvPr/>
        </p:nvSpPr>
        <p:spPr>
          <a:xfrm>
            <a:off x="1047155" y="4048869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3" name="Google Shape;393;p11"/>
          <p:cNvGrpSpPr/>
          <p:nvPr/>
        </p:nvGrpSpPr>
        <p:grpSpPr>
          <a:xfrm>
            <a:off x="2019449" y="4137422"/>
            <a:ext cx="3508622" cy="894161"/>
            <a:chOff x="0" y="-19050"/>
            <a:chExt cx="4678163" cy="1192213"/>
          </a:xfrm>
        </p:grpSpPr>
        <p:sp>
          <p:nvSpPr>
            <p:cNvPr id="394" name="Google Shape;394;p11"/>
            <p:cNvSpPr/>
            <p:nvPr/>
          </p:nvSpPr>
          <p:spPr>
            <a:xfrm>
              <a:off x="0" y="0"/>
              <a:ext cx="4678163" cy="1173163"/>
            </a:xfrm>
            <a:custGeom>
              <a:rect b="b" l="l" r="r" t="t"/>
              <a:pathLst>
                <a:path extrusionOk="0" h="1173163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173163"/>
                  </a:lnTo>
                  <a:lnTo>
                    <a:pt x="0" y="1173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5" name="Google Shape;395;p11"/>
            <p:cNvSpPr txBox="1"/>
            <p:nvPr/>
          </p:nvSpPr>
          <p:spPr>
            <a:xfrm>
              <a:off x="0" y="-19050"/>
              <a:ext cx="4678163" cy="119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Selección de Herramientas</a:t>
              </a:r>
              <a:endParaRPr/>
            </a:p>
          </p:txBody>
        </p:sp>
      </p:grpSp>
      <p:grpSp>
        <p:nvGrpSpPr>
          <p:cNvPr id="396" name="Google Shape;396;p11"/>
          <p:cNvGrpSpPr/>
          <p:nvPr/>
        </p:nvGrpSpPr>
        <p:grpSpPr>
          <a:xfrm>
            <a:off x="2019449" y="5139631"/>
            <a:ext cx="3508622" cy="1028997"/>
            <a:chOff x="0" y="-95250"/>
            <a:chExt cx="4678163" cy="1371997"/>
          </a:xfrm>
        </p:grpSpPr>
        <p:sp>
          <p:nvSpPr>
            <p:cNvPr id="397" name="Google Shape;397;p11"/>
            <p:cNvSpPr/>
            <p:nvPr/>
          </p:nvSpPr>
          <p:spPr>
            <a:xfrm>
              <a:off x="0" y="0"/>
              <a:ext cx="4678163" cy="1276747"/>
            </a:xfrm>
            <a:custGeom>
              <a:rect b="b" l="l" r="r" t="t"/>
              <a:pathLst>
                <a:path extrusionOk="0" h="1276747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8" name="Google Shape;398;p11"/>
            <p:cNvSpPr txBox="1"/>
            <p:nvPr/>
          </p:nvSpPr>
          <p:spPr>
            <a:xfrm>
              <a:off x="0" y="-95250"/>
              <a:ext cx="467816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Elegir tecnología adecuada a necesidades y cultura.</a:t>
              </a:r>
              <a:endParaRPr/>
            </a:p>
          </p:txBody>
        </p:sp>
      </p:grpSp>
      <p:sp>
        <p:nvSpPr>
          <p:cNvPr id="399" name="Google Shape;399;p11"/>
          <p:cNvSpPr/>
          <p:nvPr/>
        </p:nvSpPr>
        <p:spPr>
          <a:xfrm>
            <a:off x="5902078" y="4048869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11"/>
          <p:cNvGrpSpPr/>
          <p:nvPr/>
        </p:nvGrpSpPr>
        <p:grpSpPr>
          <a:xfrm>
            <a:off x="6874371" y="4137422"/>
            <a:ext cx="3508622" cy="894161"/>
            <a:chOff x="0" y="-19050"/>
            <a:chExt cx="4678163" cy="1192213"/>
          </a:xfrm>
        </p:grpSpPr>
        <p:sp>
          <p:nvSpPr>
            <p:cNvPr id="401" name="Google Shape;401;p11"/>
            <p:cNvSpPr/>
            <p:nvPr/>
          </p:nvSpPr>
          <p:spPr>
            <a:xfrm>
              <a:off x="0" y="0"/>
              <a:ext cx="4678163" cy="1173163"/>
            </a:xfrm>
            <a:custGeom>
              <a:rect b="b" l="l" r="r" t="t"/>
              <a:pathLst>
                <a:path extrusionOk="0" h="1173163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173163"/>
                  </a:lnTo>
                  <a:lnTo>
                    <a:pt x="0" y="1173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2" name="Google Shape;402;p11"/>
            <p:cNvSpPr txBox="1"/>
            <p:nvPr/>
          </p:nvSpPr>
          <p:spPr>
            <a:xfrm>
              <a:off x="0" y="-19050"/>
              <a:ext cx="4678163" cy="119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Adaptación y Capacitación</a:t>
              </a:r>
              <a:endParaRPr/>
            </a:p>
          </p:txBody>
        </p:sp>
      </p:grpSp>
      <p:grpSp>
        <p:nvGrpSpPr>
          <p:cNvPr id="403" name="Google Shape;403;p11"/>
          <p:cNvGrpSpPr/>
          <p:nvPr/>
        </p:nvGrpSpPr>
        <p:grpSpPr>
          <a:xfrm>
            <a:off x="6874371" y="5139631"/>
            <a:ext cx="3508622" cy="1507778"/>
            <a:chOff x="0" y="-95250"/>
            <a:chExt cx="4678163" cy="2010370"/>
          </a:xfrm>
        </p:grpSpPr>
        <p:sp>
          <p:nvSpPr>
            <p:cNvPr id="404" name="Google Shape;404;p11"/>
            <p:cNvSpPr/>
            <p:nvPr/>
          </p:nvSpPr>
          <p:spPr>
            <a:xfrm>
              <a:off x="0" y="0"/>
              <a:ext cx="4678163" cy="1915120"/>
            </a:xfrm>
            <a:custGeom>
              <a:rect b="b" l="l" r="r" t="t"/>
              <a:pathLst>
                <a:path extrusionOk="0" h="1915120" w="4678163">
                  <a:moveTo>
                    <a:pt x="0" y="0"/>
                  </a:moveTo>
                  <a:lnTo>
                    <a:pt x="4678163" y="0"/>
                  </a:lnTo>
                  <a:lnTo>
                    <a:pt x="4678163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5" name="Google Shape;405;p11"/>
            <p:cNvSpPr txBox="1"/>
            <p:nvPr/>
          </p:nvSpPr>
          <p:spPr>
            <a:xfrm>
              <a:off x="0" y="-95250"/>
              <a:ext cx="4678163" cy="2010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Preparar usuarios para usar efectivamente las herramientas.</a:t>
              </a:r>
              <a:endParaRPr/>
            </a:p>
          </p:txBody>
        </p:sp>
      </p:grpSp>
      <p:sp>
        <p:nvSpPr>
          <p:cNvPr id="406" name="Google Shape;406;p11"/>
          <p:cNvSpPr/>
          <p:nvPr/>
        </p:nvSpPr>
        <p:spPr>
          <a:xfrm>
            <a:off x="1047155" y="7245846"/>
            <a:ext cx="673132" cy="673132"/>
          </a:xfrm>
          <a:custGeom>
            <a:rect b="b" l="l" r="r" t="t"/>
            <a:pathLst>
              <a:path extrusionOk="0" h="897509" w="897509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837692" y="0"/>
                </a:lnTo>
                <a:cubicBezTo>
                  <a:pt x="870712" y="0"/>
                  <a:pt x="897509" y="26797"/>
                  <a:pt x="897509" y="59817"/>
                </a:cubicBezTo>
                <a:lnTo>
                  <a:pt x="897509" y="837692"/>
                </a:lnTo>
                <a:cubicBezTo>
                  <a:pt x="897509" y="870712"/>
                  <a:pt x="870712" y="897509"/>
                  <a:pt x="837692" y="897509"/>
                </a:cubicBezTo>
                <a:lnTo>
                  <a:pt x="59817" y="897509"/>
                </a:lnTo>
                <a:cubicBezTo>
                  <a:pt x="26797" y="897509"/>
                  <a:pt x="0" y="870712"/>
                  <a:pt x="0" y="837692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11"/>
          <p:cNvGrpSpPr/>
          <p:nvPr/>
        </p:nvGrpSpPr>
        <p:grpSpPr>
          <a:xfrm>
            <a:off x="2019449" y="7334399"/>
            <a:ext cx="4376441" cy="454223"/>
            <a:chOff x="0" y="-19050"/>
            <a:chExt cx="5835254" cy="605632"/>
          </a:xfrm>
        </p:grpSpPr>
        <p:sp>
          <p:nvSpPr>
            <p:cNvPr id="408" name="Google Shape;408;p11"/>
            <p:cNvSpPr/>
            <p:nvPr/>
          </p:nvSpPr>
          <p:spPr>
            <a:xfrm>
              <a:off x="0" y="0"/>
              <a:ext cx="5835254" cy="586582"/>
            </a:xfrm>
            <a:custGeom>
              <a:rect b="b" l="l" r="r" t="t"/>
              <a:pathLst>
                <a:path extrusionOk="0" h="586582" w="5835254">
                  <a:moveTo>
                    <a:pt x="0" y="0"/>
                  </a:moveTo>
                  <a:lnTo>
                    <a:pt x="5835254" y="0"/>
                  </a:lnTo>
                  <a:lnTo>
                    <a:pt x="5835254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9" name="Google Shape;409;p11"/>
            <p:cNvSpPr txBox="1"/>
            <p:nvPr/>
          </p:nvSpPr>
          <p:spPr>
            <a:xfrm>
              <a:off x="0" y="-19050"/>
              <a:ext cx="5835253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Protección de Información</a:t>
              </a:r>
              <a:endParaRPr/>
            </a:p>
          </p:txBody>
        </p:sp>
      </p:grpSp>
      <p:grpSp>
        <p:nvGrpSpPr>
          <p:cNvPr id="410" name="Google Shape;410;p11"/>
          <p:cNvGrpSpPr/>
          <p:nvPr/>
        </p:nvGrpSpPr>
        <p:grpSpPr>
          <a:xfrm>
            <a:off x="2019449" y="7896671"/>
            <a:ext cx="8363396" cy="550218"/>
            <a:chOff x="0" y="-95250"/>
            <a:chExt cx="11151195" cy="733623"/>
          </a:xfrm>
        </p:grpSpPr>
        <p:sp>
          <p:nvSpPr>
            <p:cNvPr id="411" name="Google Shape;411;p11"/>
            <p:cNvSpPr/>
            <p:nvPr/>
          </p:nvSpPr>
          <p:spPr>
            <a:xfrm>
              <a:off x="0" y="0"/>
              <a:ext cx="11151195" cy="638373"/>
            </a:xfrm>
            <a:custGeom>
              <a:rect b="b" l="l" r="r" t="t"/>
              <a:pathLst>
                <a:path extrusionOk="0" h="638373" w="11151195">
                  <a:moveTo>
                    <a:pt x="0" y="0"/>
                  </a:moveTo>
                  <a:lnTo>
                    <a:pt x="11151195" y="0"/>
                  </a:lnTo>
                  <a:lnTo>
                    <a:pt x="1115119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2" name="Google Shape;412;p11"/>
            <p:cNvSpPr txBox="1"/>
            <p:nvPr/>
          </p:nvSpPr>
          <p:spPr>
            <a:xfrm>
              <a:off x="0" y="-95250"/>
              <a:ext cx="1115119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Asegurar actualización y seguridad de datos corporativos.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422" name="Google Shape;422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grpSp>
        <p:nvGrpSpPr>
          <p:cNvPr id="423" name="Google Shape;423;p12"/>
          <p:cNvGrpSpPr/>
          <p:nvPr/>
        </p:nvGrpSpPr>
        <p:grpSpPr>
          <a:xfrm>
            <a:off x="1047155" y="1052364"/>
            <a:ext cx="12662148" cy="894308"/>
            <a:chOff x="0" y="-19050"/>
            <a:chExt cx="16882864" cy="1192412"/>
          </a:xfrm>
        </p:grpSpPr>
        <p:sp>
          <p:nvSpPr>
            <p:cNvPr id="424" name="Google Shape;424;p12"/>
            <p:cNvSpPr/>
            <p:nvPr/>
          </p:nvSpPr>
          <p:spPr>
            <a:xfrm>
              <a:off x="0" y="0"/>
              <a:ext cx="16882864" cy="1173362"/>
            </a:xfrm>
            <a:custGeom>
              <a:rect b="b" l="l" r="r" t="t"/>
              <a:pathLst>
                <a:path extrusionOk="0" h="1173362" w="16882864">
                  <a:moveTo>
                    <a:pt x="0" y="0"/>
                  </a:moveTo>
                  <a:lnTo>
                    <a:pt x="16882864" y="0"/>
                  </a:lnTo>
                  <a:lnTo>
                    <a:pt x="16882864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5" name="Google Shape;425;p12"/>
            <p:cNvSpPr txBox="1"/>
            <p:nvPr/>
          </p:nvSpPr>
          <p:spPr>
            <a:xfrm>
              <a:off x="0" y="-19050"/>
              <a:ext cx="16882863" cy="1192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Futuro de la Gestión del Conocimiento</a:t>
              </a:r>
              <a:endParaRPr/>
            </a:p>
          </p:txBody>
        </p:sp>
      </p:grpSp>
      <p:sp>
        <p:nvSpPr>
          <p:cNvPr descr="preencoded.png" id="426" name="Google Shape;426;p12"/>
          <p:cNvSpPr/>
          <p:nvPr/>
        </p:nvSpPr>
        <p:spPr>
          <a:xfrm>
            <a:off x="3759548" y="2545110"/>
            <a:ext cx="2671911" cy="2175272"/>
          </a:xfrm>
          <a:custGeom>
            <a:rect b="b" l="l" r="r" t="t"/>
            <a:pathLst>
              <a:path extrusionOk="0" h="2175272" w="2671911">
                <a:moveTo>
                  <a:pt x="0" y="0"/>
                </a:moveTo>
                <a:lnTo>
                  <a:pt x="2671911" y="0"/>
                </a:lnTo>
                <a:lnTo>
                  <a:pt x="2671911" y="2175272"/>
                </a:lnTo>
                <a:lnTo>
                  <a:pt x="0" y="2175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7" r="-167" t="0"/>
            </a:stretch>
          </a:blipFill>
          <a:ln>
            <a:noFill/>
          </a:ln>
        </p:spPr>
      </p:sp>
      <p:grpSp>
        <p:nvGrpSpPr>
          <p:cNvPr id="427" name="Google Shape;427;p12"/>
          <p:cNvGrpSpPr/>
          <p:nvPr/>
        </p:nvGrpSpPr>
        <p:grpSpPr>
          <a:xfrm>
            <a:off x="4884985" y="3565326"/>
            <a:ext cx="420737" cy="611684"/>
            <a:chOff x="0" y="-114300"/>
            <a:chExt cx="560983" cy="815578"/>
          </a:xfrm>
        </p:grpSpPr>
        <p:sp>
          <p:nvSpPr>
            <p:cNvPr id="428" name="Google Shape;428;p12"/>
            <p:cNvSpPr/>
            <p:nvPr/>
          </p:nvSpPr>
          <p:spPr>
            <a:xfrm>
              <a:off x="0" y="0"/>
              <a:ext cx="560983" cy="701278"/>
            </a:xfrm>
            <a:custGeom>
              <a:rect b="b" l="l" r="r" t="t"/>
              <a:pathLst>
                <a:path extrusionOk="0" h="701278" w="560983">
                  <a:moveTo>
                    <a:pt x="0" y="0"/>
                  </a:moveTo>
                  <a:lnTo>
                    <a:pt x="560983" y="0"/>
                  </a:lnTo>
                  <a:lnTo>
                    <a:pt x="560983" y="701278"/>
                  </a:lnTo>
                  <a:lnTo>
                    <a:pt x="0" y="7012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9" name="Google Shape;429;p12"/>
            <p:cNvSpPr txBox="1"/>
            <p:nvPr/>
          </p:nvSpPr>
          <p:spPr>
            <a:xfrm>
              <a:off x="0" y="-114300"/>
              <a:ext cx="560983" cy="815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85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  <a:endParaRPr/>
            </a:p>
          </p:txBody>
        </p:sp>
      </p:grpSp>
      <p:grpSp>
        <p:nvGrpSpPr>
          <p:cNvPr id="430" name="Google Shape;430;p12"/>
          <p:cNvGrpSpPr/>
          <p:nvPr/>
        </p:nvGrpSpPr>
        <p:grpSpPr>
          <a:xfrm>
            <a:off x="6730602" y="3069283"/>
            <a:ext cx="3520231" cy="454223"/>
            <a:chOff x="0" y="-19050"/>
            <a:chExt cx="4693642" cy="605632"/>
          </a:xfrm>
        </p:grpSpPr>
        <p:sp>
          <p:nvSpPr>
            <p:cNvPr id="431" name="Google Shape;431;p12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2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Inteligencia Artificial</a:t>
              </a:r>
              <a:endParaRPr/>
            </a:p>
          </p:txBody>
        </p:sp>
      </p:grpSp>
      <p:grpSp>
        <p:nvGrpSpPr>
          <p:cNvPr id="433" name="Google Shape;433;p12"/>
          <p:cNvGrpSpPr/>
          <p:nvPr/>
        </p:nvGrpSpPr>
        <p:grpSpPr>
          <a:xfrm>
            <a:off x="6730602" y="3631554"/>
            <a:ext cx="6239916" cy="550218"/>
            <a:chOff x="0" y="-95250"/>
            <a:chExt cx="8319888" cy="733623"/>
          </a:xfrm>
        </p:grpSpPr>
        <p:sp>
          <p:nvSpPr>
            <p:cNvPr id="434" name="Google Shape;434;p12"/>
            <p:cNvSpPr/>
            <p:nvPr/>
          </p:nvSpPr>
          <p:spPr>
            <a:xfrm>
              <a:off x="0" y="0"/>
              <a:ext cx="8319888" cy="638373"/>
            </a:xfrm>
            <a:custGeom>
              <a:rect b="b" l="l" r="r" t="t"/>
              <a:pathLst>
                <a:path extrusionOk="0" h="638373" w="8319888">
                  <a:moveTo>
                    <a:pt x="0" y="0"/>
                  </a:moveTo>
                  <a:lnTo>
                    <a:pt x="8319888" y="0"/>
                  </a:lnTo>
                  <a:lnTo>
                    <a:pt x="8319888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5" name="Google Shape;435;p12"/>
            <p:cNvSpPr txBox="1"/>
            <p:nvPr/>
          </p:nvSpPr>
          <p:spPr>
            <a:xfrm>
              <a:off x="0" y="-95250"/>
              <a:ext cx="8319888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Análisis y predicción de conocimientos relevantes.</a:t>
              </a:r>
              <a:endParaRPr/>
            </a:p>
          </p:txBody>
        </p:sp>
      </p:grpSp>
      <p:sp>
        <p:nvSpPr>
          <p:cNvPr id="436" name="Google Shape;436;p12"/>
          <p:cNvSpPr/>
          <p:nvPr/>
        </p:nvSpPr>
        <p:spPr>
          <a:xfrm>
            <a:off x="6506170" y="4738687"/>
            <a:ext cx="10659999" cy="19050"/>
          </a:xfrm>
          <a:custGeom>
            <a:rect b="b" l="l" r="r" t="t"/>
            <a:pathLst>
              <a:path extrusionOk="0" h="25400" w="14213332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4200632" y="0"/>
                </a:lnTo>
                <a:cubicBezTo>
                  <a:pt x="14207618" y="0"/>
                  <a:pt x="14213332" y="5715"/>
                  <a:pt x="14213332" y="12700"/>
                </a:cubicBezTo>
                <a:cubicBezTo>
                  <a:pt x="14213332" y="19685"/>
                  <a:pt x="14207618" y="25400"/>
                  <a:pt x="14200632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437" name="Google Shape;437;p12"/>
          <p:cNvSpPr/>
          <p:nvPr/>
        </p:nvSpPr>
        <p:spPr>
          <a:xfrm>
            <a:off x="2423518" y="4795094"/>
            <a:ext cx="5343822" cy="2175272"/>
          </a:xfrm>
          <a:custGeom>
            <a:rect b="b" l="l" r="r" t="t"/>
            <a:pathLst>
              <a:path extrusionOk="0" h="2175272" w="5343822">
                <a:moveTo>
                  <a:pt x="0" y="0"/>
                </a:moveTo>
                <a:lnTo>
                  <a:pt x="5343822" y="0"/>
                </a:lnTo>
                <a:lnTo>
                  <a:pt x="5343822" y="2175272"/>
                </a:lnTo>
                <a:lnTo>
                  <a:pt x="0" y="2175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8" r="-77" t="0"/>
            </a:stretch>
          </a:blipFill>
          <a:ln>
            <a:noFill/>
          </a:ln>
        </p:spPr>
      </p:sp>
      <p:grpSp>
        <p:nvGrpSpPr>
          <p:cNvPr id="438" name="Google Shape;438;p12"/>
          <p:cNvGrpSpPr/>
          <p:nvPr/>
        </p:nvGrpSpPr>
        <p:grpSpPr>
          <a:xfrm>
            <a:off x="4884985" y="5534025"/>
            <a:ext cx="420737" cy="611684"/>
            <a:chOff x="0" y="-114300"/>
            <a:chExt cx="560983" cy="815578"/>
          </a:xfrm>
        </p:grpSpPr>
        <p:sp>
          <p:nvSpPr>
            <p:cNvPr id="439" name="Google Shape;439;p12"/>
            <p:cNvSpPr/>
            <p:nvPr/>
          </p:nvSpPr>
          <p:spPr>
            <a:xfrm>
              <a:off x="0" y="0"/>
              <a:ext cx="560983" cy="701278"/>
            </a:xfrm>
            <a:custGeom>
              <a:rect b="b" l="l" r="r" t="t"/>
              <a:pathLst>
                <a:path extrusionOk="0" h="701278" w="560983">
                  <a:moveTo>
                    <a:pt x="0" y="0"/>
                  </a:moveTo>
                  <a:lnTo>
                    <a:pt x="560983" y="0"/>
                  </a:lnTo>
                  <a:lnTo>
                    <a:pt x="560983" y="701278"/>
                  </a:lnTo>
                  <a:lnTo>
                    <a:pt x="0" y="7012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0" name="Google Shape;440;p12"/>
            <p:cNvSpPr txBox="1"/>
            <p:nvPr/>
          </p:nvSpPr>
          <p:spPr>
            <a:xfrm>
              <a:off x="0" y="-114300"/>
              <a:ext cx="560983" cy="815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85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  <a:endParaRPr/>
            </a:p>
          </p:txBody>
        </p:sp>
      </p:grpSp>
      <p:grpSp>
        <p:nvGrpSpPr>
          <p:cNvPr id="441" name="Google Shape;441;p12"/>
          <p:cNvGrpSpPr/>
          <p:nvPr/>
        </p:nvGrpSpPr>
        <p:grpSpPr>
          <a:xfrm>
            <a:off x="8066484" y="5319267"/>
            <a:ext cx="3520231" cy="454223"/>
            <a:chOff x="0" y="-19050"/>
            <a:chExt cx="4693642" cy="605632"/>
          </a:xfrm>
        </p:grpSpPr>
        <p:sp>
          <p:nvSpPr>
            <p:cNvPr id="442" name="Google Shape;442;p12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3" name="Google Shape;443;p12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Automatización</a:t>
              </a:r>
              <a:endParaRPr/>
            </a:p>
          </p:txBody>
        </p:sp>
      </p:grpSp>
      <p:grpSp>
        <p:nvGrpSpPr>
          <p:cNvPr id="444" name="Google Shape;444;p12"/>
          <p:cNvGrpSpPr/>
          <p:nvPr/>
        </p:nvGrpSpPr>
        <p:grpSpPr>
          <a:xfrm>
            <a:off x="8066484" y="5881538"/>
            <a:ext cx="6273701" cy="550218"/>
            <a:chOff x="0" y="-95250"/>
            <a:chExt cx="8364935" cy="733623"/>
          </a:xfrm>
        </p:grpSpPr>
        <p:sp>
          <p:nvSpPr>
            <p:cNvPr id="445" name="Google Shape;445;p12"/>
            <p:cNvSpPr/>
            <p:nvPr/>
          </p:nvSpPr>
          <p:spPr>
            <a:xfrm>
              <a:off x="0" y="0"/>
              <a:ext cx="8364935" cy="638373"/>
            </a:xfrm>
            <a:custGeom>
              <a:rect b="b" l="l" r="r" t="t"/>
              <a:pathLst>
                <a:path extrusionOk="0" h="638373" w="8364935">
                  <a:moveTo>
                    <a:pt x="0" y="0"/>
                  </a:moveTo>
                  <a:lnTo>
                    <a:pt x="8364935" y="0"/>
                  </a:lnTo>
                  <a:lnTo>
                    <a:pt x="836493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2"/>
            <p:cNvSpPr txBox="1"/>
            <p:nvPr/>
          </p:nvSpPr>
          <p:spPr>
            <a:xfrm>
              <a:off x="0" y="-95250"/>
              <a:ext cx="836493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Capacitación y soporte más eficientes y continuos.</a:t>
              </a:r>
              <a:endParaRPr/>
            </a:p>
          </p:txBody>
        </p:sp>
      </p:grpSp>
      <p:sp>
        <p:nvSpPr>
          <p:cNvPr id="447" name="Google Shape;447;p12"/>
          <p:cNvSpPr/>
          <p:nvPr/>
        </p:nvSpPr>
        <p:spPr>
          <a:xfrm>
            <a:off x="7842051" y="6988671"/>
            <a:ext cx="9324118" cy="19050"/>
          </a:xfrm>
          <a:custGeom>
            <a:rect b="b" l="l" r="r" t="t"/>
            <a:pathLst>
              <a:path extrusionOk="0" h="25400" w="12432157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2419457" y="0"/>
                </a:lnTo>
                <a:cubicBezTo>
                  <a:pt x="12426442" y="0"/>
                  <a:pt x="12432157" y="5715"/>
                  <a:pt x="12432157" y="12700"/>
                </a:cubicBezTo>
                <a:cubicBezTo>
                  <a:pt x="12432157" y="19685"/>
                  <a:pt x="12426442" y="25400"/>
                  <a:pt x="12419457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5D6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448" name="Google Shape;448;p12"/>
          <p:cNvSpPr/>
          <p:nvPr/>
        </p:nvSpPr>
        <p:spPr>
          <a:xfrm>
            <a:off x="1087636" y="7045077"/>
            <a:ext cx="8015734" cy="2175272"/>
          </a:xfrm>
          <a:custGeom>
            <a:rect b="b" l="l" r="r" t="t"/>
            <a:pathLst>
              <a:path extrusionOk="0" h="2175272" w="8015734">
                <a:moveTo>
                  <a:pt x="0" y="0"/>
                </a:moveTo>
                <a:lnTo>
                  <a:pt x="8015734" y="0"/>
                </a:lnTo>
                <a:lnTo>
                  <a:pt x="8015734" y="2175273"/>
                </a:lnTo>
                <a:lnTo>
                  <a:pt x="0" y="2175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8" r="-107" t="0"/>
            </a:stretch>
          </a:blipFill>
          <a:ln>
            <a:noFill/>
          </a:ln>
        </p:spPr>
      </p:sp>
      <p:grpSp>
        <p:nvGrpSpPr>
          <p:cNvPr id="449" name="Google Shape;449;p12"/>
          <p:cNvGrpSpPr/>
          <p:nvPr/>
        </p:nvGrpSpPr>
        <p:grpSpPr>
          <a:xfrm>
            <a:off x="4885134" y="7784009"/>
            <a:ext cx="420737" cy="611684"/>
            <a:chOff x="0" y="-114300"/>
            <a:chExt cx="560983" cy="815578"/>
          </a:xfrm>
        </p:grpSpPr>
        <p:sp>
          <p:nvSpPr>
            <p:cNvPr id="450" name="Google Shape;450;p12"/>
            <p:cNvSpPr/>
            <p:nvPr/>
          </p:nvSpPr>
          <p:spPr>
            <a:xfrm>
              <a:off x="0" y="0"/>
              <a:ext cx="560983" cy="701278"/>
            </a:xfrm>
            <a:custGeom>
              <a:rect b="b" l="l" r="r" t="t"/>
              <a:pathLst>
                <a:path extrusionOk="0" h="701278" w="560983">
                  <a:moveTo>
                    <a:pt x="0" y="0"/>
                  </a:moveTo>
                  <a:lnTo>
                    <a:pt x="560983" y="0"/>
                  </a:lnTo>
                  <a:lnTo>
                    <a:pt x="560983" y="701278"/>
                  </a:lnTo>
                  <a:lnTo>
                    <a:pt x="0" y="7012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1" name="Google Shape;451;p12"/>
            <p:cNvSpPr txBox="1"/>
            <p:nvPr/>
          </p:nvSpPr>
          <p:spPr>
            <a:xfrm>
              <a:off x="0" y="-114300"/>
              <a:ext cx="560983" cy="815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85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  <a:endParaRPr/>
            </a:p>
          </p:txBody>
        </p:sp>
      </p:grpSp>
      <p:grpSp>
        <p:nvGrpSpPr>
          <p:cNvPr id="452" name="Google Shape;452;p12"/>
          <p:cNvGrpSpPr/>
          <p:nvPr/>
        </p:nvGrpSpPr>
        <p:grpSpPr>
          <a:xfrm>
            <a:off x="9402515" y="7329934"/>
            <a:ext cx="3520231" cy="454223"/>
            <a:chOff x="0" y="-19050"/>
            <a:chExt cx="4693642" cy="605632"/>
          </a:xfrm>
        </p:grpSpPr>
        <p:sp>
          <p:nvSpPr>
            <p:cNvPr id="453" name="Google Shape;453;p12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4" name="Google Shape;454;p12"/>
            <p:cNvSpPr txBox="1"/>
            <p:nvPr/>
          </p:nvSpPr>
          <p:spPr>
            <a:xfrm>
              <a:off x="0" y="-19050"/>
              <a:ext cx="4693642" cy="605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Integración Móvil</a:t>
              </a:r>
              <a:endParaRPr/>
            </a:p>
          </p:txBody>
        </p:sp>
      </p:grpSp>
      <p:grpSp>
        <p:nvGrpSpPr>
          <p:cNvPr id="455" name="Google Shape;455;p12"/>
          <p:cNvGrpSpPr/>
          <p:nvPr/>
        </p:nvGrpSpPr>
        <p:grpSpPr>
          <a:xfrm>
            <a:off x="9402515" y="7892207"/>
            <a:ext cx="7539186" cy="1028997"/>
            <a:chOff x="0" y="-95250"/>
            <a:chExt cx="10052248" cy="1371997"/>
          </a:xfrm>
        </p:grpSpPr>
        <p:sp>
          <p:nvSpPr>
            <p:cNvPr id="456" name="Google Shape;456;p12"/>
            <p:cNvSpPr/>
            <p:nvPr/>
          </p:nvSpPr>
          <p:spPr>
            <a:xfrm>
              <a:off x="0" y="0"/>
              <a:ext cx="10052248" cy="1276747"/>
            </a:xfrm>
            <a:custGeom>
              <a:rect b="b" l="l" r="r" t="t"/>
              <a:pathLst>
                <a:path extrusionOk="0" h="1276747" w="10052248">
                  <a:moveTo>
                    <a:pt x="0" y="0"/>
                  </a:moveTo>
                  <a:lnTo>
                    <a:pt x="10052248" y="0"/>
                  </a:lnTo>
                  <a:lnTo>
                    <a:pt x="10052248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7" name="Google Shape;457;p12"/>
            <p:cNvSpPr txBox="1"/>
            <p:nvPr/>
          </p:nvSpPr>
          <p:spPr>
            <a:xfrm>
              <a:off x="0" y="-95250"/>
              <a:ext cx="10052248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Herramientas colaborativas accesibles desde cualquier lugar.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467" name="Google Shape;467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grpSp>
        <p:nvGrpSpPr>
          <p:cNvPr id="468" name="Google Shape;468;p13"/>
          <p:cNvGrpSpPr/>
          <p:nvPr/>
        </p:nvGrpSpPr>
        <p:grpSpPr>
          <a:xfrm>
            <a:off x="1047155" y="3716834"/>
            <a:ext cx="7040613" cy="894308"/>
            <a:chOff x="0" y="-19050"/>
            <a:chExt cx="9387484" cy="1192412"/>
          </a:xfrm>
        </p:grpSpPr>
        <p:sp>
          <p:nvSpPr>
            <p:cNvPr id="469" name="Google Shape;469;p13"/>
            <p:cNvSpPr/>
            <p:nvPr/>
          </p:nvSpPr>
          <p:spPr>
            <a:xfrm>
              <a:off x="0" y="0"/>
              <a:ext cx="9387484" cy="1173362"/>
            </a:xfrm>
            <a:custGeom>
              <a:rect b="b" l="l" r="r" t="t"/>
              <a:pathLst>
                <a:path extrusionOk="0" h="1173362" w="9387484">
                  <a:moveTo>
                    <a:pt x="0" y="0"/>
                  </a:moveTo>
                  <a:lnTo>
                    <a:pt x="9387484" y="0"/>
                  </a:lnTo>
                  <a:lnTo>
                    <a:pt x="9387484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0" name="Google Shape;470;p13"/>
            <p:cNvSpPr txBox="1"/>
            <p:nvPr/>
          </p:nvSpPr>
          <p:spPr>
            <a:xfrm>
              <a:off x="0" y="-19050"/>
              <a:ext cx="9387483" cy="1192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00" u="none" cap="none" strike="noStrike">
                  <a:solidFill>
                    <a:srgbClr val="F98AC7"/>
                  </a:solidFill>
                  <a:latin typeface="Lora"/>
                  <a:ea typeface="Lora"/>
                  <a:cs typeface="Lora"/>
                  <a:sym typeface="Lora"/>
                </a:rPr>
                <a:t>Conclusiones Clave</a:t>
              </a:r>
              <a:endParaRPr/>
            </a:p>
          </p:txBody>
        </p:sp>
      </p:grpSp>
      <p:grpSp>
        <p:nvGrpSpPr>
          <p:cNvPr id="471" name="Google Shape;471;p13"/>
          <p:cNvGrpSpPr/>
          <p:nvPr/>
        </p:nvGrpSpPr>
        <p:grpSpPr>
          <a:xfrm>
            <a:off x="1047155" y="5257652"/>
            <a:ext cx="4910732" cy="1028997"/>
            <a:chOff x="0" y="-95250"/>
            <a:chExt cx="6547643" cy="1371997"/>
          </a:xfrm>
        </p:grpSpPr>
        <p:sp>
          <p:nvSpPr>
            <p:cNvPr id="472" name="Google Shape;472;p13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3" name="Google Shape;473;p13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Las TIC son cruciales para gestionar el conocimiento exitosamente.</a:t>
              </a:r>
              <a:endParaRPr/>
            </a:p>
          </p:txBody>
        </p:sp>
      </p:grpSp>
      <p:grpSp>
        <p:nvGrpSpPr>
          <p:cNvPr id="474" name="Google Shape;474;p13"/>
          <p:cNvGrpSpPr/>
          <p:nvPr/>
        </p:nvGrpSpPr>
        <p:grpSpPr>
          <a:xfrm>
            <a:off x="6697266" y="5257652"/>
            <a:ext cx="4910732" cy="1028997"/>
            <a:chOff x="0" y="-95250"/>
            <a:chExt cx="6547643" cy="1371997"/>
          </a:xfrm>
        </p:grpSpPr>
        <p:sp>
          <p:nvSpPr>
            <p:cNvPr id="475" name="Google Shape;475;p13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6" name="Google Shape;476;p13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Herramientas digitales fomentan eficiencia, colaboración y retención.</a:t>
              </a:r>
              <a:endParaRPr/>
            </a:p>
          </p:txBody>
        </p:sp>
      </p:grpSp>
      <p:grpSp>
        <p:nvGrpSpPr>
          <p:cNvPr id="477" name="Google Shape;477;p13"/>
          <p:cNvGrpSpPr/>
          <p:nvPr/>
        </p:nvGrpSpPr>
        <p:grpSpPr>
          <a:xfrm>
            <a:off x="12347376" y="5257652"/>
            <a:ext cx="4910732" cy="1028997"/>
            <a:chOff x="0" y="-95250"/>
            <a:chExt cx="6547643" cy="1371997"/>
          </a:xfrm>
        </p:grpSpPr>
        <p:sp>
          <p:nvSpPr>
            <p:cNvPr id="478" name="Google Shape;478;p13"/>
            <p:cNvSpPr/>
            <p:nvPr/>
          </p:nvSpPr>
          <p:spPr>
            <a:xfrm>
              <a:off x="0" y="0"/>
              <a:ext cx="6547643" cy="1276747"/>
            </a:xfrm>
            <a:custGeom>
              <a:rect b="b" l="l" r="r" t="t"/>
              <a:pathLst>
                <a:path extrusionOk="0" h="1276747" w="6547643">
                  <a:moveTo>
                    <a:pt x="0" y="0"/>
                  </a:moveTo>
                  <a:lnTo>
                    <a:pt x="6547643" y="0"/>
                  </a:lnTo>
                  <a:lnTo>
                    <a:pt x="65476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9" name="Google Shape;479;p13"/>
            <p:cNvSpPr txBox="1"/>
            <p:nvPr/>
          </p:nvSpPr>
          <p:spPr>
            <a:xfrm>
              <a:off x="0" y="-95250"/>
              <a:ext cx="65476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D6E5EF"/>
                  </a:solidFill>
                  <a:latin typeface="Arial"/>
                  <a:ea typeface="Arial"/>
                  <a:cs typeface="Arial"/>
                  <a:sym typeface="Arial"/>
                </a:rPr>
                <a:t>La innovación tecnológica guiará la evolución futura del sector.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485" name="Google Shape;485;p14"/>
          <p:cNvSpPr txBox="1"/>
          <p:nvPr/>
        </p:nvSpPr>
        <p:spPr>
          <a:xfrm>
            <a:off x="1939954" y="4358597"/>
            <a:ext cx="13506718" cy="38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Business Analytics: Facilita decisiones estratégicas mediante análisis de datos.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Integración con sistemas: BA se alimenta de datos de distintos sistemas de información.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Gestión del conocimiento: Proceso de capturar, organizar y compartir el saber interno.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HONESTIDAD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496" name="Google Shape;496;p16"/>
          <p:cNvSpPr txBox="1"/>
          <p:nvPr/>
        </p:nvSpPr>
        <p:spPr>
          <a:xfrm>
            <a:off x="3416041" y="4435592"/>
            <a:ext cx="11455919" cy="1101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https://www.ibm.com/es-es/topics/knowledge-management</a:t>
            </a:r>
            <a:endParaRPr/>
          </a:p>
        </p:txBody>
      </p:sp>
      <p:pic>
        <p:nvPicPr>
          <p:cNvPr id="497" name="Google Shape;4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5" name="Google Shape;505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