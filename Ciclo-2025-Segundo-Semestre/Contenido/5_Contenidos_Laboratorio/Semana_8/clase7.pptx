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10287000" cx="18288000"/>
  <p:notesSz cx="6858000" cy="9144000"/>
  <p:embeddedFontLst>
    <p:embeddedFont>
      <p:font typeface="Play"/>
      <p:regular r:id="rId25"/>
      <p:bold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Arimo"/>
      <p:regular r:id="rId31"/>
      <p:bold r:id="rId32"/>
      <p:italic r:id="rId33"/>
      <p:boldItalic r:id="rId34"/>
    </p:embeddedFont>
    <p:embeddedFont>
      <p:font typeface="Open Sans"/>
      <p:bold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7" roundtripDataSignature="AMtx7miw5pLetv6LBAaiiXvPQ0FTAS1P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5739CD9-73A3-4867-8270-BF3FF6641A1E}">
  <a:tblStyle styleId="{45739CD9-73A3-4867-8270-BF3FF6641A1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ay-bold.fntdata"/><Relationship Id="rId25" Type="http://schemas.openxmlformats.org/officeDocument/2006/relationships/font" Target="fonts/Play-regular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rimo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33" Type="http://schemas.openxmlformats.org/officeDocument/2006/relationships/font" Target="fonts/Arimo-italic.fntdata"/><Relationship Id="rId10" Type="http://schemas.openxmlformats.org/officeDocument/2006/relationships/slide" Target="slides/slide4.xml"/><Relationship Id="rId32" Type="http://schemas.openxmlformats.org/officeDocument/2006/relationships/font" Target="fonts/Arimo-bold.fntdata"/><Relationship Id="rId13" Type="http://schemas.openxmlformats.org/officeDocument/2006/relationships/slide" Target="slides/slide7.xml"/><Relationship Id="rId35" Type="http://schemas.openxmlformats.org/officeDocument/2006/relationships/font" Target="fonts/OpenSans-bold.fntdata"/><Relationship Id="rId12" Type="http://schemas.openxmlformats.org/officeDocument/2006/relationships/slide" Target="slides/slide6.xml"/><Relationship Id="rId34" Type="http://schemas.openxmlformats.org/officeDocument/2006/relationships/font" Target="fonts/Arimo-boldItalic.fntdata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0b94e78c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a0b94e78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4" name="Google Shape;154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5" name="Google Shape;155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157" name="Google Shape;157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8" name="Google Shape;158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4" name="Google Shape;174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5" name="Google Shape;175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177" name="Google Shape;177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8" name="Google Shape;178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5" name="Google Shape;215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6" name="Google Shape;216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218" name="Google Shape;218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9" name="Google Shape;219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2" name="Google Shape;252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53" name="Google Shape;253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255" name="Google Shape;255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6" name="Google Shape;256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7" name="Google Shape;287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88" name="Google Shape;288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290" name="Google Shape;290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1" name="Google Shape;291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7" name="Google Shape;337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38" name="Google Shape;338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340" name="Google Shape;340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41" name="Google Shape;341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68" name="Google Shape;368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69" name="Google Shape;369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</a:t>
            </a:r>
            <a:endParaRPr/>
          </a:p>
        </p:txBody>
      </p:sp>
      <p:sp>
        <p:nvSpPr>
          <p:cNvPr id="371" name="Google Shape;371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72" name="Google Shape;372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00" name="Google Shape;400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01" name="Google Shape;401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</p:txBody>
      </p:sp>
      <p:sp>
        <p:nvSpPr>
          <p:cNvPr id="403" name="Google Shape;403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04" name="Google Shape;404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41" name="Google Shape;441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42" name="Google Shape;442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</a:t>
            </a:r>
            <a:endParaRPr/>
          </a:p>
        </p:txBody>
      </p:sp>
      <p:sp>
        <p:nvSpPr>
          <p:cNvPr id="444" name="Google Shape;444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45" name="Google Shape;445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76" name="Google Shape;476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77" name="Google Shape;477;p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</a:t>
            </a:r>
            <a:endParaRPr/>
          </a:p>
        </p:txBody>
      </p:sp>
      <p:sp>
        <p:nvSpPr>
          <p:cNvPr id="479" name="Google Shape;479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80" name="Google Shape;480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5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0b94e78c7_0_8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g3a0b94e78c7_0_86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g3a0b94e78c7_0_8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hyperlink" Target="https://youtu.be/AnNfaF3z_SM" TargetMode="External"/><Relationship Id="rId6" Type="http://schemas.openxmlformats.org/officeDocument/2006/relationships/hyperlink" Target="https://youtu.be/AnNfaF3z_S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g3a0b94e78c7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3" y="1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" name="Google Shape;93;g3a0b94e78c7_0_0"/>
          <p:cNvGraphicFramePr/>
          <p:nvPr/>
        </p:nvGraphicFramePr>
        <p:xfrm>
          <a:off x="10656401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{45739CD9-73A3-4867-8270-BF3FF6641A1E}</a:tableStyleId>
              </a:tblPr>
              <a:tblGrid>
                <a:gridCol w="3036400"/>
                <a:gridCol w="4344750"/>
              </a:tblGrid>
              <a:tr h="9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/>
                        <a:t>00</a:t>
                      </a:r>
                      <a:r>
                        <a:rPr lang="en-US" sz="3600" u="none" cap="none" strike="noStrike"/>
                        <a:t>/0</a:t>
                      </a:r>
                      <a:r>
                        <a:rPr lang="en-US" sz="3600"/>
                        <a:t>0</a:t>
                      </a:r>
                      <a:r>
                        <a:rPr lang="en-US" sz="3600" u="none" cap="none" strike="noStrike"/>
                        <a:t>/202</a:t>
                      </a:r>
                      <a:r>
                        <a:rPr lang="en-US" sz="3600"/>
                        <a:t>6</a:t>
                      </a:r>
                      <a:endParaRPr sz="3600" u="none" cap="none" strike="noStrike"/>
                    </a:p>
                  </a:txBody>
                  <a:tcPr marT="182850" marB="182850" marR="182850" marL="182850"/>
                </a:tc>
              </a:tr>
              <a:tr h="9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cap="none" strike="noStrike"/>
                        <a:t>7:00 pm</a:t>
                      </a:r>
                      <a:endParaRPr sz="3600" u="none" cap="none" strike="noStrike"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94" name="Google Shape;94;g3a0b94e78c7_0_0"/>
          <p:cNvSpPr txBox="1"/>
          <p:nvPr/>
        </p:nvSpPr>
        <p:spPr>
          <a:xfrm>
            <a:off x="2880350" y="4516600"/>
            <a:ext cx="147087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Organizacionales y Gerenciales 1 [A]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a0b94e78c7_0_0"/>
          <p:cNvSpPr txBox="1"/>
          <p:nvPr/>
        </p:nvSpPr>
        <p:spPr>
          <a:xfrm>
            <a:off x="3557400" y="5801500"/>
            <a:ext cx="11173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Tutor Academico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DF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/>
        </p:nvSpPr>
        <p:spPr>
          <a:xfrm>
            <a:off x="269140" y="7832650"/>
            <a:ext cx="14605442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Sistemas Organizacionales y Gerenciales 1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0" y="3141906"/>
            <a:ext cx="18288000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Global e-business y colaboración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1028700" y="9210675"/>
            <a:ext cx="3525292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  <p:pic>
        <p:nvPicPr>
          <p:cNvPr id="105" name="Google Shape;105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3175" y="0"/>
            <a:ext cx="11214823" cy="116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DF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2"/>
          <p:cNvGrpSpPr/>
          <p:nvPr/>
        </p:nvGrpSpPr>
        <p:grpSpPr>
          <a:xfrm>
            <a:off x="176619" y="4520484"/>
            <a:ext cx="4613551" cy="845385"/>
            <a:chOff x="0" y="-76200"/>
            <a:chExt cx="1964221" cy="359923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2" name="Google Shape;112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1</a:t>
              </a:r>
              <a:endParaRPr/>
            </a:p>
          </p:txBody>
        </p:sp>
      </p:grpSp>
      <p:sp>
        <p:nvSpPr>
          <p:cNvPr id="113" name="Google Shape;113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4" name="Google Shape;114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6" name="Google Shape;116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117" name="Google Shape;117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8" name="Google Shape;118;p2"/>
          <p:cNvGrpSpPr/>
          <p:nvPr/>
        </p:nvGrpSpPr>
        <p:grpSpPr>
          <a:xfrm>
            <a:off x="651754" y="-320617"/>
            <a:ext cx="6140237" cy="3052280"/>
            <a:chOff x="0" y="-95250"/>
            <a:chExt cx="8186982" cy="4069708"/>
          </a:xfrm>
        </p:grpSpPr>
        <p:sp>
          <p:nvSpPr>
            <p:cNvPr id="119" name="Google Shape;119;p2"/>
            <p:cNvSpPr txBox="1"/>
            <p:nvPr/>
          </p:nvSpPr>
          <p:spPr>
            <a:xfrm>
              <a:off x="0" y="986783"/>
              <a:ext cx="8186982" cy="298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/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11131715" y="97566"/>
            <a:ext cx="8416862" cy="2901857"/>
            <a:chOff x="0" y="-76200"/>
            <a:chExt cx="11222483" cy="3869143"/>
          </a:xfrm>
        </p:grpSpPr>
        <p:sp>
          <p:nvSpPr>
            <p:cNvPr id="122" name="Google Shape;122;p2"/>
            <p:cNvSpPr txBox="1"/>
            <p:nvPr/>
          </p:nvSpPr>
          <p:spPr>
            <a:xfrm>
              <a:off x="0" y="805268"/>
              <a:ext cx="11222483" cy="298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000000"/>
                  </a:solidFill>
                  <a:latin typeface="Play"/>
                  <a:ea typeface="Play"/>
                  <a:cs typeface="Play"/>
                  <a:sym typeface="Play"/>
                </a:rPr>
                <a:t>Recursos</a:t>
              </a:r>
              <a:endParaRPr/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0" y="-76200"/>
              <a:ext cx="11222483" cy="747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5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25" name="Google Shape;125;p2">
              <a:hlinkClick r:id="rId5"/>
            </p:cNvPr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6" name="Google Shape;126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99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Link del Video</a:t>
              </a:r>
              <a:endParaRPr/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28" name="Google Shape;128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9" name="Google Shape;129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/>
            </a:p>
          </p:txBody>
        </p:sp>
      </p:grpSp>
      <p:grpSp>
        <p:nvGrpSpPr>
          <p:cNvPr id="130" name="Google Shape;130;p2"/>
          <p:cNvGrpSpPr/>
          <p:nvPr/>
        </p:nvGrpSpPr>
        <p:grpSpPr>
          <a:xfrm>
            <a:off x="176619" y="5444302"/>
            <a:ext cx="4613551" cy="845385"/>
            <a:chOff x="0" y="-76200"/>
            <a:chExt cx="1964221" cy="359923"/>
          </a:xfrm>
        </p:grpSpPr>
        <p:sp>
          <p:nvSpPr>
            <p:cNvPr id="131" name="Google Shape;13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2" name="Google Shape;132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2</a:t>
              </a:r>
              <a:endParaRPr/>
            </a:p>
          </p:txBody>
        </p:sp>
      </p:grpSp>
      <p:grpSp>
        <p:nvGrpSpPr>
          <p:cNvPr id="133" name="Google Shape;133;p2"/>
          <p:cNvGrpSpPr/>
          <p:nvPr/>
        </p:nvGrpSpPr>
        <p:grpSpPr>
          <a:xfrm>
            <a:off x="176619" y="6425875"/>
            <a:ext cx="4613551" cy="845385"/>
            <a:chOff x="0" y="-76200"/>
            <a:chExt cx="1964221" cy="359923"/>
          </a:xfrm>
        </p:grpSpPr>
        <p:sp>
          <p:nvSpPr>
            <p:cNvPr id="134" name="Google Shape;13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5" name="Google Shape;135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3</a:t>
              </a:r>
              <a:endParaRPr/>
            </a:p>
          </p:txBody>
        </p:sp>
      </p:grpSp>
      <p:grpSp>
        <p:nvGrpSpPr>
          <p:cNvPr id="136" name="Google Shape;136;p2"/>
          <p:cNvGrpSpPr/>
          <p:nvPr/>
        </p:nvGrpSpPr>
        <p:grpSpPr>
          <a:xfrm>
            <a:off x="176619" y="7349457"/>
            <a:ext cx="4613551" cy="845385"/>
            <a:chOff x="0" y="-76200"/>
            <a:chExt cx="1964221" cy="359923"/>
          </a:xfrm>
        </p:grpSpPr>
        <p:sp>
          <p:nvSpPr>
            <p:cNvPr id="137" name="Google Shape;13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8" name="Google Shape;138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4</a:t>
              </a:r>
              <a:endParaRPr/>
            </a:p>
          </p:txBody>
        </p:sp>
      </p:grpSp>
      <p:grpSp>
        <p:nvGrpSpPr>
          <p:cNvPr id="139" name="Google Shape;139;p2"/>
          <p:cNvGrpSpPr/>
          <p:nvPr/>
        </p:nvGrpSpPr>
        <p:grpSpPr>
          <a:xfrm>
            <a:off x="176619" y="8412915"/>
            <a:ext cx="4613551" cy="845385"/>
            <a:chOff x="0" y="-76200"/>
            <a:chExt cx="1964221" cy="359923"/>
          </a:xfrm>
        </p:grpSpPr>
        <p:sp>
          <p:nvSpPr>
            <p:cNvPr id="140" name="Google Shape;14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1" name="Google Shape;141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5</a:t>
              </a:r>
              <a:endParaRPr/>
            </a:p>
          </p:txBody>
        </p:sp>
      </p:grpSp>
      <p:sp>
        <p:nvSpPr>
          <p:cNvPr id="142" name="Google Shape;142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DF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/>
          <p:nvPr/>
        </p:nvSpPr>
        <p:spPr>
          <a:xfrm>
            <a:off x="1374889" y="654364"/>
            <a:ext cx="13991174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2E3C4E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/>
          </a:p>
        </p:txBody>
      </p:sp>
      <p:sp>
        <p:nvSpPr>
          <p:cNvPr id="151" name="Google Shape;151;p3"/>
          <p:cNvSpPr txBox="1"/>
          <p:nvPr/>
        </p:nvSpPr>
        <p:spPr>
          <a:xfrm>
            <a:off x="0" y="4661852"/>
            <a:ext cx="18288000" cy="3879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2E3C4E"/>
                </a:solidFill>
                <a:latin typeface="Open Sans"/>
                <a:ea typeface="Open Sans"/>
                <a:cs typeface="Open Sans"/>
                <a:sym typeface="Open Sans"/>
              </a:rPr>
              <a:t>− Capacidad para implementar sistemas de información en la empresa (ERP, SCM, CRM).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400" u="none" cap="none" strike="noStrike">
              <a:solidFill>
                <a:srgbClr val="2E3C4E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2E3C4E"/>
                </a:solidFill>
                <a:latin typeface="Open Sans"/>
                <a:ea typeface="Open Sans"/>
                <a:cs typeface="Open Sans"/>
                <a:sym typeface="Open Sans"/>
              </a:rPr>
              <a:t>− Habilidad para incorporar TIC de acuerdo con necesidades de cambio organizativo.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C7E0E7"/>
          </a:solidFill>
          <a:ln>
            <a:noFill/>
          </a:ln>
        </p:spPr>
      </p:sp>
      <p:sp>
        <p:nvSpPr>
          <p:cNvPr id="161" name="Google Shape;161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AF9F5"/>
          </a:solidFill>
          <a:ln>
            <a:noFill/>
          </a:ln>
        </p:spPr>
      </p:sp>
      <p:sp>
        <p:nvSpPr>
          <p:cNvPr descr="preencoded.png" id="162" name="Google Shape;162;p4"/>
          <p:cNvSpPr/>
          <p:nvPr/>
        </p:nvSpPr>
        <p:spPr>
          <a:xfrm>
            <a:off x="0" y="0"/>
            <a:ext cx="7200900" cy="10287000"/>
          </a:xfrm>
          <a:custGeom>
            <a:rect b="b" l="l" r="r" t="t"/>
            <a:pathLst>
              <a:path extrusionOk="0" h="10287000" w="7200900">
                <a:moveTo>
                  <a:pt x="0" y="0"/>
                </a:moveTo>
                <a:lnTo>
                  <a:pt x="7200900" y="0"/>
                </a:lnTo>
                <a:lnTo>
                  <a:pt x="72009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3" name="Google Shape;163;p4"/>
          <p:cNvGrpSpPr/>
          <p:nvPr/>
        </p:nvGrpSpPr>
        <p:grpSpPr>
          <a:xfrm>
            <a:off x="7850237" y="2974330"/>
            <a:ext cx="9445526" cy="2927829"/>
            <a:chOff x="0" y="-57150"/>
            <a:chExt cx="12594035" cy="3903773"/>
          </a:xfrm>
        </p:grpSpPr>
        <p:sp>
          <p:nvSpPr>
            <p:cNvPr id="164" name="Google Shape;164;p4"/>
            <p:cNvSpPr/>
            <p:nvPr/>
          </p:nvSpPr>
          <p:spPr>
            <a:xfrm>
              <a:off x="0" y="0"/>
              <a:ext cx="12594035" cy="3846623"/>
            </a:xfrm>
            <a:custGeom>
              <a:rect b="b" l="l" r="r" t="t"/>
              <a:pathLst>
                <a:path extrusionOk="0" h="3846623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3846623"/>
                  </a:lnTo>
                  <a:lnTo>
                    <a:pt x="0" y="384662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5" name="Google Shape;165;p4"/>
            <p:cNvSpPr txBox="1"/>
            <p:nvPr/>
          </p:nvSpPr>
          <p:spPr>
            <a:xfrm>
              <a:off x="0" y="-57150"/>
              <a:ext cx="12594035" cy="39037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62" u="none" cap="none" strike="noStrike">
                  <a:solidFill>
                    <a:srgbClr val="2E3C4E"/>
                  </a:solidFill>
                  <a:latin typeface="Arimo"/>
                  <a:ea typeface="Arimo"/>
                  <a:cs typeface="Arimo"/>
                  <a:sym typeface="Arimo"/>
                </a:rPr>
                <a:t>Global e-Business y Colaboración: Claves y Desafíos</a:t>
              </a:r>
              <a:endParaRPr/>
            </a:p>
          </p:txBody>
        </p:sp>
      </p:grpSp>
      <p:grpSp>
        <p:nvGrpSpPr>
          <p:cNvPr id="166" name="Google Shape;166;p4"/>
          <p:cNvGrpSpPr/>
          <p:nvPr/>
        </p:nvGrpSpPr>
        <p:grpSpPr>
          <a:xfrm>
            <a:off x="7850237" y="6043166"/>
            <a:ext cx="9445526" cy="482353"/>
            <a:chOff x="0" y="-76200"/>
            <a:chExt cx="12594035" cy="643137"/>
          </a:xfrm>
        </p:grpSpPr>
        <p:sp>
          <p:nvSpPr>
            <p:cNvPr id="167" name="Google Shape;167;p4"/>
            <p:cNvSpPr/>
            <p:nvPr/>
          </p:nvSpPr>
          <p:spPr>
            <a:xfrm>
              <a:off x="0" y="0"/>
              <a:ext cx="12594035" cy="566937"/>
            </a:xfrm>
            <a:custGeom>
              <a:rect b="b" l="l" r="r" t="t"/>
              <a:pathLst>
                <a:path extrusionOk="0" h="566937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566937"/>
                  </a:lnTo>
                  <a:lnTo>
                    <a:pt x="0" y="5669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8" name="Google Shape;168;p4"/>
            <p:cNvSpPr txBox="1"/>
            <p:nvPr/>
          </p:nvSpPr>
          <p:spPr>
            <a:xfrm>
              <a:off x="0" y="-76200"/>
              <a:ext cx="12594035" cy="643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Descubra el impacto del e-business en el mundo actual.</a:t>
              </a:r>
              <a:endParaRPr/>
            </a:p>
          </p:txBody>
        </p:sp>
      </p:grpSp>
      <p:grpSp>
        <p:nvGrpSpPr>
          <p:cNvPr id="169" name="Google Shape;169;p4"/>
          <p:cNvGrpSpPr/>
          <p:nvPr/>
        </p:nvGrpSpPr>
        <p:grpSpPr>
          <a:xfrm>
            <a:off x="7850237" y="6787306"/>
            <a:ext cx="9445526" cy="482353"/>
            <a:chOff x="0" y="-76200"/>
            <a:chExt cx="12594035" cy="643137"/>
          </a:xfrm>
        </p:grpSpPr>
        <p:sp>
          <p:nvSpPr>
            <p:cNvPr id="170" name="Google Shape;170;p4"/>
            <p:cNvSpPr/>
            <p:nvPr/>
          </p:nvSpPr>
          <p:spPr>
            <a:xfrm>
              <a:off x="0" y="0"/>
              <a:ext cx="12594035" cy="566937"/>
            </a:xfrm>
            <a:custGeom>
              <a:rect b="b" l="l" r="r" t="t"/>
              <a:pathLst>
                <a:path extrusionOk="0" h="566937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566937"/>
                  </a:lnTo>
                  <a:lnTo>
                    <a:pt x="0" y="5669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71" name="Google Shape;171;p4"/>
            <p:cNvSpPr txBox="1"/>
            <p:nvPr/>
          </p:nvSpPr>
          <p:spPr>
            <a:xfrm>
              <a:off x="0" y="-76200"/>
              <a:ext cx="12594035" cy="643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Exploraremos estrategias, casos de éxito y retos éticos.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C7E0E7"/>
          </a:solidFill>
          <a:ln>
            <a:noFill/>
          </a:ln>
        </p:spPr>
      </p:sp>
      <p:sp>
        <p:nvSpPr>
          <p:cNvPr id="181" name="Google Shape;181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AF9F5"/>
          </a:solidFill>
          <a:ln>
            <a:noFill/>
          </a:ln>
        </p:spPr>
      </p:sp>
      <p:sp>
        <p:nvSpPr>
          <p:cNvPr descr="preencoded.png" id="182" name="Google Shape;182;p5"/>
          <p:cNvSpPr/>
          <p:nvPr/>
        </p:nvSpPr>
        <p:spPr>
          <a:xfrm>
            <a:off x="0" y="0"/>
            <a:ext cx="18288000" cy="3721150"/>
          </a:xfrm>
          <a:custGeom>
            <a:rect b="b" l="l" r="r" t="t"/>
            <a:pathLst>
              <a:path extrusionOk="0" h="3721150" w="18288000">
                <a:moveTo>
                  <a:pt x="0" y="0"/>
                </a:moveTo>
                <a:lnTo>
                  <a:pt x="18288000" y="0"/>
                </a:lnTo>
                <a:lnTo>
                  <a:pt x="18288000" y="3721150"/>
                </a:lnTo>
                <a:lnTo>
                  <a:pt x="0" y="37211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9" l="0" r="0" t="-40"/>
            </a:stretch>
          </a:blipFill>
          <a:ln>
            <a:noFill/>
          </a:ln>
        </p:spPr>
      </p:sp>
      <p:grpSp>
        <p:nvGrpSpPr>
          <p:cNvPr id="183" name="Google Shape;183;p5"/>
          <p:cNvGrpSpPr/>
          <p:nvPr/>
        </p:nvGrpSpPr>
        <p:grpSpPr>
          <a:xfrm>
            <a:off x="992238" y="4970858"/>
            <a:ext cx="13837146" cy="928837"/>
            <a:chOff x="0" y="-57150"/>
            <a:chExt cx="18449528" cy="1238448"/>
          </a:xfrm>
        </p:grpSpPr>
        <p:sp>
          <p:nvSpPr>
            <p:cNvPr id="184" name="Google Shape;184;p5"/>
            <p:cNvSpPr/>
            <p:nvPr/>
          </p:nvSpPr>
          <p:spPr>
            <a:xfrm>
              <a:off x="0" y="0"/>
              <a:ext cx="18449528" cy="1181298"/>
            </a:xfrm>
            <a:custGeom>
              <a:rect b="b" l="l" r="r" t="t"/>
              <a:pathLst>
                <a:path extrusionOk="0" h="1181298" w="18449528">
                  <a:moveTo>
                    <a:pt x="0" y="0"/>
                  </a:moveTo>
                  <a:lnTo>
                    <a:pt x="18449528" y="0"/>
                  </a:lnTo>
                  <a:lnTo>
                    <a:pt x="18449528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5" name="Google Shape;185;p5"/>
            <p:cNvSpPr txBox="1"/>
            <p:nvPr/>
          </p:nvSpPr>
          <p:spPr>
            <a:xfrm>
              <a:off x="0" y="-57150"/>
              <a:ext cx="18449528" cy="12384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62" u="none" cap="none" strike="noStrike">
                  <a:solidFill>
                    <a:srgbClr val="2E3C4E"/>
                  </a:solidFill>
                  <a:latin typeface="Arimo"/>
                  <a:ea typeface="Arimo"/>
                  <a:cs typeface="Arimo"/>
                  <a:sym typeface="Arimo"/>
                </a:rPr>
                <a:t>Estrategias de Colaboración en e-Business</a:t>
              </a:r>
              <a:endParaRPr/>
            </a:p>
          </p:txBody>
        </p:sp>
      </p:grpSp>
      <p:grpSp>
        <p:nvGrpSpPr>
          <p:cNvPr id="186" name="Google Shape;186;p5"/>
          <p:cNvGrpSpPr/>
          <p:nvPr/>
        </p:nvGrpSpPr>
        <p:grpSpPr>
          <a:xfrm>
            <a:off x="987475" y="6320135"/>
            <a:ext cx="5255038" cy="2501932"/>
            <a:chOff x="0" y="0"/>
            <a:chExt cx="7006717" cy="3335909"/>
          </a:xfrm>
        </p:grpSpPr>
        <p:sp>
          <p:nvSpPr>
            <p:cNvPr id="187" name="Google Shape;187;p5"/>
            <p:cNvSpPr/>
            <p:nvPr/>
          </p:nvSpPr>
          <p:spPr>
            <a:xfrm>
              <a:off x="6350" y="6350"/>
              <a:ext cx="6993890" cy="3323209"/>
            </a:xfrm>
            <a:custGeom>
              <a:rect b="b" l="l" r="r" t="t"/>
              <a:pathLst>
                <a:path extrusionOk="0" h="3323209" w="6993890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6834886" y="0"/>
                  </a:lnTo>
                  <a:cubicBezTo>
                    <a:pt x="6922643" y="0"/>
                    <a:pt x="6993890" y="71120"/>
                    <a:pt x="6993890" y="158750"/>
                  </a:cubicBezTo>
                  <a:lnTo>
                    <a:pt x="6993890" y="3164459"/>
                  </a:lnTo>
                  <a:cubicBezTo>
                    <a:pt x="6993890" y="3252216"/>
                    <a:pt x="6922643" y="3323209"/>
                    <a:pt x="6834759" y="3323209"/>
                  </a:cubicBezTo>
                  <a:lnTo>
                    <a:pt x="159131" y="3323209"/>
                  </a:lnTo>
                  <a:cubicBezTo>
                    <a:pt x="71247" y="3323209"/>
                    <a:pt x="0" y="3252089"/>
                    <a:pt x="0" y="3164459"/>
                  </a:cubicBezTo>
                  <a:close/>
                </a:path>
              </a:pathLst>
            </a:custGeom>
            <a:solidFill>
              <a:srgbClr val="D9ED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0" y="0"/>
              <a:ext cx="7006717" cy="3335909"/>
            </a:xfrm>
            <a:custGeom>
              <a:rect b="b" l="l" r="r" t="t"/>
              <a:pathLst>
                <a:path extrusionOk="0" h="3335909" w="7006717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6841236" y="0"/>
                  </a:lnTo>
                  <a:lnTo>
                    <a:pt x="6841236" y="6350"/>
                  </a:lnTo>
                  <a:lnTo>
                    <a:pt x="6841236" y="0"/>
                  </a:lnTo>
                  <a:cubicBezTo>
                    <a:pt x="6932549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3170809"/>
                  </a:lnTo>
                  <a:lnTo>
                    <a:pt x="7000367" y="3170809"/>
                  </a:lnTo>
                  <a:lnTo>
                    <a:pt x="7006717" y="3170809"/>
                  </a:lnTo>
                  <a:cubicBezTo>
                    <a:pt x="7006717" y="3261995"/>
                    <a:pt x="6932676" y="3335909"/>
                    <a:pt x="6841236" y="3335909"/>
                  </a:cubicBezTo>
                  <a:lnTo>
                    <a:pt x="6841236" y="3329559"/>
                  </a:lnTo>
                  <a:lnTo>
                    <a:pt x="6841236" y="3335909"/>
                  </a:lnTo>
                  <a:lnTo>
                    <a:pt x="165481" y="3335909"/>
                  </a:lnTo>
                  <a:lnTo>
                    <a:pt x="165481" y="3329559"/>
                  </a:lnTo>
                  <a:lnTo>
                    <a:pt x="165481" y="3335909"/>
                  </a:lnTo>
                  <a:cubicBezTo>
                    <a:pt x="74168" y="3335909"/>
                    <a:pt x="0" y="3261995"/>
                    <a:pt x="0" y="317080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170809"/>
                  </a:lnTo>
                  <a:lnTo>
                    <a:pt x="6350" y="3170809"/>
                  </a:lnTo>
                  <a:lnTo>
                    <a:pt x="12700" y="3170809"/>
                  </a:lnTo>
                  <a:cubicBezTo>
                    <a:pt x="12700" y="3255010"/>
                    <a:pt x="81026" y="3323209"/>
                    <a:pt x="165481" y="3323209"/>
                  </a:cubicBezTo>
                  <a:lnTo>
                    <a:pt x="6841236" y="3323209"/>
                  </a:lnTo>
                  <a:cubicBezTo>
                    <a:pt x="6925564" y="3323209"/>
                    <a:pt x="6994017" y="3255010"/>
                    <a:pt x="6994017" y="3170809"/>
                  </a:cubicBezTo>
                  <a:lnTo>
                    <a:pt x="6994017" y="165100"/>
                  </a:lnTo>
                  <a:cubicBezTo>
                    <a:pt x="6994017" y="80899"/>
                    <a:pt x="6925691" y="12700"/>
                    <a:pt x="6841236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FD3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" name="Google Shape;189;p5"/>
          <p:cNvGrpSpPr/>
          <p:nvPr/>
        </p:nvGrpSpPr>
        <p:grpSpPr>
          <a:xfrm>
            <a:off x="1285280" y="6589365"/>
            <a:ext cx="3544044" cy="471487"/>
            <a:chOff x="0" y="-38100"/>
            <a:chExt cx="4725392" cy="628650"/>
          </a:xfrm>
        </p:grpSpPr>
        <p:sp>
          <p:nvSpPr>
            <p:cNvPr id="190" name="Google Shape;190;p5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1" name="Google Shape;191;p5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384653"/>
                  </a:solidFill>
                  <a:latin typeface="Arimo"/>
                  <a:ea typeface="Arimo"/>
                  <a:cs typeface="Arimo"/>
                  <a:sym typeface="Arimo"/>
                </a:rPr>
                <a:t>Alianzas Estratégicas</a:t>
              </a:r>
              <a:endParaRPr/>
            </a:p>
          </p:txBody>
        </p:sp>
      </p:grpSp>
      <p:grpSp>
        <p:nvGrpSpPr>
          <p:cNvPr id="192" name="Google Shape;192;p5"/>
          <p:cNvGrpSpPr/>
          <p:nvPr/>
        </p:nvGrpSpPr>
        <p:grpSpPr>
          <a:xfrm>
            <a:off x="1285280" y="7173814"/>
            <a:ext cx="4659362" cy="907554"/>
            <a:chOff x="0" y="-76200"/>
            <a:chExt cx="6212483" cy="1210072"/>
          </a:xfrm>
        </p:grpSpPr>
        <p:sp>
          <p:nvSpPr>
            <p:cNvPr id="193" name="Google Shape;193;p5"/>
            <p:cNvSpPr/>
            <p:nvPr/>
          </p:nvSpPr>
          <p:spPr>
            <a:xfrm>
              <a:off x="0" y="0"/>
              <a:ext cx="6212483" cy="1133872"/>
            </a:xfrm>
            <a:custGeom>
              <a:rect b="b" l="l" r="r" t="t"/>
              <a:pathLst>
                <a:path extrusionOk="0" h="1133872" w="6212483">
                  <a:moveTo>
                    <a:pt x="0" y="0"/>
                  </a:moveTo>
                  <a:lnTo>
                    <a:pt x="6212483" y="0"/>
                  </a:lnTo>
                  <a:lnTo>
                    <a:pt x="6212483" y="1133872"/>
                  </a:lnTo>
                  <a:lnTo>
                    <a:pt x="0" y="1133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4" name="Google Shape;194;p5"/>
            <p:cNvSpPr txBox="1"/>
            <p:nvPr/>
          </p:nvSpPr>
          <p:spPr>
            <a:xfrm>
              <a:off x="0" y="-76200"/>
              <a:ext cx="6212483" cy="1210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Empresas unidas para fortalecer su presencia digital.</a:t>
              </a:r>
              <a:endParaRPr/>
            </a:p>
          </p:txBody>
        </p:sp>
      </p:grpSp>
      <p:grpSp>
        <p:nvGrpSpPr>
          <p:cNvPr id="195" name="Google Shape;195;p5"/>
          <p:cNvGrpSpPr/>
          <p:nvPr/>
        </p:nvGrpSpPr>
        <p:grpSpPr>
          <a:xfrm>
            <a:off x="6516440" y="6320135"/>
            <a:ext cx="5255038" cy="2501932"/>
            <a:chOff x="0" y="0"/>
            <a:chExt cx="7006717" cy="3335909"/>
          </a:xfrm>
        </p:grpSpPr>
        <p:sp>
          <p:nvSpPr>
            <p:cNvPr id="196" name="Google Shape;196;p5"/>
            <p:cNvSpPr/>
            <p:nvPr/>
          </p:nvSpPr>
          <p:spPr>
            <a:xfrm>
              <a:off x="6350" y="6350"/>
              <a:ext cx="6993890" cy="3323209"/>
            </a:xfrm>
            <a:custGeom>
              <a:rect b="b" l="l" r="r" t="t"/>
              <a:pathLst>
                <a:path extrusionOk="0" h="3323209" w="6993890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6834886" y="0"/>
                  </a:lnTo>
                  <a:cubicBezTo>
                    <a:pt x="6922643" y="0"/>
                    <a:pt x="6993890" y="71120"/>
                    <a:pt x="6993890" y="158750"/>
                  </a:cubicBezTo>
                  <a:lnTo>
                    <a:pt x="6993890" y="3164459"/>
                  </a:lnTo>
                  <a:cubicBezTo>
                    <a:pt x="6993890" y="3252216"/>
                    <a:pt x="6922643" y="3323209"/>
                    <a:pt x="6834759" y="3323209"/>
                  </a:cubicBezTo>
                  <a:lnTo>
                    <a:pt x="159131" y="3323209"/>
                  </a:lnTo>
                  <a:cubicBezTo>
                    <a:pt x="71247" y="3323209"/>
                    <a:pt x="0" y="3252089"/>
                    <a:pt x="0" y="3164459"/>
                  </a:cubicBezTo>
                  <a:close/>
                </a:path>
              </a:pathLst>
            </a:custGeom>
            <a:solidFill>
              <a:srgbClr val="D9ED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0" y="0"/>
              <a:ext cx="7006717" cy="3335909"/>
            </a:xfrm>
            <a:custGeom>
              <a:rect b="b" l="l" r="r" t="t"/>
              <a:pathLst>
                <a:path extrusionOk="0" h="3335909" w="7006717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6841236" y="0"/>
                  </a:lnTo>
                  <a:lnTo>
                    <a:pt x="6841236" y="6350"/>
                  </a:lnTo>
                  <a:lnTo>
                    <a:pt x="6841236" y="0"/>
                  </a:lnTo>
                  <a:cubicBezTo>
                    <a:pt x="6932549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3170809"/>
                  </a:lnTo>
                  <a:lnTo>
                    <a:pt x="7000367" y="3170809"/>
                  </a:lnTo>
                  <a:lnTo>
                    <a:pt x="7006717" y="3170809"/>
                  </a:lnTo>
                  <a:cubicBezTo>
                    <a:pt x="7006717" y="3261995"/>
                    <a:pt x="6932676" y="3335909"/>
                    <a:pt x="6841236" y="3335909"/>
                  </a:cubicBezTo>
                  <a:lnTo>
                    <a:pt x="6841236" y="3329559"/>
                  </a:lnTo>
                  <a:lnTo>
                    <a:pt x="6841236" y="3335909"/>
                  </a:lnTo>
                  <a:lnTo>
                    <a:pt x="165481" y="3335909"/>
                  </a:lnTo>
                  <a:lnTo>
                    <a:pt x="165481" y="3329559"/>
                  </a:lnTo>
                  <a:lnTo>
                    <a:pt x="165481" y="3335909"/>
                  </a:lnTo>
                  <a:cubicBezTo>
                    <a:pt x="74168" y="3335909"/>
                    <a:pt x="0" y="3261995"/>
                    <a:pt x="0" y="317080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170809"/>
                  </a:lnTo>
                  <a:lnTo>
                    <a:pt x="6350" y="3170809"/>
                  </a:lnTo>
                  <a:lnTo>
                    <a:pt x="12700" y="3170809"/>
                  </a:lnTo>
                  <a:cubicBezTo>
                    <a:pt x="12700" y="3255010"/>
                    <a:pt x="81026" y="3323209"/>
                    <a:pt x="165481" y="3323209"/>
                  </a:cubicBezTo>
                  <a:lnTo>
                    <a:pt x="6841236" y="3323209"/>
                  </a:lnTo>
                  <a:cubicBezTo>
                    <a:pt x="6925564" y="3323209"/>
                    <a:pt x="6994017" y="3255010"/>
                    <a:pt x="6994017" y="3170809"/>
                  </a:cubicBezTo>
                  <a:lnTo>
                    <a:pt x="6994017" y="165100"/>
                  </a:lnTo>
                  <a:cubicBezTo>
                    <a:pt x="6994017" y="80899"/>
                    <a:pt x="6925691" y="12700"/>
                    <a:pt x="6841236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FD3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8" name="Google Shape;198;p5"/>
          <p:cNvGrpSpPr/>
          <p:nvPr/>
        </p:nvGrpSpPr>
        <p:grpSpPr>
          <a:xfrm>
            <a:off x="6814245" y="6589365"/>
            <a:ext cx="4659362" cy="914400"/>
            <a:chOff x="0" y="-38100"/>
            <a:chExt cx="6212483" cy="1219200"/>
          </a:xfrm>
        </p:grpSpPr>
        <p:sp>
          <p:nvSpPr>
            <p:cNvPr id="199" name="Google Shape;199;p5"/>
            <p:cNvSpPr/>
            <p:nvPr/>
          </p:nvSpPr>
          <p:spPr>
            <a:xfrm>
              <a:off x="0" y="0"/>
              <a:ext cx="6212483" cy="1181100"/>
            </a:xfrm>
            <a:custGeom>
              <a:rect b="b" l="l" r="r" t="t"/>
              <a:pathLst>
                <a:path extrusionOk="0" h="1181100" w="6212483">
                  <a:moveTo>
                    <a:pt x="0" y="0"/>
                  </a:moveTo>
                  <a:lnTo>
                    <a:pt x="6212483" y="0"/>
                  </a:lnTo>
                  <a:lnTo>
                    <a:pt x="6212483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0" name="Google Shape;200;p5"/>
            <p:cNvSpPr txBox="1"/>
            <p:nvPr/>
          </p:nvSpPr>
          <p:spPr>
            <a:xfrm>
              <a:off x="0" y="-38100"/>
              <a:ext cx="6212483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384653"/>
                  </a:solidFill>
                  <a:latin typeface="Arimo"/>
                  <a:ea typeface="Arimo"/>
                  <a:cs typeface="Arimo"/>
                  <a:sym typeface="Arimo"/>
                </a:rPr>
                <a:t>Integración de Cadenas de Suministro</a:t>
              </a:r>
              <a:endParaRPr/>
            </a:p>
          </p:txBody>
        </p:sp>
      </p:grpSp>
      <p:grpSp>
        <p:nvGrpSpPr>
          <p:cNvPr id="201" name="Google Shape;201;p5"/>
          <p:cNvGrpSpPr/>
          <p:nvPr/>
        </p:nvGrpSpPr>
        <p:grpSpPr>
          <a:xfrm>
            <a:off x="6814245" y="7616726"/>
            <a:ext cx="4659362" cy="907554"/>
            <a:chOff x="0" y="-76200"/>
            <a:chExt cx="6212483" cy="1210072"/>
          </a:xfrm>
        </p:grpSpPr>
        <p:sp>
          <p:nvSpPr>
            <p:cNvPr id="202" name="Google Shape;202;p5"/>
            <p:cNvSpPr/>
            <p:nvPr/>
          </p:nvSpPr>
          <p:spPr>
            <a:xfrm>
              <a:off x="0" y="0"/>
              <a:ext cx="6212483" cy="1133872"/>
            </a:xfrm>
            <a:custGeom>
              <a:rect b="b" l="l" r="r" t="t"/>
              <a:pathLst>
                <a:path extrusionOk="0" h="1133872" w="6212483">
                  <a:moveTo>
                    <a:pt x="0" y="0"/>
                  </a:moveTo>
                  <a:lnTo>
                    <a:pt x="6212483" y="0"/>
                  </a:lnTo>
                  <a:lnTo>
                    <a:pt x="6212483" y="1133872"/>
                  </a:lnTo>
                  <a:lnTo>
                    <a:pt x="0" y="1133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3" name="Google Shape;203;p5"/>
            <p:cNvSpPr txBox="1"/>
            <p:nvPr/>
          </p:nvSpPr>
          <p:spPr>
            <a:xfrm>
              <a:off x="0" y="-76200"/>
              <a:ext cx="6212483" cy="1210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Coordinación en tiempo real con socios tecnológicos.</a:t>
              </a:r>
              <a:endParaRPr/>
            </a:p>
          </p:txBody>
        </p:sp>
      </p:grpSp>
      <p:grpSp>
        <p:nvGrpSpPr>
          <p:cNvPr id="204" name="Google Shape;204;p5"/>
          <p:cNvGrpSpPr/>
          <p:nvPr/>
        </p:nvGrpSpPr>
        <p:grpSpPr>
          <a:xfrm>
            <a:off x="12045404" y="6320135"/>
            <a:ext cx="5255038" cy="2501932"/>
            <a:chOff x="0" y="0"/>
            <a:chExt cx="7006717" cy="3335909"/>
          </a:xfrm>
        </p:grpSpPr>
        <p:sp>
          <p:nvSpPr>
            <p:cNvPr id="205" name="Google Shape;205;p5"/>
            <p:cNvSpPr/>
            <p:nvPr/>
          </p:nvSpPr>
          <p:spPr>
            <a:xfrm>
              <a:off x="6350" y="6350"/>
              <a:ext cx="6993890" cy="3323209"/>
            </a:xfrm>
            <a:custGeom>
              <a:rect b="b" l="l" r="r" t="t"/>
              <a:pathLst>
                <a:path extrusionOk="0" h="3323209" w="6993890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6834886" y="0"/>
                  </a:lnTo>
                  <a:cubicBezTo>
                    <a:pt x="6922643" y="0"/>
                    <a:pt x="6993890" y="71120"/>
                    <a:pt x="6993890" y="158750"/>
                  </a:cubicBezTo>
                  <a:lnTo>
                    <a:pt x="6993890" y="3164459"/>
                  </a:lnTo>
                  <a:cubicBezTo>
                    <a:pt x="6993890" y="3252216"/>
                    <a:pt x="6922643" y="3323209"/>
                    <a:pt x="6834759" y="3323209"/>
                  </a:cubicBezTo>
                  <a:lnTo>
                    <a:pt x="159131" y="3323209"/>
                  </a:lnTo>
                  <a:cubicBezTo>
                    <a:pt x="71247" y="3323209"/>
                    <a:pt x="0" y="3252089"/>
                    <a:pt x="0" y="3164459"/>
                  </a:cubicBezTo>
                  <a:close/>
                </a:path>
              </a:pathLst>
            </a:custGeom>
            <a:solidFill>
              <a:srgbClr val="D9ED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0" y="0"/>
              <a:ext cx="7006717" cy="3335909"/>
            </a:xfrm>
            <a:custGeom>
              <a:rect b="b" l="l" r="r" t="t"/>
              <a:pathLst>
                <a:path extrusionOk="0" h="3335909" w="7006717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6841236" y="0"/>
                  </a:lnTo>
                  <a:lnTo>
                    <a:pt x="6841236" y="6350"/>
                  </a:lnTo>
                  <a:lnTo>
                    <a:pt x="6841236" y="0"/>
                  </a:lnTo>
                  <a:cubicBezTo>
                    <a:pt x="6932549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3170809"/>
                  </a:lnTo>
                  <a:lnTo>
                    <a:pt x="7000367" y="3170809"/>
                  </a:lnTo>
                  <a:lnTo>
                    <a:pt x="7006717" y="3170809"/>
                  </a:lnTo>
                  <a:cubicBezTo>
                    <a:pt x="7006717" y="3261995"/>
                    <a:pt x="6932676" y="3335909"/>
                    <a:pt x="6841236" y="3335909"/>
                  </a:cubicBezTo>
                  <a:lnTo>
                    <a:pt x="6841236" y="3329559"/>
                  </a:lnTo>
                  <a:lnTo>
                    <a:pt x="6841236" y="3335909"/>
                  </a:lnTo>
                  <a:lnTo>
                    <a:pt x="165481" y="3335909"/>
                  </a:lnTo>
                  <a:lnTo>
                    <a:pt x="165481" y="3329559"/>
                  </a:lnTo>
                  <a:lnTo>
                    <a:pt x="165481" y="3335909"/>
                  </a:lnTo>
                  <a:cubicBezTo>
                    <a:pt x="74168" y="3335909"/>
                    <a:pt x="0" y="3261995"/>
                    <a:pt x="0" y="317080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170809"/>
                  </a:lnTo>
                  <a:lnTo>
                    <a:pt x="6350" y="3170809"/>
                  </a:lnTo>
                  <a:lnTo>
                    <a:pt x="12700" y="3170809"/>
                  </a:lnTo>
                  <a:cubicBezTo>
                    <a:pt x="12700" y="3255010"/>
                    <a:pt x="81026" y="3323209"/>
                    <a:pt x="165481" y="3323209"/>
                  </a:cubicBezTo>
                  <a:lnTo>
                    <a:pt x="6841236" y="3323209"/>
                  </a:lnTo>
                  <a:cubicBezTo>
                    <a:pt x="6925564" y="3323209"/>
                    <a:pt x="6994017" y="3255010"/>
                    <a:pt x="6994017" y="3170809"/>
                  </a:cubicBezTo>
                  <a:lnTo>
                    <a:pt x="6994017" y="165100"/>
                  </a:lnTo>
                  <a:cubicBezTo>
                    <a:pt x="6994017" y="80899"/>
                    <a:pt x="6925691" y="12700"/>
                    <a:pt x="6841236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FD3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" name="Google Shape;207;p5"/>
          <p:cNvGrpSpPr/>
          <p:nvPr/>
        </p:nvGrpSpPr>
        <p:grpSpPr>
          <a:xfrm>
            <a:off x="12343210" y="6589365"/>
            <a:ext cx="3544044" cy="471487"/>
            <a:chOff x="0" y="-38100"/>
            <a:chExt cx="4725392" cy="628650"/>
          </a:xfrm>
        </p:grpSpPr>
        <p:sp>
          <p:nvSpPr>
            <p:cNvPr id="208" name="Google Shape;208;p5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9" name="Google Shape;209;p5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384653"/>
                  </a:solidFill>
                  <a:latin typeface="Arimo"/>
                  <a:ea typeface="Arimo"/>
                  <a:cs typeface="Arimo"/>
                  <a:sym typeface="Arimo"/>
                </a:rPr>
                <a:t>Ejemplo: Zara</a:t>
              </a:r>
              <a:endParaRPr/>
            </a:p>
          </p:txBody>
        </p:sp>
      </p:grpSp>
      <p:grpSp>
        <p:nvGrpSpPr>
          <p:cNvPr id="210" name="Google Shape;210;p5"/>
          <p:cNvGrpSpPr/>
          <p:nvPr/>
        </p:nvGrpSpPr>
        <p:grpSpPr>
          <a:xfrm>
            <a:off x="12343210" y="7173814"/>
            <a:ext cx="4659362" cy="907554"/>
            <a:chOff x="0" y="-76200"/>
            <a:chExt cx="6212483" cy="1210072"/>
          </a:xfrm>
        </p:grpSpPr>
        <p:sp>
          <p:nvSpPr>
            <p:cNvPr id="211" name="Google Shape;211;p5"/>
            <p:cNvSpPr/>
            <p:nvPr/>
          </p:nvSpPr>
          <p:spPr>
            <a:xfrm>
              <a:off x="0" y="0"/>
              <a:ext cx="6212483" cy="1133872"/>
            </a:xfrm>
            <a:custGeom>
              <a:rect b="b" l="l" r="r" t="t"/>
              <a:pathLst>
                <a:path extrusionOk="0" h="1133872" w="6212483">
                  <a:moveTo>
                    <a:pt x="0" y="0"/>
                  </a:moveTo>
                  <a:lnTo>
                    <a:pt x="6212483" y="0"/>
                  </a:lnTo>
                  <a:lnTo>
                    <a:pt x="6212483" y="1133872"/>
                  </a:lnTo>
                  <a:lnTo>
                    <a:pt x="0" y="1133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12" name="Google Shape;212;p5"/>
            <p:cNvSpPr txBox="1"/>
            <p:nvPr/>
          </p:nvSpPr>
          <p:spPr>
            <a:xfrm>
              <a:off x="0" y="-76200"/>
              <a:ext cx="6212483" cy="1210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Colabora con proveedores en tiempo real para agilidad.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C7E0E7"/>
          </a:solidFill>
          <a:ln>
            <a:noFill/>
          </a:ln>
        </p:spPr>
      </p:sp>
      <p:sp>
        <p:nvSpPr>
          <p:cNvPr id="222" name="Google Shape;222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AF9F5"/>
          </a:solidFill>
          <a:ln>
            <a:noFill/>
          </a:ln>
        </p:spPr>
      </p:sp>
      <p:grpSp>
        <p:nvGrpSpPr>
          <p:cNvPr id="223" name="Google Shape;223;p6"/>
          <p:cNvGrpSpPr/>
          <p:nvPr/>
        </p:nvGrpSpPr>
        <p:grpSpPr>
          <a:xfrm>
            <a:off x="992238" y="3153518"/>
            <a:ext cx="10703868" cy="928837"/>
            <a:chOff x="0" y="-57150"/>
            <a:chExt cx="14271823" cy="1238448"/>
          </a:xfrm>
        </p:grpSpPr>
        <p:sp>
          <p:nvSpPr>
            <p:cNvPr id="224" name="Google Shape;224;p6"/>
            <p:cNvSpPr/>
            <p:nvPr/>
          </p:nvSpPr>
          <p:spPr>
            <a:xfrm>
              <a:off x="0" y="0"/>
              <a:ext cx="14271823" cy="1181298"/>
            </a:xfrm>
            <a:custGeom>
              <a:rect b="b" l="l" r="r" t="t"/>
              <a:pathLst>
                <a:path extrusionOk="0" h="1181298" w="14271823">
                  <a:moveTo>
                    <a:pt x="0" y="0"/>
                  </a:moveTo>
                  <a:lnTo>
                    <a:pt x="14271823" y="0"/>
                  </a:lnTo>
                  <a:lnTo>
                    <a:pt x="14271823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5" name="Google Shape;225;p6"/>
            <p:cNvSpPr txBox="1"/>
            <p:nvPr/>
          </p:nvSpPr>
          <p:spPr>
            <a:xfrm>
              <a:off x="0" y="-57150"/>
              <a:ext cx="14271823" cy="12384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62" u="none" cap="none" strike="noStrike">
                  <a:solidFill>
                    <a:srgbClr val="2E3C4E"/>
                  </a:solidFill>
                  <a:latin typeface="Arimo"/>
                  <a:ea typeface="Arimo"/>
                  <a:cs typeface="Arimo"/>
                  <a:sym typeface="Arimo"/>
                </a:rPr>
                <a:t>Ejemplos Notables de e-Business</a:t>
              </a:r>
              <a:endParaRPr/>
            </a:p>
          </p:txBody>
        </p:sp>
      </p:grpSp>
      <p:grpSp>
        <p:nvGrpSpPr>
          <p:cNvPr id="226" name="Google Shape;226;p6"/>
          <p:cNvGrpSpPr/>
          <p:nvPr/>
        </p:nvGrpSpPr>
        <p:grpSpPr>
          <a:xfrm>
            <a:off x="992238" y="4762500"/>
            <a:ext cx="3544044" cy="471487"/>
            <a:chOff x="0" y="-38100"/>
            <a:chExt cx="4725392" cy="628650"/>
          </a:xfrm>
        </p:grpSpPr>
        <p:sp>
          <p:nvSpPr>
            <p:cNvPr id="227" name="Google Shape;227;p6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8" name="Google Shape;228;p6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2E3C4E"/>
                  </a:solidFill>
                  <a:latin typeface="Arimo"/>
                  <a:ea typeface="Arimo"/>
                  <a:cs typeface="Arimo"/>
                  <a:sym typeface="Arimo"/>
                </a:rPr>
                <a:t>Comercio Electrónico</a:t>
              </a:r>
              <a:endParaRPr/>
            </a:p>
          </p:txBody>
        </p:sp>
      </p:grpSp>
      <p:grpSp>
        <p:nvGrpSpPr>
          <p:cNvPr id="229" name="Google Shape;229;p6"/>
          <p:cNvGrpSpPr/>
          <p:nvPr/>
        </p:nvGrpSpPr>
        <p:grpSpPr>
          <a:xfrm>
            <a:off x="992238" y="5460355"/>
            <a:ext cx="4972645" cy="482353"/>
            <a:chOff x="0" y="-76200"/>
            <a:chExt cx="6630193" cy="643137"/>
          </a:xfrm>
        </p:grpSpPr>
        <p:sp>
          <p:nvSpPr>
            <p:cNvPr id="230" name="Google Shape;230;p6"/>
            <p:cNvSpPr/>
            <p:nvPr/>
          </p:nvSpPr>
          <p:spPr>
            <a:xfrm>
              <a:off x="0" y="0"/>
              <a:ext cx="6630193" cy="566937"/>
            </a:xfrm>
            <a:custGeom>
              <a:rect b="b" l="l" r="r" t="t"/>
              <a:pathLst>
                <a:path extrusionOk="0" h="566937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566937"/>
                  </a:lnTo>
                  <a:lnTo>
                    <a:pt x="0" y="5669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1" name="Google Shape;231;p6"/>
            <p:cNvSpPr txBox="1"/>
            <p:nvPr/>
          </p:nvSpPr>
          <p:spPr>
            <a:xfrm>
              <a:off x="0" y="-76200"/>
              <a:ext cx="6630193" cy="643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Amazon</a:t>
              </a:r>
              <a:endParaRPr/>
            </a:p>
          </p:txBody>
        </p:sp>
      </p:grpSp>
      <p:grpSp>
        <p:nvGrpSpPr>
          <p:cNvPr id="232" name="Google Shape;232;p6"/>
          <p:cNvGrpSpPr/>
          <p:nvPr/>
        </p:nvGrpSpPr>
        <p:grpSpPr>
          <a:xfrm>
            <a:off x="992238" y="5984676"/>
            <a:ext cx="4972645" cy="482353"/>
            <a:chOff x="0" y="-76200"/>
            <a:chExt cx="6630193" cy="643137"/>
          </a:xfrm>
        </p:grpSpPr>
        <p:sp>
          <p:nvSpPr>
            <p:cNvPr id="233" name="Google Shape;233;p6"/>
            <p:cNvSpPr/>
            <p:nvPr/>
          </p:nvSpPr>
          <p:spPr>
            <a:xfrm>
              <a:off x="0" y="0"/>
              <a:ext cx="6630193" cy="566937"/>
            </a:xfrm>
            <a:custGeom>
              <a:rect b="b" l="l" r="r" t="t"/>
              <a:pathLst>
                <a:path extrusionOk="0" h="566937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566937"/>
                  </a:lnTo>
                  <a:lnTo>
                    <a:pt x="0" y="5669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4" name="Google Shape;234;p6"/>
            <p:cNvSpPr txBox="1"/>
            <p:nvPr/>
          </p:nvSpPr>
          <p:spPr>
            <a:xfrm>
              <a:off x="0" y="-76200"/>
              <a:ext cx="6630193" cy="643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MercadoLibre</a:t>
              </a:r>
              <a:endParaRPr/>
            </a:p>
          </p:txBody>
        </p:sp>
      </p:grpSp>
      <p:grpSp>
        <p:nvGrpSpPr>
          <p:cNvPr id="235" name="Google Shape;235;p6"/>
          <p:cNvGrpSpPr/>
          <p:nvPr/>
        </p:nvGrpSpPr>
        <p:grpSpPr>
          <a:xfrm>
            <a:off x="992238" y="6508997"/>
            <a:ext cx="4972645" cy="482353"/>
            <a:chOff x="0" y="-76200"/>
            <a:chExt cx="6630193" cy="643137"/>
          </a:xfrm>
        </p:grpSpPr>
        <p:sp>
          <p:nvSpPr>
            <p:cNvPr id="236" name="Google Shape;236;p6"/>
            <p:cNvSpPr/>
            <p:nvPr/>
          </p:nvSpPr>
          <p:spPr>
            <a:xfrm>
              <a:off x="0" y="0"/>
              <a:ext cx="6630193" cy="566937"/>
            </a:xfrm>
            <a:custGeom>
              <a:rect b="b" l="l" r="r" t="t"/>
              <a:pathLst>
                <a:path extrusionOk="0" h="566937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566937"/>
                  </a:lnTo>
                  <a:lnTo>
                    <a:pt x="0" y="5669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7" name="Google Shape;237;p6"/>
            <p:cNvSpPr txBox="1"/>
            <p:nvPr/>
          </p:nvSpPr>
          <p:spPr>
            <a:xfrm>
              <a:off x="0" y="-76200"/>
              <a:ext cx="6630193" cy="643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64951" lvl="1" marL="329902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Clr>
                  <a:srgbClr val="384653"/>
                </a:buClr>
                <a:buSzPts val="2187"/>
                <a:buFont typeface="Arial"/>
                <a:buChar char="•"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Ulabox</a:t>
              </a:r>
              <a:endParaRPr/>
            </a:p>
          </p:txBody>
        </p:sp>
      </p:grpSp>
      <p:grpSp>
        <p:nvGrpSpPr>
          <p:cNvPr id="238" name="Google Shape;238;p6"/>
          <p:cNvGrpSpPr/>
          <p:nvPr/>
        </p:nvGrpSpPr>
        <p:grpSpPr>
          <a:xfrm>
            <a:off x="6666160" y="4762500"/>
            <a:ext cx="3830539" cy="471487"/>
            <a:chOff x="0" y="-38100"/>
            <a:chExt cx="5107385" cy="628650"/>
          </a:xfrm>
        </p:grpSpPr>
        <p:sp>
          <p:nvSpPr>
            <p:cNvPr id="239" name="Google Shape;239;p6"/>
            <p:cNvSpPr/>
            <p:nvPr/>
          </p:nvSpPr>
          <p:spPr>
            <a:xfrm>
              <a:off x="0" y="0"/>
              <a:ext cx="5107385" cy="590550"/>
            </a:xfrm>
            <a:custGeom>
              <a:rect b="b" l="l" r="r" t="t"/>
              <a:pathLst>
                <a:path extrusionOk="0" h="590550" w="5107385">
                  <a:moveTo>
                    <a:pt x="0" y="0"/>
                  </a:moveTo>
                  <a:lnTo>
                    <a:pt x="5107385" y="0"/>
                  </a:lnTo>
                  <a:lnTo>
                    <a:pt x="5107385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0" name="Google Shape;240;p6"/>
            <p:cNvSpPr txBox="1"/>
            <p:nvPr/>
          </p:nvSpPr>
          <p:spPr>
            <a:xfrm>
              <a:off x="0" y="-38100"/>
              <a:ext cx="5107385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2E3C4E"/>
                  </a:solidFill>
                  <a:latin typeface="Arimo"/>
                  <a:ea typeface="Arimo"/>
                  <a:cs typeface="Arimo"/>
                  <a:sym typeface="Arimo"/>
                </a:rPr>
                <a:t>Plataformas Multimarca</a:t>
              </a:r>
              <a:endParaRPr/>
            </a:p>
          </p:txBody>
        </p:sp>
      </p:grpSp>
      <p:grpSp>
        <p:nvGrpSpPr>
          <p:cNvPr id="241" name="Google Shape;241;p6"/>
          <p:cNvGrpSpPr/>
          <p:nvPr/>
        </p:nvGrpSpPr>
        <p:grpSpPr>
          <a:xfrm>
            <a:off x="6666160" y="5460355"/>
            <a:ext cx="4972645" cy="907554"/>
            <a:chOff x="0" y="-76200"/>
            <a:chExt cx="6630193" cy="1210072"/>
          </a:xfrm>
        </p:grpSpPr>
        <p:sp>
          <p:nvSpPr>
            <p:cNvPr id="242" name="Google Shape;242;p6"/>
            <p:cNvSpPr/>
            <p:nvPr/>
          </p:nvSpPr>
          <p:spPr>
            <a:xfrm>
              <a:off x="0" y="0"/>
              <a:ext cx="6630193" cy="1133872"/>
            </a:xfrm>
            <a:custGeom>
              <a:rect b="b" l="l" r="r" t="t"/>
              <a:pathLst>
                <a:path extrusionOk="0" h="1133872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1133872"/>
                  </a:lnTo>
                  <a:lnTo>
                    <a:pt x="0" y="1133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3" name="Google Shape;243;p6"/>
            <p:cNvSpPr txBox="1"/>
            <p:nvPr/>
          </p:nvSpPr>
          <p:spPr>
            <a:xfrm>
              <a:off x="0" y="-76200"/>
              <a:ext cx="6630193" cy="1210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Elektra ofrece variedad en un solo lugar.</a:t>
              </a:r>
              <a:endParaRPr/>
            </a:p>
          </p:txBody>
        </p:sp>
      </p:grpSp>
      <p:grpSp>
        <p:nvGrpSpPr>
          <p:cNvPr id="244" name="Google Shape;244;p6"/>
          <p:cNvGrpSpPr/>
          <p:nvPr/>
        </p:nvGrpSpPr>
        <p:grpSpPr>
          <a:xfrm>
            <a:off x="12340084" y="4762500"/>
            <a:ext cx="3776366" cy="471487"/>
            <a:chOff x="0" y="-38100"/>
            <a:chExt cx="5035154" cy="628650"/>
          </a:xfrm>
        </p:grpSpPr>
        <p:sp>
          <p:nvSpPr>
            <p:cNvPr id="245" name="Google Shape;245;p6"/>
            <p:cNvSpPr/>
            <p:nvPr/>
          </p:nvSpPr>
          <p:spPr>
            <a:xfrm>
              <a:off x="0" y="0"/>
              <a:ext cx="5035154" cy="590550"/>
            </a:xfrm>
            <a:custGeom>
              <a:rect b="b" l="l" r="r" t="t"/>
              <a:pathLst>
                <a:path extrusionOk="0" h="590550" w="5035154">
                  <a:moveTo>
                    <a:pt x="0" y="0"/>
                  </a:moveTo>
                  <a:lnTo>
                    <a:pt x="5035154" y="0"/>
                  </a:lnTo>
                  <a:lnTo>
                    <a:pt x="5035154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6" name="Google Shape;246;p6"/>
            <p:cNvSpPr txBox="1"/>
            <p:nvPr/>
          </p:nvSpPr>
          <p:spPr>
            <a:xfrm>
              <a:off x="0" y="-38100"/>
              <a:ext cx="5035153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2E3C4E"/>
                  </a:solidFill>
                  <a:latin typeface="Arimo"/>
                  <a:ea typeface="Arimo"/>
                  <a:cs typeface="Arimo"/>
                  <a:sym typeface="Arimo"/>
                </a:rPr>
                <a:t>Servicios Colaborativos</a:t>
              </a:r>
              <a:endParaRPr/>
            </a:p>
          </p:txBody>
        </p:sp>
      </p:grpSp>
      <p:grpSp>
        <p:nvGrpSpPr>
          <p:cNvPr id="247" name="Google Shape;247;p6"/>
          <p:cNvGrpSpPr/>
          <p:nvPr/>
        </p:nvGrpSpPr>
        <p:grpSpPr>
          <a:xfrm>
            <a:off x="12340084" y="5460355"/>
            <a:ext cx="4972645" cy="907554"/>
            <a:chOff x="0" y="-76200"/>
            <a:chExt cx="6630193" cy="1210072"/>
          </a:xfrm>
        </p:grpSpPr>
        <p:sp>
          <p:nvSpPr>
            <p:cNvPr id="248" name="Google Shape;248;p6"/>
            <p:cNvSpPr/>
            <p:nvPr/>
          </p:nvSpPr>
          <p:spPr>
            <a:xfrm>
              <a:off x="0" y="0"/>
              <a:ext cx="6630193" cy="1133872"/>
            </a:xfrm>
            <a:custGeom>
              <a:rect b="b" l="l" r="r" t="t"/>
              <a:pathLst>
                <a:path extrusionOk="0" h="1133872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1133872"/>
                  </a:lnTo>
                  <a:lnTo>
                    <a:pt x="0" y="1133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9" name="Google Shape;249;p6"/>
            <p:cNvSpPr txBox="1"/>
            <p:nvPr/>
          </p:nvSpPr>
          <p:spPr>
            <a:xfrm>
              <a:off x="0" y="-76200"/>
              <a:ext cx="6630193" cy="1210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Airbnb destaca con su modelo peer to peer.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C7E0E7"/>
          </a:solidFill>
          <a:ln>
            <a:noFill/>
          </a:ln>
        </p:spPr>
      </p:sp>
      <p:sp>
        <p:nvSpPr>
          <p:cNvPr id="259" name="Google Shape;259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AF9F5"/>
          </a:solidFill>
          <a:ln>
            <a:noFill/>
          </a:ln>
        </p:spPr>
      </p:sp>
      <p:sp>
        <p:nvSpPr>
          <p:cNvPr descr="preencoded.png" id="260" name="Google Shape;260;p7"/>
          <p:cNvSpPr/>
          <p:nvPr/>
        </p:nvSpPr>
        <p:spPr>
          <a:xfrm>
            <a:off x="0" y="0"/>
            <a:ext cx="7200900" cy="10287000"/>
          </a:xfrm>
          <a:custGeom>
            <a:rect b="b" l="l" r="r" t="t"/>
            <a:pathLst>
              <a:path extrusionOk="0" h="10287000" w="7200900">
                <a:moveTo>
                  <a:pt x="0" y="0"/>
                </a:moveTo>
                <a:lnTo>
                  <a:pt x="7200900" y="0"/>
                </a:lnTo>
                <a:lnTo>
                  <a:pt x="72009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1" name="Google Shape;261;p7"/>
          <p:cNvGrpSpPr/>
          <p:nvPr/>
        </p:nvGrpSpPr>
        <p:grpSpPr>
          <a:xfrm>
            <a:off x="7850237" y="1897113"/>
            <a:ext cx="9445526" cy="2700783"/>
            <a:chOff x="0" y="-57150"/>
            <a:chExt cx="12594035" cy="3601045"/>
          </a:xfrm>
        </p:grpSpPr>
        <p:sp>
          <p:nvSpPr>
            <p:cNvPr id="262" name="Google Shape;262;p7"/>
            <p:cNvSpPr/>
            <p:nvPr/>
          </p:nvSpPr>
          <p:spPr>
            <a:xfrm>
              <a:off x="0" y="0"/>
              <a:ext cx="12594035" cy="3543895"/>
            </a:xfrm>
            <a:custGeom>
              <a:rect b="b" l="l" r="r" t="t"/>
              <a:pathLst>
                <a:path extrusionOk="0" h="3543895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3543895"/>
                  </a:lnTo>
                  <a:lnTo>
                    <a:pt x="0" y="35438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3" name="Google Shape;263;p7"/>
            <p:cNvSpPr txBox="1"/>
            <p:nvPr/>
          </p:nvSpPr>
          <p:spPr>
            <a:xfrm>
              <a:off x="0" y="-57150"/>
              <a:ext cx="12594035" cy="36010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62" u="none" cap="none" strike="noStrike">
                  <a:solidFill>
                    <a:srgbClr val="2E3C4E"/>
                  </a:solidFill>
                  <a:latin typeface="Arimo"/>
                  <a:ea typeface="Arimo"/>
                  <a:cs typeface="Arimo"/>
                  <a:sym typeface="Arimo"/>
                </a:rPr>
                <a:t>Herramientas Imprescindibles para e-Business</a:t>
              </a:r>
              <a:endParaRPr/>
            </a:p>
          </p:txBody>
        </p:sp>
      </p:grpSp>
      <p:sp>
        <p:nvSpPr>
          <p:cNvPr descr="preencoded.png" id="264" name="Google Shape;264;p7"/>
          <p:cNvSpPr/>
          <p:nvPr/>
        </p:nvSpPr>
        <p:spPr>
          <a:xfrm>
            <a:off x="7850237" y="5023097"/>
            <a:ext cx="708720" cy="708720"/>
          </a:xfrm>
          <a:custGeom>
            <a:rect b="b" l="l" r="r" t="t"/>
            <a:pathLst>
              <a:path extrusionOk="0" h="708720" w="708720">
                <a:moveTo>
                  <a:pt x="0" y="0"/>
                </a:moveTo>
                <a:lnTo>
                  <a:pt x="708721" y="0"/>
                </a:lnTo>
                <a:lnTo>
                  <a:pt x="708721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5" name="Google Shape;265;p7"/>
          <p:cNvGrpSpPr/>
          <p:nvPr/>
        </p:nvGrpSpPr>
        <p:grpSpPr>
          <a:xfrm>
            <a:off x="7850237" y="5986760"/>
            <a:ext cx="2912269" cy="914400"/>
            <a:chOff x="0" y="-38100"/>
            <a:chExt cx="3883025" cy="1219200"/>
          </a:xfrm>
        </p:grpSpPr>
        <p:sp>
          <p:nvSpPr>
            <p:cNvPr id="266" name="Google Shape;266;p7"/>
            <p:cNvSpPr/>
            <p:nvPr/>
          </p:nvSpPr>
          <p:spPr>
            <a:xfrm>
              <a:off x="0" y="0"/>
              <a:ext cx="3883025" cy="1181100"/>
            </a:xfrm>
            <a:custGeom>
              <a:rect b="b" l="l" r="r" t="t"/>
              <a:pathLst>
                <a:path extrusionOk="0" h="1181100" w="3883025">
                  <a:moveTo>
                    <a:pt x="0" y="0"/>
                  </a:moveTo>
                  <a:lnTo>
                    <a:pt x="3883025" y="0"/>
                  </a:lnTo>
                  <a:lnTo>
                    <a:pt x="3883025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7" name="Google Shape;267;p7"/>
            <p:cNvSpPr txBox="1"/>
            <p:nvPr/>
          </p:nvSpPr>
          <p:spPr>
            <a:xfrm>
              <a:off x="0" y="-38100"/>
              <a:ext cx="3883025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384653"/>
                  </a:solidFill>
                  <a:latin typeface="Arimo"/>
                  <a:ea typeface="Arimo"/>
                  <a:cs typeface="Arimo"/>
                  <a:sym typeface="Arimo"/>
                </a:rPr>
                <a:t>Plataformas Ecommerce</a:t>
              </a:r>
              <a:endParaRPr/>
            </a:p>
          </p:txBody>
        </p:sp>
      </p:grpSp>
      <p:grpSp>
        <p:nvGrpSpPr>
          <p:cNvPr id="268" name="Google Shape;268;p7"/>
          <p:cNvGrpSpPr/>
          <p:nvPr/>
        </p:nvGrpSpPr>
        <p:grpSpPr>
          <a:xfrm>
            <a:off x="7850237" y="7014121"/>
            <a:ext cx="2912269" cy="907554"/>
            <a:chOff x="0" y="-76200"/>
            <a:chExt cx="3883025" cy="1210072"/>
          </a:xfrm>
        </p:grpSpPr>
        <p:sp>
          <p:nvSpPr>
            <p:cNvPr id="269" name="Google Shape;269;p7"/>
            <p:cNvSpPr/>
            <p:nvPr/>
          </p:nvSpPr>
          <p:spPr>
            <a:xfrm>
              <a:off x="0" y="0"/>
              <a:ext cx="3883025" cy="1133872"/>
            </a:xfrm>
            <a:custGeom>
              <a:rect b="b" l="l" r="r" t="t"/>
              <a:pathLst>
                <a:path extrusionOk="0" h="1133872" w="3883025">
                  <a:moveTo>
                    <a:pt x="0" y="0"/>
                  </a:moveTo>
                  <a:lnTo>
                    <a:pt x="3883025" y="0"/>
                  </a:lnTo>
                  <a:lnTo>
                    <a:pt x="3883025" y="1133872"/>
                  </a:lnTo>
                  <a:lnTo>
                    <a:pt x="0" y="1133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0" name="Google Shape;270;p7"/>
            <p:cNvSpPr txBox="1"/>
            <p:nvPr/>
          </p:nvSpPr>
          <p:spPr>
            <a:xfrm>
              <a:off x="0" y="-76200"/>
              <a:ext cx="3883025" cy="1210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Shopify y Magento facilitan ventas online.</a:t>
              </a:r>
              <a:endParaRPr/>
            </a:p>
          </p:txBody>
        </p:sp>
      </p:grpSp>
      <p:sp>
        <p:nvSpPr>
          <p:cNvPr descr="preencoded.png" id="271" name="Google Shape;271;p7"/>
          <p:cNvSpPr/>
          <p:nvPr/>
        </p:nvSpPr>
        <p:spPr>
          <a:xfrm>
            <a:off x="11116866" y="5023097"/>
            <a:ext cx="708720" cy="708720"/>
          </a:xfrm>
          <a:custGeom>
            <a:rect b="b" l="l" r="r" t="t"/>
            <a:pathLst>
              <a:path extrusionOk="0" h="708720" w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72" name="Google Shape;272;p7"/>
          <p:cNvGrpSpPr/>
          <p:nvPr/>
        </p:nvGrpSpPr>
        <p:grpSpPr>
          <a:xfrm>
            <a:off x="11116866" y="5986760"/>
            <a:ext cx="2912269" cy="914400"/>
            <a:chOff x="0" y="-38100"/>
            <a:chExt cx="3883025" cy="1219200"/>
          </a:xfrm>
        </p:grpSpPr>
        <p:sp>
          <p:nvSpPr>
            <p:cNvPr id="273" name="Google Shape;273;p7"/>
            <p:cNvSpPr/>
            <p:nvPr/>
          </p:nvSpPr>
          <p:spPr>
            <a:xfrm>
              <a:off x="0" y="0"/>
              <a:ext cx="3883025" cy="1181100"/>
            </a:xfrm>
            <a:custGeom>
              <a:rect b="b" l="l" r="r" t="t"/>
              <a:pathLst>
                <a:path extrusionOk="0" h="1181100" w="3883025">
                  <a:moveTo>
                    <a:pt x="0" y="0"/>
                  </a:moveTo>
                  <a:lnTo>
                    <a:pt x="3883025" y="0"/>
                  </a:lnTo>
                  <a:lnTo>
                    <a:pt x="3883025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4" name="Google Shape;274;p7"/>
            <p:cNvSpPr txBox="1"/>
            <p:nvPr/>
          </p:nvSpPr>
          <p:spPr>
            <a:xfrm>
              <a:off x="0" y="-38100"/>
              <a:ext cx="3883025" cy="12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384653"/>
                  </a:solidFill>
                  <a:latin typeface="Arimo"/>
                  <a:ea typeface="Arimo"/>
                  <a:cs typeface="Arimo"/>
                  <a:sym typeface="Arimo"/>
                </a:rPr>
                <a:t>Sistemas de Pago Electrónico</a:t>
              </a:r>
              <a:endParaRPr/>
            </a:p>
          </p:txBody>
        </p:sp>
      </p:grpSp>
      <p:grpSp>
        <p:nvGrpSpPr>
          <p:cNvPr id="275" name="Google Shape;275;p7"/>
          <p:cNvGrpSpPr/>
          <p:nvPr/>
        </p:nvGrpSpPr>
        <p:grpSpPr>
          <a:xfrm>
            <a:off x="11116866" y="7014121"/>
            <a:ext cx="2912269" cy="1332756"/>
            <a:chOff x="0" y="-76200"/>
            <a:chExt cx="3883025" cy="1777008"/>
          </a:xfrm>
        </p:grpSpPr>
        <p:sp>
          <p:nvSpPr>
            <p:cNvPr id="276" name="Google Shape;276;p7"/>
            <p:cNvSpPr/>
            <p:nvPr/>
          </p:nvSpPr>
          <p:spPr>
            <a:xfrm>
              <a:off x="0" y="0"/>
              <a:ext cx="3883025" cy="1700808"/>
            </a:xfrm>
            <a:custGeom>
              <a:rect b="b" l="l" r="r" t="t"/>
              <a:pathLst>
                <a:path extrusionOk="0" h="1700808" w="3883025">
                  <a:moveTo>
                    <a:pt x="0" y="0"/>
                  </a:moveTo>
                  <a:lnTo>
                    <a:pt x="3883025" y="0"/>
                  </a:lnTo>
                  <a:lnTo>
                    <a:pt x="3883025" y="1700808"/>
                  </a:lnTo>
                  <a:lnTo>
                    <a:pt x="0" y="17008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7" name="Google Shape;277;p7"/>
            <p:cNvSpPr txBox="1"/>
            <p:nvPr/>
          </p:nvSpPr>
          <p:spPr>
            <a:xfrm>
              <a:off x="0" y="-76200"/>
              <a:ext cx="3883025" cy="1777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PayPal y Stripe aseguran las transacciones.</a:t>
              </a:r>
              <a:endParaRPr/>
            </a:p>
          </p:txBody>
        </p:sp>
      </p:grpSp>
      <p:sp>
        <p:nvSpPr>
          <p:cNvPr descr="preencoded.png" id="278" name="Google Shape;278;p7"/>
          <p:cNvSpPr/>
          <p:nvPr/>
        </p:nvSpPr>
        <p:spPr>
          <a:xfrm>
            <a:off x="14383494" y="5023097"/>
            <a:ext cx="708720" cy="708720"/>
          </a:xfrm>
          <a:custGeom>
            <a:rect b="b" l="l" r="r" t="t"/>
            <a:pathLst>
              <a:path extrusionOk="0" h="708720" w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79" name="Google Shape;279;p7"/>
          <p:cNvGrpSpPr/>
          <p:nvPr/>
        </p:nvGrpSpPr>
        <p:grpSpPr>
          <a:xfrm>
            <a:off x="14383494" y="5986760"/>
            <a:ext cx="2912269" cy="471487"/>
            <a:chOff x="0" y="-38100"/>
            <a:chExt cx="3883025" cy="628650"/>
          </a:xfrm>
        </p:grpSpPr>
        <p:sp>
          <p:nvSpPr>
            <p:cNvPr id="280" name="Google Shape;280;p7"/>
            <p:cNvSpPr/>
            <p:nvPr/>
          </p:nvSpPr>
          <p:spPr>
            <a:xfrm>
              <a:off x="0" y="0"/>
              <a:ext cx="3883025" cy="590550"/>
            </a:xfrm>
            <a:custGeom>
              <a:rect b="b" l="l" r="r" t="t"/>
              <a:pathLst>
                <a:path extrusionOk="0" h="590550" w="3883025">
                  <a:moveTo>
                    <a:pt x="0" y="0"/>
                  </a:moveTo>
                  <a:lnTo>
                    <a:pt x="3883025" y="0"/>
                  </a:lnTo>
                  <a:lnTo>
                    <a:pt x="3883025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81" name="Google Shape;281;p7"/>
            <p:cNvSpPr txBox="1"/>
            <p:nvPr/>
          </p:nvSpPr>
          <p:spPr>
            <a:xfrm>
              <a:off x="0" y="-38100"/>
              <a:ext cx="3883025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384653"/>
                  </a:solidFill>
                  <a:latin typeface="Arimo"/>
                  <a:ea typeface="Arimo"/>
                  <a:cs typeface="Arimo"/>
                  <a:sym typeface="Arimo"/>
                </a:rPr>
                <a:t>ERP y CRM</a:t>
              </a:r>
              <a:endParaRPr/>
            </a:p>
          </p:txBody>
        </p:sp>
      </p:grpSp>
      <p:grpSp>
        <p:nvGrpSpPr>
          <p:cNvPr id="282" name="Google Shape;282;p7"/>
          <p:cNvGrpSpPr/>
          <p:nvPr/>
        </p:nvGrpSpPr>
        <p:grpSpPr>
          <a:xfrm>
            <a:off x="14383494" y="6571209"/>
            <a:ext cx="2912269" cy="1332756"/>
            <a:chOff x="0" y="-76200"/>
            <a:chExt cx="3883025" cy="1777008"/>
          </a:xfrm>
        </p:grpSpPr>
        <p:sp>
          <p:nvSpPr>
            <p:cNvPr id="283" name="Google Shape;283;p7"/>
            <p:cNvSpPr/>
            <p:nvPr/>
          </p:nvSpPr>
          <p:spPr>
            <a:xfrm>
              <a:off x="0" y="0"/>
              <a:ext cx="3883025" cy="1700808"/>
            </a:xfrm>
            <a:custGeom>
              <a:rect b="b" l="l" r="r" t="t"/>
              <a:pathLst>
                <a:path extrusionOk="0" h="1700808" w="3883025">
                  <a:moveTo>
                    <a:pt x="0" y="0"/>
                  </a:moveTo>
                  <a:lnTo>
                    <a:pt x="3883025" y="0"/>
                  </a:lnTo>
                  <a:lnTo>
                    <a:pt x="3883025" y="1700808"/>
                  </a:lnTo>
                  <a:lnTo>
                    <a:pt x="0" y="17008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84" name="Google Shape;284;p7"/>
            <p:cNvSpPr txBox="1"/>
            <p:nvPr/>
          </p:nvSpPr>
          <p:spPr>
            <a:xfrm>
              <a:off x="0" y="-76200"/>
              <a:ext cx="3883025" cy="1777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Gestionan clientes y operaciones digitales eficientemente.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C7E0E7"/>
          </a:solidFill>
          <a:ln>
            <a:noFill/>
          </a:ln>
        </p:spPr>
      </p:sp>
      <p:sp>
        <p:nvSpPr>
          <p:cNvPr id="294" name="Google Shape;294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AF9F5"/>
          </a:solidFill>
          <a:ln>
            <a:noFill/>
          </a:ln>
        </p:spPr>
      </p:sp>
      <p:sp>
        <p:nvSpPr>
          <p:cNvPr descr="preencoded.png" id="295" name="Google Shape;295;p8"/>
          <p:cNvSpPr/>
          <p:nvPr/>
        </p:nvSpPr>
        <p:spPr>
          <a:xfrm>
            <a:off x="0" y="0"/>
            <a:ext cx="18288000" cy="3721150"/>
          </a:xfrm>
          <a:custGeom>
            <a:rect b="b" l="l" r="r" t="t"/>
            <a:pathLst>
              <a:path extrusionOk="0" h="3721150" w="18288000">
                <a:moveTo>
                  <a:pt x="0" y="0"/>
                </a:moveTo>
                <a:lnTo>
                  <a:pt x="18288000" y="0"/>
                </a:lnTo>
                <a:lnTo>
                  <a:pt x="18288000" y="3721150"/>
                </a:lnTo>
                <a:lnTo>
                  <a:pt x="0" y="37211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9" l="0" r="0" t="-40"/>
            </a:stretch>
          </a:blipFill>
          <a:ln>
            <a:noFill/>
          </a:ln>
        </p:spPr>
      </p:sp>
      <p:grpSp>
        <p:nvGrpSpPr>
          <p:cNvPr id="296" name="Google Shape;296;p8"/>
          <p:cNvGrpSpPr/>
          <p:nvPr/>
        </p:nvGrpSpPr>
        <p:grpSpPr>
          <a:xfrm>
            <a:off x="992238" y="4585395"/>
            <a:ext cx="9546580" cy="928837"/>
            <a:chOff x="0" y="-57150"/>
            <a:chExt cx="12728773" cy="1238448"/>
          </a:xfrm>
        </p:grpSpPr>
        <p:sp>
          <p:nvSpPr>
            <p:cNvPr id="297" name="Google Shape;297;p8"/>
            <p:cNvSpPr/>
            <p:nvPr/>
          </p:nvSpPr>
          <p:spPr>
            <a:xfrm>
              <a:off x="0" y="0"/>
              <a:ext cx="12728773" cy="1181298"/>
            </a:xfrm>
            <a:custGeom>
              <a:rect b="b" l="l" r="r" t="t"/>
              <a:pathLst>
                <a:path extrusionOk="0" h="1181298" w="12728773">
                  <a:moveTo>
                    <a:pt x="0" y="0"/>
                  </a:moveTo>
                  <a:lnTo>
                    <a:pt x="12728773" y="0"/>
                  </a:lnTo>
                  <a:lnTo>
                    <a:pt x="12728773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8" name="Google Shape;298;p8"/>
            <p:cNvSpPr txBox="1"/>
            <p:nvPr/>
          </p:nvSpPr>
          <p:spPr>
            <a:xfrm>
              <a:off x="0" y="-57150"/>
              <a:ext cx="12728773" cy="12384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62" u="none" cap="none" strike="noStrike">
                  <a:solidFill>
                    <a:srgbClr val="2E3C4E"/>
                  </a:solidFill>
                  <a:latin typeface="Arimo"/>
                  <a:ea typeface="Arimo"/>
                  <a:cs typeface="Arimo"/>
                  <a:sym typeface="Arimo"/>
                </a:rPr>
                <a:t>Casos de Éxito en e-Business</a:t>
              </a:r>
              <a:endParaRPr/>
            </a:p>
          </p:txBody>
        </p:sp>
      </p:grpSp>
      <p:grpSp>
        <p:nvGrpSpPr>
          <p:cNvPr id="299" name="Google Shape;299;p8"/>
          <p:cNvGrpSpPr/>
          <p:nvPr/>
        </p:nvGrpSpPr>
        <p:grpSpPr>
          <a:xfrm>
            <a:off x="987475" y="5934670"/>
            <a:ext cx="647414" cy="647414"/>
            <a:chOff x="0" y="0"/>
            <a:chExt cx="863219" cy="863219"/>
          </a:xfrm>
        </p:grpSpPr>
        <p:sp>
          <p:nvSpPr>
            <p:cNvPr id="300" name="Google Shape;300;p8"/>
            <p:cNvSpPr/>
            <p:nvPr/>
          </p:nvSpPr>
          <p:spPr>
            <a:xfrm>
              <a:off x="6350" y="6350"/>
              <a:ext cx="850519" cy="850519"/>
            </a:xfrm>
            <a:custGeom>
              <a:rect b="b" l="l" r="r" t="t"/>
              <a:pathLst>
                <a:path extrusionOk="0"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9ED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0" y="0"/>
              <a:ext cx="863219" cy="863219"/>
            </a:xfrm>
            <a:custGeom>
              <a:rect b="b" l="l" r="r" t="t"/>
              <a:pathLst>
                <a:path extrusionOk="0"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FD3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2" name="Google Shape;302;p8"/>
          <p:cNvGrpSpPr/>
          <p:nvPr/>
        </p:nvGrpSpPr>
        <p:grpSpPr>
          <a:xfrm>
            <a:off x="1913632" y="6008191"/>
            <a:ext cx="3544044" cy="471487"/>
            <a:chOff x="0" y="-38100"/>
            <a:chExt cx="4725392" cy="628650"/>
          </a:xfrm>
        </p:grpSpPr>
        <p:sp>
          <p:nvSpPr>
            <p:cNvPr id="303" name="Google Shape;303;p8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4" name="Google Shape;304;p8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384653"/>
                  </a:solidFill>
                  <a:latin typeface="Arimo"/>
                  <a:ea typeface="Arimo"/>
                  <a:cs typeface="Arimo"/>
                  <a:sym typeface="Arimo"/>
                </a:rPr>
                <a:t>MercadoLibre</a:t>
              </a:r>
              <a:endParaRPr/>
            </a:p>
          </p:txBody>
        </p:sp>
      </p:grpSp>
      <p:grpSp>
        <p:nvGrpSpPr>
          <p:cNvPr id="305" name="Google Shape;305;p8"/>
          <p:cNvGrpSpPr/>
          <p:nvPr/>
        </p:nvGrpSpPr>
        <p:grpSpPr>
          <a:xfrm>
            <a:off x="1913632" y="6592640"/>
            <a:ext cx="7053262" cy="482353"/>
            <a:chOff x="0" y="-76200"/>
            <a:chExt cx="9404350" cy="643137"/>
          </a:xfrm>
        </p:grpSpPr>
        <p:sp>
          <p:nvSpPr>
            <p:cNvPr id="306" name="Google Shape;306;p8"/>
            <p:cNvSpPr/>
            <p:nvPr/>
          </p:nvSpPr>
          <p:spPr>
            <a:xfrm>
              <a:off x="0" y="0"/>
              <a:ext cx="9404350" cy="566937"/>
            </a:xfrm>
            <a:custGeom>
              <a:rect b="b" l="l" r="r" t="t"/>
              <a:pathLst>
                <a:path extrusionOk="0" h="566937" w="9404350">
                  <a:moveTo>
                    <a:pt x="0" y="0"/>
                  </a:moveTo>
                  <a:lnTo>
                    <a:pt x="9404350" y="0"/>
                  </a:lnTo>
                  <a:lnTo>
                    <a:pt x="9404350" y="566937"/>
                  </a:lnTo>
                  <a:lnTo>
                    <a:pt x="0" y="5669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7" name="Google Shape;307;p8"/>
            <p:cNvSpPr txBox="1"/>
            <p:nvPr/>
          </p:nvSpPr>
          <p:spPr>
            <a:xfrm>
              <a:off x="0" y="-76200"/>
              <a:ext cx="9404350" cy="643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Líder regional en logística y pagos integrados.</a:t>
              </a:r>
              <a:endParaRPr/>
            </a:p>
          </p:txBody>
        </p:sp>
      </p:grpSp>
      <p:grpSp>
        <p:nvGrpSpPr>
          <p:cNvPr id="308" name="Google Shape;308;p8"/>
          <p:cNvGrpSpPr/>
          <p:nvPr/>
        </p:nvGrpSpPr>
        <p:grpSpPr>
          <a:xfrm>
            <a:off x="9316491" y="5934670"/>
            <a:ext cx="647415" cy="647414"/>
            <a:chOff x="0" y="0"/>
            <a:chExt cx="863219" cy="863219"/>
          </a:xfrm>
        </p:grpSpPr>
        <p:sp>
          <p:nvSpPr>
            <p:cNvPr id="309" name="Google Shape;309;p8"/>
            <p:cNvSpPr/>
            <p:nvPr/>
          </p:nvSpPr>
          <p:spPr>
            <a:xfrm>
              <a:off x="6350" y="6350"/>
              <a:ext cx="850519" cy="850519"/>
            </a:xfrm>
            <a:custGeom>
              <a:rect b="b" l="l" r="r" t="t"/>
              <a:pathLst>
                <a:path extrusionOk="0"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9ED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8"/>
            <p:cNvSpPr/>
            <p:nvPr/>
          </p:nvSpPr>
          <p:spPr>
            <a:xfrm>
              <a:off x="0" y="0"/>
              <a:ext cx="863219" cy="863219"/>
            </a:xfrm>
            <a:custGeom>
              <a:rect b="b" l="l" r="r" t="t"/>
              <a:pathLst>
                <a:path extrusionOk="0"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FD3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1" name="Google Shape;311;p8"/>
          <p:cNvGrpSpPr/>
          <p:nvPr/>
        </p:nvGrpSpPr>
        <p:grpSpPr>
          <a:xfrm>
            <a:off x="10242649" y="6008191"/>
            <a:ext cx="3544044" cy="471487"/>
            <a:chOff x="0" y="-38100"/>
            <a:chExt cx="4725392" cy="628650"/>
          </a:xfrm>
        </p:grpSpPr>
        <p:sp>
          <p:nvSpPr>
            <p:cNvPr id="312" name="Google Shape;312;p8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3" name="Google Shape;313;p8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384653"/>
                  </a:solidFill>
                  <a:latin typeface="Arimo"/>
                  <a:ea typeface="Arimo"/>
                  <a:cs typeface="Arimo"/>
                  <a:sym typeface="Arimo"/>
                </a:rPr>
                <a:t>Tesla</a:t>
              </a:r>
              <a:endParaRPr/>
            </a:p>
          </p:txBody>
        </p:sp>
      </p:grpSp>
      <p:grpSp>
        <p:nvGrpSpPr>
          <p:cNvPr id="314" name="Google Shape;314;p8"/>
          <p:cNvGrpSpPr/>
          <p:nvPr/>
        </p:nvGrpSpPr>
        <p:grpSpPr>
          <a:xfrm>
            <a:off x="10242649" y="6592640"/>
            <a:ext cx="7053262" cy="482353"/>
            <a:chOff x="0" y="-76200"/>
            <a:chExt cx="9404350" cy="643137"/>
          </a:xfrm>
        </p:grpSpPr>
        <p:sp>
          <p:nvSpPr>
            <p:cNvPr id="315" name="Google Shape;315;p8"/>
            <p:cNvSpPr/>
            <p:nvPr/>
          </p:nvSpPr>
          <p:spPr>
            <a:xfrm>
              <a:off x="0" y="0"/>
              <a:ext cx="9404350" cy="566937"/>
            </a:xfrm>
            <a:custGeom>
              <a:rect b="b" l="l" r="r" t="t"/>
              <a:pathLst>
                <a:path extrusionOk="0" h="566937" w="9404350">
                  <a:moveTo>
                    <a:pt x="0" y="0"/>
                  </a:moveTo>
                  <a:lnTo>
                    <a:pt x="9404350" y="0"/>
                  </a:lnTo>
                  <a:lnTo>
                    <a:pt x="9404350" y="566937"/>
                  </a:lnTo>
                  <a:lnTo>
                    <a:pt x="0" y="5669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6" name="Google Shape;316;p8"/>
            <p:cNvSpPr txBox="1"/>
            <p:nvPr/>
          </p:nvSpPr>
          <p:spPr>
            <a:xfrm>
              <a:off x="0" y="-76200"/>
              <a:ext cx="9404350" cy="643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Ventas directas y actualizaciones remotas de software.</a:t>
              </a:r>
              <a:endParaRPr/>
            </a:p>
          </p:txBody>
        </p:sp>
      </p:grpSp>
      <p:grpSp>
        <p:nvGrpSpPr>
          <p:cNvPr id="317" name="Google Shape;317;p8"/>
          <p:cNvGrpSpPr/>
          <p:nvPr/>
        </p:nvGrpSpPr>
        <p:grpSpPr>
          <a:xfrm>
            <a:off x="987475" y="7637264"/>
            <a:ext cx="647414" cy="647414"/>
            <a:chOff x="0" y="0"/>
            <a:chExt cx="863219" cy="863219"/>
          </a:xfrm>
        </p:grpSpPr>
        <p:sp>
          <p:nvSpPr>
            <p:cNvPr id="318" name="Google Shape;318;p8"/>
            <p:cNvSpPr/>
            <p:nvPr/>
          </p:nvSpPr>
          <p:spPr>
            <a:xfrm>
              <a:off x="6350" y="6350"/>
              <a:ext cx="850519" cy="850519"/>
            </a:xfrm>
            <a:custGeom>
              <a:rect b="b" l="l" r="r" t="t"/>
              <a:pathLst>
                <a:path extrusionOk="0"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9ED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8"/>
            <p:cNvSpPr/>
            <p:nvPr/>
          </p:nvSpPr>
          <p:spPr>
            <a:xfrm>
              <a:off x="0" y="0"/>
              <a:ext cx="863219" cy="863219"/>
            </a:xfrm>
            <a:custGeom>
              <a:rect b="b" l="l" r="r" t="t"/>
              <a:pathLst>
                <a:path extrusionOk="0"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FD3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0" name="Google Shape;320;p8"/>
          <p:cNvGrpSpPr/>
          <p:nvPr/>
        </p:nvGrpSpPr>
        <p:grpSpPr>
          <a:xfrm>
            <a:off x="1913632" y="7710785"/>
            <a:ext cx="3544044" cy="471487"/>
            <a:chOff x="0" y="-38100"/>
            <a:chExt cx="4725392" cy="628650"/>
          </a:xfrm>
        </p:grpSpPr>
        <p:sp>
          <p:nvSpPr>
            <p:cNvPr id="321" name="Google Shape;321;p8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22" name="Google Shape;322;p8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384653"/>
                  </a:solidFill>
                  <a:latin typeface="Arimo"/>
                  <a:ea typeface="Arimo"/>
                  <a:cs typeface="Arimo"/>
                  <a:sym typeface="Arimo"/>
                </a:rPr>
                <a:t>Ulabox</a:t>
              </a:r>
              <a:endParaRPr/>
            </a:p>
          </p:txBody>
        </p:sp>
      </p:grpSp>
      <p:grpSp>
        <p:nvGrpSpPr>
          <p:cNvPr id="323" name="Google Shape;323;p8"/>
          <p:cNvGrpSpPr/>
          <p:nvPr/>
        </p:nvGrpSpPr>
        <p:grpSpPr>
          <a:xfrm>
            <a:off x="1913632" y="8295234"/>
            <a:ext cx="7053262" cy="907554"/>
            <a:chOff x="0" y="-76200"/>
            <a:chExt cx="9404350" cy="1210072"/>
          </a:xfrm>
        </p:grpSpPr>
        <p:sp>
          <p:nvSpPr>
            <p:cNvPr id="324" name="Google Shape;324;p8"/>
            <p:cNvSpPr/>
            <p:nvPr/>
          </p:nvSpPr>
          <p:spPr>
            <a:xfrm>
              <a:off x="0" y="0"/>
              <a:ext cx="9404350" cy="1133872"/>
            </a:xfrm>
            <a:custGeom>
              <a:rect b="b" l="l" r="r" t="t"/>
              <a:pathLst>
                <a:path extrusionOk="0" h="1133872" w="9404350">
                  <a:moveTo>
                    <a:pt x="0" y="0"/>
                  </a:moveTo>
                  <a:lnTo>
                    <a:pt x="9404350" y="0"/>
                  </a:lnTo>
                  <a:lnTo>
                    <a:pt x="9404350" y="1133872"/>
                  </a:lnTo>
                  <a:lnTo>
                    <a:pt x="0" y="1133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25" name="Google Shape;325;p8"/>
            <p:cNvSpPr txBox="1"/>
            <p:nvPr/>
          </p:nvSpPr>
          <p:spPr>
            <a:xfrm>
              <a:off x="0" y="-76200"/>
              <a:ext cx="9404350" cy="1210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Supermercado 100% online con 10,000 envíos mensuales.</a:t>
              </a:r>
              <a:endParaRPr/>
            </a:p>
          </p:txBody>
        </p:sp>
      </p:grpSp>
      <p:grpSp>
        <p:nvGrpSpPr>
          <p:cNvPr id="326" name="Google Shape;326;p8"/>
          <p:cNvGrpSpPr/>
          <p:nvPr/>
        </p:nvGrpSpPr>
        <p:grpSpPr>
          <a:xfrm>
            <a:off x="9316491" y="7637264"/>
            <a:ext cx="647415" cy="647414"/>
            <a:chOff x="0" y="0"/>
            <a:chExt cx="863219" cy="863219"/>
          </a:xfrm>
        </p:grpSpPr>
        <p:sp>
          <p:nvSpPr>
            <p:cNvPr id="327" name="Google Shape;327;p8"/>
            <p:cNvSpPr/>
            <p:nvPr/>
          </p:nvSpPr>
          <p:spPr>
            <a:xfrm>
              <a:off x="6350" y="6350"/>
              <a:ext cx="850519" cy="850519"/>
            </a:xfrm>
            <a:custGeom>
              <a:rect b="b" l="l" r="r" t="t"/>
              <a:pathLst>
                <a:path extrusionOk="0"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9ED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8"/>
            <p:cNvSpPr/>
            <p:nvPr/>
          </p:nvSpPr>
          <p:spPr>
            <a:xfrm>
              <a:off x="0" y="0"/>
              <a:ext cx="863219" cy="863219"/>
            </a:xfrm>
            <a:custGeom>
              <a:rect b="b" l="l" r="r" t="t"/>
              <a:pathLst>
                <a:path extrusionOk="0"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FD3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9" name="Google Shape;329;p8"/>
          <p:cNvGrpSpPr/>
          <p:nvPr/>
        </p:nvGrpSpPr>
        <p:grpSpPr>
          <a:xfrm>
            <a:off x="10242649" y="7710785"/>
            <a:ext cx="3544044" cy="471487"/>
            <a:chOff x="0" y="-38100"/>
            <a:chExt cx="4725392" cy="628650"/>
          </a:xfrm>
        </p:grpSpPr>
        <p:sp>
          <p:nvSpPr>
            <p:cNvPr id="330" name="Google Shape;330;p8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1" name="Google Shape;331;p8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384653"/>
                  </a:solidFill>
                  <a:latin typeface="Arimo"/>
                  <a:ea typeface="Arimo"/>
                  <a:cs typeface="Arimo"/>
                  <a:sym typeface="Arimo"/>
                </a:rPr>
                <a:t>Airbnb</a:t>
              </a:r>
              <a:endParaRPr/>
            </a:p>
          </p:txBody>
        </p:sp>
      </p:grpSp>
      <p:grpSp>
        <p:nvGrpSpPr>
          <p:cNvPr id="332" name="Google Shape;332;p8"/>
          <p:cNvGrpSpPr/>
          <p:nvPr/>
        </p:nvGrpSpPr>
        <p:grpSpPr>
          <a:xfrm>
            <a:off x="10242649" y="8295234"/>
            <a:ext cx="7053262" cy="482353"/>
            <a:chOff x="0" y="-76200"/>
            <a:chExt cx="9404350" cy="643137"/>
          </a:xfrm>
        </p:grpSpPr>
        <p:sp>
          <p:nvSpPr>
            <p:cNvPr id="333" name="Google Shape;333;p8"/>
            <p:cNvSpPr/>
            <p:nvPr/>
          </p:nvSpPr>
          <p:spPr>
            <a:xfrm>
              <a:off x="0" y="0"/>
              <a:ext cx="9404350" cy="566937"/>
            </a:xfrm>
            <a:custGeom>
              <a:rect b="b" l="l" r="r" t="t"/>
              <a:pathLst>
                <a:path extrusionOk="0" h="566937" w="9404350">
                  <a:moveTo>
                    <a:pt x="0" y="0"/>
                  </a:moveTo>
                  <a:lnTo>
                    <a:pt x="9404350" y="0"/>
                  </a:lnTo>
                  <a:lnTo>
                    <a:pt x="9404350" y="566937"/>
                  </a:lnTo>
                  <a:lnTo>
                    <a:pt x="0" y="5669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4" name="Google Shape;334;p8"/>
            <p:cNvSpPr txBox="1"/>
            <p:nvPr/>
          </p:nvSpPr>
          <p:spPr>
            <a:xfrm>
              <a:off x="0" y="-76200"/>
              <a:ext cx="9404350" cy="643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Elimina intermediarios tradicionales en alojamiento.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C7E0E7"/>
          </a:solidFill>
          <a:ln>
            <a:noFill/>
          </a:ln>
        </p:spPr>
      </p:sp>
      <p:sp>
        <p:nvSpPr>
          <p:cNvPr id="344" name="Google Shape;344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AF9F5"/>
          </a:solidFill>
          <a:ln>
            <a:noFill/>
          </a:ln>
        </p:spPr>
      </p:sp>
      <p:grpSp>
        <p:nvGrpSpPr>
          <p:cNvPr id="345" name="Google Shape;345;p9"/>
          <p:cNvGrpSpPr/>
          <p:nvPr/>
        </p:nvGrpSpPr>
        <p:grpSpPr>
          <a:xfrm>
            <a:off x="992238" y="3387327"/>
            <a:ext cx="10496252" cy="928837"/>
            <a:chOff x="0" y="-57150"/>
            <a:chExt cx="13995003" cy="1238448"/>
          </a:xfrm>
        </p:grpSpPr>
        <p:sp>
          <p:nvSpPr>
            <p:cNvPr id="346" name="Google Shape;346;p9"/>
            <p:cNvSpPr/>
            <p:nvPr/>
          </p:nvSpPr>
          <p:spPr>
            <a:xfrm>
              <a:off x="0" y="0"/>
              <a:ext cx="13995003" cy="1181298"/>
            </a:xfrm>
            <a:custGeom>
              <a:rect b="b" l="l" r="r" t="t"/>
              <a:pathLst>
                <a:path extrusionOk="0" h="1181298" w="13995003">
                  <a:moveTo>
                    <a:pt x="0" y="0"/>
                  </a:moveTo>
                  <a:lnTo>
                    <a:pt x="13995003" y="0"/>
                  </a:lnTo>
                  <a:lnTo>
                    <a:pt x="13995003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7" name="Google Shape;347;p9"/>
            <p:cNvSpPr txBox="1"/>
            <p:nvPr/>
          </p:nvSpPr>
          <p:spPr>
            <a:xfrm>
              <a:off x="0" y="-57150"/>
              <a:ext cx="13995003" cy="12384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62" u="none" cap="none" strike="noStrike">
                  <a:solidFill>
                    <a:srgbClr val="2E3C4E"/>
                  </a:solidFill>
                  <a:latin typeface="Arimo"/>
                  <a:ea typeface="Arimo"/>
                  <a:cs typeface="Arimo"/>
                  <a:sym typeface="Arimo"/>
                </a:rPr>
                <a:t>Desafíos y Futuro del e-Business</a:t>
              </a:r>
              <a:endParaRPr/>
            </a:p>
          </p:txBody>
        </p:sp>
      </p:grpSp>
      <p:grpSp>
        <p:nvGrpSpPr>
          <p:cNvPr id="348" name="Google Shape;348;p9"/>
          <p:cNvGrpSpPr/>
          <p:nvPr/>
        </p:nvGrpSpPr>
        <p:grpSpPr>
          <a:xfrm>
            <a:off x="992238" y="4996309"/>
            <a:ext cx="3544044" cy="471487"/>
            <a:chOff x="0" y="-38100"/>
            <a:chExt cx="4725392" cy="628650"/>
          </a:xfrm>
        </p:grpSpPr>
        <p:sp>
          <p:nvSpPr>
            <p:cNvPr id="349" name="Google Shape;349;p9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0" name="Google Shape;350;p9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2E3C4E"/>
                  </a:solidFill>
                  <a:latin typeface="Arimo"/>
                  <a:ea typeface="Arimo"/>
                  <a:cs typeface="Arimo"/>
                  <a:sym typeface="Arimo"/>
                </a:rPr>
                <a:t>Competencia Global</a:t>
              </a:r>
              <a:endParaRPr/>
            </a:p>
          </p:txBody>
        </p:sp>
      </p:grpSp>
      <p:grpSp>
        <p:nvGrpSpPr>
          <p:cNvPr id="351" name="Google Shape;351;p9"/>
          <p:cNvGrpSpPr/>
          <p:nvPr/>
        </p:nvGrpSpPr>
        <p:grpSpPr>
          <a:xfrm>
            <a:off x="992238" y="5694164"/>
            <a:ext cx="4972645" cy="482353"/>
            <a:chOff x="0" y="-76200"/>
            <a:chExt cx="6630193" cy="643137"/>
          </a:xfrm>
        </p:grpSpPr>
        <p:sp>
          <p:nvSpPr>
            <p:cNvPr id="352" name="Google Shape;352;p9"/>
            <p:cNvSpPr/>
            <p:nvPr/>
          </p:nvSpPr>
          <p:spPr>
            <a:xfrm>
              <a:off x="0" y="0"/>
              <a:ext cx="6630193" cy="566937"/>
            </a:xfrm>
            <a:custGeom>
              <a:rect b="b" l="l" r="r" t="t"/>
              <a:pathLst>
                <a:path extrusionOk="0" h="566937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566937"/>
                  </a:lnTo>
                  <a:lnTo>
                    <a:pt x="0" y="5669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3" name="Google Shape;353;p9"/>
            <p:cNvSpPr txBox="1"/>
            <p:nvPr/>
          </p:nvSpPr>
          <p:spPr>
            <a:xfrm>
              <a:off x="0" y="-76200"/>
              <a:ext cx="6630193" cy="643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Rivalidad con gigantes como Amazon.</a:t>
              </a:r>
              <a:endParaRPr/>
            </a:p>
          </p:txBody>
        </p:sp>
      </p:grpSp>
      <p:grpSp>
        <p:nvGrpSpPr>
          <p:cNvPr id="354" name="Google Shape;354;p9"/>
          <p:cNvGrpSpPr/>
          <p:nvPr/>
        </p:nvGrpSpPr>
        <p:grpSpPr>
          <a:xfrm>
            <a:off x="6666160" y="4996309"/>
            <a:ext cx="3544044" cy="471487"/>
            <a:chOff x="0" y="-38100"/>
            <a:chExt cx="4725392" cy="628650"/>
          </a:xfrm>
        </p:grpSpPr>
        <p:sp>
          <p:nvSpPr>
            <p:cNvPr id="355" name="Google Shape;355;p9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6" name="Google Shape;356;p9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2E3C4E"/>
                  </a:solidFill>
                  <a:latin typeface="Arimo"/>
                  <a:ea typeface="Arimo"/>
                  <a:cs typeface="Arimo"/>
                  <a:sym typeface="Arimo"/>
                </a:rPr>
                <a:t>Nuevas Tecnologías</a:t>
              </a:r>
              <a:endParaRPr/>
            </a:p>
          </p:txBody>
        </p:sp>
      </p:grpSp>
      <p:grpSp>
        <p:nvGrpSpPr>
          <p:cNvPr id="357" name="Google Shape;357;p9"/>
          <p:cNvGrpSpPr/>
          <p:nvPr/>
        </p:nvGrpSpPr>
        <p:grpSpPr>
          <a:xfrm>
            <a:off x="6666160" y="5694164"/>
            <a:ext cx="4972645" cy="907554"/>
            <a:chOff x="0" y="-76200"/>
            <a:chExt cx="6630193" cy="1210072"/>
          </a:xfrm>
        </p:grpSpPr>
        <p:sp>
          <p:nvSpPr>
            <p:cNvPr id="358" name="Google Shape;358;p9"/>
            <p:cNvSpPr/>
            <p:nvPr/>
          </p:nvSpPr>
          <p:spPr>
            <a:xfrm>
              <a:off x="0" y="0"/>
              <a:ext cx="6630193" cy="1133872"/>
            </a:xfrm>
            <a:custGeom>
              <a:rect b="b" l="l" r="r" t="t"/>
              <a:pathLst>
                <a:path extrusionOk="0" h="1133872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1133872"/>
                  </a:lnTo>
                  <a:lnTo>
                    <a:pt x="0" y="1133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59" name="Google Shape;359;p9"/>
            <p:cNvSpPr txBox="1"/>
            <p:nvPr/>
          </p:nvSpPr>
          <p:spPr>
            <a:xfrm>
              <a:off x="0" y="-76200"/>
              <a:ext cx="6630193" cy="1210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Adaptación a inteligencia artificial y automatización.</a:t>
              </a:r>
              <a:endParaRPr/>
            </a:p>
          </p:txBody>
        </p:sp>
      </p:grpSp>
      <p:grpSp>
        <p:nvGrpSpPr>
          <p:cNvPr id="360" name="Google Shape;360;p9"/>
          <p:cNvGrpSpPr/>
          <p:nvPr/>
        </p:nvGrpSpPr>
        <p:grpSpPr>
          <a:xfrm>
            <a:off x="12340084" y="4996309"/>
            <a:ext cx="3544044" cy="471487"/>
            <a:chOff x="0" y="-38100"/>
            <a:chExt cx="4725392" cy="628650"/>
          </a:xfrm>
        </p:grpSpPr>
        <p:sp>
          <p:nvSpPr>
            <p:cNvPr id="361" name="Google Shape;361;p9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2" name="Google Shape;362;p9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2E3C4E"/>
                  </a:solidFill>
                  <a:latin typeface="Arimo"/>
                  <a:ea typeface="Arimo"/>
                  <a:cs typeface="Arimo"/>
                  <a:sym typeface="Arimo"/>
                </a:rPr>
                <a:t>Visión Futura</a:t>
              </a:r>
              <a:endParaRPr/>
            </a:p>
          </p:txBody>
        </p:sp>
      </p:grpSp>
      <p:grpSp>
        <p:nvGrpSpPr>
          <p:cNvPr id="363" name="Google Shape;363;p9"/>
          <p:cNvGrpSpPr/>
          <p:nvPr/>
        </p:nvGrpSpPr>
        <p:grpSpPr>
          <a:xfrm>
            <a:off x="12340084" y="5694164"/>
            <a:ext cx="4972645" cy="907554"/>
            <a:chOff x="0" y="-76200"/>
            <a:chExt cx="6630193" cy="1210072"/>
          </a:xfrm>
        </p:grpSpPr>
        <p:sp>
          <p:nvSpPr>
            <p:cNvPr id="364" name="Google Shape;364;p9"/>
            <p:cNvSpPr/>
            <p:nvPr/>
          </p:nvSpPr>
          <p:spPr>
            <a:xfrm>
              <a:off x="0" y="0"/>
              <a:ext cx="6630193" cy="1133872"/>
            </a:xfrm>
            <a:custGeom>
              <a:rect b="b" l="l" r="r" t="t"/>
              <a:pathLst>
                <a:path extrusionOk="0" h="1133872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1133872"/>
                  </a:lnTo>
                  <a:lnTo>
                    <a:pt x="0" y="1133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5" name="Google Shape;365;p9"/>
            <p:cNvSpPr txBox="1"/>
            <p:nvPr/>
          </p:nvSpPr>
          <p:spPr>
            <a:xfrm>
              <a:off x="0" y="-76200"/>
              <a:ext cx="6630193" cy="1210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Personalización y experiencia automática para clientes.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C7E0E7"/>
          </a:solidFill>
          <a:ln>
            <a:noFill/>
          </a:ln>
        </p:spPr>
      </p:sp>
      <p:sp>
        <p:nvSpPr>
          <p:cNvPr id="375" name="Google Shape;375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AF9F5"/>
          </a:solidFill>
          <a:ln>
            <a:noFill/>
          </a:ln>
        </p:spPr>
      </p:sp>
      <p:sp>
        <p:nvSpPr>
          <p:cNvPr descr="preencoded.png" id="376" name="Google Shape;376;p10"/>
          <p:cNvSpPr/>
          <p:nvPr/>
        </p:nvSpPr>
        <p:spPr>
          <a:xfrm>
            <a:off x="11087100" y="0"/>
            <a:ext cx="7200900" cy="10287000"/>
          </a:xfrm>
          <a:custGeom>
            <a:rect b="b" l="l" r="r" t="t"/>
            <a:pathLst>
              <a:path extrusionOk="0" h="10287000" w="7200900">
                <a:moveTo>
                  <a:pt x="0" y="0"/>
                </a:moveTo>
                <a:lnTo>
                  <a:pt x="7200900" y="0"/>
                </a:lnTo>
                <a:lnTo>
                  <a:pt x="72009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77" name="Google Shape;377;p10"/>
          <p:cNvGrpSpPr/>
          <p:nvPr/>
        </p:nvGrpSpPr>
        <p:grpSpPr>
          <a:xfrm>
            <a:off x="992238" y="2582913"/>
            <a:ext cx="9445526" cy="1814809"/>
            <a:chOff x="0" y="-57150"/>
            <a:chExt cx="12594035" cy="2419747"/>
          </a:xfrm>
        </p:grpSpPr>
        <p:sp>
          <p:nvSpPr>
            <p:cNvPr id="378" name="Google Shape;378;p10"/>
            <p:cNvSpPr/>
            <p:nvPr/>
          </p:nvSpPr>
          <p:spPr>
            <a:xfrm>
              <a:off x="0" y="0"/>
              <a:ext cx="12594035" cy="2362597"/>
            </a:xfrm>
            <a:custGeom>
              <a:rect b="b" l="l" r="r" t="t"/>
              <a:pathLst>
                <a:path extrusionOk="0" h="2362597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79" name="Google Shape;379;p10"/>
            <p:cNvSpPr txBox="1"/>
            <p:nvPr/>
          </p:nvSpPr>
          <p:spPr>
            <a:xfrm>
              <a:off x="0" y="-57150"/>
              <a:ext cx="12594035" cy="24197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62" u="none" cap="none" strike="noStrike">
                  <a:solidFill>
                    <a:srgbClr val="2E3C4E"/>
                  </a:solidFill>
                  <a:latin typeface="Arimo"/>
                  <a:ea typeface="Arimo"/>
                  <a:cs typeface="Arimo"/>
                  <a:sym typeface="Arimo"/>
                </a:rPr>
                <a:t>Problemas Éticos en Sistemas de Información</a:t>
              </a:r>
              <a:endParaRPr/>
            </a:p>
          </p:txBody>
        </p:sp>
      </p:grpSp>
      <p:grpSp>
        <p:nvGrpSpPr>
          <p:cNvPr id="380" name="Google Shape;380;p10"/>
          <p:cNvGrpSpPr/>
          <p:nvPr/>
        </p:nvGrpSpPr>
        <p:grpSpPr>
          <a:xfrm>
            <a:off x="987475" y="4818161"/>
            <a:ext cx="647414" cy="647414"/>
            <a:chOff x="0" y="0"/>
            <a:chExt cx="863219" cy="863219"/>
          </a:xfrm>
        </p:grpSpPr>
        <p:sp>
          <p:nvSpPr>
            <p:cNvPr id="381" name="Google Shape;381;p10"/>
            <p:cNvSpPr/>
            <p:nvPr/>
          </p:nvSpPr>
          <p:spPr>
            <a:xfrm>
              <a:off x="6350" y="6350"/>
              <a:ext cx="850519" cy="850519"/>
            </a:xfrm>
            <a:custGeom>
              <a:rect b="b" l="l" r="r" t="t"/>
              <a:pathLst>
                <a:path extrusionOk="0"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9ED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0"/>
            <p:cNvSpPr/>
            <p:nvPr/>
          </p:nvSpPr>
          <p:spPr>
            <a:xfrm>
              <a:off x="0" y="0"/>
              <a:ext cx="863219" cy="863219"/>
            </a:xfrm>
            <a:custGeom>
              <a:rect b="b" l="l" r="r" t="t"/>
              <a:pathLst>
                <a:path extrusionOk="0"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FD3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3" name="Google Shape;383;p10"/>
          <p:cNvGrpSpPr/>
          <p:nvPr/>
        </p:nvGrpSpPr>
        <p:grpSpPr>
          <a:xfrm>
            <a:off x="1913632" y="4891682"/>
            <a:ext cx="3544044" cy="471487"/>
            <a:chOff x="0" y="-38100"/>
            <a:chExt cx="4725392" cy="628650"/>
          </a:xfrm>
        </p:grpSpPr>
        <p:sp>
          <p:nvSpPr>
            <p:cNvPr id="384" name="Google Shape;384;p10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5" name="Google Shape;385;p10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384653"/>
                  </a:solidFill>
                  <a:latin typeface="Arimo"/>
                  <a:ea typeface="Arimo"/>
                  <a:cs typeface="Arimo"/>
                  <a:sym typeface="Arimo"/>
                </a:rPr>
                <a:t>Definición</a:t>
              </a:r>
              <a:endParaRPr/>
            </a:p>
          </p:txBody>
        </p:sp>
      </p:grpSp>
      <p:grpSp>
        <p:nvGrpSpPr>
          <p:cNvPr id="386" name="Google Shape;386;p10"/>
          <p:cNvGrpSpPr/>
          <p:nvPr/>
        </p:nvGrpSpPr>
        <p:grpSpPr>
          <a:xfrm>
            <a:off x="1913632" y="5476131"/>
            <a:ext cx="8524132" cy="482353"/>
            <a:chOff x="0" y="-76200"/>
            <a:chExt cx="11365509" cy="643137"/>
          </a:xfrm>
        </p:grpSpPr>
        <p:sp>
          <p:nvSpPr>
            <p:cNvPr id="387" name="Google Shape;387;p10"/>
            <p:cNvSpPr/>
            <p:nvPr/>
          </p:nvSpPr>
          <p:spPr>
            <a:xfrm>
              <a:off x="0" y="0"/>
              <a:ext cx="11365509" cy="566937"/>
            </a:xfrm>
            <a:custGeom>
              <a:rect b="b" l="l" r="r" t="t"/>
              <a:pathLst>
                <a:path extrusionOk="0" h="566937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566937"/>
                  </a:lnTo>
                  <a:lnTo>
                    <a:pt x="0" y="5669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8" name="Google Shape;388;p10"/>
            <p:cNvSpPr txBox="1"/>
            <p:nvPr/>
          </p:nvSpPr>
          <p:spPr>
            <a:xfrm>
              <a:off x="0" y="-76200"/>
              <a:ext cx="11365508" cy="643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Dilemas sobre privacidad, propiedad intelectual y uso de datos.</a:t>
              </a:r>
              <a:endParaRPr/>
            </a:p>
          </p:txBody>
        </p:sp>
      </p:grpSp>
      <p:grpSp>
        <p:nvGrpSpPr>
          <p:cNvPr id="389" name="Google Shape;389;p10"/>
          <p:cNvGrpSpPr/>
          <p:nvPr/>
        </p:nvGrpSpPr>
        <p:grpSpPr>
          <a:xfrm>
            <a:off x="987475" y="6520755"/>
            <a:ext cx="647414" cy="647414"/>
            <a:chOff x="0" y="0"/>
            <a:chExt cx="863219" cy="863219"/>
          </a:xfrm>
        </p:grpSpPr>
        <p:sp>
          <p:nvSpPr>
            <p:cNvPr id="390" name="Google Shape;390;p10"/>
            <p:cNvSpPr/>
            <p:nvPr/>
          </p:nvSpPr>
          <p:spPr>
            <a:xfrm>
              <a:off x="6350" y="6350"/>
              <a:ext cx="850519" cy="850519"/>
            </a:xfrm>
            <a:custGeom>
              <a:rect b="b" l="l" r="r" t="t"/>
              <a:pathLst>
                <a:path extrusionOk="0"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9ED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0"/>
            <p:cNvSpPr/>
            <p:nvPr/>
          </p:nvSpPr>
          <p:spPr>
            <a:xfrm>
              <a:off x="0" y="0"/>
              <a:ext cx="863219" cy="863219"/>
            </a:xfrm>
            <a:custGeom>
              <a:rect b="b" l="l" r="r" t="t"/>
              <a:pathLst>
                <a:path extrusionOk="0"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FD3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2" name="Google Shape;392;p10"/>
          <p:cNvGrpSpPr/>
          <p:nvPr/>
        </p:nvGrpSpPr>
        <p:grpSpPr>
          <a:xfrm>
            <a:off x="1913632" y="6594276"/>
            <a:ext cx="3544044" cy="471487"/>
            <a:chOff x="0" y="-38100"/>
            <a:chExt cx="4725392" cy="628650"/>
          </a:xfrm>
        </p:grpSpPr>
        <p:sp>
          <p:nvSpPr>
            <p:cNvPr id="393" name="Google Shape;393;p10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4" name="Google Shape;394;p10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384653"/>
                  </a:solidFill>
                  <a:latin typeface="Arimo"/>
                  <a:ea typeface="Arimo"/>
                  <a:cs typeface="Arimo"/>
                  <a:sym typeface="Arimo"/>
                </a:rPr>
                <a:t>Ejemplo</a:t>
              </a:r>
              <a:endParaRPr/>
            </a:p>
          </p:txBody>
        </p:sp>
      </p:grpSp>
      <p:grpSp>
        <p:nvGrpSpPr>
          <p:cNvPr id="395" name="Google Shape;395;p10"/>
          <p:cNvGrpSpPr/>
          <p:nvPr/>
        </p:nvGrpSpPr>
        <p:grpSpPr>
          <a:xfrm>
            <a:off x="1913632" y="7178725"/>
            <a:ext cx="8524132" cy="482353"/>
            <a:chOff x="0" y="-76200"/>
            <a:chExt cx="11365509" cy="643137"/>
          </a:xfrm>
        </p:grpSpPr>
        <p:sp>
          <p:nvSpPr>
            <p:cNvPr id="396" name="Google Shape;396;p10"/>
            <p:cNvSpPr/>
            <p:nvPr/>
          </p:nvSpPr>
          <p:spPr>
            <a:xfrm>
              <a:off x="0" y="0"/>
              <a:ext cx="11365509" cy="566937"/>
            </a:xfrm>
            <a:custGeom>
              <a:rect b="b" l="l" r="r" t="t"/>
              <a:pathLst>
                <a:path extrusionOk="0" h="566937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566937"/>
                  </a:lnTo>
                  <a:lnTo>
                    <a:pt x="0" y="5669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7" name="Google Shape;397;p10"/>
            <p:cNvSpPr txBox="1"/>
            <p:nvPr/>
          </p:nvSpPr>
          <p:spPr>
            <a:xfrm>
              <a:off x="0" y="-76200"/>
              <a:ext cx="11365508" cy="643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Seguridad de datos personales en plataformas en línea.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C7E0E7"/>
          </a:solidFill>
          <a:ln>
            <a:noFill/>
          </a:ln>
        </p:spPr>
      </p:sp>
      <p:sp>
        <p:nvSpPr>
          <p:cNvPr id="407" name="Google Shape;407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AF9F5"/>
          </a:solidFill>
          <a:ln>
            <a:noFill/>
          </a:ln>
        </p:spPr>
      </p:sp>
      <p:sp>
        <p:nvSpPr>
          <p:cNvPr descr="preencoded.png" id="408" name="Google Shape;408;p11"/>
          <p:cNvSpPr/>
          <p:nvPr/>
        </p:nvSpPr>
        <p:spPr>
          <a:xfrm>
            <a:off x="11087100" y="-35421"/>
            <a:ext cx="7200900" cy="10287000"/>
          </a:xfrm>
          <a:custGeom>
            <a:rect b="b" l="l" r="r" t="t"/>
            <a:pathLst>
              <a:path extrusionOk="0" h="10287000" w="7200900">
                <a:moveTo>
                  <a:pt x="0" y="0"/>
                </a:moveTo>
                <a:lnTo>
                  <a:pt x="7200900" y="0"/>
                </a:lnTo>
                <a:lnTo>
                  <a:pt x="72009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09" name="Google Shape;409;p11"/>
          <p:cNvGrpSpPr/>
          <p:nvPr/>
        </p:nvGrpSpPr>
        <p:grpSpPr>
          <a:xfrm>
            <a:off x="992238" y="2157710"/>
            <a:ext cx="9445526" cy="1814809"/>
            <a:chOff x="0" y="-57150"/>
            <a:chExt cx="12594035" cy="2419747"/>
          </a:xfrm>
        </p:grpSpPr>
        <p:sp>
          <p:nvSpPr>
            <p:cNvPr id="410" name="Google Shape;410;p11"/>
            <p:cNvSpPr/>
            <p:nvPr/>
          </p:nvSpPr>
          <p:spPr>
            <a:xfrm>
              <a:off x="0" y="0"/>
              <a:ext cx="12594035" cy="2362597"/>
            </a:xfrm>
            <a:custGeom>
              <a:rect b="b" l="l" r="r" t="t"/>
              <a:pathLst>
                <a:path extrusionOk="0" h="2362597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11" name="Google Shape;411;p11"/>
            <p:cNvSpPr txBox="1"/>
            <p:nvPr/>
          </p:nvSpPr>
          <p:spPr>
            <a:xfrm>
              <a:off x="0" y="-57150"/>
              <a:ext cx="12594035" cy="24197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62" u="none" cap="none" strike="noStrike">
                  <a:solidFill>
                    <a:srgbClr val="2E3C4E"/>
                  </a:solidFill>
                  <a:latin typeface="Arimo"/>
                  <a:ea typeface="Arimo"/>
                  <a:cs typeface="Arimo"/>
                  <a:sym typeface="Arimo"/>
                </a:rPr>
                <a:t>Impacto Social de los Sistemas de e-Business</a:t>
              </a:r>
              <a:endParaRPr/>
            </a:p>
          </p:txBody>
        </p:sp>
      </p:grpSp>
      <p:grpSp>
        <p:nvGrpSpPr>
          <p:cNvPr id="412" name="Google Shape;412;p11"/>
          <p:cNvGrpSpPr/>
          <p:nvPr/>
        </p:nvGrpSpPr>
        <p:grpSpPr>
          <a:xfrm>
            <a:off x="987475" y="4392960"/>
            <a:ext cx="647414" cy="647414"/>
            <a:chOff x="0" y="0"/>
            <a:chExt cx="863219" cy="863219"/>
          </a:xfrm>
        </p:grpSpPr>
        <p:sp>
          <p:nvSpPr>
            <p:cNvPr id="413" name="Google Shape;413;p11"/>
            <p:cNvSpPr/>
            <p:nvPr/>
          </p:nvSpPr>
          <p:spPr>
            <a:xfrm>
              <a:off x="6350" y="6350"/>
              <a:ext cx="850519" cy="850519"/>
            </a:xfrm>
            <a:custGeom>
              <a:rect b="b" l="l" r="r" t="t"/>
              <a:pathLst>
                <a:path extrusionOk="0"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9ED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11"/>
            <p:cNvSpPr/>
            <p:nvPr/>
          </p:nvSpPr>
          <p:spPr>
            <a:xfrm>
              <a:off x="0" y="0"/>
              <a:ext cx="863219" cy="863219"/>
            </a:xfrm>
            <a:custGeom>
              <a:rect b="b" l="l" r="r" t="t"/>
              <a:pathLst>
                <a:path extrusionOk="0"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FD3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5" name="Google Shape;415;p11"/>
          <p:cNvGrpSpPr/>
          <p:nvPr/>
        </p:nvGrpSpPr>
        <p:grpSpPr>
          <a:xfrm>
            <a:off x="1913632" y="4466481"/>
            <a:ext cx="3544044" cy="471487"/>
            <a:chOff x="0" y="-38100"/>
            <a:chExt cx="4725392" cy="628650"/>
          </a:xfrm>
        </p:grpSpPr>
        <p:sp>
          <p:nvSpPr>
            <p:cNvPr id="416" name="Google Shape;416;p11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17" name="Google Shape;417;p11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384653"/>
                  </a:solidFill>
                  <a:latin typeface="Arimo"/>
                  <a:ea typeface="Arimo"/>
                  <a:cs typeface="Arimo"/>
                  <a:sym typeface="Arimo"/>
                </a:rPr>
                <a:t>Inclusión Digital</a:t>
              </a:r>
              <a:endParaRPr/>
            </a:p>
          </p:txBody>
        </p:sp>
      </p:grpSp>
      <p:grpSp>
        <p:nvGrpSpPr>
          <p:cNvPr id="418" name="Google Shape;418;p11"/>
          <p:cNvGrpSpPr/>
          <p:nvPr/>
        </p:nvGrpSpPr>
        <p:grpSpPr>
          <a:xfrm>
            <a:off x="1913632" y="5050929"/>
            <a:ext cx="3624263" cy="1332756"/>
            <a:chOff x="0" y="-76200"/>
            <a:chExt cx="4832350" cy="1777008"/>
          </a:xfrm>
        </p:grpSpPr>
        <p:sp>
          <p:nvSpPr>
            <p:cNvPr id="419" name="Google Shape;419;p11"/>
            <p:cNvSpPr/>
            <p:nvPr/>
          </p:nvSpPr>
          <p:spPr>
            <a:xfrm>
              <a:off x="0" y="0"/>
              <a:ext cx="4832350" cy="1700808"/>
            </a:xfrm>
            <a:custGeom>
              <a:rect b="b" l="l" r="r" t="t"/>
              <a:pathLst>
                <a:path extrusionOk="0" h="1700808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1700808"/>
                  </a:lnTo>
                  <a:lnTo>
                    <a:pt x="0" y="17008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20" name="Google Shape;420;p11"/>
            <p:cNvSpPr txBox="1"/>
            <p:nvPr/>
          </p:nvSpPr>
          <p:spPr>
            <a:xfrm>
              <a:off x="0" y="-76200"/>
              <a:ext cx="4832350" cy="17770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Reducir la brecha tecnológica es un reto social clave.</a:t>
              </a:r>
              <a:endParaRPr/>
            </a:p>
          </p:txBody>
        </p:sp>
      </p:grpSp>
      <p:grpSp>
        <p:nvGrpSpPr>
          <p:cNvPr id="421" name="Google Shape;421;p11"/>
          <p:cNvGrpSpPr/>
          <p:nvPr/>
        </p:nvGrpSpPr>
        <p:grpSpPr>
          <a:xfrm>
            <a:off x="5887491" y="4392960"/>
            <a:ext cx="647415" cy="647414"/>
            <a:chOff x="0" y="0"/>
            <a:chExt cx="863219" cy="863219"/>
          </a:xfrm>
        </p:grpSpPr>
        <p:sp>
          <p:nvSpPr>
            <p:cNvPr id="422" name="Google Shape;422;p11"/>
            <p:cNvSpPr/>
            <p:nvPr/>
          </p:nvSpPr>
          <p:spPr>
            <a:xfrm>
              <a:off x="6350" y="6350"/>
              <a:ext cx="850519" cy="850519"/>
            </a:xfrm>
            <a:custGeom>
              <a:rect b="b" l="l" r="r" t="t"/>
              <a:pathLst>
                <a:path extrusionOk="0"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9ED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11"/>
            <p:cNvSpPr/>
            <p:nvPr/>
          </p:nvSpPr>
          <p:spPr>
            <a:xfrm>
              <a:off x="0" y="0"/>
              <a:ext cx="863219" cy="863219"/>
            </a:xfrm>
            <a:custGeom>
              <a:rect b="b" l="l" r="r" t="t"/>
              <a:pathLst>
                <a:path extrusionOk="0"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FD3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24" name="Google Shape;424;p11"/>
          <p:cNvGrpSpPr/>
          <p:nvPr/>
        </p:nvGrpSpPr>
        <p:grpSpPr>
          <a:xfrm>
            <a:off x="6813649" y="4466481"/>
            <a:ext cx="3544044" cy="471487"/>
            <a:chOff x="0" y="-38100"/>
            <a:chExt cx="4725392" cy="628650"/>
          </a:xfrm>
        </p:grpSpPr>
        <p:sp>
          <p:nvSpPr>
            <p:cNvPr id="425" name="Google Shape;425;p11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26" name="Google Shape;426;p11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384653"/>
                  </a:solidFill>
                  <a:latin typeface="Arimo"/>
                  <a:ea typeface="Arimo"/>
                  <a:cs typeface="Arimo"/>
                  <a:sym typeface="Arimo"/>
                </a:rPr>
                <a:t>Empleo y Habilidades</a:t>
              </a:r>
              <a:endParaRPr/>
            </a:p>
          </p:txBody>
        </p:sp>
      </p:grpSp>
      <p:grpSp>
        <p:nvGrpSpPr>
          <p:cNvPr id="427" name="Google Shape;427;p11"/>
          <p:cNvGrpSpPr/>
          <p:nvPr/>
        </p:nvGrpSpPr>
        <p:grpSpPr>
          <a:xfrm>
            <a:off x="6813649" y="5050929"/>
            <a:ext cx="3624262" cy="907554"/>
            <a:chOff x="0" y="-76200"/>
            <a:chExt cx="4832350" cy="1210072"/>
          </a:xfrm>
        </p:grpSpPr>
        <p:sp>
          <p:nvSpPr>
            <p:cNvPr id="428" name="Google Shape;428;p11"/>
            <p:cNvSpPr/>
            <p:nvPr/>
          </p:nvSpPr>
          <p:spPr>
            <a:xfrm>
              <a:off x="0" y="0"/>
              <a:ext cx="4832350" cy="1133872"/>
            </a:xfrm>
            <a:custGeom>
              <a:rect b="b" l="l" r="r" t="t"/>
              <a:pathLst>
                <a:path extrusionOk="0" h="1133872" w="4832350">
                  <a:moveTo>
                    <a:pt x="0" y="0"/>
                  </a:moveTo>
                  <a:lnTo>
                    <a:pt x="4832350" y="0"/>
                  </a:lnTo>
                  <a:lnTo>
                    <a:pt x="4832350" y="1133872"/>
                  </a:lnTo>
                  <a:lnTo>
                    <a:pt x="0" y="1133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29" name="Google Shape;429;p11"/>
            <p:cNvSpPr txBox="1"/>
            <p:nvPr/>
          </p:nvSpPr>
          <p:spPr>
            <a:xfrm>
              <a:off x="0" y="-76200"/>
              <a:ext cx="4832350" cy="1210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Nuevas destrezas y cambios en el mercado laboral.</a:t>
              </a:r>
              <a:endParaRPr/>
            </a:p>
          </p:txBody>
        </p:sp>
      </p:grpSp>
      <p:grpSp>
        <p:nvGrpSpPr>
          <p:cNvPr id="430" name="Google Shape;430;p11"/>
          <p:cNvGrpSpPr/>
          <p:nvPr/>
        </p:nvGrpSpPr>
        <p:grpSpPr>
          <a:xfrm>
            <a:off x="987475" y="6945958"/>
            <a:ext cx="647414" cy="647414"/>
            <a:chOff x="0" y="0"/>
            <a:chExt cx="863219" cy="863219"/>
          </a:xfrm>
        </p:grpSpPr>
        <p:sp>
          <p:nvSpPr>
            <p:cNvPr id="431" name="Google Shape;431;p11"/>
            <p:cNvSpPr/>
            <p:nvPr/>
          </p:nvSpPr>
          <p:spPr>
            <a:xfrm>
              <a:off x="6350" y="6350"/>
              <a:ext cx="850519" cy="850519"/>
            </a:xfrm>
            <a:custGeom>
              <a:rect b="b" l="l" r="r" t="t"/>
              <a:pathLst>
                <a:path extrusionOk="0"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9ED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11"/>
            <p:cNvSpPr/>
            <p:nvPr/>
          </p:nvSpPr>
          <p:spPr>
            <a:xfrm>
              <a:off x="0" y="0"/>
              <a:ext cx="863219" cy="863219"/>
            </a:xfrm>
            <a:custGeom>
              <a:rect b="b" l="l" r="r" t="t"/>
              <a:pathLst>
                <a:path extrusionOk="0"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FD3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3" name="Google Shape;433;p11"/>
          <p:cNvGrpSpPr/>
          <p:nvPr/>
        </p:nvGrpSpPr>
        <p:grpSpPr>
          <a:xfrm>
            <a:off x="1913632" y="7019479"/>
            <a:ext cx="3544044" cy="471487"/>
            <a:chOff x="0" y="-38100"/>
            <a:chExt cx="4725392" cy="628650"/>
          </a:xfrm>
        </p:grpSpPr>
        <p:sp>
          <p:nvSpPr>
            <p:cNvPr id="434" name="Google Shape;434;p11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5" name="Google Shape;435;p11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384653"/>
                  </a:solidFill>
                  <a:latin typeface="Arimo"/>
                  <a:ea typeface="Arimo"/>
                  <a:cs typeface="Arimo"/>
                  <a:sym typeface="Arimo"/>
                </a:rPr>
                <a:t>Accesibilidad</a:t>
              </a:r>
              <a:endParaRPr/>
            </a:p>
          </p:txBody>
        </p:sp>
      </p:grpSp>
      <p:grpSp>
        <p:nvGrpSpPr>
          <p:cNvPr id="436" name="Google Shape;436;p11"/>
          <p:cNvGrpSpPr/>
          <p:nvPr/>
        </p:nvGrpSpPr>
        <p:grpSpPr>
          <a:xfrm>
            <a:off x="1913632" y="7603926"/>
            <a:ext cx="8524132" cy="482353"/>
            <a:chOff x="0" y="-76200"/>
            <a:chExt cx="11365509" cy="643137"/>
          </a:xfrm>
        </p:grpSpPr>
        <p:sp>
          <p:nvSpPr>
            <p:cNvPr id="437" name="Google Shape;437;p11"/>
            <p:cNvSpPr/>
            <p:nvPr/>
          </p:nvSpPr>
          <p:spPr>
            <a:xfrm>
              <a:off x="0" y="0"/>
              <a:ext cx="11365509" cy="566937"/>
            </a:xfrm>
            <a:custGeom>
              <a:rect b="b" l="l" r="r" t="t"/>
              <a:pathLst>
                <a:path extrusionOk="0" h="566937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566937"/>
                  </a:lnTo>
                  <a:lnTo>
                    <a:pt x="0" y="5669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8" name="Google Shape;438;p11"/>
            <p:cNvSpPr txBox="1"/>
            <p:nvPr/>
          </p:nvSpPr>
          <p:spPr>
            <a:xfrm>
              <a:off x="0" y="-76200"/>
              <a:ext cx="11365508" cy="643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Mejora acceso, pero riesgos de exclusión persisten.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C7E0E7"/>
          </a:solidFill>
          <a:ln>
            <a:noFill/>
          </a:ln>
        </p:spPr>
      </p:sp>
      <p:sp>
        <p:nvSpPr>
          <p:cNvPr id="448" name="Google Shape;448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AF9F5"/>
          </a:solidFill>
          <a:ln>
            <a:noFill/>
          </a:ln>
        </p:spPr>
      </p:sp>
      <p:sp>
        <p:nvSpPr>
          <p:cNvPr descr="preencoded.png" id="449" name="Google Shape;449;p12"/>
          <p:cNvSpPr/>
          <p:nvPr/>
        </p:nvSpPr>
        <p:spPr>
          <a:xfrm>
            <a:off x="0" y="0"/>
            <a:ext cx="7200900" cy="10287000"/>
          </a:xfrm>
          <a:custGeom>
            <a:rect b="b" l="l" r="r" t="t"/>
            <a:pathLst>
              <a:path extrusionOk="0" h="10287000" w="7200900">
                <a:moveTo>
                  <a:pt x="0" y="0"/>
                </a:moveTo>
                <a:lnTo>
                  <a:pt x="7200900" y="0"/>
                </a:lnTo>
                <a:lnTo>
                  <a:pt x="72009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50" name="Google Shape;450;p12"/>
          <p:cNvGrpSpPr/>
          <p:nvPr/>
        </p:nvGrpSpPr>
        <p:grpSpPr>
          <a:xfrm>
            <a:off x="7850237" y="1450330"/>
            <a:ext cx="9445526" cy="1814809"/>
            <a:chOff x="0" y="-57150"/>
            <a:chExt cx="12594035" cy="2419747"/>
          </a:xfrm>
        </p:grpSpPr>
        <p:sp>
          <p:nvSpPr>
            <p:cNvPr id="451" name="Google Shape;451;p12"/>
            <p:cNvSpPr/>
            <p:nvPr/>
          </p:nvSpPr>
          <p:spPr>
            <a:xfrm>
              <a:off x="0" y="0"/>
              <a:ext cx="12594035" cy="2362597"/>
            </a:xfrm>
            <a:custGeom>
              <a:rect b="b" l="l" r="r" t="t"/>
              <a:pathLst>
                <a:path extrusionOk="0" h="2362597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52" name="Google Shape;452;p12"/>
            <p:cNvSpPr txBox="1"/>
            <p:nvPr/>
          </p:nvSpPr>
          <p:spPr>
            <a:xfrm>
              <a:off x="0" y="-57150"/>
              <a:ext cx="12594035" cy="24197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62" u="none" cap="none" strike="noStrike">
                  <a:solidFill>
                    <a:srgbClr val="2E3C4E"/>
                  </a:solidFill>
                  <a:latin typeface="Arimo"/>
                  <a:ea typeface="Arimo"/>
                  <a:cs typeface="Arimo"/>
                  <a:sym typeface="Arimo"/>
                </a:rPr>
                <a:t>Desafíos Éticos del e-Business</a:t>
              </a:r>
              <a:endParaRPr/>
            </a:p>
          </p:txBody>
        </p:sp>
      </p:grpSp>
      <p:sp>
        <p:nvSpPr>
          <p:cNvPr descr="preencoded.png" id="453" name="Google Shape;453;p12"/>
          <p:cNvSpPr/>
          <p:nvPr/>
        </p:nvSpPr>
        <p:spPr>
          <a:xfrm>
            <a:off x="7850237" y="3690343"/>
            <a:ext cx="1417588" cy="1701105"/>
          </a:xfrm>
          <a:custGeom>
            <a:rect b="b" l="l" r="r" t="t"/>
            <a:pathLst>
              <a:path extrusionOk="0" h="1701105" w="1417588">
                <a:moveTo>
                  <a:pt x="0" y="0"/>
                </a:moveTo>
                <a:lnTo>
                  <a:pt x="1417588" y="0"/>
                </a:lnTo>
                <a:lnTo>
                  <a:pt x="1417588" y="1701105"/>
                </a:lnTo>
                <a:lnTo>
                  <a:pt x="0" y="17011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4" l="0" r="0" t="-53"/>
            </a:stretch>
          </a:blipFill>
          <a:ln>
            <a:noFill/>
          </a:ln>
        </p:spPr>
      </p:sp>
      <p:grpSp>
        <p:nvGrpSpPr>
          <p:cNvPr id="454" name="Google Shape;454;p12"/>
          <p:cNvGrpSpPr/>
          <p:nvPr/>
        </p:nvGrpSpPr>
        <p:grpSpPr>
          <a:xfrm>
            <a:off x="9693028" y="3945285"/>
            <a:ext cx="3544044" cy="471487"/>
            <a:chOff x="0" y="-38100"/>
            <a:chExt cx="4725392" cy="628650"/>
          </a:xfrm>
        </p:grpSpPr>
        <p:sp>
          <p:nvSpPr>
            <p:cNvPr id="455" name="Google Shape;455;p12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56" name="Google Shape;456;p12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384653"/>
                  </a:solidFill>
                  <a:latin typeface="Arimo"/>
                  <a:ea typeface="Arimo"/>
                  <a:cs typeface="Arimo"/>
                  <a:sym typeface="Arimo"/>
                </a:rPr>
                <a:t>Información Privada</a:t>
              </a:r>
              <a:endParaRPr/>
            </a:p>
          </p:txBody>
        </p:sp>
      </p:grpSp>
      <p:grpSp>
        <p:nvGrpSpPr>
          <p:cNvPr id="457" name="Google Shape;457;p12"/>
          <p:cNvGrpSpPr/>
          <p:nvPr/>
        </p:nvGrpSpPr>
        <p:grpSpPr>
          <a:xfrm>
            <a:off x="9693028" y="4529732"/>
            <a:ext cx="7602736" cy="482352"/>
            <a:chOff x="0" y="-76200"/>
            <a:chExt cx="10136982" cy="643137"/>
          </a:xfrm>
        </p:grpSpPr>
        <p:sp>
          <p:nvSpPr>
            <p:cNvPr id="458" name="Google Shape;458;p12"/>
            <p:cNvSpPr/>
            <p:nvPr/>
          </p:nvSpPr>
          <p:spPr>
            <a:xfrm>
              <a:off x="0" y="0"/>
              <a:ext cx="10136982" cy="566937"/>
            </a:xfrm>
            <a:custGeom>
              <a:rect b="b" l="l" r="r" t="t"/>
              <a:pathLst>
                <a:path extrusionOk="0" h="566937" w="10136982">
                  <a:moveTo>
                    <a:pt x="0" y="0"/>
                  </a:moveTo>
                  <a:lnTo>
                    <a:pt x="10136982" y="0"/>
                  </a:lnTo>
                  <a:lnTo>
                    <a:pt x="10136982" y="566937"/>
                  </a:lnTo>
                  <a:lnTo>
                    <a:pt x="0" y="5669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59" name="Google Shape;459;p12"/>
            <p:cNvSpPr txBox="1"/>
            <p:nvPr/>
          </p:nvSpPr>
          <p:spPr>
            <a:xfrm>
              <a:off x="0" y="-76200"/>
              <a:ext cx="10136982" cy="643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Uso y abuso de datos personales de clientes.</a:t>
              </a:r>
              <a:endParaRPr/>
            </a:p>
          </p:txBody>
        </p:sp>
      </p:grpSp>
      <p:sp>
        <p:nvSpPr>
          <p:cNvPr descr="preencoded.png" id="460" name="Google Shape;460;p12"/>
          <p:cNvSpPr/>
          <p:nvPr/>
        </p:nvSpPr>
        <p:spPr>
          <a:xfrm>
            <a:off x="7850237" y="5391447"/>
            <a:ext cx="1417588" cy="1701105"/>
          </a:xfrm>
          <a:custGeom>
            <a:rect b="b" l="l" r="r" t="t"/>
            <a:pathLst>
              <a:path extrusionOk="0" h="1701105" w="1417588">
                <a:moveTo>
                  <a:pt x="0" y="0"/>
                </a:moveTo>
                <a:lnTo>
                  <a:pt x="1417588" y="0"/>
                </a:lnTo>
                <a:lnTo>
                  <a:pt x="1417588" y="1701105"/>
                </a:lnTo>
                <a:lnTo>
                  <a:pt x="0" y="17011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54" l="0" r="0" t="-53"/>
            </a:stretch>
          </a:blipFill>
          <a:ln>
            <a:noFill/>
          </a:ln>
        </p:spPr>
      </p:sp>
      <p:grpSp>
        <p:nvGrpSpPr>
          <p:cNvPr id="461" name="Google Shape;461;p12"/>
          <p:cNvGrpSpPr/>
          <p:nvPr/>
        </p:nvGrpSpPr>
        <p:grpSpPr>
          <a:xfrm>
            <a:off x="9693028" y="5646390"/>
            <a:ext cx="4219724" cy="471487"/>
            <a:chOff x="0" y="-38100"/>
            <a:chExt cx="5626298" cy="628650"/>
          </a:xfrm>
        </p:grpSpPr>
        <p:sp>
          <p:nvSpPr>
            <p:cNvPr id="462" name="Google Shape;462;p12"/>
            <p:cNvSpPr/>
            <p:nvPr/>
          </p:nvSpPr>
          <p:spPr>
            <a:xfrm>
              <a:off x="0" y="0"/>
              <a:ext cx="5626298" cy="590550"/>
            </a:xfrm>
            <a:custGeom>
              <a:rect b="b" l="l" r="r" t="t"/>
              <a:pathLst>
                <a:path extrusionOk="0" h="590550" w="5626298">
                  <a:moveTo>
                    <a:pt x="0" y="0"/>
                  </a:moveTo>
                  <a:lnTo>
                    <a:pt x="5626298" y="0"/>
                  </a:lnTo>
                  <a:lnTo>
                    <a:pt x="5626298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63" name="Google Shape;463;p12"/>
            <p:cNvSpPr txBox="1"/>
            <p:nvPr/>
          </p:nvSpPr>
          <p:spPr>
            <a:xfrm>
              <a:off x="0" y="-38100"/>
              <a:ext cx="5626298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384653"/>
                  </a:solidFill>
                  <a:latin typeface="Arimo"/>
                  <a:ea typeface="Arimo"/>
                  <a:cs typeface="Arimo"/>
                  <a:sym typeface="Arimo"/>
                </a:rPr>
                <a:t>Transparencia Algorítmica</a:t>
              </a:r>
              <a:endParaRPr/>
            </a:p>
          </p:txBody>
        </p:sp>
      </p:grpSp>
      <p:grpSp>
        <p:nvGrpSpPr>
          <p:cNvPr id="464" name="Google Shape;464;p12"/>
          <p:cNvGrpSpPr/>
          <p:nvPr/>
        </p:nvGrpSpPr>
        <p:grpSpPr>
          <a:xfrm>
            <a:off x="9693028" y="6230839"/>
            <a:ext cx="7602736" cy="482353"/>
            <a:chOff x="0" y="-76200"/>
            <a:chExt cx="10136982" cy="643137"/>
          </a:xfrm>
        </p:grpSpPr>
        <p:sp>
          <p:nvSpPr>
            <p:cNvPr id="465" name="Google Shape;465;p12"/>
            <p:cNvSpPr/>
            <p:nvPr/>
          </p:nvSpPr>
          <p:spPr>
            <a:xfrm>
              <a:off x="0" y="0"/>
              <a:ext cx="10136982" cy="566937"/>
            </a:xfrm>
            <a:custGeom>
              <a:rect b="b" l="l" r="r" t="t"/>
              <a:pathLst>
                <a:path extrusionOk="0" h="566937" w="10136982">
                  <a:moveTo>
                    <a:pt x="0" y="0"/>
                  </a:moveTo>
                  <a:lnTo>
                    <a:pt x="10136982" y="0"/>
                  </a:lnTo>
                  <a:lnTo>
                    <a:pt x="10136982" y="566937"/>
                  </a:lnTo>
                  <a:lnTo>
                    <a:pt x="0" y="5669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66" name="Google Shape;466;p12"/>
            <p:cNvSpPr txBox="1"/>
            <p:nvPr/>
          </p:nvSpPr>
          <p:spPr>
            <a:xfrm>
              <a:off x="0" y="-76200"/>
              <a:ext cx="10136982" cy="643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Necesidad de claridad en procesos automáticos.</a:t>
              </a:r>
              <a:endParaRPr/>
            </a:p>
          </p:txBody>
        </p:sp>
      </p:grpSp>
      <p:sp>
        <p:nvSpPr>
          <p:cNvPr descr="preencoded.png" id="467" name="Google Shape;467;p12"/>
          <p:cNvSpPr/>
          <p:nvPr/>
        </p:nvSpPr>
        <p:spPr>
          <a:xfrm>
            <a:off x="7850237" y="7092552"/>
            <a:ext cx="1417588" cy="1701105"/>
          </a:xfrm>
          <a:custGeom>
            <a:rect b="b" l="l" r="r" t="t"/>
            <a:pathLst>
              <a:path extrusionOk="0" h="1701105" w="1417588">
                <a:moveTo>
                  <a:pt x="0" y="0"/>
                </a:moveTo>
                <a:lnTo>
                  <a:pt x="1417588" y="0"/>
                </a:lnTo>
                <a:lnTo>
                  <a:pt x="1417588" y="1701105"/>
                </a:lnTo>
                <a:lnTo>
                  <a:pt x="0" y="17011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54" l="0" r="0" t="-53"/>
            </a:stretch>
          </a:blipFill>
          <a:ln>
            <a:noFill/>
          </a:ln>
        </p:spPr>
      </p:sp>
      <p:grpSp>
        <p:nvGrpSpPr>
          <p:cNvPr id="468" name="Google Shape;468;p12"/>
          <p:cNvGrpSpPr/>
          <p:nvPr/>
        </p:nvGrpSpPr>
        <p:grpSpPr>
          <a:xfrm>
            <a:off x="9693028" y="7347496"/>
            <a:ext cx="3544044" cy="471487"/>
            <a:chOff x="0" y="-38100"/>
            <a:chExt cx="4725392" cy="628650"/>
          </a:xfrm>
        </p:grpSpPr>
        <p:sp>
          <p:nvSpPr>
            <p:cNvPr id="469" name="Google Shape;469;p12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70" name="Google Shape;470;p12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384653"/>
                  </a:solidFill>
                  <a:latin typeface="Arimo"/>
                  <a:ea typeface="Arimo"/>
                  <a:cs typeface="Arimo"/>
                  <a:sym typeface="Arimo"/>
                </a:rPr>
                <a:t>Responsabilidad</a:t>
              </a:r>
              <a:endParaRPr/>
            </a:p>
          </p:txBody>
        </p:sp>
      </p:grpSp>
      <p:grpSp>
        <p:nvGrpSpPr>
          <p:cNvPr id="471" name="Google Shape;471;p12"/>
          <p:cNvGrpSpPr/>
          <p:nvPr/>
        </p:nvGrpSpPr>
        <p:grpSpPr>
          <a:xfrm>
            <a:off x="9693028" y="7931944"/>
            <a:ext cx="7602736" cy="482353"/>
            <a:chOff x="0" y="-76200"/>
            <a:chExt cx="10136982" cy="643137"/>
          </a:xfrm>
        </p:grpSpPr>
        <p:sp>
          <p:nvSpPr>
            <p:cNvPr id="472" name="Google Shape;472;p12"/>
            <p:cNvSpPr/>
            <p:nvPr/>
          </p:nvSpPr>
          <p:spPr>
            <a:xfrm>
              <a:off x="0" y="0"/>
              <a:ext cx="10136982" cy="566937"/>
            </a:xfrm>
            <a:custGeom>
              <a:rect b="b" l="l" r="r" t="t"/>
              <a:pathLst>
                <a:path extrusionOk="0" h="566937" w="10136982">
                  <a:moveTo>
                    <a:pt x="0" y="0"/>
                  </a:moveTo>
                  <a:lnTo>
                    <a:pt x="10136982" y="0"/>
                  </a:lnTo>
                  <a:lnTo>
                    <a:pt x="10136982" y="566937"/>
                  </a:lnTo>
                  <a:lnTo>
                    <a:pt x="0" y="5669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73" name="Google Shape;473;p12"/>
            <p:cNvSpPr txBox="1"/>
            <p:nvPr/>
          </p:nvSpPr>
          <p:spPr>
            <a:xfrm>
              <a:off x="0" y="-76200"/>
              <a:ext cx="10136982" cy="643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Frentes a fraudes y ciberataques constantes.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C7E0E7"/>
          </a:solidFill>
          <a:ln>
            <a:noFill/>
          </a:ln>
        </p:spPr>
      </p:sp>
      <p:sp>
        <p:nvSpPr>
          <p:cNvPr id="483" name="Google Shape;483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AF9F5"/>
          </a:solidFill>
          <a:ln>
            <a:noFill/>
          </a:ln>
        </p:spPr>
      </p:sp>
      <p:sp>
        <p:nvSpPr>
          <p:cNvPr descr="preencoded.png" id="484" name="Google Shape;484;p13"/>
          <p:cNvSpPr/>
          <p:nvPr/>
        </p:nvSpPr>
        <p:spPr>
          <a:xfrm>
            <a:off x="0" y="0"/>
            <a:ext cx="7200900" cy="10287000"/>
          </a:xfrm>
          <a:custGeom>
            <a:rect b="b" l="l" r="r" t="t"/>
            <a:pathLst>
              <a:path extrusionOk="0" h="10287000" w="7200900">
                <a:moveTo>
                  <a:pt x="0" y="0"/>
                </a:moveTo>
                <a:lnTo>
                  <a:pt x="7200900" y="0"/>
                </a:lnTo>
                <a:lnTo>
                  <a:pt x="72009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85" name="Google Shape;485;p13"/>
          <p:cNvGrpSpPr/>
          <p:nvPr/>
        </p:nvGrpSpPr>
        <p:grpSpPr>
          <a:xfrm>
            <a:off x="7850237" y="2462361"/>
            <a:ext cx="9016454" cy="928837"/>
            <a:chOff x="0" y="-57150"/>
            <a:chExt cx="12021938" cy="1238448"/>
          </a:xfrm>
        </p:grpSpPr>
        <p:sp>
          <p:nvSpPr>
            <p:cNvPr id="486" name="Google Shape;486;p13"/>
            <p:cNvSpPr/>
            <p:nvPr/>
          </p:nvSpPr>
          <p:spPr>
            <a:xfrm>
              <a:off x="0" y="0"/>
              <a:ext cx="12021938" cy="1181298"/>
            </a:xfrm>
            <a:custGeom>
              <a:rect b="b" l="l" r="r" t="t"/>
              <a:pathLst>
                <a:path extrusionOk="0" h="1181298" w="12021938">
                  <a:moveTo>
                    <a:pt x="0" y="0"/>
                  </a:moveTo>
                  <a:lnTo>
                    <a:pt x="12021938" y="0"/>
                  </a:lnTo>
                  <a:lnTo>
                    <a:pt x="12021938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7" name="Google Shape;487;p13"/>
            <p:cNvSpPr txBox="1"/>
            <p:nvPr/>
          </p:nvSpPr>
          <p:spPr>
            <a:xfrm>
              <a:off x="0" y="-57150"/>
              <a:ext cx="12021938" cy="12384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7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62" u="none" cap="none" strike="noStrike">
                  <a:solidFill>
                    <a:srgbClr val="2E3C4E"/>
                  </a:solidFill>
                  <a:latin typeface="Arimo"/>
                  <a:ea typeface="Arimo"/>
                  <a:cs typeface="Arimo"/>
                  <a:sym typeface="Arimo"/>
                </a:rPr>
                <a:t>Conclusión y Reflexión Final</a:t>
              </a:r>
              <a:endParaRPr/>
            </a:p>
          </p:txBody>
        </p:sp>
      </p:grpSp>
      <p:grpSp>
        <p:nvGrpSpPr>
          <p:cNvPr id="488" name="Google Shape;488;p13"/>
          <p:cNvGrpSpPr/>
          <p:nvPr/>
        </p:nvGrpSpPr>
        <p:grpSpPr>
          <a:xfrm>
            <a:off x="7845475" y="3811638"/>
            <a:ext cx="222123" cy="1047750"/>
            <a:chOff x="0" y="0"/>
            <a:chExt cx="296164" cy="1397000"/>
          </a:xfrm>
        </p:grpSpPr>
        <p:sp>
          <p:nvSpPr>
            <p:cNvPr id="489" name="Google Shape;489;p13"/>
            <p:cNvSpPr/>
            <p:nvPr/>
          </p:nvSpPr>
          <p:spPr>
            <a:xfrm>
              <a:off x="6350" y="6350"/>
              <a:ext cx="283337" cy="1384300"/>
            </a:xfrm>
            <a:custGeom>
              <a:rect b="b" l="l" r="r" t="t"/>
              <a:pathLst>
                <a:path extrusionOk="0" h="1384300" w="283337">
                  <a:moveTo>
                    <a:pt x="0" y="146685"/>
                  </a:moveTo>
                  <a:cubicBezTo>
                    <a:pt x="0" y="65659"/>
                    <a:pt x="63373" y="0"/>
                    <a:pt x="141732" y="0"/>
                  </a:cubicBezTo>
                  <a:cubicBezTo>
                    <a:pt x="220091" y="0"/>
                    <a:pt x="283337" y="65659"/>
                    <a:pt x="283337" y="146685"/>
                  </a:cubicBezTo>
                  <a:lnTo>
                    <a:pt x="283337" y="1237615"/>
                  </a:lnTo>
                  <a:cubicBezTo>
                    <a:pt x="283337" y="1318641"/>
                    <a:pt x="219964" y="1384300"/>
                    <a:pt x="141605" y="1384300"/>
                  </a:cubicBezTo>
                  <a:cubicBezTo>
                    <a:pt x="63246" y="1384300"/>
                    <a:pt x="0" y="1318641"/>
                    <a:pt x="0" y="1237615"/>
                  </a:cubicBezTo>
                  <a:close/>
                </a:path>
              </a:pathLst>
            </a:custGeom>
            <a:solidFill>
              <a:srgbClr val="D9ED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3"/>
            <p:cNvSpPr/>
            <p:nvPr/>
          </p:nvSpPr>
          <p:spPr>
            <a:xfrm>
              <a:off x="0" y="0"/>
              <a:ext cx="296164" cy="1397000"/>
            </a:xfrm>
            <a:custGeom>
              <a:rect b="b" l="l" r="r" t="t"/>
              <a:pathLst>
                <a:path extrusionOk="0" h="1397000" w="296164">
                  <a:moveTo>
                    <a:pt x="0" y="153035"/>
                  </a:moveTo>
                  <a:cubicBezTo>
                    <a:pt x="0" y="68707"/>
                    <a:pt x="66040" y="0"/>
                    <a:pt x="148082" y="0"/>
                  </a:cubicBezTo>
                  <a:cubicBezTo>
                    <a:pt x="149987" y="0"/>
                    <a:pt x="151892" y="889"/>
                    <a:pt x="153035" y="2413"/>
                  </a:cubicBezTo>
                  <a:lnTo>
                    <a:pt x="148082" y="6350"/>
                  </a:lnTo>
                  <a:lnTo>
                    <a:pt x="148082" y="0"/>
                  </a:lnTo>
                  <a:lnTo>
                    <a:pt x="148082" y="6350"/>
                  </a:lnTo>
                  <a:lnTo>
                    <a:pt x="148082" y="0"/>
                  </a:lnTo>
                  <a:cubicBezTo>
                    <a:pt x="229997" y="0"/>
                    <a:pt x="296164" y="68707"/>
                    <a:pt x="296164" y="153035"/>
                  </a:cubicBezTo>
                  <a:lnTo>
                    <a:pt x="296164" y="1243965"/>
                  </a:lnTo>
                  <a:lnTo>
                    <a:pt x="289814" y="1243965"/>
                  </a:lnTo>
                  <a:lnTo>
                    <a:pt x="296164" y="1243965"/>
                  </a:lnTo>
                  <a:cubicBezTo>
                    <a:pt x="296164" y="1328293"/>
                    <a:pt x="230124" y="1397000"/>
                    <a:pt x="148082" y="1397000"/>
                  </a:cubicBezTo>
                  <a:lnTo>
                    <a:pt x="148082" y="1390650"/>
                  </a:lnTo>
                  <a:lnTo>
                    <a:pt x="148082" y="1384300"/>
                  </a:lnTo>
                  <a:lnTo>
                    <a:pt x="148082" y="1390650"/>
                  </a:lnTo>
                  <a:lnTo>
                    <a:pt x="148082" y="1397000"/>
                  </a:lnTo>
                  <a:cubicBezTo>
                    <a:pt x="66040" y="1397000"/>
                    <a:pt x="0" y="1328293"/>
                    <a:pt x="0" y="1243965"/>
                  </a:cubicBezTo>
                  <a:lnTo>
                    <a:pt x="0" y="153035"/>
                  </a:lnTo>
                  <a:lnTo>
                    <a:pt x="6350" y="153035"/>
                  </a:lnTo>
                  <a:lnTo>
                    <a:pt x="0" y="153035"/>
                  </a:lnTo>
                  <a:moveTo>
                    <a:pt x="12700" y="153035"/>
                  </a:moveTo>
                  <a:lnTo>
                    <a:pt x="12700" y="1243965"/>
                  </a:lnTo>
                  <a:lnTo>
                    <a:pt x="6350" y="1243965"/>
                  </a:lnTo>
                  <a:lnTo>
                    <a:pt x="12700" y="1243965"/>
                  </a:lnTo>
                  <a:cubicBezTo>
                    <a:pt x="12700" y="1321689"/>
                    <a:pt x="73533" y="1384300"/>
                    <a:pt x="148082" y="1384300"/>
                  </a:cubicBezTo>
                  <a:cubicBezTo>
                    <a:pt x="151638" y="1384300"/>
                    <a:pt x="154432" y="1387094"/>
                    <a:pt x="154432" y="1390650"/>
                  </a:cubicBezTo>
                  <a:cubicBezTo>
                    <a:pt x="154432" y="1394206"/>
                    <a:pt x="151638" y="1397000"/>
                    <a:pt x="148082" y="1397000"/>
                  </a:cubicBezTo>
                  <a:cubicBezTo>
                    <a:pt x="144526" y="1397000"/>
                    <a:pt x="141732" y="1394206"/>
                    <a:pt x="141732" y="1390650"/>
                  </a:cubicBezTo>
                  <a:cubicBezTo>
                    <a:pt x="141732" y="1387094"/>
                    <a:pt x="144526" y="1384300"/>
                    <a:pt x="148082" y="1384300"/>
                  </a:cubicBezTo>
                  <a:cubicBezTo>
                    <a:pt x="222631" y="1384300"/>
                    <a:pt x="283464" y="1321689"/>
                    <a:pt x="283464" y="1243965"/>
                  </a:cubicBezTo>
                  <a:lnTo>
                    <a:pt x="283464" y="153035"/>
                  </a:lnTo>
                  <a:lnTo>
                    <a:pt x="289814" y="153035"/>
                  </a:lnTo>
                  <a:lnTo>
                    <a:pt x="283464" y="153035"/>
                  </a:lnTo>
                  <a:cubicBezTo>
                    <a:pt x="283337" y="75311"/>
                    <a:pt x="222631" y="12700"/>
                    <a:pt x="148082" y="12700"/>
                  </a:cubicBezTo>
                  <a:cubicBezTo>
                    <a:pt x="146177" y="12700"/>
                    <a:pt x="144272" y="11811"/>
                    <a:pt x="143129" y="10287"/>
                  </a:cubicBezTo>
                  <a:lnTo>
                    <a:pt x="148082" y="6350"/>
                  </a:lnTo>
                  <a:lnTo>
                    <a:pt x="148082" y="12700"/>
                  </a:lnTo>
                  <a:cubicBezTo>
                    <a:pt x="73533" y="12700"/>
                    <a:pt x="12700" y="75311"/>
                    <a:pt x="12700" y="153035"/>
                  </a:cubicBezTo>
                  <a:close/>
                </a:path>
              </a:pathLst>
            </a:custGeom>
            <a:solidFill>
              <a:srgbClr val="BFD3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1" name="Google Shape;491;p13"/>
          <p:cNvGrpSpPr/>
          <p:nvPr/>
        </p:nvGrpSpPr>
        <p:grpSpPr>
          <a:xfrm>
            <a:off x="8487966" y="3787825"/>
            <a:ext cx="3544044" cy="471487"/>
            <a:chOff x="0" y="-38100"/>
            <a:chExt cx="4725392" cy="628650"/>
          </a:xfrm>
        </p:grpSpPr>
        <p:sp>
          <p:nvSpPr>
            <p:cNvPr id="492" name="Google Shape;492;p13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93" name="Google Shape;493;p13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384653"/>
                  </a:solidFill>
                  <a:latin typeface="Arimo"/>
                  <a:ea typeface="Arimo"/>
                  <a:cs typeface="Arimo"/>
                  <a:sym typeface="Arimo"/>
                </a:rPr>
                <a:t>Innovación</a:t>
              </a:r>
              <a:endParaRPr/>
            </a:p>
          </p:txBody>
        </p:sp>
      </p:grpSp>
      <p:grpSp>
        <p:nvGrpSpPr>
          <p:cNvPr id="494" name="Google Shape;494;p13"/>
          <p:cNvGrpSpPr/>
          <p:nvPr/>
        </p:nvGrpSpPr>
        <p:grpSpPr>
          <a:xfrm>
            <a:off x="8487966" y="4372272"/>
            <a:ext cx="8807797" cy="482353"/>
            <a:chOff x="0" y="-76200"/>
            <a:chExt cx="11743730" cy="643137"/>
          </a:xfrm>
        </p:grpSpPr>
        <p:sp>
          <p:nvSpPr>
            <p:cNvPr id="495" name="Google Shape;495;p13"/>
            <p:cNvSpPr/>
            <p:nvPr/>
          </p:nvSpPr>
          <p:spPr>
            <a:xfrm>
              <a:off x="0" y="0"/>
              <a:ext cx="11743730" cy="566937"/>
            </a:xfrm>
            <a:custGeom>
              <a:rect b="b" l="l" r="r" t="t"/>
              <a:pathLst>
                <a:path extrusionOk="0" h="566937" w="11743730">
                  <a:moveTo>
                    <a:pt x="0" y="0"/>
                  </a:moveTo>
                  <a:lnTo>
                    <a:pt x="11743730" y="0"/>
                  </a:lnTo>
                  <a:lnTo>
                    <a:pt x="11743730" y="566937"/>
                  </a:lnTo>
                  <a:lnTo>
                    <a:pt x="0" y="5669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96" name="Google Shape;496;p13"/>
            <p:cNvSpPr txBox="1"/>
            <p:nvPr/>
          </p:nvSpPr>
          <p:spPr>
            <a:xfrm>
              <a:off x="0" y="-76200"/>
              <a:ext cx="11743730" cy="643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E-business impulsa avances tecnológicos constantes.</a:t>
              </a:r>
              <a:endParaRPr/>
            </a:p>
          </p:txBody>
        </p:sp>
      </p:grpSp>
      <p:grpSp>
        <p:nvGrpSpPr>
          <p:cNvPr id="497" name="Google Shape;497;p13"/>
          <p:cNvGrpSpPr/>
          <p:nvPr/>
        </p:nvGrpSpPr>
        <p:grpSpPr>
          <a:xfrm>
            <a:off x="8270676" y="5133380"/>
            <a:ext cx="222123" cy="1047750"/>
            <a:chOff x="0" y="0"/>
            <a:chExt cx="296164" cy="1397000"/>
          </a:xfrm>
        </p:grpSpPr>
        <p:sp>
          <p:nvSpPr>
            <p:cNvPr id="498" name="Google Shape;498;p13"/>
            <p:cNvSpPr/>
            <p:nvPr/>
          </p:nvSpPr>
          <p:spPr>
            <a:xfrm>
              <a:off x="6350" y="6350"/>
              <a:ext cx="283337" cy="1384300"/>
            </a:xfrm>
            <a:custGeom>
              <a:rect b="b" l="l" r="r" t="t"/>
              <a:pathLst>
                <a:path extrusionOk="0" h="1384300" w="283337">
                  <a:moveTo>
                    <a:pt x="0" y="146685"/>
                  </a:moveTo>
                  <a:cubicBezTo>
                    <a:pt x="0" y="65659"/>
                    <a:pt x="63373" y="0"/>
                    <a:pt x="141732" y="0"/>
                  </a:cubicBezTo>
                  <a:cubicBezTo>
                    <a:pt x="220091" y="0"/>
                    <a:pt x="283337" y="65659"/>
                    <a:pt x="283337" y="146685"/>
                  </a:cubicBezTo>
                  <a:lnTo>
                    <a:pt x="283337" y="1237615"/>
                  </a:lnTo>
                  <a:cubicBezTo>
                    <a:pt x="283337" y="1318641"/>
                    <a:pt x="219964" y="1384300"/>
                    <a:pt x="141605" y="1384300"/>
                  </a:cubicBezTo>
                  <a:cubicBezTo>
                    <a:pt x="63246" y="1384300"/>
                    <a:pt x="0" y="1318641"/>
                    <a:pt x="0" y="1237615"/>
                  </a:cubicBezTo>
                  <a:close/>
                </a:path>
              </a:pathLst>
            </a:custGeom>
            <a:solidFill>
              <a:srgbClr val="D9ED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3"/>
            <p:cNvSpPr/>
            <p:nvPr/>
          </p:nvSpPr>
          <p:spPr>
            <a:xfrm>
              <a:off x="0" y="0"/>
              <a:ext cx="296164" cy="1397000"/>
            </a:xfrm>
            <a:custGeom>
              <a:rect b="b" l="l" r="r" t="t"/>
              <a:pathLst>
                <a:path extrusionOk="0" h="1397000" w="296164">
                  <a:moveTo>
                    <a:pt x="0" y="153035"/>
                  </a:moveTo>
                  <a:cubicBezTo>
                    <a:pt x="0" y="68707"/>
                    <a:pt x="66040" y="0"/>
                    <a:pt x="148082" y="0"/>
                  </a:cubicBezTo>
                  <a:cubicBezTo>
                    <a:pt x="149987" y="0"/>
                    <a:pt x="151892" y="889"/>
                    <a:pt x="153035" y="2413"/>
                  </a:cubicBezTo>
                  <a:lnTo>
                    <a:pt x="148082" y="6350"/>
                  </a:lnTo>
                  <a:lnTo>
                    <a:pt x="148082" y="0"/>
                  </a:lnTo>
                  <a:lnTo>
                    <a:pt x="148082" y="6350"/>
                  </a:lnTo>
                  <a:lnTo>
                    <a:pt x="148082" y="0"/>
                  </a:lnTo>
                  <a:cubicBezTo>
                    <a:pt x="229997" y="0"/>
                    <a:pt x="296164" y="68707"/>
                    <a:pt x="296164" y="153035"/>
                  </a:cubicBezTo>
                  <a:lnTo>
                    <a:pt x="296164" y="1243965"/>
                  </a:lnTo>
                  <a:lnTo>
                    <a:pt x="289814" y="1243965"/>
                  </a:lnTo>
                  <a:lnTo>
                    <a:pt x="296164" y="1243965"/>
                  </a:lnTo>
                  <a:cubicBezTo>
                    <a:pt x="296164" y="1328293"/>
                    <a:pt x="230124" y="1397000"/>
                    <a:pt x="148082" y="1397000"/>
                  </a:cubicBezTo>
                  <a:lnTo>
                    <a:pt x="148082" y="1390650"/>
                  </a:lnTo>
                  <a:lnTo>
                    <a:pt x="148082" y="1384300"/>
                  </a:lnTo>
                  <a:lnTo>
                    <a:pt x="148082" y="1390650"/>
                  </a:lnTo>
                  <a:lnTo>
                    <a:pt x="148082" y="1397000"/>
                  </a:lnTo>
                  <a:cubicBezTo>
                    <a:pt x="66040" y="1397000"/>
                    <a:pt x="0" y="1328293"/>
                    <a:pt x="0" y="1243965"/>
                  </a:cubicBezTo>
                  <a:lnTo>
                    <a:pt x="0" y="153035"/>
                  </a:lnTo>
                  <a:lnTo>
                    <a:pt x="6350" y="153035"/>
                  </a:lnTo>
                  <a:lnTo>
                    <a:pt x="0" y="153035"/>
                  </a:lnTo>
                  <a:moveTo>
                    <a:pt x="12700" y="153035"/>
                  </a:moveTo>
                  <a:lnTo>
                    <a:pt x="12700" y="1243965"/>
                  </a:lnTo>
                  <a:lnTo>
                    <a:pt x="6350" y="1243965"/>
                  </a:lnTo>
                  <a:lnTo>
                    <a:pt x="12700" y="1243965"/>
                  </a:lnTo>
                  <a:cubicBezTo>
                    <a:pt x="12700" y="1321689"/>
                    <a:pt x="73533" y="1384300"/>
                    <a:pt x="148082" y="1384300"/>
                  </a:cubicBezTo>
                  <a:cubicBezTo>
                    <a:pt x="151638" y="1384300"/>
                    <a:pt x="154432" y="1387094"/>
                    <a:pt x="154432" y="1390650"/>
                  </a:cubicBezTo>
                  <a:cubicBezTo>
                    <a:pt x="154432" y="1394206"/>
                    <a:pt x="151638" y="1397000"/>
                    <a:pt x="148082" y="1397000"/>
                  </a:cubicBezTo>
                  <a:cubicBezTo>
                    <a:pt x="144526" y="1397000"/>
                    <a:pt x="141732" y="1394206"/>
                    <a:pt x="141732" y="1390650"/>
                  </a:cubicBezTo>
                  <a:cubicBezTo>
                    <a:pt x="141732" y="1387094"/>
                    <a:pt x="144526" y="1384300"/>
                    <a:pt x="148082" y="1384300"/>
                  </a:cubicBezTo>
                  <a:cubicBezTo>
                    <a:pt x="222631" y="1384300"/>
                    <a:pt x="283464" y="1321689"/>
                    <a:pt x="283464" y="1243965"/>
                  </a:cubicBezTo>
                  <a:lnTo>
                    <a:pt x="283464" y="153035"/>
                  </a:lnTo>
                  <a:lnTo>
                    <a:pt x="289814" y="153035"/>
                  </a:lnTo>
                  <a:lnTo>
                    <a:pt x="283464" y="153035"/>
                  </a:lnTo>
                  <a:cubicBezTo>
                    <a:pt x="283337" y="75311"/>
                    <a:pt x="222631" y="12700"/>
                    <a:pt x="148082" y="12700"/>
                  </a:cubicBezTo>
                  <a:cubicBezTo>
                    <a:pt x="146177" y="12700"/>
                    <a:pt x="144272" y="11811"/>
                    <a:pt x="143129" y="10287"/>
                  </a:cubicBezTo>
                  <a:lnTo>
                    <a:pt x="148082" y="6350"/>
                  </a:lnTo>
                  <a:lnTo>
                    <a:pt x="148082" y="12700"/>
                  </a:lnTo>
                  <a:cubicBezTo>
                    <a:pt x="73533" y="12700"/>
                    <a:pt x="12700" y="75311"/>
                    <a:pt x="12700" y="153035"/>
                  </a:cubicBezTo>
                  <a:close/>
                </a:path>
              </a:pathLst>
            </a:custGeom>
            <a:solidFill>
              <a:srgbClr val="BFD3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0" name="Google Shape;500;p13"/>
          <p:cNvGrpSpPr/>
          <p:nvPr/>
        </p:nvGrpSpPr>
        <p:grpSpPr>
          <a:xfrm>
            <a:off x="8913167" y="5109567"/>
            <a:ext cx="3544044" cy="471487"/>
            <a:chOff x="0" y="-38100"/>
            <a:chExt cx="4725392" cy="628650"/>
          </a:xfrm>
        </p:grpSpPr>
        <p:sp>
          <p:nvSpPr>
            <p:cNvPr id="501" name="Google Shape;501;p13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02" name="Google Shape;502;p13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384653"/>
                  </a:solidFill>
                  <a:latin typeface="Arimo"/>
                  <a:ea typeface="Arimo"/>
                  <a:cs typeface="Arimo"/>
                  <a:sym typeface="Arimo"/>
                </a:rPr>
                <a:t>Retos Éticos</a:t>
              </a:r>
              <a:endParaRPr/>
            </a:p>
          </p:txBody>
        </p:sp>
      </p:grpSp>
      <p:grpSp>
        <p:nvGrpSpPr>
          <p:cNvPr id="503" name="Google Shape;503;p13"/>
          <p:cNvGrpSpPr/>
          <p:nvPr/>
        </p:nvGrpSpPr>
        <p:grpSpPr>
          <a:xfrm>
            <a:off x="8913167" y="5694015"/>
            <a:ext cx="8382595" cy="482353"/>
            <a:chOff x="0" y="-76200"/>
            <a:chExt cx="11176793" cy="643137"/>
          </a:xfrm>
        </p:grpSpPr>
        <p:sp>
          <p:nvSpPr>
            <p:cNvPr id="504" name="Google Shape;504;p13"/>
            <p:cNvSpPr/>
            <p:nvPr/>
          </p:nvSpPr>
          <p:spPr>
            <a:xfrm>
              <a:off x="0" y="0"/>
              <a:ext cx="11176793" cy="566937"/>
            </a:xfrm>
            <a:custGeom>
              <a:rect b="b" l="l" r="r" t="t"/>
              <a:pathLst>
                <a:path extrusionOk="0" h="566937" w="11176793">
                  <a:moveTo>
                    <a:pt x="0" y="0"/>
                  </a:moveTo>
                  <a:lnTo>
                    <a:pt x="11176793" y="0"/>
                  </a:lnTo>
                  <a:lnTo>
                    <a:pt x="11176793" y="566937"/>
                  </a:lnTo>
                  <a:lnTo>
                    <a:pt x="0" y="5669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05" name="Google Shape;505;p13"/>
            <p:cNvSpPr txBox="1"/>
            <p:nvPr/>
          </p:nvSpPr>
          <p:spPr>
            <a:xfrm>
              <a:off x="0" y="-76200"/>
              <a:ext cx="11176793" cy="643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Se requiere un equilibrio responsable y cuidadoso.</a:t>
              </a:r>
              <a:endParaRPr/>
            </a:p>
          </p:txBody>
        </p:sp>
      </p:grpSp>
      <p:grpSp>
        <p:nvGrpSpPr>
          <p:cNvPr id="506" name="Google Shape;506;p13"/>
          <p:cNvGrpSpPr/>
          <p:nvPr/>
        </p:nvGrpSpPr>
        <p:grpSpPr>
          <a:xfrm>
            <a:off x="8696028" y="6455122"/>
            <a:ext cx="222123" cy="1047750"/>
            <a:chOff x="0" y="0"/>
            <a:chExt cx="296164" cy="1397000"/>
          </a:xfrm>
        </p:grpSpPr>
        <p:sp>
          <p:nvSpPr>
            <p:cNvPr id="507" name="Google Shape;507;p13"/>
            <p:cNvSpPr/>
            <p:nvPr/>
          </p:nvSpPr>
          <p:spPr>
            <a:xfrm>
              <a:off x="6350" y="6350"/>
              <a:ext cx="283337" cy="1384300"/>
            </a:xfrm>
            <a:custGeom>
              <a:rect b="b" l="l" r="r" t="t"/>
              <a:pathLst>
                <a:path extrusionOk="0" h="1384300" w="283337">
                  <a:moveTo>
                    <a:pt x="0" y="146685"/>
                  </a:moveTo>
                  <a:cubicBezTo>
                    <a:pt x="0" y="65659"/>
                    <a:pt x="63373" y="0"/>
                    <a:pt x="141732" y="0"/>
                  </a:cubicBezTo>
                  <a:cubicBezTo>
                    <a:pt x="220091" y="0"/>
                    <a:pt x="283337" y="65659"/>
                    <a:pt x="283337" y="146685"/>
                  </a:cubicBezTo>
                  <a:lnTo>
                    <a:pt x="283337" y="1237615"/>
                  </a:lnTo>
                  <a:cubicBezTo>
                    <a:pt x="283337" y="1318641"/>
                    <a:pt x="219964" y="1384300"/>
                    <a:pt x="141605" y="1384300"/>
                  </a:cubicBezTo>
                  <a:cubicBezTo>
                    <a:pt x="63246" y="1384300"/>
                    <a:pt x="0" y="1318641"/>
                    <a:pt x="0" y="1237615"/>
                  </a:cubicBezTo>
                  <a:close/>
                </a:path>
              </a:pathLst>
            </a:custGeom>
            <a:solidFill>
              <a:srgbClr val="D9ED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3"/>
            <p:cNvSpPr/>
            <p:nvPr/>
          </p:nvSpPr>
          <p:spPr>
            <a:xfrm>
              <a:off x="0" y="0"/>
              <a:ext cx="296164" cy="1397000"/>
            </a:xfrm>
            <a:custGeom>
              <a:rect b="b" l="l" r="r" t="t"/>
              <a:pathLst>
                <a:path extrusionOk="0" h="1397000" w="296164">
                  <a:moveTo>
                    <a:pt x="0" y="153035"/>
                  </a:moveTo>
                  <a:cubicBezTo>
                    <a:pt x="0" y="68707"/>
                    <a:pt x="66040" y="0"/>
                    <a:pt x="148082" y="0"/>
                  </a:cubicBezTo>
                  <a:cubicBezTo>
                    <a:pt x="149987" y="0"/>
                    <a:pt x="151892" y="889"/>
                    <a:pt x="153035" y="2413"/>
                  </a:cubicBezTo>
                  <a:lnTo>
                    <a:pt x="148082" y="6350"/>
                  </a:lnTo>
                  <a:lnTo>
                    <a:pt x="148082" y="0"/>
                  </a:lnTo>
                  <a:lnTo>
                    <a:pt x="148082" y="6350"/>
                  </a:lnTo>
                  <a:lnTo>
                    <a:pt x="148082" y="0"/>
                  </a:lnTo>
                  <a:cubicBezTo>
                    <a:pt x="229997" y="0"/>
                    <a:pt x="296164" y="68707"/>
                    <a:pt x="296164" y="153035"/>
                  </a:cubicBezTo>
                  <a:lnTo>
                    <a:pt x="296164" y="1243965"/>
                  </a:lnTo>
                  <a:lnTo>
                    <a:pt x="289814" y="1243965"/>
                  </a:lnTo>
                  <a:lnTo>
                    <a:pt x="296164" y="1243965"/>
                  </a:lnTo>
                  <a:cubicBezTo>
                    <a:pt x="296164" y="1328293"/>
                    <a:pt x="230124" y="1397000"/>
                    <a:pt x="148082" y="1397000"/>
                  </a:cubicBezTo>
                  <a:lnTo>
                    <a:pt x="148082" y="1390650"/>
                  </a:lnTo>
                  <a:lnTo>
                    <a:pt x="148082" y="1384300"/>
                  </a:lnTo>
                  <a:lnTo>
                    <a:pt x="148082" y="1390650"/>
                  </a:lnTo>
                  <a:lnTo>
                    <a:pt x="148082" y="1397000"/>
                  </a:lnTo>
                  <a:cubicBezTo>
                    <a:pt x="66040" y="1397000"/>
                    <a:pt x="0" y="1328293"/>
                    <a:pt x="0" y="1243965"/>
                  </a:cubicBezTo>
                  <a:lnTo>
                    <a:pt x="0" y="153035"/>
                  </a:lnTo>
                  <a:lnTo>
                    <a:pt x="6350" y="153035"/>
                  </a:lnTo>
                  <a:lnTo>
                    <a:pt x="0" y="153035"/>
                  </a:lnTo>
                  <a:moveTo>
                    <a:pt x="12700" y="153035"/>
                  </a:moveTo>
                  <a:lnTo>
                    <a:pt x="12700" y="1243965"/>
                  </a:lnTo>
                  <a:lnTo>
                    <a:pt x="6350" y="1243965"/>
                  </a:lnTo>
                  <a:lnTo>
                    <a:pt x="12700" y="1243965"/>
                  </a:lnTo>
                  <a:cubicBezTo>
                    <a:pt x="12700" y="1321689"/>
                    <a:pt x="73533" y="1384300"/>
                    <a:pt x="148082" y="1384300"/>
                  </a:cubicBezTo>
                  <a:cubicBezTo>
                    <a:pt x="151638" y="1384300"/>
                    <a:pt x="154432" y="1387094"/>
                    <a:pt x="154432" y="1390650"/>
                  </a:cubicBezTo>
                  <a:cubicBezTo>
                    <a:pt x="154432" y="1394206"/>
                    <a:pt x="151638" y="1397000"/>
                    <a:pt x="148082" y="1397000"/>
                  </a:cubicBezTo>
                  <a:cubicBezTo>
                    <a:pt x="144526" y="1397000"/>
                    <a:pt x="141732" y="1394206"/>
                    <a:pt x="141732" y="1390650"/>
                  </a:cubicBezTo>
                  <a:cubicBezTo>
                    <a:pt x="141732" y="1387094"/>
                    <a:pt x="144526" y="1384300"/>
                    <a:pt x="148082" y="1384300"/>
                  </a:cubicBezTo>
                  <a:cubicBezTo>
                    <a:pt x="222631" y="1384300"/>
                    <a:pt x="283464" y="1321689"/>
                    <a:pt x="283464" y="1243965"/>
                  </a:cubicBezTo>
                  <a:lnTo>
                    <a:pt x="283464" y="153035"/>
                  </a:lnTo>
                  <a:lnTo>
                    <a:pt x="289814" y="153035"/>
                  </a:lnTo>
                  <a:lnTo>
                    <a:pt x="283464" y="153035"/>
                  </a:lnTo>
                  <a:cubicBezTo>
                    <a:pt x="283337" y="75311"/>
                    <a:pt x="222631" y="12700"/>
                    <a:pt x="148082" y="12700"/>
                  </a:cubicBezTo>
                  <a:cubicBezTo>
                    <a:pt x="146177" y="12700"/>
                    <a:pt x="144272" y="11811"/>
                    <a:pt x="143129" y="10287"/>
                  </a:cubicBezTo>
                  <a:lnTo>
                    <a:pt x="148082" y="6350"/>
                  </a:lnTo>
                  <a:lnTo>
                    <a:pt x="148082" y="12700"/>
                  </a:lnTo>
                  <a:cubicBezTo>
                    <a:pt x="73533" y="12700"/>
                    <a:pt x="12700" y="75311"/>
                    <a:pt x="12700" y="153035"/>
                  </a:cubicBezTo>
                  <a:close/>
                </a:path>
              </a:pathLst>
            </a:custGeom>
            <a:solidFill>
              <a:srgbClr val="BFD3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9" name="Google Shape;509;p13"/>
          <p:cNvGrpSpPr/>
          <p:nvPr/>
        </p:nvGrpSpPr>
        <p:grpSpPr>
          <a:xfrm>
            <a:off x="9338519" y="6431310"/>
            <a:ext cx="3544044" cy="471487"/>
            <a:chOff x="0" y="-38100"/>
            <a:chExt cx="4725392" cy="628650"/>
          </a:xfrm>
        </p:grpSpPr>
        <p:sp>
          <p:nvSpPr>
            <p:cNvPr id="510" name="Google Shape;510;p13"/>
            <p:cNvSpPr/>
            <p:nvPr/>
          </p:nvSpPr>
          <p:spPr>
            <a:xfrm>
              <a:off x="0" y="0"/>
              <a:ext cx="4725392" cy="590550"/>
            </a:xfrm>
            <a:custGeom>
              <a:rect b="b" l="l" r="r" t="t"/>
              <a:pathLst>
                <a:path extrusionOk="0"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11" name="Google Shape;511;p13"/>
            <p:cNvSpPr txBox="1"/>
            <p:nvPr/>
          </p:nvSpPr>
          <p:spPr>
            <a:xfrm>
              <a:off x="0" y="-38100"/>
              <a:ext cx="4725392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498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50" u="none" cap="none" strike="noStrike">
                  <a:solidFill>
                    <a:srgbClr val="384653"/>
                  </a:solidFill>
                  <a:latin typeface="Arimo"/>
                  <a:ea typeface="Arimo"/>
                  <a:cs typeface="Arimo"/>
                  <a:sym typeface="Arimo"/>
                </a:rPr>
                <a:t>Futuro</a:t>
              </a:r>
              <a:endParaRPr/>
            </a:p>
          </p:txBody>
        </p:sp>
      </p:grpSp>
      <p:grpSp>
        <p:nvGrpSpPr>
          <p:cNvPr id="512" name="Google Shape;512;p13"/>
          <p:cNvGrpSpPr/>
          <p:nvPr/>
        </p:nvGrpSpPr>
        <p:grpSpPr>
          <a:xfrm>
            <a:off x="9338519" y="7015758"/>
            <a:ext cx="7957245" cy="482353"/>
            <a:chOff x="0" y="-76200"/>
            <a:chExt cx="10609660" cy="643137"/>
          </a:xfrm>
        </p:grpSpPr>
        <p:sp>
          <p:nvSpPr>
            <p:cNvPr id="513" name="Google Shape;513;p13"/>
            <p:cNvSpPr/>
            <p:nvPr/>
          </p:nvSpPr>
          <p:spPr>
            <a:xfrm>
              <a:off x="0" y="0"/>
              <a:ext cx="10609660" cy="566937"/>
            </a:xfrm>
            <a:custGeom>
              <a:rect b="b" l="l" r="r" t="t"/>
              <a:pathLst>
                <a:path extrusionOk="0" h="566937" w="10609660">
                  <a:moveTo>
                    <a:pt x="0" y="0"/>
                  </a:moveTo>
                  <a:lnTo>
                    <a:pt x="10609660" y="0"/>
                  </a:lnTo>
                  <a:lnTo>
                    <a:pt x="10609660" y="566937"/>
                  </a:lnTo>
                  <a:lnTo>
                    <a:pt x="0" y="5669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14" name="Google Shape;514;p13"/>
            <p:cNvSpPr txBox="1"/>
            <p:nvPr/>
          </p:nvSpPr>
          <p:spPr>
            <a:xfrm>
              <a:off x="0" y="-76200"/>
              <a:ext cx="10609660" cy="643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87" u="none" cap="none" strike="noStrike">
                  <a:solidFill>
                    <a:srgbClr val="384653"/>
                  </a:solidFill>
                  <a:latin typeface="Roboto"/>
                  <a:ea typeface="Roboto"/>
                  <a:cs typeface="Roboto"/>
                  <a:sym typeface="Roboto"/>
                </a:rPr>
                <a:t>El desafío es combinar progreso y ética sosteniblemente.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DF2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4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/>
          </a:p>
        </p:txBody>
      </p:sp>
      <p:sp>
        <p:nvSpPr>
          <p:cNvPr id="520" name="Google Shape;520;p14"/>
          <p:cNvSpPr txBox="1"/>
          <p:nvPr/>
        </p:nvSpPr>
        <p:spPr>
          <a:xfrm>
            <a:off x="2022915" y="4607480"/>
            <a:ext cx="13506718" cy="3853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E-business: Uso de tecnologías digitales para realizar actividades empresariales.</a:t>
            </a:r>
            <a:endParaRPr/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Colaboración digital: Plataformas que conectan equipos y socios globalmente.</a:t>
            </a:r>
            <a:endParaRPr/>
          </a:p>
          <a:p>
            <a:pPr indent="-340217" lvl="1" marL="680435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•"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Herramientas clave: E-commerce, ERP, CRM, videoconferencias, suites colaborativas.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4DA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5"/>
          <p:cNvSpPr txBox="1"/>
          <p:nvPr/>
        </p:nvSpPr>
        <p:spPr>
          <a:xfrm>
            <a:off x="2401868" y="4593717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RESPONSABILIDAD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D6DE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6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/>
          </a:p>
        </p:txBody>
      </p:sp>
      <p:sp>
        <p:nvSpPr>
          <p:cNvPr id="531" name="Google Shape;531;p16"/>
          <p:cNvSpPr txBox="1"/>
          <p:nvPr/>
        </p:nvSpPr>
        <p:spPr>
          <a:xfrm>
            <a:off x="3416041" y="4435592"/>
            <a:ext cx="11455919" cy="2774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https://www.sydle.com/es/blog/que-es-e-business-61676092830b254194e0eb1f</a:t>
            </a:r>
            <a:endParaRPr/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https://www.techtarget.com/searchcio/definition/e-business</a:t>
            </a:r>
            <a:endParaRPr/>
          </a:p>
        </p:txBody>
      </p:sp>
      <p:pic>
        <p:nvPicPr>
          <p:cNvPr id="532" name="Google Shape;5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25" y="81426"/>
            <a:ext cx="3556389" cy="2214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AD6DE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7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7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539" name="Google Shape;539;p17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0" name="Google Shape;540;p17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