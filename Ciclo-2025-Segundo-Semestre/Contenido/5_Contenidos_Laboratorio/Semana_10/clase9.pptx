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10287000" cx="18288000"/>
  <p:notesSz cx="6858000" cy="9144000"/>
  <p:embeddedFontLst>
    <p:embeddedFont>
      <p:font typeface="Play"/>
      <p:regular r:id="rId25"/>
      <p:bold r:id="rId26"/>
    </p:embeddedFont>
    <p:embeddedFont>
      <p:font typeface="Arimo"/>
      <p:regular r:id="rId27"/>
      <p:bold r:id="rId28"/>
      <p:italic r:id="rId29"/>
      <p:boldItalic r:id="rId30"/>
    </p:embeddedFont>
    <p:embeddedFont>
      <p:font typeface="Open Sans"/>
      <p:bold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3" roundtripDataSignature="AMtx7mibmiRxg2VcCwvZlo59sDojCuos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FC0ECBD-C502-48AD-AD18-0DD5306EC9E6}">
  <a:tblStyle styleId="{0FC0ECBD-C502-48AD-AD18-0DD5306EC9E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ay-bold.fntdata"/><Relationship Id="rId25" Type="http://schemas.openxmlformats.org/officeDocument/2006/relationships/font" Target="fonts/Play-regular.fntdata"/><Relationship Id="rId28" Type="http://schemas.openxmlformats.org/officeDocument/2006/relationships/font" Target="fonts/Arimo-bold.fntdata"/><Relationship Id="rId27" Type="http://schemas.openxmlformats.org/officeDocument/2006/relationships/font" Target="fonts/Arim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Arim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-bold.fntdata"/><Relationship Id="rId30" Type="http://schemas.openxmlformats.org/officeDocument/2006/relationships/font" Target="fonts/Arimo-boldItalic.fntdata"/><Relationship Id="rId11" Type="http://schemas.openxmlformats.org/officeDocument/2006/relationships/slide" Target="slides/slide5.xml"/><Relationship Id="rId33" Type="http://customschemas.google.com/relationships/presentationmetadata" Target="metadata"/><Relationship Id="rId10" Type="http://schemas.openxmlformats.org/officeDocument/2006/relationships/slide" Target="slides/slide4.xml"/><Relationship Id="rId32" Type="http://schemas.openxmlformats.org/officeDocument/2006/relationships/font" Target="fonts/OpenSans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0b9ccda32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3a0b9ccda3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3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4" name="Google Shape;154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5" name="Google Shape;155;p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157" name="Google Shape;157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8" name="Google Shape;158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4" name="Google Shape;174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75" name="Google Shape;175;p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177" name="Google Shape;177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8" name="Google Shape;178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9" name="Google Shape;209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10" name="Google Shape;210;p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212" name="Google Shape;212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3" name="Google Shape;213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4" name="Google Shape;244;p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45" name="Google Shape;245;p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247" name="Google Shape;247;p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8" name="Google Shape;248;p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81" name="Google Shape;281;p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82" name="Google Shape;282;p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sp>
        <p:nvSpPr>
          <p:cNvPr id="284" name="Google Shape;284;p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85" name="Google Shape;285;p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7" name="Google Shape;317;p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18" name="Google Shape;318;p9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</p:txBody>
      </p:sp>
      <p:sp>
        <p:nvSpPr>
          <p:cNvPr id="320" name="Google Shape;320;p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21" name="Google Shape;321;p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71" name="Google Shape;371;p1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72" name="Google Shape;372;p10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</a:t>
            </a:r>
            <a:endParaRPr/>
          </a:p>
        </p:txBody>
      </p:sp>
      <p:sp>
        <p:nvSpPr>
          <p:cNvPr id="374" name="Google Shape;374;p1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75" name="Google Shape;375;p1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13" name="Google Shape;413;p1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14" name="Google Shape;414;p1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p1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</a:t>
            </a:r>
            <a:endParaRPr/>
          </a:p>
        </p:txBody>
      </p:sp>
      <p:sp>
        <p:nvSpPr>
          <p:cNvPr id="416" name="Google Shape;416;p1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17" name="Google Shape;417;p1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53" name="Google Shape;453;p1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54" name="Google Shape;454;p1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5" name="Google Shape;455;p1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</a:t>
            </a:r>
            <a:endParaRPr/>
          </a:p>
        </p:txBody>
      </p:sp>
      <p:sp>
        <p:nvSpPr>
          <p:cNvPr id="456" name="Google Shape;456;p1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57" name="Google Shape;457;p1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96" name="Google Shape;496;p1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97" name="Google Shape;497;p1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" name="Google Shape;498;p1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</a:t>
            </a:r>
            <a:endParaRPr/>
          </a:p>
        </p:txBody>
      </p:sp>
      <p:sp>
        <p:nvSpPr>
          <p:cNvPr id="499" name="Google Shape;499;p1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00" name="Google Shape;500;p1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4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1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5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6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7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0b9ccda32_0_8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g3a0b9ccda32_0_86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175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87" name="Google Shape;87;g3a0b9ccda32_0_8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hyperlink" Target="https://youtu.be/5bS5gDYVNOw" TargetMode="External"/><Relationship Id="rId6" Type="http://schemas.openxmlformats.org/officeDocument/2006/relationships/hyperlink" Target="https://youtu.be/5bS5gDYVNOw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23.png"/><Relationship Id="rId5" Type="http://schemas.openxmlformats.org/officeDocument/2006/relationships/image" Target="../media/image7.png"/><Relationship Id="rId6" Type="http://schemas.openxmlformats.org/officeDocument/2006/relationships/image" Target="../media/image21.png"/><Relationship Id="rId7" Type="http://schemas.openxmlformats.org/officeDocument/2006/relationships/image" Target="../media/image18.png"/><Relationship Id="rId8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Relationship Id="rId6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g3a0b9ccda32_0_0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903" y="1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3" name="Google Shape;93;g3a0b9ccda32_0_0"/>
          <p:cNvGraphicFramePr/>
          <p:nvPr/>
        </p:nvGraphicFramePr>
        <p:xfrm>
          <a:off x="10656401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{0FC0ECBD-C502-48AD-AD18-0DD5306EC9E6}</a:tableStyleId>
              </a:tblPr>
              <a:tblGrid>
                <a:gridCol w="3036400"/>
                <a:gridCol w="4344750"/>
              </a:tblGrid>
              <a:tr h="91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alibri"/>
                        <a:buNone/>
                      </a:pPr>
                      <a:r>
                        <a:rPr lang="en-US" sz="3600"/>
                        <a:t>00</a:t>
                      </a:r>
                      <a:r>
                        <a:rPr lang="en-US" sz="3600" u="none" cap="none" strike="noStrike"/>
                        <a:t>/0</a:t>
                      </a:r>
                      <a:r>
                        <a:rPr lang="en-US" sz="3600"/>
                        <a:t>0</a:t>
                      </a:r>
                      <a:r>
                        <a:rPr lang="en-US" sz="3600" u="none" cap="none" strike="noStrike"/>
                        <a:t>/202</a:t>
                      </a:r>
                      <a:r>
                        <a:rPr lang="en-US" sz="3600"/>
                        <a:t>6</a:t>
                      </a:r>
                      <a:endParaRPr sz="3600" u="none" cap="none" strike="noStrike"/>
                    </a:p>
                  </a:txBody>
                  <a:tcPr marT="182850" marB="182850" marR="182850" marL="182850"/>
                </a:tc>
              </a:tr>
              <a:tr h="91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alibri"/>
                        <a:buNone/>
                      </a:pPr>
                      <a:r>
                        <a:rPr lang="en-US" sz="3600" u="none" cap="none" strike="noStrike"/>
                        <a:t>7:00 pm</a:t>
                      </a:r>
                      <a:endParaRPr sz="3600" u="none" cap="none" strike="noStrike"/>
                    </a:p>
                  </a:txBody>
                  <a:tcPr marT="182850" marB="182850" marR="182850" marL="182850"/>
                </a:tc>
              </a:tr>
            </a:tbl>
          </a:graphicData>
        </a:graphic>
      </p:graphicFrame>
      <p:sp>
        <p:nvSpPr>
          <p:cNvPr id="94" name="Google Shape;94;g3a0b9ccda32_0_0"/>
          <p:cNvSpPr txBox="1"/>
          <p:nvPr/>
        </p:nvSpPr>
        <p:spPr>
          <a:xfrm>
            <a:off x="2880350" y="4516600"/>
            <a:ext cx="147087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Sistemas Organizacionales y Gerenciales 1 [A]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a0b9ccda32_0_0"/>
          <p:cNvSpPr txBox="1"/>
          <p:nvPr/>
        </p:nvSpPr>
        <p:spPr>
          <a:xfrm>
            <a:off x="3557400" y="5801500"/>
            <a:ext cx="111732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Nombre Tutor Academico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 txBox="1"/>
          <p:nvPr/>
        </p:nvSpPr>
        <p:spPr>
          <a:xfrm>
            <a:off x="269140" y="7832650"/>
            <a:ext cx="14605442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Sistemas Organizacionales y Gerenciales 1</a:t>
            </a:r>
            <a:endParaRPr/>
          </a:p>
        </p:txBody>
      </p:sp>
      <p:sp>
        <p:nvSpPr>
          <p:cNvPr id="101" name="Google Shape;101;p1"/>
          <p:cNvSpPr txBox="1"/>
          <p:nvPr/>
        </p:nvSpPr>
        <p:spPr>
          <a:xfrm>
            <a:off x="0" y="2326831"/>
            <a:ext cx="18288000" cy="48240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Clases de sistemas de información y Integración de sistemas</a:t>
            </a:r>
            <a:endParaRPr/>
          </a:p>
        </p:txBody>
      </p:sp>
      <p:sp>
        <p:nvSpPr>
          <p:cNvPr id="102" name="Google Shape;102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/>
          </a:p>
        </p:txBody>
      </p:sp>
      <p:sp>
        <p:nvSpPr>
          <p:cNvPr id="103" name="Google Shape;103;p1"/>
          <p:cNvSpPr txBox="1"/>
          <p:nvPr/>
        </p:nvSpPr>
        <p:spPr>
          <a:xfrm>
            <a:off x="1028700" y="9210675"/>
            <a:ext cx="3525292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1028700" y="9585325"/>
            <a:ext cx="6407944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/>
          </a:p>
        </p:txBody>
      </p:sp>
      <p:pic>
        <p:nvPicPr>
          <p:cNvPr id="105" name="Google Shape;105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3175" y="0"/>
            <a:ext cx="11214823" cy="116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2"/>
          <p:cNvGrpSpPr/>
          <p:nvPr/>
        </p:nvGrpSpPr>
        <p:grpSpPr>
          <a:xfrm>
            <a:off x="176619" y="4520484"/>
            <a:ext cx="4613551" cy="845385"/>
            <a:chOff x="0" y="-76200"/>
            <a:chExt cx="1964221" cy="359923"/>
          </a:xfrm>
        </p:grpSpPr>
        <p:sp>
          <p:nvSpPr>
            <p:cNvPr id="111" name="Google Shape;111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2" name="Google Shape;112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1</a:t>
              </a:r>
              <a:endParaRPr/>
            </a:p>
          </p:txBody>
        </p:sp>
      </p:grpSp>
      <p:sp>
        <p:nvSpPr>
          <p:cNvPr id="113" name="Google Shape;113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4" name="Google Shape;114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115" name="Google Shape;115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6" name="Google Shape;116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/>
            </a:p>
          </p:txBody>
        </p:sp>
      </p:grpSp>
      <p:sp>
        <p:nvSpPr>
          <p:cNvPr id="117" name="Google Shape;117;p2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8" name="Google Shape;118;p2"/>
          <p:cNvGrpSpPr/>
          <p:nvPr/>
        </p:nvGrpSpPr>
        <p:grpSpPr>
          <a:xfrm>
            <a:off x="651754" y="-320617"/>
            <a:ext cx="6140237" cy="3052280"/>
            <a:chOff x="0" y="-95250"/>
            <a:chExt cx="8186982" cy="4069708"/>
          </a:xfrm>
        </p:grpSpPr>
        <p:sp>
          <p:nvSpPr>
            <p:cNvPr id="119" name="Google Shape;119;p2"/>
            <p:cNvSpPr txBox="1"/>
            <p:nvPr/>
          </p:nvSpPr>
          <p:spPr>
            <a:xfrm>
              <a:off x="0" y="986783"/>
              <a:ext cx="8186982" cy="2987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0" u="none" cap="none" strike="noStrike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rPr>
                <a:t>Agenda</a:t>
              </a:r>
              <a:endParaRPr/>
            </a:p>
          </p:txBody>
        </p:sp>
        <p:sp>
          <p:nvSpPr>
            <p:cNvPr id="120" name="Google Shape;120;p2"/>
            <p:cNvSpPr txBox="1"/>
            <p:nvPr/>
          </p:nvSpPr>
          <p:spPr>
            <a:xfrm>
              <a:off x="0" y="-95250"/>
              <a:ext cx="8186982" cy="9274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18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2"/>
          <p:cNvGrpSpPr/>
          <p:nvPr/>
        </p:nvGrpSpPr>
        <p:grpSpPr>
          <a:xfrm>
            <a:off x="11131715" y="97566"/>
            <a:ext cx="8416862" cy="2901857"/>
            <a:chOff x="0" y="-76200"/>
            <a:chExt cx="11222483" cy="3869143"/>
          </a:xfrm>
        </p:grpSpPr>
        <p:sp>
          <p:nvSpPr>
            <p:cNvPr id="122" name="Google Shape;122;p2"/>
            <p:cNvSpPr txBox="1"/>
            <p:nvPr/>
          </p:nvSpPr>
          <p:spPr>
            <a:xfrm>
              <a:off x="0" y="805268"/>
              <a:ext cx="11222483" cy="2987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0" u="none" cap="none" strike="noStrike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rPr>
                <a:t>Recursos</a:t>
              </a:r>
              <a:endParaRPr/>
            </a:p>
          </p:txBody>
        </p:sp>
        <p:sp>
          <p:nvSpPr>
            <p:cNvPr id="123" name="Google Shape;123;p2"/>
            <p:cNvSpPr txBox="1"/>
            <p:nvPr/>
          </p:nvSpPr>
          <p:spPr>
            <a:xfrm>
              <a:off x="0" y="-76200"/>
              <a:ext cx="11222483" cy="7475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5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" name="Google Shape;124;p2"/>
          <p:cNvGrpSpPr/>
          <p:nvPr/>
        </p:nvGrpSpPr>
        <p:grpSpPr>
          <a:xfrm>
            <a:off x="11739805" y="2798634"/>
            <a:ext cx="5353646" cy="1701145"/>
            <a:chOff x="0" y="-114300"/>
            <a:chExt cx="1410014" cy="448038"/>
          </a:xfrm>
        </p:grpSpPr>
        <p:sp>
          <p:nvSpPr>
            <p:cNvPr id="125" name="Google Shape;125;p2">
              <a:hlinkClick r:id="rId5"/>
            </p:cNvPr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6" name="Google Shape;126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499" u="sng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hlinkClick r:id="rId6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Link del Video</a:t>
              </a:r>
              <a:endParaRPr/>
            </a:p>
          </p:txBody>
        </p:sp>
      </p:grpSp>
      <p:grpSp>
        <p:nvGrpSpPr>
          <p:cNvPr id="127" name="Google Shape;127;p2"/>
          <p:cNvGrpSpPr/>
          <p:nvPr/>
        </p:nvGrpSpPr>
        <p:grpSpPr>
          <a:xfrm>
            <a:off x="11739805" y="4598683"/>
            <a:ext cx="5353646" cy="1701145"/>
            <a:chOff x="0" y="-114300"/>
            <a:chExt cx="1410014" cy="448038"/>
          </a:xfrm>
        </p:grpSpPr>
        <p:sp>
          <p:nvSpPr>
            <p:cNvPr id="128" name="Google Shape;128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9" name="Google Shape;129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 Quizziz</a:t>
              </a:r>
              <a:endParaRPr/>
            </a:p>
          </p:txBody>
        </p:sp>
      </p:grpSp>
      <p:grpSp>
        <p:nvGrpSpPr>
          <p:cNvPr id="130" name="Google Shape;130;p2"/>
          <p:cNvGrpSpPr/>
          <p:nvPr/>
        </p:nvGrpSpPr>
        <p:grpSpPr>
          <a:xfrm>
            <a:off x="176619" y="5444302"/>
            <a:ext cx="4613551" cy="845385"/>
            <a:chOff x="0" y="-76200"/>
            <a:chExt cx="1964221" cy="359923"/>
          </a:xfrm>
        </p:grpSpPr>
        <p:sp>
          <p:nvSpPr>
            <p:cNvPr id="131" name="Google Shape;131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2" name="Google Shape;132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2</a:t>
              </a:r>
              <a:endParaRPr/>
            </a:p>
          </p:txBody>
        </p:sp>
      </p:grpSp>
      <p:grpSp>
        <p:nvGrpSpPr>
          <p:cNvPr id="133" name="Google Shape;133;p2"/>
          <p:cNvGrpSpPr/>
          <p:nvPr/>
        </p:nvGrpSpPr>
        <p:grpSpPr>
          <a:xfrm>
            <a:off x="176619" y="6425875"/>
            <a:ext cx="4613551" cy="845385"/>
            <a:chOff x="0" y="-76200"/>
            <a:chExt cx="1964221" cy="359923"/>
          </a:xfrm>
        </p:grpSpPr>
        <p:sp>
          <p:nvSpPr>
            <p:cNvPr id="134" name="Google Shape;134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5" name="Google Shape;135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3</a:t>
              </a:r>
              <a:endParaRPr/>
            </a:p>
          </p:txBody>
        </p:sp>
      </p:grpSp>
      <p:grpSp>
        <p:nvGrpSpPr>
          <p:cNvPr id="136" name="Google Shape;136;p2"/>
          <p:cNvGrpSpPr/>
          <p:nvPr/>
        </p:nvGrpSpPr>
        <p:grpSpPr>
          <a:xfrm>
            <a:off x="176619" y="7349457"/>
            <a:ext cx="4613551" cy="845385"/>
            <a:chOff x="0" y="-76200"/>
            <a:chExt cx="1964221" cy="359923"/>
          </a:xfrm>
        </p:grpSpPr>
        <p:sp>
          <p:nvSpPr>
            <p:cNvPr id="137" name="Google Shape;137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8" name="Google Shape;138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4</a:t>
              </a:r>
              <a:endParaRPr/>
            </a:p>
          </p:txBody>
        </p:sp>
      </p:grpSp>
      <p:grpSp>
        <p:nvGrpSpPr>
          <p:cNvPr id="139" name="Google Shape;139;p2"/>
          <p:cNvGrpSpPr/>
          <p:nvPr/>
        </p:nvGrpSpPr>
        <p:grpSpPr>
          <a:xfrm>
            <a:off x="176619" y="8412915"/>
            <a:ext cx="4613551" cy="845385"/>
            <a:chOff x="0" y="-76200"/>
            <a:chExt cx="1964221" cy="359923"/>
          </a:xfrm>
        </p:grpSpPr>
        <p:sp>
          <p:nvSpPr>
            <p:cNvPr id="140" name="Google Shape;140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41" name="Google Shape;141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5</a:t>
              </a:r>
              <a:endParaRPr/>
            </a:p>
          </p:txBody>
        </p:sp>
      </p:grpSp>
      <p:sp>
        <p:nvSpPr>
          <p:cNvPr id="142" name="Google Shape;142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2"/>
          <p:cNvSpPr/>
          <p:nvPr/>
        </p:nvSpPr>
        <p:spPr>
          <a:xfrm>
            <a:off x="878654" y="66048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4" name="Google Shape;144;p2"/>
          <p:cNvSpPr/>
          <p:nvPr/>
        </p:nvSpPr>
        <p:spPr>
          <a:xfrm>
            <a:off x="878654" y="76046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2"/>
          <p:cNvSpPr/>
          <p:nvPr/>
        </p:nvSpPr>
        <p:spPr>
          <a:xfrm>
            <a:off x="878654" y="860554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"/>
          <p:cNvSpPr txBox="1"/>
          <p:nvPr/>
        </p:nvSpPr>
        <p:spPr>
          <a:xfrm>
            <a:off x="1374889" y="654364"/>
            <a:ext cx="13991174" cy="1801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COMPETENCIA(S) QUE DESARROLLAREMOS</a:t>
            </a:r>
            <a:endParaRPr/>
          </a:p>
        </p:txBody>
      </p:sp>
      <p:sp>
        <p:nvSpPr>
          <p:cNvPr id="151" name="Google Shape;151;p3"/>
          <p:cNvSpPr txBox="1"/>
          <p:nvPr/>
        </p:nvSpPr>
        <p:spPr>
          <a:xfrm>
            <a:off x="0" y="4661852"/>
            <a:ext cx="18288000" cy="3879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− Capacidad para implementar sistemas de información en la empresa (ERP, SCM, CRM).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4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− Habilidad para incorporar TIC de acuerdo con necesidades de cambio organizativo.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61" name="Google Shape;161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F1F1F"/>
          </a:solidFill>
          <a:ln>
            <a:noFill/>
          </a:ln>
        </p:spPr>
      </p:sp>
      <p:sp>
        <p:nvSpPr>
          <p:cNvPr descr="preencoded.png" id="162" name="Google Shape;162;p4"/>
          <p:cNvSpPr/>
          <p:nvPr/>
        </p:nvSpPr>
        <p:spPr>
          <a:xfrm>
            <a:off x="11430000" y="31849"/>
            <a:ext cx="6858000" cy="10287000"/>
          </a:xfrm>
          <a:custGeom>
            <a:rect b="b" l="l" r="r" t="t"/>
            <a:pathLst>
              <a:path extrusionOk="0"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63" name="Google Shape;163;p4"/>
          <p:cNvGrpSpPr/>
          <p:nvPr/>
        </p:nvGrpSpPr>
        <p:grpSpPr>
          <a:xfrm>
            <a:off x="992238" y="2935338"/>
            <a:ext cx="9445526" cy="2051529"/>
            <a:chOff x="0" y="-57150"/>
            <a:chExt cx="12594035" cy="2735373"/>
          </a:xfrm>
        </p:grpSpPr>
        <p:sp>
          <p:nvSpPr>
            <p:cNvPr id="164" name="Google Shape;164;p4"/>
            <p:cNvSpPr/>
            <p:nvPr/>
          </p:nvSpPr>
          <p:spPr>
            <a:xfrm>
              <a:off x="0" y="0"/>
              <a:ext cx="12594035" cy="2678223"/>
            </a:xfrm>
            <a:custGeom>
              <a:rect b="b" l="l" r="r" t="t"/>
              <a:pathLst>
                <a:path extrusionOk="0" h="2678223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2678223"/>
                  </a:lnTo>
                  <a:lnTo>
                    <a:pt x="0" y="26782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65" name="Google Shape;165;p4"/>
            <p:cNvSpPr txBox="1"/>
            <p:nvPr/>
          </p:nvSpPr>
          <p:spPr>
            <a:xfrm>
              <a:off x="0" y="-57150"/>
              <a:ext cx="12594035" cy="27353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7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562" u="none" cap="none" strike="noStrike">
                  <a:solidFill>
                    <a:srgbClr val="FEFEFE"/>
                  </a:solidFill>
                  <a:latin typeface="Arimo"/>
                  <a:ea typeface="Arimo"/>
                  <a:cs typeface="Arimo"/>
                  <a:sym typeface="Arimo"/>
                </a:rPr>
                <a:t>Sistemas de Información e Integración</a:t>
              </a:r>
              <a:endParaRPr/>
            </a:p>
          </p:txBody>
        </p:sp>
      </p:grpSp>
      <p:grpSp>
        <p:nvGrpSpPr>
          <p:cNvPr id="166" name="Google Shape;166;p4"/>
          <p:cNvGrpSpPr/>
          <p:nvPr/>
        </p:nvGrpSpPr>
        <p:grpSpPr>
          <a:xfrm>
            <a:off x="992238" y="5111055"/>
            <a:ext cx="9445526" cy="971550"/>
            <a:chOff x="0" y="-85725"/>
            <a:chExt cx="12594035" cy="1295400"/>
          </a:xfrm>
        </p:grpSpPr>
        <p:sp>
          <p:nvSpPr>
            <p:cNvPr id="167" name="Google Shape;167;p4"/>
            <p:cNvSpPr/>
            <p:nvPr/>
          </p:nvSpPr>
          <p:spPr>
            <a:xfrm>
              <a:off x="0" y="0"/>
              <a:ext cx="12594035" cy="1209675"/>
            </a:xfrm>
            <a:custGeom>
              <a:rect b="b" l="l" r="r" t="t"/>
              <a:pathLst>
                <a:path extrusionOk="0" h="1209675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68" name="Google Shape;168;p4"/>
            <p:cNvSpPr txBox="1"/>
            <p:nvPr/>
          </p:nvSpPr>
          <p:spPr>
            <a:xfrm>
              <a:off x="0" y="-85725"/>
              <a:ext cx="12594035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BFBFBF"/>
                  </a:solidFill>
                  <a:latin typeface="Open Sans"/>
                  <a:ea typeface="Open Sans"/>
                  <a:cs typeface="Open Sans"/>
                  <a:sym typeface="Open Sans"/>
                </a:rPr>
                <a:t>Los sistemas de información son esenciales para la estrategia empresarial.</a:t>
              </a:r>
              <a:endParaRPr/>
            </a:p>
          </p:txBody>
        </p:sp>
      </p:grpSp>
      <p:grpSp>
        <p:nvGrpSpPr>
          <p:cNvPr id="169" name="Google Shape;169;p4"/>
          <p:cNvGrpSpPr/>
          <p:nvPr/>
        </p:nvGrpSpPr>
        <p:grpSpPr>
          <a:xfrm>
            <a:off x="992238" y="6337250"/>
            <a:ext cx="9445526" cy="971550"/>
            <a:chOff x="0" y="-85725"/>
            <a:chExt cx="12594035" cy="1295400"/>
          </a:xfrm>
        </p:grpSpPr>
        <p:sp>
          <p:nvSpPr>
            <p:cNvPr id="170" name="Google Shape;170;p4"/>
            <p:cNvSpPr/>
            <p:nvPr/>
          </p:nvSpPr>
          <p:spPr>
            <a:xfrm>
              <a:off x="0" y="0"/>
              <a:ext cx="12594035" cy="1209675"/>
            </a:xfrm>
            <a:custGeom>
              <a:rect b="b" l="l" r="r" t="t"/>
              <a:pathLst>
                <a:path extrusionOk="0" h="1209675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71" name="Google Shape;171;p4"/>
            <p:cNvSpPr txBox="1"/>
            <p:nvPr/>
          </p:nvSpPr>
          <p:spPr>
            <a:xfrm>
              <a:off x="0" y="-85725"/>
              <a:ext cx="12594035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BFBFBF"/>
                  </a:solidFill>
                  <a:latin typeface="Open Sans"/>
                  <a:ea typeface="Open Sans"/>
                  <a:cs typeface="Open Sans"/>
                  <a:sym typeface="Open Sans"/>
                </a:rPr>
                <a:t>Impulsan la eficiencia y competitividad mediante la transformación digital.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81" name="Google Shape;181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F1F1F"/>
          </a:solidFill>
          <a:ln>
            <a:noFill/>
          </a:ln>
        </p:spPr>
      </p:sp>
      <p:sp>
        <p:nvSpPr>
          <p:cNvPr descr="preencoded.png" id="182" name="Google Shape;182;p5"/>
          <p:cNvSpPr/>
          <p:nvPr/>
        </p:nvSpPr>
        <p:spPr>
          <a:xfrm>
            <a:off x="0" y="0"/>
            <a:ext cx="6858000" cy="10287000"/>
          </a:xfrm>
          <a:custGeom>
            <a:rect b="b" l="l" r="r" t="t"/>
            <a:pathLst>
              <a:path extrusionOk="0"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83" name="Google Shape;183;p5"/>
          <p:cNvGrpSpPr/>
          <p:nvPr/>
        </p:nvGrpSpPr>
        <p:grpSpPr>
          <a:xfrm>
            <a:off x="7850237" y="1778348"/>
            <a:ext cx="9445526" cy="1814809"/>
            <a:chOff x="0" y="-57150"/>
            <a:chExt cx="12594035" cy="2419747"/>
          </a:xfrm>
        </p:grpSpPr>
        <p:sp>
          <p:nvSpPr>
            <p:cNvPr id="184" name="Google Shape;184;p5"/>
            <p:cNvSpPr/>
            <p:nvPr/>
          </p:nvSpPr>
          <p:spPr>
            <a:xfrm>
              <a:off x="0" y="0"/>
              <a:ext cx="12594035" cy="2362597"/>
            </a:xfrm>
            <a:custGeom>
              <a:rect b="b" l="l" r="r" t="t"/>
              <a:pathLst>
                <a:path extrusionOk="0" h="2362597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2362597"/>
                  </a:lnTo>
                  <a:lnTo>
                    <a:pt x="0" y="23625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85" name="Google Shape;185;p5"/>
            <p:cNvSpPr txBox="1"/>
            <p:nvPr/>
          </p:nvSpPr>
          <p:spPr>
            <a:xfrm>
              <a:off x="0" y="-57150"/>
              <a:ext cx="12594035" cy="24197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7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562" u="none" cap="none" strike="noStrike">
                  <a:solidFill>
                    <a:srgbClr val="FEFEFE"/>
                  </a:solidFill>
                  <a:latin typeface="Arimo"/>
                  <a:ea typeface="Arimo"/>
                  <a:cs typeface="Arimo"/>
                  <a:sym typeface="Arimo"/>
                </a:rPr>
                <a:t>Clases de Sistemas de Información: SCM</a:t>
              </a:r>
              <a:endParaRPr/>
            </a:p>
          </p:txBody>
        </p:sp>
      </p:grpSp>
      <p:sp>
        <p:nvSpPr>
          <p:cNvPr id="186" name="Google Shape;186;p5"/>
          <p:cNvSpPr/>
          <p:nvPr/>
        </p:nvSpPr>
        <p:spPr>
          <a:xfrm>
            <a:off x="7850237" y="4018360"/>
            <a:ext cx="4581144" cy="2530317"/>
          </a:xfrm>
          <a:custGeom>
            <a:rect b="b" l="l" r="r" t="t"/>
            <a:pathLst>
              <a:path extrusionOk="0" h="3373755" w="6108192">
                <a:moveTo>
                  <a:pt x="0" y="56769"/>
                </a:moveTo>
                <a:cubicBezTo>
                  <a:pt x="0" y="25400"/>
                  <a:pt x="25400" y="0"/>
                  <a:pt x="56769" y="0"/>
                </a:cubicBezTo>
                <a:lnTo>
                  <a:pt x="6051423" y="0"/>
                </a:lnTo>
                <a:cubicBezTo>
                  <a:pt x="6082792" y="0"/>
                  <a:pt x="6108192" y="25400"/>
                  <a:pt x="6108192" y="56769"/>
                </a:cubicBezTo>
                <a:lnTo>
                  <a:pt x="6108192" y="3316986"/>
                </a:lnTo>
                <a:cubicBezTo>
                  <a:pt x="6108192" y="3348355"/>
                  <a:pt x="6082792" y="3373755"/>
                  <a:pt x="6051423" y="3373755"/>
                </a:cubicBezTo>
                <a:lnTo>
                  <a:pt x="56769" y="3373755"/>
                </a:lnTo>
                <a:cubicBezTo>
                  <a:pt x="25400" y="3373755"/>
                  <a:pt x="0" y="3348355"/>
                  <a:pt x="0" y="3316986"/>
                </a:cubicBezTo>
                <a:close/>
              </a:path>
            </a:pathLst>
          </a:custGeom>
          <a:solidFill>
            <a:srgbClr val="3E3E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7" name="Google Shape;187;p5"/>
          <p:cNvGrpSpPr/>
          <p:nvPr/>
        </p:nvGrpSpPr>
        <p:grpSpPr>
          <a:xfrm>
            <a:off x="8133755" y="4273302"/>
            <a:ext cx="4014044" cy="914400"/>
            <a:chOff x="0" y="-38100"/>
            <a:chExt cx="5352058" cy="1219200"/>
          </a:xfrm>
        </p:grpSpPr>
        <p:sp>
          <p:nvSpPr>
            <p:cNvPr id="188" name="Google Shape;188;p5"/>
            <p:cNvSpPr/>
            <p:nvPr/>
          </p:nvSpPr>
          <p:spPr>
            <a:xfrm>
              <a:off x="0" y="0"/>
              <a:ext cx="5352058" cy="1181100"/>
            </a:xfrm>
            <a:custGeom>
              <a:rect b="b" l="l" r="r" t="t"/>
              <a:pathLst>
                <a:path extrusionOk="0" h="1181100" w="5352058">
                  <a:moveTo>
                    <a:pt x="0" y="0"/>
                  </a:moveTo>
                  <a:lnTo>
                    <a:pt x="5352058" y="0"/>
                  </a:lnTo>
                  <a:lnTo>
                    <a:pt x="5352058" y="1181100"/>
                  </a:lnTo>
                  <a:lnTo>
                    <a:pt x="0" y="1181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89" name="Google Shape;189;p5"/>
            <p:cNvSpPr txBox="1"/>
            <p:nvPr/>
          </p:nvSpPr>
          <p:spPr>
            <a:xfrm>
              <a:off x="0" y="-38100"/>
              <a:ext cx="5352058" cy="12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BFBFBF"/>
                  </a:solidFill>
                  <a:latin typeface="Arimo"/>
                  <a:ea typeface="Arimo"/>
                  <a:cs typeface="Arimo"/>
                  <a:sym typeface="Arimo"/>
                </a:rPr>
                <a:t>Supply Chain Management</a:t>
              </a:r>
              <a:endParaRPr/>
            </a:p>
          </p:txBody>
        </p:sp>
      </p:grpSp>
      <p:grpSp>
        <p:nvGrpSpPr>
          <p:cNvPr id="190" name="Google Shape;190;p5"/>
          <p:cNvGrpSpPr/>
          <p:nvPr/>
        </p:nvGrpSpPr>
        <p:grpSpPr>
          <a:xfrm>
            <a:off x="8133755" y="5293518"/>
            <a:ext cx="4014044" cy="971550"/>
            <a:chOff x="0" y="-85725"/>
            <a:chExt cx="5352058" cy="1295400"/>
          </a:xfrm>
        </p:grpSpPr>
        <p:sp>
          <p:nvSpPr>
            <p:cNvPr id="191" name="Google Shape;191;p5"/>
            <p:cNvSpPr/>
            <p:nvPr/>
          </p:nvSpPr>
          <p:spPr>
            <a:xfrm>
              <a:off x="0" y="0"/>
              <a:ext cx="5352058" cy="1209675"/>
            </a:xfrm>
            <a:custGeom>
              <a:rect b="b" l="l" r="r" t="t"/>
              <a:pathLst>
                <a:path extrusionOk="0" h="1209675" w="5352058">
                  <a:moveTo>
                    <a:pt x="0" y="0"/>
                  </a:moveTo>
                  <a:lnTo>
                    <a:pt x="5352058" y="0"/>
                  </a:lnTo>
                  <a:lnTo>
                    <a:pt x="5352058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92" name="Google Shape;192;p5"/>
            <p:cNvSpPr txBox="1"/>
            <p:nvPr/>
          </p:nvSpPr>
          <p:spPr>
            <a:xfrm>
              <a:off x="0" y="-85725"/>
              <a:ext cx="5352058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BFBFBF"/>
                  </a:solidFill>
                  <a:latin typeface="Open Sans"/>
                  <a:ea typeface="Open Sans"/>
                  <a:cs typeface="Open Sans"/>
                  <a:sym typeface="Open Sans"/>
                </a:rPr>
                <a:t>Optimiza el flujo desde proveedores hasta clientes.</a:t>
              </a:r>
              <a:endParaRPr/>
            </a:p>
          </p:txBody>
        </p:sp>
      </p:grpSp>
      <p:sp>
        <p:nvSpPr>
          <p:cNvPr id="193" name="Google Shape;193;p5"/>
          <p:cNvSpPr/>
          <p:nvPr/>
        </p:nvSpPr>
        <p:spPr>
          <a:xfrm>
            <a:off x="12714834" y="4018360"/>
            <a:ext cx="4581144" cy="2530317"/>
          </a:xfrm>
          <a:custGeom>
            <a:rect b="b" l="l" r="r" t="t"/>
            <a:pathLst>
              <a:path extrusionOk="0" h="3373755" w="6108192">
                <a:moveTo>
                  <a:pt x="0" y="56769"/>
                </a:moveTo>
                <a:cubicBezTo>
                  <a:pt x="0" y="25400"/>
                  <a:pt x="25400" y="0"/>
                  <a:pt x="56769" y="0"/>
                </a:cubicBezTo>
                <a:lnTo>
                  <a:pt x="6051423" y="0"/>
                </a:lnTo>
                <a:cubicBezTo>
                  <a:pt x="6082792" y="0"/>
                  <a:pt x="6108192" y="25400"/>
                  <a:pt x="6108192" y="56769"/>
                </a:cubicBezTo>
                <a:lnTo>
                  <a:pt x="6108192" y="3316986"/>
                </a:lnTo>
                <a:cubicBezTo>
                  <a:pt x="6108192" y="3348355"/>
                  <a:pt x="6082792" y="3373755"/>
                  <a:pt x="6051423" y="3373755"/>
                </a:cubicBezTo>
                <a:lnTo>
                  <a:pt x="56769" y="3373755"/>
                </a:lnTo>
                <a:cubicBezTo>
                  <a:pt x="25400" y="3373755"/>
                  <a:pt x="0" y="3348355"/>
                  <a:pt x="0" y="3316986"/>
                </a:cubicBezTo>
                <a:close/>
              </a:path>
            </a:pathLst>
          </a:custGeom>
          <a:solidFill>
            <a:srgbClr val="3E3E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4" name="Google Shape;194;p5"/>
          <p:cNvGrpSpPr/>
          <p:nvPr/>
        </p:nvGrpSpPr>
        <p:grpSpPr>
          <a:xfrm>
            <a:off x="12998351" y="4273302"/>
            <a:ext cx="3544044" cy="471487"/>
            <a:chOff x="0" y="-38100"/>
            <a:chExt cx="4725392" cy="628650"/>
          </a:xfrm>
        </p:grpSpPr>
        <p:sp>
          <p:nvSpPr>
            <p:cNvPr id="195" name="Google Shape;195;p5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96" name="Google Shape;196;p5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BFBFBF"/>
                  </a:solidFill>
                  <a:latin typeface="Arimo"/>
                  <a:ea typeface="Arimo"/>
                  <a:cs typeface="Arimo"/>
                  <a:sym typeface="Arimo"/>
                </a:rPr>
                <a:t>Reducción de Costos</a:t>
              </a:r>
              <a:endParaRPr/>
            </a:p>
          </p:txBody>
        </p:sp>
      </p:grpSp>
      <p:grpSp>
        <p:nvGrpSpPr>
          <p:cNvPr id="197" name="Google Shape;197;p5"/>
          <p:cNvGrpSpPr/>
          <p:nvPr/>
        </p:nvGrpSpPr>
        <p:grpSpPr>
          <a:xfrm>
            <a:off x="12998351" y="4850606"/>
            <a:ext cx="4014044" cy="971550"/>
            <a:chOff x="0" y="-85725"/>
            <a:chExt cx="5352058" cy="1295400"/>
          </a:xfrm>
        </p:grpSpPr>
        <p:sp>
          <p:nvSpPr>
            <p:cNvPr id="198" name="Google Shape;198;p5"/>
            <p:cNvSpPr/>
            <p:nvPr/>
          </p:nvSpPr>
          <p:spPr>
            <a:xfrm>
              <a:off x="0" y="0"/>
              <a:ext cx="5352058" cy="1209675"/>
            </a:xfrm>
            <a:custGeom>
              <a:rect b="b" l="l" r="r" t="t"/>
              <a:pathLst>
                <a:path extrusionOk="0" h="1209675" w="5352058">
                  <a:moveTo>
                    <a:pt x="0" y="0"/>
                  </a:moveTo>
                  <a:lnTo>
                    <a:pt x="5352058" y="0"/>
                  </a:lnTo>
                  <a:lnTo>
                    <a:pt x="5352058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99" name="Google Shape;199;p5"/>
            <p:cNvSpPr txBox="1"/>
            <p:nvPr/>
          </p:nvSpPr>
          <p:spPr>
            <a:xfrm>
              <a:off x="0" y="-85725"/>
              <a:ext cx="5352058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BFBFBF"/>
                  </a:solidFill>
                  <a:latin typeface="Open Sans"/>
                  <a:ea typeface="Open Sans"/>
                  <a:cs typeface="Open Sans"/>
                  <a:sym typeface="Open Sans"/>
                </a:rPr>
                <a:t>Disminuye los costos logísticos y mejora entregas.</a:t>
              </a:r>
              <a:endParaRPr/>
            </a:p>
          </p:txBody>
        </p:sp>
      </p:grpSp>
      <p:sp>
        <p:nvSpPr>
          <p:cNvPr id="200" name="Google Shape;200;p5"/>
          <p:cNvSpPr/>
          <p:nvPr/>
        </p:nvSpPr>
        <p:spPr>
          <a:xfrm>
            <a:off x="7850237" y="6832104"/>
            <a:ext cx="9445466" cy="1633633"/>
          </a:xfrm>
          <a:custGeom>
            <a:rect b="b" l="l" r="r" t="t"/>
            <a:pathLst>
              <a:path extrusionOk="0" h="2178177" w="12593955">
                <a:moveTo>
                  <a:pt x="0" y="56642"/>
                </a:moveTo>
                <a:cubicBezTo>
                  <a:pt x="0" y="25400"/>
                  <a:pt x="25400" y="0"/>
                  <a:pt x="56642" y="0"/>
                </a:cubicBezTo>
                <a:lnTo>
                  <a:pt x="12537313" y="0"/>
                </a:lnTo>
                <a:cubicBezTo>
                  <a:pt x="12568682" y="0"/>
                  <a:pt x="12593955" y="25400"/>
                  <a:pt x="12593955" y="56642"/>
                </a:cubicBezTo>
                <a:lnTo>
                  <a:pt x="12593955" y="2121535"/>
                </a:lnTo>
                <a:cubicBezTo>
                  <a:pt x="12593955" y="2152904"/>
                  <a:pt x="12568555" y="2178177"/>
                  <a:pt x="12537313" y="2178177"/>
                </a:cubicBezTo>
                <a:lnTo>
                  <a:pt x="56642" y="2178177"/>
                </a:lnTo>
                <a:cubicBezTo>
                  <a:pt x="25273" y="2178177"/>
                  <a:pt x="0" y="2152777"/>
                  <a:pt x="0" y="2121535"/>
                </a:cubicBezTo>
                <a:close/>
              </a:path>
            </a:pathLst>
          </a:custGeom>
          <a:solidFill>
            <a:srgbClr val="3E3E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1" name="Google Shape;201;p5"/>
          <p:cNvGrpSpPr/>
          <p:nvPr/>
        </p:nvGrpSpPr>
        <p:grpSpPr>
          <a:xfrm>
            <a:off x="8133755" y="7087046"/>
            <a:ext cx="4313635" cy="471487"/>
            <a:chOff x="0" y="-38100"/>
            <a:chExt cx="5751513" cy="628650"/>
          </a:xfrm>
        </p:grpSpPr>
        <p:sp>
          <p:nvSpPr>
            <p:cNvPr id="202" name="Google Shape;202;p5"/>
            <p:cNvSpPr/>
            <p:nvPr/>
          </p:nvSpPr>
          <p:spPr>
            <a:xfrm>
              <a:off x="0" y="0"/>
              <a:ext cx="5751513" cy="590550"/>
            </a:xfrm>
            <a:custGeom>
              <a:rect b="b" l="l" r="r" t="t"/>
              <a:pathLst>
                <a:path extrusionOk="0" h="590550" w="5751513">
                  <a:moveTo>
                    <a:pt x="0" y="0"/>
                  </a:moveTo>
                  <a:lnTo>
                    <a:pt x="5751513" y="0"/>
                  </a:lnTo>
                  <a:lnTo>
                    <a:pt x="5751513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03" name="Google Shape;203;p5"/>
            <p:cNvSpPr txBox="1"/>
            <p:nvPr/>
          </p:nvSpPr>
          <p:spPr>
            <a:xfrm>
              <a:off x="0" y="-38100"/>
              <a:ext cx="5751513" cy="628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BFBFBF"/>
                  </a:solidFill>
                  <a:latin typeface="Arimo"/>
                  <a:ea typeface="Arimo"/>
                  <a:cs typeface="Arimo"/>
                  <a:sym typeface="Arimo"/>
                </a:rPr>
                <a:t>Visibilidad en Tiempo Real</a:t>
              </a:r>
              <a:endParaRPr/>
            </a:p>
          </p:txBody>
        </p:sp>
      </p:grpSp>
      <p:grpSp>
        <p:nvGrpSpPr>
          <p:cNvPr id="204" name="Google Shape;204;p5"/>
          <p:cNvGrpSpPr/>
          <p:nvPr/>
        </p:nvGrpSpPr>
        <p:grpSpPr>
          <a:xfrm>
            <a:off x="8133755" y="7664351"/>
            <a:ext cx="8878491" cy="517923"/>
            <a:chOff x="0" y="-85725"/>
            <a:chExt cx="11837988" cy="690563"/>
          </a:xfrm>
        </p:grpSpPr>
        <p:sp>
          <p:nvSpPr>
            <p:cNvPr id="205" name="Google Shape;205;p5"/>
            <p:cNvSpPr/>
            <p:nvPr/>
          </p:nvSpPr>
          <p:spPr>
            <a:xfrm>
              <a:off x="0" y="0"/>
              <a:ext cx="11837988" cy="604838"/>
            </a:xfrm>
            <a:custGeom>
              <a:rect b="b" l="l" r="r" t="t"/>
              <a:pathLst>
                <a:path extrusionOk="0" h="604838" w="11837988">
                  <a:moveTo>
                    <a:pt x="0" y="0"/>
                  </a:moveTo>
                  <a:lnTo>
                    <a:pt x="11837988" y="0"/>
                  </a:lnTo>
                  <a:lnTo>
                    <a:pt x="1183798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06" name="Google Shape;206;p5"/>
            <p:cNvSpPr txBox="1"/>
            <p:nvPr/>
          </p:nvSpPr>
          <p:spPr>
            <a:xfrm>
              <a:off x="0" y="-85725"/>
              <a:ext cx="11837988" cy="690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BFBFBF"/>
                  </a:solidFill>
                  <a:latin typeface="Open Sans"/>
                  <a:ea typeface="Open Sans"/>
                  <a:cs typeface="Open Sans"/>
                  <a:sym typeface="Open Sans"/>
                </a:rPr>
                <a:t>Gestiona inventarios y demanda al instante.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16" name="Google Shape;216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F1F1F"/>
          </a:solidFill>
          <a:ln>
            <a:noFill/>
          </a:ln>
        </p:spPr>
      </p:sp>
      <p:sp>
        <p:nvSpPr>
          <p:cNvPr descr="preencoded.png" id="217" name="Google Shape;217;p6"/>
          <p:cNvSpPr/>
          <p:nvPr/>
        </p:nvSpPr>
        <p:spPr>
          <a:xfrm>
            <a:off x="11430000" y="0"/>
            <a:ext cx="6858000" cy="10287000"/>
          </a:xfrm>
          <a:custGeom>
            <a:rect b="b" l="l" r="r" t="t"/>
            <a:pathLst>
              <a:path extrusionOk="0"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18" name="Google Shape;218;p6"/>
          <p:cNvGrpSpPr/>
          <p:nvPr/>
        </p:nvGrpSpPr>
        <p:grpSpPr>
          <a:xfrm>
            <a:off x="992238" y="1879402"/>
            <a:ext cx="9445526" cy="1814809"/>
            <a:chOff x="0" y="-57150"/>
            <a:chExt cx="12594035" cy="2419747"/>
          </a:xfrm>
        </p:grpSpPr>
        <p:sp>
          <p:nvSpPr>
            <p:cNvPr id="219" name="Google Shape;219;p6"/>
            <p:cNvSpPr/>
            <p:nvPr/>
          </p:nvSpPr>
          <p:spPr>
            <a:xfrm>
              <a:off x="0" y="0"/>
              <a:ext cx="12594035" cy="2362597"/>
            </a:xfrm>
            <a:custGeom>
              <a:rect b="b" l="l" r="r" t="t"/>
              <a:pathLst>
                <a:path extrusionOk="0" h="2362597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2362597"/>
                  </a:lnTo>
                  <a:lnTo>
                    <a:pt x="0" y="23625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20" name="Google Shape;220;p6"/>
            <p:cNvSpPr txBox="1"/>
            <p:nvPr/>
          </p:nvSpPr>
          <p:spPr>
            <a:xfrm>
              <a:off x="0" y="-57150"/>
              <a:ext cx="12594035" cy="24197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7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562" u="none" cap="none" strike="noStrike">
                  <a:solidFill>
                    <a:srgbClr val="FEFEFE"/>
                  </a:solidFill>
                  <a:latin typeface="Arimo"/>
                  <a:ea typeface="Arimo"/>
                  <a:cs typeface="Arimo"/>
                  <a:sym typeface="Arimo"/>
                </a:rPr>
                <a:t>Clases de Sistemas de Información: CRM</a:t>
              </a:r>
              <a:endParaRPr/>
            </a:p>
          </p:txBody>
        </p:sp>
      </p:grpSp>
      <p:sp>
        <p:nvSpPr>
          <p:cNvPr id="221" name="Google Shape;221;p6"/>
          <p:cNvSpPr/>
          <p:nvPr/>
        </p:nvSpPr>
        <p:spPr>
          <a:xfrm>
            <a:off x="992238" y="4119414"/>
            <a:ext cx="637795" cy="637890"/>
          </a:xfrm>
          <a:custGeom>
            <a:rect b="b" l="l" r="r" t="t"/>
            <a:pathLst>
              <a:path extrusionOk="0" h="850519" w="850392">
                <a:moveTo>
                  <a:pt x="0" y="56642"/>
                </a:moveTo>
                <a:cubicBezTo>
                  <a:pt x="0" y="25400"/>
                  <a:pt x="25400" y="0"/>
                  <a:pt x="56642" y="0"/>
                </a:cubicBezTo>
                <a:lnTo>
                  <a:pt x="793750" y="0"/>
                </a:lnTo>
                <a:cubicBezTo>
                  <a:pt x="825119" y="0"/>
                  <a:pt x="850392" y="25400"/>
                  <a:pt x="850392" y="56642"/>
                </a:cubicBezTo>
                <a:lnTo>
                  <a:pt x="850392" y="793750"/>
                </a:lnTo>
                <a:cubicBezTo>
                  <a:pt x="850392" y="825119"/>
                  <a:pt x="824992" y="850392"/>
                  <a:pt x="793750" y="850392"/>
                </a:cubicBezTo>
                <a:lnTo>
                  <a:pt x="56642" y="850392"/>
                </a:lnTo>
                <a:cubicBezTo>
                  <a:pt x="25400" y="850519"/>
                  <a:pt x="0" y="825119"/>
                  <a:pt x="0" y="793750"/>
                </a:cubicBezTo>
                <a:close/>
              </a:path>
            </a:pathLst>
          </a:custGeom>
          <a:solidFill>
            <a:srgbClr val="3E3E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2" name="Google Shape;222;p6"/>
          <p:cNvGrpSpPr/>
          <p:nvPr/>
        </p:nvGrpSpPr>
        <p:grpSpPr>
          <a:xfrm>
            <a:off x="1913632" y="4188172"/>
            <a:ext cx="3624263" cy="914400"/>
            <a:chOff x="0" y="-38100"/>
            <a:chExt cx="4832350" cy="1219200"/>
          </a:xfrm>
        </p:grpSpPr>
        <p:sp>
          <p:nvSpPr>
            <p:cNvPr id="223" name="Google Shape;223;p6"/>
            <p:cNvSpPr/>
            <p:nvPr/>
          </p:nvSpPr>
          <p:spPr>
            <a:xfrm>
              <a:off x="0" y="0"/>
              <a:ext cx="4832350" cy="1181100"/>
            </a:xfrm>
            <a:custGeom>
              <a:rect b="b" l="l" r="r" t="t"/>
              <a:pathLst>
                <a:path extrusionOk="0" h="1181100" w="4832350">
                  <a:moveTo>
                    <a:pt x="0" y="0"/>
                  </a:moveTo>
                  <a:lnTo>
                    <a:pt x="4832350" y="0"/>
                  </a:lnTo>
                  <a:lnTo>
                    <a:pt x="4832350" y="1181100"/>
                  </a:lnTo>
                  <a:lnTo>
                    <a:pt x="0" y="1181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24" name="Google Shape;224;p6"/>
            <p:cNvSpPr txBox="1"/>
            <p:nvPr/>
          </p:nvSpPr>
          <p:spPr>
            <a:xfrm>
              <a:off x="0" y="-38100"/>
              <a:ext cx="4832350" cy="12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BFBFBF"/>
                  </a:solidFill>
                  <a:latin typeface="Arimo"/>
                  <a:ea typeface="Arimo"/>
                  <a:cs typeface="Arimo"/>
                  <a:sym typeface="Arimo"/>
                </a:rPr>
                <a:t>Centralización de Datos</a:t>
              </a:r>
              <a:endParaRPr/>
            </a:p>
          </p:txBody>
        </p:sp>
      </p:grpSp>
      <p:grpSp>
        <p:nvGrpSpPr>
          <p:cNvPr id="225" name="Google Shape;225;p6"/>
          <p:cNvGrpSpPr/>
          <p:nvPr/>
        </p:nvGrpSpPr>
        <p:grpSpPr>
          <a:xfrm>
            <a:off x="1913632" y="5208388"/>
            <a:ext cx="3624263" cy="1425179"/>
            <a:chOff x="0" y="-85725"/>
            <a:chExt cx="4832350" cy="1900238"/>
          </a:xfrm>
        </p:grpSpPr>
        <p:sp>
          <p:nvSpPr>
            <p:cNvPr id="226" name="Google Shape;226;p6"/>
            <p:cNvSpPr/>
            <p:nvPr/>
          </p:nvSpPr>
          <p:spPr>
            <a:xfrm>
              <a:off x="0" y="0"/>
              <a:ext cx="4832350" cy="1814513"/>
            </a:xfrm>
            <a:custGeom>
              <a:rect b="b" l="l" r="r" t="t"/>
              <a:pathLst>
                <a:path extrusionOk="0" h="1814513" w="4832350">
                  <a:moveTo>
                    <a:pt x="0" y="0"/>
                  </a:moveTo>
                  <a:lnTo>
                    <a:pt x="4832350" y="0"/>
                  </a:lnTo>
                  <a:lnTo>
                    <a:pt x="4832350" y="1814513"/>
                  </a:lnTo>
                  <a:lnTo>
                    <a:pt x="0" y="181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27" name="Google Shape;227;p6"/>
            <p:cNvSpPr txBox="1"/>
            <p:nvPr/>
          </p:nvSpPr>
          <p:spPr>
            <a:xfrm>
              <a:off x="0" y="-85725"/>
              <a:ext cx="4832350" cy="19002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BFBFBF"/>
                  </a:solidFill>
                  <a:latin typeface="Open Sans"/>
                  <a:ea typeface="Open Sans"/>
                  <a:cs typeface="Open Sans"/>
                  <a:sym typeface="Open Sans"/>
                </a:rPr>
                <a:t>Concentra información de clientes para mejor atención.</a:t>
              </a:r>
              <a:endParaRPr/>
            </a:p>
          </p:txBody>
        </p:sp>
      </p:grpSp>
      <p:sp>
        <p:nvSpPr>
          <p:cNvPr id="228" name="Google Shape;228;p6"/>
          <p:cNvSpPr/>
          <p:nvPr/>
        </p:nvSpPr>
        <p:spPr>
          <a:xfrm>
            <a:off x="5892254" y="4119414"/>
            <a:ext cx="637795" cy="637890"/>
          </a:xfrm>
          <a:custGeom>
            <a:rect b="b" l="l" r="r" t="t"/>
            <a:pathLst>
              <a:path extrusionOk="0" h="850519" w="850392">
                <a:moveTo>
                  <a:pt x="0" y="56642"/>
                </a:moveTo>
                <a:cubicBezTo>
                  <a:pt x="0" y="25400"/>
                  <a:pt x="25400" y="0"/>
                  <a:pt x="56642" y="0"/>
                </a:cubicBezTo>
                <a:lnTo>
                  <a:pt x="793750" y="0"/>
                </a:lnTo>
                <a:cubicBezTo>
                  <a:pt x="825119" y="0"/>
                  <a:pt x="850392" y="25400"/>
                  <a:pt x="850392" y="56642"/>
                </a:cubicBezTo>
                <a:lnTo>
                  <a:pt x="850392" y="793750"/>
                </a:lnTo>
                <a:cubicBezTo>
                  <a:pt x="850392" y="825119"/>
                  <a:pt x="824992" y="850392"/>
                  <a:pt x="793750" y="850392"/>
                </a:cubicBezTo>
                <a:lnTo>
                  <a:pt x="56642" y="850392"/>
                </a:lnTo>
                <a:cubicBezTo>
                  <a:pt x="25400" y="850519"/>
                  <a:pt x="0" y="825119"/>
                  <a:pt x="0" y="793750"/>
                </a:cubicBezTo>
                <a:close/>
              </a:path>
            </a:pathLst>
          </a:custGeom>
          <a:solidFill>
            <a:srgbClr val="3E3E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9" name="Google Shape;229;p6"/>
          <p:cNvGrpSpPr/>
          <p:nvPr/>
        </p:nvGrpSpPr>
        <p:grpSpPr>
          <a:xfrm>
            <a:off x="6813649" y="4188172"/>
            <a:ext cx="3624262" cy="914400"/>
            <a:chOff x="0" y="-38100"/>
            <a:chExt cx="4832350" cy="1219200"/>
          </a:xfrm>
        </p:grpSpPr>
        <p:sp>
          <p:nvSpPr>
            <p:cNvPr id="230" name="Google Shape;230;p6"/>
            <p:cNvSpPr/>
            <p:nvPr/>
          </p:nvSpPr>
          <p:spPr>
            <a:xfrm>
              <a:off x="0" y="0"/>
              <a:ext cx="4832350" cy="1181100"/>
            </a:xfrm>
            <a:custGeom>
              <a:rect b="b" l="l" r="r" t="t"/>
              <a:pathLst>
                <a:path extrusionOk="0" h="1181100" w="4832350">
                  <a:moveTo>
                    <a:pt x="0" y="0"/>
                  </a:moveTo>
                  <a:lnTo>
                    <a:pt x="4832350" y="0"/>
                  </a:lnTo>
                  <a:lnTo>
                    <a:pt x="4832350" y="1181100"/>
                  </a:lnTo>
                  <a:lnTo>
                    <a:pt x="0" y="1181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31" name="Google Shape;231;p6"/>
            <p:cNvSpPr txBox="1"/>
            <p:nvPr/>
          </p:nvSpPr>
          <p:spPr>
            <a:xfrm>
              <a:off x="0" y="-38100"/>
              <a:ext cx="4832350" cy="12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BFBFBF"/>
                  </a:solidFill>
                  <a:latin typeface="Arimo"/>
                  <a:ea typeface="Arimo"/>
                  <a:cs typeface="Arimo"/>
                  <a:sym typeface="Arimo"/>
                </a:rPr>
                <a:t>Seguimiento de Interacciones</a:t>
              </a:r>
              <a:endParaRPr/>
            </a:p>
          </p:txBody>
        </p:sp>
      </p:grpSp>
      <p:grpSp>
        <p:nvGrpSpPr>
          <p:cNvPr id="232" name="Google Shape;232;p6"/>
          <p:cNvGrpSpPr/>
          <p:nvPr/>
        </p:nvGrpSpPr>
        <p:grpSpPr>
          <a:xfrm>
            <a:off x="6813649" y="5208388"/>
            <a:ext cx="3624262" cy="971550"/>
            <a:chOff x="0" y="-85725"/>
            <a:chExt cx="4832350" cy="1295400"/>
          </a:xfrm>
        </p:grpSpPr>
        <p:sp>
          <p:nvSpPr>
            <p:cNvPr id="233" name="Google Shape;233;p6"/>
            <p:cNvSpPr/>
            <p:nvPr/>
          </p:nvSpPr>
          <p:spPr>
            <a:xfrm>
              <a:off x="0" y="0"/>
              <a:ext cx="4832350" cy="1209675"/>
            </a:xfrm>
            <a:custGeom>
              <a:rect b="b" l="l" r="r" t="t"/>
              <a:pathLst>
                <a:path extrusionOk="0" h="1209675" w="4832350">
                  <a:moveTo>
                    <a:pt x="0" y="0"/>
                  </a:moveTo>
                  <a:lnTo>
                    <a:pt x="4832350" y="0"/>
                  </a:lnTo>
                  <a:lnTo>
                    <a:pt x="4832350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34" name="Google Shape;234;p6"/>
            <p:cNvSpPr txBox="1"/>
            <p:nvPr/>
          </p:nvSpPr>
          <p:spPr>
            <a:xfrm>
              <a:off x="0" y="-85725"/>
              <a:ext cx="4832350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BFBFBF"/>
                  </a:solidFill>
                  <a:latin typeface="Open Sans"/>
                  <a:ea typeface="Open Sans"/>
                  <a:cs typeface="Open Sans"/>
                  <a:sym typeface="Open Sans"/>
                </a:rPr>
                <a:t>Registra oportunidades y actividades comerciales.</a:t>
              </a:r>
              <a:endParaRPr/>
            </a:p>
          </p:txBody>
        </p:sp>
      </p:grpSp>
      <p:sp>
        <p:nvSpPr>
          <p:cNvPr id="235" name="Google Shape;235;p6"/>
          <p:cNvSpPr/>
          <p:nvPr/>
        </p:nvSpPr>
        <p:spPr>
          <a:xfrm>
            <a:off x="992238" y="7200602"/>
            <a:ext cx="637795" cy="637889"/>
          </a:xfrm>
          <a:custGeom>
            <a:rect b="b" l="l" r="r" t="t"/>
            <a:pathLst>
              <a:path extrusionOk="0" h="850519" w="850392">
                <a:moveTo>
                  <a:pt x="0" y="56642"/>
                </a:moveTo>
                <a:cubicBezTo>
                  <a:pt x="0" y="25400"/>
                  <a:pt x="25400" y="0"/>
                  <a:pt x="56642" y="0"/>
                </a:cubicBezTo>
                <a:lnTo>
                  <a:pt x="793750" y="0"/>
                </a:lnTo>
                <a:cubicBezTo>
                  <a:pt x="825119" y="0"/>
                  <a:pt x="850392" y="25400"/>
                  <a:pt x="850392" y="56642"/>
                </a:cubicBezTo>
                <a:lnTo>
                  <a:pt x="850392" y="793750"/>
                </a:lnTo>
                <a:cubicBezTo>
                  <a:pt x="850392" y="825119"/>
                  <a:pt x="824992" y="850392"/>
                  <a:pt x="793750" y="850392"/>
                </a:cubicBezTo>
                <a:lnTo>
                  <a:pt x="56642" y="850392"/>
                </a:lnTo>
                <a:cubicBezTo>
                  <a:pt x="25400" y="850519"/>
                  <a:pt x="0" y="825119"/>
                  <a:pt x="0" y="793750"/>
                </a:cubicBezTo>
                <a:close/>
              </a:path>
            </a:pathLst>
          </a:custGeom>
          <a:solidFill>
            <a:srgbClr val="3E3E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6" name="Google Shape;236;p6"/>
          <p:cNvGrpSpPr/>
          <p:nvPr/>
        </p:nvGrpSpPr>
        <p:grpSpPr>
          <a:xfrm>
            <a:off x="1913632" y="7269361"/>
            <a:ext cx="3544044" cy="471487"/>
            <a:chOff x="0" y="-38100"/>
            <a:chExt cx="4725392" cy="628650"/>
          </a:xfrm>
        </p:grpSpPr>
        <p:sp>
          <p:nvSpPr>
            <p:cNvPr id="237" name="Google Shape;237;p6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38" name="Google Shape;238;p6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BFBFBF"/>
                  </a:solidFill>
                  <a:latin typeface="Arimo"/>
                  <a:ea typeface="Arimo"/>
                  <a:cs typeface="Arimo"/>
                  <a:sym typeface="Arimo"/>
                </a:rPr>
                <a:t>Fidelización</a:t>
              </a:r>
              <a:endParaRPr/>
            </a:p>
          </p:txBody>
        </p:sp>
      </p:grpSp>
      <p:grpSp>
        <p:nvGrpSpPr>
          <p:cNvPr id="239" name="Google Shape;239;p6"/>
          <p:cNvGrpSpPr/>
          <p:nvPr/>
        </p:nvGrpSpPr>
        <p:grpSpPr>
          <a:xfrm>
            <a:off x="1913632" y="7846665"/>
            <a:ext cx="8524132" cy="517923"/>
            <a:chOff x="0" y="-85725"/>
            <a:chExt cx="11365509" cy="690563"/>
          </a:xfrm>
        </p:grpSpPr>
        <p:sp>
          <p:nvSpPr>
            <p:cNvPr id="240" name="Google Shape;240;p6"/>
            <p:cNvSpPr/>
            <p:nvPr/>
          </p:nvSpPr>
          <p:spPr>
            <a:xfrm>
              <a:off x="0" y="0"/>
              <a:ext cx="11365509" cy="604838"/>
            </a:xfrm>
            <a:custGeom>
              <a:rect b="b" l="l" r="r" t="t"/>
              <a:pathLst>
                <a:path extrusionOk="0" h="604838" w="11365509">
                  <a:moveTo>
                    <a:pt x="0" y="0"/>
                  </a:moveTo>
                  <a:lnTo>
                    <a:pt x="11365509" y="0"/>
                  </a:lnTo>
                  <a:lnTo>
                    <a:pt x="11365509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41" name="Google Shape;241;p6"/>
            <p:cNvSpPr txBox="1"/>
            <p:nvPr/>
          </p:nvSpPr>
          <p:spPr>
            <a:xfrm>
              <a:off x="0" y="-85725"/>
              <a:ext cx="11365508" cy="690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BFBFBF"/>
                  </a:solidFill>
                  <a:latin typeface="Open Sans"/>
                  <a:ea typeface="Open Sans"/>
                  <a:cs typeface="Open Sans"/>
                  <a:sym typeface="Open Sans"/>
                </a:rPr>
                <a:t>Personaliza estrategias para fortalecer relaciones.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51" name="Google Shape;251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F1F1F"/>
          </a:solidFill>
          <a:ln>
            <a:noFill/>
          </a:ln>
        </p:spPr>
      </p:sp>
      <p:grpSp>
        <p:nvGrpSpPr>
          <p:cNvPr id="252" name="Google Shape;252;p7"/>
          <p:cNvGrpSpPr/>
          <p:nvPr/>
        </p:nvGrpSpPr>
        <p:grpSpPr>
          <a:xfrm>
            <a:off x="992238" y="2467570"/>
            <a:ext cx="16303526" cy="1814809"/>
            <a:chOff x="0" y="-57150"/>
            <a:chExt cx="21738035" cy="2419747"/>
          </a:xfrm>
        </p:grpSpPr>
        <p:sp>
          <p:nvSpPr>
            <p:cNvPr id="253" name="Google Shape;253;p7"/>
            <p:cNvSpPr/>
            <p:nvPr/>
          </p:nvSpPr>
          <p:spPr>
            <a:xfrm>
              <a:off x="0" y="0"/>
              <a:ext cx="21738034" cy="2362597"/>
            </a:xfrm>
            <a:custGeom>
              <a:rect b="b" l="l" r="r" t="t"/>
              <a:pathLst>
                <a:path extrusionOk="0" h="2362597" w="21738034">
                  <a:moveTo>
                    <a:pt x="0" y="0"/>
                  </a:moveTo>
                  <a:lnTo>
                    <a:pt x="21738034" y="0"/>
                  </a:lnTo>
                  <a:lnTo>
                    <a:pt x="21738034" y="2362597"/>
                  </a:lnTo>
                  <a:lnTo>
                    <a:pt x="0" y="23625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54" name="Google Shape;254;p7"/>
            <p:cNvSpPr txBox="1"/>
            <p:nvPr/>
          </p:nvSpPr>
          <p:spPr>
            <a:xfrm>
              <a:off x="0" y="-57150"/>
              <a:ext cx="21738035" cy="24197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7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562" u="none" cap="none" strike="noStrike">
                  <a:solidFill>
                    <a:srgbClr val="FEFEFE"/>
                  </a:solidFill>
                  <a:latin typeface="Arimo"/>
                  <a:ea typeface="Arimo"/>
                  <a:cs typeface="Arimo"/>
                  <a:sym typeface="Arimo"/>
                </a:rPr>
                <a:t>Clases de Sistemas de Información: Sistemas Distribuidos</a:t>
              </a:r>
              <a:endParaRPr/>
            </a:p>
          </p:txBody>
        </p:sp>
      </p:grpSp>
      <p:grpSp>
        <p:nvGrpSpPr>
          <p:cNvPr id="255" name="Google Shape;255;p7"/>
          <p:cNvGrpSpPr/>
          <p:nvPr/>
        </p:nvGrpSpPr>
        <p:grpSpPr>
          <a:xfrm>
            <a:off x="992238" y="4962525"/>
            <a:ext cx="3556993" cy="914400"/>
            <a:chOff x="0" y="-38100"/>
            <a:chExt cx="4742657" cy="1219200"/>
          </a:xfrm>
        </p:grpSpPr>
        <p:sp>
          <p:nvSpPr>
            <p:cNvPr id="256" name="Google Shape;256;p7"/>
            <p:cNvSpPr/>
            <p:nvPr/>
          </p:nvSpPr>
          <p:spPr>
            <a:xfrm>
              <a:off x="0" y="0"/>
              <a:ext cx="4742657" cy="1181100"/>
            </a:xfrm>
            <a:custGeom>
              <a:rect b="b" l="l" r="r" t="t"/>
              <a:pathLst>
                <a:path extrusionOk="0" h="1181100" w="4742657">
                  <a:moveTo>
                    <a:pt x="0" y="0"/>
                  </a:moveTo>
                  <a:lnTo>
                    <a:pt x="4742657" y="0"/>
                  </a:lnTo>
                  <a:lnTo>
                    <a:pt x="4742657" y="1181100"/>
                  </a:lnTo>
                  <a:lnTo>
                    <a:pt x="0" y="1181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57" name="Google Shape;257;p7"/>
            <p:cNvSpPr txBox="1"/>
            <p:nvPr/>
          </p:nvSpPr>
          <p:spPr>
            <a:xfrm>
              <a:off x="0" y="-38100"/>
              <a:ext cx="4742657" cy="12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FEFEFE"/>
                  </a:solidFill>
                  <a:latin typeface="Arimo"/>
                  <a:ea typeface="Arimo"/>
                  <a:cs typeface="Arimo"/>
                  <a:sym typeface="Arimo"/>
                </a:rPr>
                <a:t>Arquitectura Compartida</a:t>
              </a:r>
              <a:endParaRPr/>
            </a:p>
          </p:txBody>
        </p:sp>
      </p:grpSp>
      <p:grpSp>
        <p:nvGrpSpPr>
          <p:cNvPr id="258" name="Google Shape;258;p7"/>
          <p:cNvGrpSpPr/>
          <p:nvPr/>
        </p:nvGrpSpPr>
        <p:grpSpPr>
          <a:xfrm>
            <a:off x="992238" y="6096148"/>
            <a:ext cx="3556993" cy="971550"/>
            <a:chOff x="0" y="-85725"/>
            <a:chExt cx="4742657" cy="1295400"/>
          </a:xfrm>
        </p:grpSpPr>
        <p:sp>
          <p:nvSpPr>
            <p:cNvPr id="259" name="Google Shape;259;p7"/>
            <p:cNvSpPr/>
            <p:nvPr/>
          </p:nvSpPr>
          <p:spPr>
            <a:xfrm>
              <a:off x="0" y="0"/>
              <a:ext cx="4742657" cy="1209675"/>
            </a:xfrm>
            <a:custGeom>
              <a:rect b="b" l="l" r="r" t="t"/>
              <a:pathLst>
                <a:path extrusionOk="0" h="1209675" w="4742657">
                  <a:moveTo>
                    <a:pt x="0" y="0"/>
                  </a:moveTo>
                  <a:lnTo>
                    <a:pt x="4742657" y="0"/>
                  </a:lnTo>
                  <a:lnTo>
                    <a:pt x="4742657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60" name="Google Shape;260;p7"/>
            <p:cNvSpPr txBox="1"/>
            <p:nvPr/>
          </p:nvSpPr>
          <p:spPr>
            <a:xfrm>
              <a:off x="0" y="-85725"/>
              <a:ext cx="4742657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BFBFBF"/>
                  </a:solidFill>
                  <a:latin typeface="Open Sans"/>
                  <a:ea typeface="Open Sans"/>
                  <a:cs typeface="Open Sans"/>
                  <a:sym typeface="Open Sans"/>
                </a:rPr>
                <a:t>Recursos distribuidos en varias ubicaciones físicas.</a:t>
              </a:r>
              <a:endParaRPr/>
            </a:p>
          </p:txBody>
        </p:sp>
      </p:grpSp>
      <p:grpSp>
        <p:nvGrpSpPr>
          <p:cNvPr id="261" name="Google Shape;261;p7"/>
          <p:cNvGrpSpPr/>
          <p:nvPr/>
        </p:nvGrpSpPr>
        <p:grpSpPr>
          <a:xfrm>
            <a:off x="5250508" y="4962525"/>
            <a:ext cx="3544044" cy="471487"/>
            <a:chOff x="0" y="-38100"/>
            <a:chExt cx="4725392" cy="628650"/>
          </a:xfrm>
        </p:grpSpPr>
        <p:sp>
          <p:nvSpPr>
            <p:cNvPr id="262" name="Google Shape;262;p7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63" name="Google Shape;263;p7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FEFEFE"/>
                  </a:solidFill>
                  <a:latin typeface="Arimo"/>
                  <a:ea typeface="Arimo"/>
                  <a:cs typeface="Arimo"/>
                  <a:sym typeface="Arimo"/>
                </a:rPr>
                <a:t>Alta Disponibilidad</a:t>
              </a:r>
              <a:endParaRPr/>
            </a:p>
          </p:txBody>
        </p:sp>
      </p:grpSp>
      <p:grpSp>
        <p:nvGrpSpPr>
          <p:cNvPr id="264" name="Google Shape;264;p7"/>
          <p:cNvGrpSpPr/>
          <p:nvPr/>
        </p:nvGrpSpPr>
        <p:grpSpPr>
          <a:xfrm>
            <a:off x="5250508" y="5653236"/>
            <a:ext cx="3556993" cy="971550"/>
            <a:chOff x="0" y="-85725"/>
            <a:chExt cx="4742657" cy="1295400"/>
          </a:xfrm>
        </p:grpSpPr>
        <p:sp>
          <p:nvSpPr>
            <p:cNvPr id="265" name="Google Shape;265;p7"/>
            <p:cNvSpPr/>
            <p:nvPr/>
          </p:nvSpPr>
          <p:spPr>
            <a:xfrm>
              <a:off x="0" y="0"/>
              <a:ext cx="4742657" cy="1209675"/>
            </a:xfrm>
            <a:custGeom>
              <a:rect b="b" l="l" r="r" t="t"/>
              <a:pathLst>
                <a:path extrusionOk="0" h="1209675" w="4742657">
                  <a:moveTo>
                    <a:pt x="0" y="0"/>
                  </a:moveTo>
                  <a:lnTo>
                    <a:pt x="4742657" y="0"/>
                  </a:lnTo>
                  <a:lnTo>
                    <a:pt x="4742657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66" name="Google Shape;266;p7"/>
            <p:cNvSpPr txBox="1"/>
            <p:nvPr/>
          </p:nvSpPr>
          <p:spPr>
            <a:xfrm>
              <a:off x="0" y="-85725"/>
              <a:ext cx="4742657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BFBFBF"/>
                  </a:solidFill>
                  <a:latin typeface="Open Sans"/>
                  <a:ea typeface="Open Sans"/>
                  <a:cs typeface="Open Sans"/>
                  <a:sym typeface="Open Sans"/>
                </a:rPr>
                <a:t>Garantiza escalabilidad y continuidad del servicio.</a:t>
              </a:r>
              <a:endParaRPr/>
            </a:p>
          </p:txBody>
        </p:sp>
      </p:grpSp>
      <p:grpSp>
        <p:nvGrpSpPr>
          <p:cNvPr id="267" name="Google Shape;267;p7"/>
          <p:cNvGrpSpPr/>
          <p:nvPr/>
        </p:nvGrpSpPr>
        <p:grpSpPr>
          <a:xfrm>
            <a:off x="9508777" y="4962525"/>
            <a:ext cx="3556993" cy="914400"/>
            <a:chOff x="0" y="-38100"/>
            <a:chExt cx="4742657" cy="1219200"/>
          </a:xfrm>
        </p:grpSpPr>
        <p:sp>
          <p:nvSpPr>
            <p:cNvPr id="268" name="Google Shape;268;p7"/>
            <p:cNvSpPr/>
            <p:nvPr/>
          </p:nvSpPr>
          <p:spPr>
            <a:xfrm>
              <a:off x="0" y="0"/>
              <a:ext cx="4742657" cy="1181100"/>
            </a:xfrm>
            <a:custGeom>
              <a:rect b="b" l="l" r="r" t="t"/>
              <a:pathLst>
                <a:path extrusionOk="0" h="1181100" w="4742657">
                  <a:moveTo>
                    <a:pt x="0" y="0"/>
                  </a:moveTo>
                  <a:lnTo>
                    <a:pt x="4742657" y="0"/>
                  </a:lnTo>
                  <a:lnTo>
                    <a:pt x="4742657" y="1181100"/>
                  </a:lnTo>
                  <a:lnTo>
                    <a:pt x="0" y="1181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69" name="Google Shape;269;p7"/>
            <p:cNvSpPr txBox="1"/>
            <p:nvPr/>
          </p:nvSpPr>
          <p:spPr>
            <a:xfrm>
              <a:off x="0" y="-38100"/>
              <a:ext cx="4742657" cy="12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FEFEFE"/>
                  </a:solidFill>
                  <a:latin typeface="Arimo"/>
                  <a:ea typeface="Arimo"/>
                  <a:cs typeface="Arimo"/>
                  <a:sym typeface="Arimo"/>
                </a:rPr>
                <a:t>Procesamiento Paralelo</a:t>
              </a:r>
              <a:endParaRPr/>
            </a:p>
          </p:txBody>
        </p:sp>
      </p:grpSp>
      <p:grpSp>
        <p:nvGrpSpPr>
          <p:cNvPr id="270" name="Google Shape;270;p7"/>
          <p:cNvGrpSpPr/>
          <p:nvPr/>
        </p:nvGrpSpPr>
        <p:grpSpPr>
          <a:xfrm>
            <a:off x="9508777" y="6096148"/>
            <a:ext cx="3556993" cy="1425179"/>
            <a:chOff x="0" y="-85725"/>
            <a:chExt cx="4742657" cy="1900238"/>
          </a:xfrm>
        </p:grpSpPr>
        <p:sp>
          <p:nvSpPr>
            <p:cNvPr id="271" name="Google Shape;271;p7"/>
            <p:cNvSpPr/>
            <p:nvPr/>
          </p:nvSpPr>
          <p:spPr>
            <a:xfrm>
              <a:off x="0" y="0"/>
              <a:ext cx="4742657" cy="1814513"/>
            </a:xfrm>
            <a:custGeom>
              <a:rect b="b" l="l" r="r" t="t"/>
              <a:pathLst>
                <a:path extrusionOk="0" h="1814513" w="4742657">
                  <a:moveTo>
                    <a:pt x="0" y="0"/>
                  </a:moveTo>
                  <a:lnTo>
                    <a:pt x="4742657" y="0"/>
                  </a:lnTo>
                  <a:lnTo>
                    <a:pt x="4742657" y="1814513"/>
                  </a:lnTo>
                  <a:lnTo>
                    <a:pt x="0" y="181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72" name="Google Shape;272;p7"/>
            <p:cNvSpPr txBox="1"/>
            <p:nvPr/>
          </p:nvSpPr>
          <p:spPr>
            <a:xfrm>
              <a:off x="0" y="-85725"/>
              <a:ext cx="4742657" cy="19002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BFBFBF"/>
                  </a:solidFill>
                  <a:latin typeface="Open Sans"/>
                  <a:ea typeface="Open Sans"/>
                  <a:cs typeface="Open Sans"/>
                  <a:sym typeface="Open Sans"/>
                </a:rPr>
                <a:t>Mejora el rendimiento mediante tareas simultáneas.</a:t>
              </a:r>
              <a:endParaRPr/>
            </a:p>
          </p:txBody>
        </p:sp>
      </p:grpSp>
      <p:grpSp>
        <p:nvGrpSpPr>
          <p:cNvPr id="273" name="Google Shape;273;p7"/>
          <p:cNvGrpSpPr/>
          <p:nvPr/>
        </p:nvGrpSpPr>
        <p:grpSpPr>
          <a:xfrm>
            <a:off x="13767047" y="4962525"/>
            <a:ext cx="3544044" cy="471487"/>
            <a:chOff x="0" y="-38100"/>
            <a:chExt cx="4725392" cy="628650"/>
          </a:xfrm>
        </p:grpSpPr>
        <p:sp>
          <p:nvSpPr>
            <p:cNvPr id="274" name="Google Shape;274;p7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75" name="Google Shape;275;p7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FEFEFE"/>
                  </a:solidFill>
                  <a:latin typeface="Arimo"/>
                  <a:ea typeface="Arimo"/>
                  <a:cs typeface="Arimo"/>
                  <a:sym typeface="Arimo"/>
                </a:rPr>
                <a:t>Redundancia</a:t>
              </a:r>
              <a:endParaRPr/>
            </a:p>
          </p:txBody>
        </p:sp>
      </p:grpSp>
      <p:grpSp>
        <p:nvGrpSpPr>
          <p:cNvPr id="276" name="Google Shape;276;p7"/>
          <p:cNvGrpSpPr/>
          <p:nvPr/>
        </p:nvGrpSpPr>
        <p:grpSpPr>
          <a:xfrm>
            <a:off x="13767047" y="5653236"/>
            <a:ext cx="3556992" cy="971550"/>
            <a:chOff x="0" y="-85725"/>
            <a:chExt cx="4742657" cy="1295400"/>
          </a:xfrm>
        </p:grpSpPr>
        <p:sp>
          <p:nvSpPr>
            <p:cNvPr id="277" name="Google Shape;277;p7"/>
            <p:cNvSpPr/>
            <p:nvPr/>
          </p:nvSpPr>
          <p:spPr>
            <a:xfrm>
              <a:off x="0" y="0"/>
              <a:ext cx="4742657" cy="1209675"/>
            </a:xfrm>
            <a:custGeom>
              <a:rect b="b" l="l" r="r" t="t"/>
              <a:pathLst>
                <a:path extrusionOk="0" h="1209675" w="4742657">
                  <a:moveTo>
                    <a:pt x="0" y="0"/>
                  </a:moveTo>
                  <a:lnTo>
                    <a:pt x="4742657" y="0"/>
                  </a:lnTo>
                  <a:lnTo>
                    <a:pt x="4742657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78" name="Google Shape;278;p7"/>
            <p:cNvSpPr txBox="1"/>
            <p:nvPr/>
          </p:nvSpPr>
          <p:spPr>
            <a:xfrm>
              <a:off x="0" y="-85725"/>
              <a:ext cx="4742657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BFBFBF"/>
                  </a:solidFill>
                  <a:latin typeface="Open Sans"/>
                  <a:ea typeface="Open Sans"/>
                  <a:cs typeface="Open Sans"/>
                  <a:sym typeface="Open Sans"/>
                </a:rPr>
                <a:t>Evita fallos críticos con backups y duplicación.</a:t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88" name="Google Shape;288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F1F1F"/>
          </a:solidFill>
          <a:ln>
            <a:noFill/>
          </a:ln>
        </p:spPr>
      </p:sp>
      <p:sp>
        <p:nvSpPr>
          <p:cNvPr descr="preencoded.png" id="289" name="Google Shape;289;p8"/>
          <p:cNvSpPr/>
          <p:nvPr/>
        </p:nvSpPr>
        <p:spPr>
          <a:xfrm>
            <a:off x="0" y="0"/>
            <a:ext cx="18288000" cy="4853285"/>
          </a:xfrm>
          <a:custGeom>
            <a:rect b="b" l="l" r="r" t="t"/>
            <a:pathLst>
              <a:path extrusionOk="0" h="4853285" w="18288000">
                <a:moveTo>
                  <a:pt x="0" y="0"/>
                </a:moveTo>
                <a:lnTo>
                  <a:pt x="18288000" y="0"/>
                </a:lnTo>
                <a:lnTo>
                  <a:pt x="18288000" y="4853285"/>
                </a:lnTo>
                <a:lnTo>
                  <a:pt x="0" y="48532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4" l="0" r="0" t="-43"/>
            </a:stretch>
          </a:blipFill>
          <a:ln>
            <a:noFill/>
          </a:ln>
        </p:spPr>
      </p:sp>
      <p:sp>
        <p:nvSpPr>
          <p:cNvPr descr="preencoded.png" id="290" name="Google Shape;290;p8"/>
          <p:cNvSpPr/>
          <p:nvPr/>
        </p:nvSpPr>
        <p:spPr>
          <a:xfrm>
            <a:off x="5486400" y="323552"/>
            <a:ext cx="7315051" cy="4206180"/>
          </a:xfrm>
          <a:custGeom>
            <a:rect b="b" l="l" r="r" t="t"/>
            <a:pathLst>
              <a:path extrusionOk="0" h="4206180" w="7315051">
                <a:moveTo>
                  <a:pt x="0" y="0"/>
                </a:moveTo>
                <a:lnTo>
                  <a:pt x="7315051" y="0"/>
                </a:lnTo>
                <a:lnTo>
                  <a:pt x="7315051" y="4206180"/>
                </a:lnTo>
                <a:lnTo>
                  <a:pt x="0" y="42061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42" l="0" r="0" t="-43"/>
            </a:stretch>
          </a:blipFill>
          <a:ln>
            <a:noFill/>
          </a:ln>
        </p:spPr>
      </p:sp>
      <p:grpSp>
        <p:nvGrpSpPr>
          <p:cNvPr id="291" name="Google Shape;291;p8"/>
          <p:cNvGrpSpPr/>
          <p:nvPr/>
        </p:nvGrpSpPr>
        <p:grpSpPr>
          <a:xfrm>
            <a:off x="905916" y="5523160"/>
            <a:ext cx="11756529" cy="851743"/>
            <a:chOff x="0" y="-57150"/>
            <a:chExt cx="15675372" cy="1135658"/>
          </a:xfrm>
        </p:grpSpPr>
        <p:sp>
          <p:nvSpPr>
            <p:cNvPr id="292" name="Google Shape;292;p8"/>
            <p:cNvSpPr/>
            <p:nvPr/>
          </p:nvSpPr>
          <p:spPr>
            <a:xfrm>
              <a:off x="0" y="0"/>
              <a:ext cx="15675372" cy="1078508"/>
            </a:xfrm>
            <a:custGeom>
              <a:rect b="b" l="l" r="r" t="t"/>
              <a:pathLst>
                <a:path extrusionOk="0" h="1078508" w="15675372">
                  <a:moveTo>
                    <a:pt x="0" y="0"/>
                  </a:moveTo>
                  <a:lnTo>
                    <a:pt x="15675372" y="0"/>
                  </a:lnTo>
                  <a:lnTo>
                    <a:pt x="15675372" y="1078508"/>
                  </a:lnTo>
                  <a:lnTo>
                    <a:pt x="0" y="10785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93" name="Google Shape;293;p8"/>
            <p:cNvSpPr txBox="1"/>
            <p:nvPr/>
          </p:nvSpPr>
          <p:spPr>
            <a:xfrm>
              <a:off x="0" y="-57150"/>
              <a:ext cx="15675372" cy="11356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69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062" u="none" cap="none" strike="noStrike">
                  <a:solidFill>
                    <a:srgbClr val="FEFEFE"/>
                  </a:solidFill>
                  <a:latin typeface="Arimo"/>
                  <a:ea typeface="Arimo"/>
                  <a:cs typeface="Arimo"/>
                  <a:sym typeface="Arimo"/>
                </a:rPr>
                <a:t>Clases de Sistemas de Información: GIS</a:t>
              </a:r>
              <a:endParaRPr/>
            </a:p>
          </p:txBody>
        </p:sp>
      </p:grpSp>
      <p:sp>
        <p:nvSpPr>
          <p:cNvPr id="294" name="Google Shape;294;p8"/>
          <p:cNvSpPr/>
          <p:nvPr/>
        </p:nvSpPr>
        <p:spPr>
          <a:xfrm>
            <a:off x="905916" y="7539484"/>
            <a:ext cx="5233321" cy="258889"/>
          </a:xfrm>
          <a:custGeom>
            <a:rect b="b" l="l" r="r" t="t"/>
            <a:pathLst>
              <a:path extrusionOk="0" h="345186" w="6977761">
                <a:moveTo>
                  <a:pt x="0" y="51816"/>
                </a:moveTo>
                <a:cubicBezTo>
                  <a:pt x="0" y="23241"/>
                  <a:pt x="23241" y="0"/>
                  <a:pt x="51816" y="0"/>
                </a:cubicBezTo>
                <a:lnTo>
                  <a:pt x="6925945" y="0"/>
                </a:lnTo>
                <a:cubicBezTo>
                  <a:pt x="6954520" y="0"/>
                  <a:pt x="6977761" y="23241"/>
                  <a:pt x="6977761" y="51816"/>
                </a:cubicBezTo>
                <a:lnTo>
                  <a:pt x="6977761" y="293370"/>
                </a:lnTo>
                <a:cubicBezTo>
                  <a:pt x="6977761" y="321945"/>
                  <a:pt x="6954520" y="345186"/>
                  <a:pt x="6925945" y="345186"/>
                </a:cubicBezTo>
                <a:lnTo>
                  <a:pt x="51816" y="345186"/>
                </a:lnTo>
                <a:cubicBezTo>
                  <a:pt x="23241" y="345059"/>
                  <a:pt x="0" y="321945"/>
                  <a:pt x="0" y="293370"/>
                </a:cubicBezTo>
                <a:close/>
              </a:path>
            </a:pathLst>
          </a:custGeom>
          <a:solidFill>
            <a:srgbClr val="3E3E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5" name="Google Shape;295;p8"/>
          <p:cNvGrpSpPr/>
          <p:nvPr/>
        </p:nvGrpSpPr>
        <p:grpSpPr>
          <a:xfrm>
            <a:off x="905916" y="8165009"/>
            <a:ext cx="3235524" cy="425797"/>
            <a:chOff x="0" y="-28575"/>
            <a:chExt cx="4314032" cy="567730"/>
          </a:xfrm>
        </p:grpSpPr>
        <p:sp>
          <p:nvSpPr>
            <p:cNvPr id="296" name="Google Shape;296;p8"/>
            <p:cNvSpPr/>
            <p:nvPr/>
          </p:nvSpPr>
          <p:spPr>
            <a:xfrm>
              <a:off x="0" y="0"/>
              <a:ext cx="4314032" cy="539155"/>
            </a:xfrm>
            <a:custGeom>
              <a:rect b="b" l="l" r="r" t="t"/>
              <a:pathLst>
                <a:path extrusionOk="0" h="539155" w="4314032">
                  <a:moveTo>
                    <a:pt x="0" y="0"/>
                  </a:moveTo>
                  <a:lnTo>
                    <a:pt x="4314032" y="0"/>
                  </a:lnTo>
                  <a:lnTo>
                    <a:pt x="4314032" y="539155"/>
                  </a:lnTo>
                  <a:lnTo>
                    <a:pt x="0" y="53915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97" name="Google Shape;297;p8"/>
            <p:cNvSpPr txBox="1"/>
            <p:nvPr/>
          </p:nvSpPr>
          <p:spPr>
            <a:xfrm>
              <a:off x="0" y="-28575"/>
              <a:ext cx="4314032" cy="5677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99" u="none" cap="none" strike="noStrike">
                  <a:solidFill>
                    <a:srgbClr val="BFBFBF"/>
                  </a:solidFill>
                  <a:latin typeface="Arimo"/>
                  <a:ea typeface="Arimo"/>
                  <a:cs typeface="Arimo"/>
                  <a:sym typeface="Arimo"/>
                </a:rPr>
                <a:t>Análisis Espacial</a:t>
              </a:r>
              <a:endParaRPr/>
            </a:p>
          </p:txBody>
        </p:sp>
      </p:grpSp>
      <p:grpSp>
        <p:nvGrpSpPr>
          <p:cNvPr id="298" name="Google Shape;298;p8"/>
          <p:cNvGrpSpPr/>
          <p:nvPr/>
        </p:nvGrpSpPr>
        <p:grpSpPr>
          <a:xfrm>
            <a:off x="905916" y="8681740"/>
            <a:ext cx="5233245" cy="892374"/>
            <a:chOff x="0" y="-85725"/>
            <a:chExt cx="6977659" cy="1189832"/>
          </a:xfrm>
        </p:grpSpPr>
        <p:sp>
          <p:nvSpPr>
            <p:cNvPr id="299" name="Google Shape;299;p8"/>
            <p:cNvSpPr/>
            <p:nvPr/>
          </p:nvSpPr>
          <p:spPr>
            <a:xfrm>
              <a:off x="0" y="0"/>
              <a:ext cx="6977659" cy="1104107"/>
            </a:xfrm>
            <a:custGeom>
              <a:rect b="b" l="l" r="r" t="t"/>
              <a:pathLst>
                <a:path extrusionOk="0" h="1104107" w="6977659">
                  <a:moveTo>
                    <a:pt x="0" y="0"/>
                  </a:moveTo>
                  <a:lnTo>
                    <a:pt x="6977659" y="0"/>
                  </a:lnTo>
                  <a:lnTo>
                    <a:pt x="6977659" y="1104107"/>
                  </a:lnTo>
                  <a:lnTo>
                    <a:pt x="0" y="11041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00" name="Google Shape;300;p8"/>
            <p:cNvSpPr txBox="1"/>
            <p:nvPr/>
          </p:nvSpPr>
          <p:spPr>
            <a:xfrm>
              <a:off x="0" y="-85725"/>
              <a:ext cx="6977658" cy="1189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BFBFBF"/>
                  </a:solidFill>
                  <a:latin typeface="Open Sans"/>
                  <a:ea typeface="Open Sans"/>
                  <a:cs typeface="Open Sans"/>
                  <a:sym typeface="Open Sans"/>
                </a:rPr>
                <a:t>Apoya decisiones con información georreferenciada precisa.</a:t>
              </a:r>
              <a:endParaRPr/>
            </a:p>
          </p:txBody>
        </p:sp>
      </p:grpSp>
      <p:sp>
        <p:nvSpPr>
          <p:cNvPr id="301" name="Google Shape;301;p8"/>
          <p:cNvSpPr/>
          <p:nvPr/>
        </p:nvSpPr>
        <p:spPr>
          <a:xfrm>
            <a:off x="6527304" y="7151191"/>
            <a:ext cx="5233321" cy="258889"/>
          </a:xfrm>
          <a:custGeom>
            <a:rect b="b" l="l" r="r" t="t"/>
            <a:pathLst>
              <a:path extrusionOk="0" h="345186" w="6977761">
                <a:moveTo>
                  <a:pt x="0" y="51816"/>
                </a:moveTo>
                <a:cubicBezTo>
                  <a:pt x="0" y="23241"/>
                  <a:pt x="23241" y="0"/>
                  <a:pt x="51816" y="0"/>
                </a:cubicBezTo>
                <a:lnTo>
                  <a:pt x="6925945" y="0"/>
                </a:lnTo>
                <a:cubicBezTo>
                  <a:pt x="6954520" y="0"/>
                  <a:pt x="6977761" y="23241"/>
                  <a:pt x="6977761" y="51816"/>
                </a:cubicBezTo>
                <a:lnTo>
                  <a:pt x="6977761" y="293370"/>
                </a:lnTo>
                <a:cubicBezTo>
                  <a:pt x="6977761" y="321945"/>
                  <a:pt x="6954520" y="345186"/>
                  <a:pt x="6925945" y="345186"/>
                </a:cubicBezTo>
                <a:lnTo>
                  <a:pt x="51816" y="345186"/>
                </a:lnTo>
                <a:cubicBezTo>
                  <a:pt x="23241" y="345059"/>
                  <a:pt x="0" y="321945"/>
                  <a:pt x="0" y="293370"/>
                </a:cubicBezTo>
                <a:close/>
              </a:path>
            </a:pathLst>
          </a:custGeom>
          <a:solidFill>
            <a:srgbClr val="3E3E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2" name="Google Shape;302;p8"/>
          <p:cNvGrpSpPr/>
          <p:nvPr/>
        </p:nvGrpSpPr>
        <p:grpSpPr>
          <a:xfrm>
            <a:off x="6527304" y="7776716"/>
            <a:ext cx="3358306" cy="425797"/>
            <a:chOff x="0" y="-28575"/>
            <a:chExt cx="4477742" cy="567730"/>
          </a:xfrm>
        </p:grpSpPr>
        <p:sp>
          <p:nvSpPr>
            <p:cNvPr id="303" name="Google Shape;303;p8"/>
            <p:cNvSpPr/>
            <p:nvPr/>
          </p:nvSpPr>
          <p:spPr>
            <a:xfrm>
              <a:off x="0" y="0"/>
              <a:ext cx="4477742" cy="539155"/>
            </a:xfrm>
            <a:custGeom>
              <a:rect b="b" l="l" r="r" t="t"/>
              <a:pathLst>
                <a:path extrusionOk="0" h="539155" w="4477742">
                  <a:moveTo>
                    <a:pt x="0" y="0"/>
                  </a:moveTo>
                  <a:lnTo>
                    <a:pt x="4477742" y="0"/>
                  </a:lnTo>
                  <a:lnTo>
                    <a:pt x="4477742" y="539155"/>
                  </a:lnTo>
                  <a:lnTo>
                    <a:pt x="0" y="53915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04" name="Google Shape;304;p8"/>
            <p:cNvSpPr txBox="1"/>
            <p:nvPr/>
          </p:nvSpPr>
          <p:spPr>
            <a:xfrm>
              <a:off x="0" y="-28575"/>
              <a:ext cx="4477742" cy="5677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99" u="none" cap="none" strike="noStrike">
                  <a:solidFill>
                    <a:srgbClr val="BFBFBF"/>
                  </a:solidFill>
                  <a:latin typeface="Arimo"/>
                  <a:ea typeface="Arimo"/>
                  <a:cs typeface="Arimo"/>
                  <a:sym typeface="Arimo"/>
                </a:rPr>
                <a:t>Visualización de Datos</a:t>
              </a:r>
              <a:endParaRPr/>
            </a:p>
          </p:txBody>
        </p:sp>
      </p:grpSp>
      <p:grpSp>
        <p:nvGrpSpPr>
          <p:cNvPr id="305" name="Google Shape;305;p8"/>
          <p:cNvGrpSpPr/>
          <p:nvPr/>
        </p:nvGrpSpPr>
        <p:grpSpPr>
          <a:xfrm>
            <a:off x="6527304" y="8293447"/>
            <a:ext cx="5233245" cy="892374"/>
            <a:chOff x="0" y="-85725"/>
            <a:chExt cx="6977659" cy="1189832"/>
          </a:xfrm>
        </p:grpSpPr>
        <p:sp>
          <p:nvSpPr>
            <p:cNvPr id="306" name="Google Shape;306;p8"/>
            <p:cNvSpPr/>
            <p:nvPr/>
          </p:nvSpPr>
          <p:spPr>
            <a:xfrm>
              <a:off x="0" y="0"/>
              <a:ext cx="6977659" cy="1104107"/>
            </a:xfrm>
            <a:custGeom>
              <a:rect b="b" l="l" r="r" t="t"/>
              <a:pathLst>
                <a:path extrusionOk="0" h="1104107" w="6977659">
                  <a:moveTo>
                    <a:pt x="0" y="0"/>
                  </a:moveTo>
                  <a:lnTo>
                    <a:pt x="6977659" y="0"/>
                  </a:lnTo>
                  <a:lnTo>
                    <a:pt x="6977659" y="1104107"/>
                  </a:lnTo>
                  <a:lnTo>
                    <a:pt x="0" y="11041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07" name="Google Shape;307;p8"/>
            <p:cNvSpPr txBox="1"/>
            <p:nvPr/>
          </p:nvSpPr>
          <p:spPr>
            <a:xfrm>
              <a:off x="0" y="-85725"/>
              <a:ext cx="6977658" cy="1189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BFBFBF"/>
                  </a:solidFill>
                  <a:latin typeface="Open Sans"/>
                  <a:ea typeface="Open Sans"/>
                  <a:cs typeface="Open Sans"/>
                  <a:sym typeface="Open Sans"/>
                </a:rPr>
                <a:t>Mapas que facilitan entender territorios y patrones.</a:t>
              </a:r>
              <a:endParaRPr/>
            </a:p>
          </p:txBody>
        </p:sp>
      </p:grpSp>
      <p:sp>
        <p:nvSpPr>
          <p:cNvPr id="308" name="Google Shape;308;p8"/>
          <p:cNvSpPr/>
          <p:nvPr/>
        </p:nvSpPr>
        <p:spPr>
          <a:xfrm>
            <a:off x="12148691" y="6763047"/>
            <a:ext cx="5233321" cy="258889"/>
          </a:xfrm>
          <a:custGeom>
            <a:rect b="b" l="l" r="r" t="t"/>
            <a:pathLst>
              <a:path extrusionOk="0" h="345186" w="6977761">
                <a:moveTo>
                  <a:pt x="0" y="51816"/>
                </a:moveTo>
                <a:cubicBezTo>
                  <a:pt x="0" y="23241"/>
                  <a:pt x="23241" y="0"/>
                  <a:pt x="51816" y="0"/>
                </a:cubicBezTo>
                <a:lnTo>
                  <a:pt x="6925945" y="0"/>
                </a:lnTo>
                <a:cubicBezTo>
                  <a:pt x="6954520" y="0"/>
                  <a:pt x="6977761" y="23241"/>
                  <a:pt x="6977761" y="51816"/>
                </a:cubicBezTo>
                <a:lnTo>
                  <a:pt x="6977761" y="293370"/>
                </a:lnTo>
                <a:cubicBezTo>
                  <a:pt x="6977761" y="321945"/>
                  <a:pt x="6954520" y="345186"/>
                  <a:pt x="6925945" y="345186"/>
                </a:cubicBezTo>
                <a:lnTo>
                  <a:pt x="51816" y="345186"/>
                </a:lnTo>
                <a:cubicBezTo>
                  <a:pt x="23241" y="345059"/>
                  <a:pt x="0" y="321945"/>
                  <a:pt x="0" y="293370"/>
                </a:cubicBezTo>
                <a:close/>
              </a:path>
            </a:pathLst>
          </a:custGeom>
          <a:solidFill>
            <a:srgbClr val="3E3E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9" name="Google Shape;309;p8"/>
          <p:cNvGrpSpPr/>
          <p:nvPr/>
        </p:nvGrpSpPr>
        <p:grpSpPr>
          <a:xfrm>
            <a:off x="12148691" y="7388573"/>
            <a:ext cx="3383161" cy="425797"/>
            <a:chOff x="0" y="-28575"/>
            <a:chExt cx="4510882" cy="567730"/>
          </a:xfrm>
        </p:grpSpPr>
        <p:sp>
          <p:nvSpPr>
            <p:cNvPr id="310" name="Google Shape;310;p8"/>
            <p:cNvSpPr/>
            <p:nvPr/>
          </p:nvSpPr>
          <p:spPr>
            <a:xfrm>
              <a:off x="0" y="0"/>
              <a:ext cx="4510882" cy="539155"/>
            </a:xfrm>
            <a:custGeom>
              <a:rect b="b" l="l" r="r" t="t"/>
              <a:pathLst>
                <a:path extrusionOk="0" h="539155" w="4510882">
                  <a:moveTo>
                    <a:pt x="0" y="0"/>
                  </a:moveTo>
                  <a:lnTo>
                    <a:pt x="4510882" y="0"/>
                  </a:lnTo>
                  <a:lnTo>
                    <a:pt x="4510882" y="539155"/>
                  </a:lnTo>
                  <a:lnTo>
                    <a:pt x="0" y="53915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11" name="Google Shape;311;p8"/>
            <p:cNvSpPr txBox="1"/>
            <p:nvPr/>
          </p:nvSpPr>
          <p:spPr>
            <a:xfrm>
              <a:off x="0" y="-28575"/>
              <a:ext cx="4510882" cy="5677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99" u="none" cap="none" strike="noStrike">
                  <a:solidFill>
                    <a:srgbClr val="BFBFBF"/>
                  </a:solidFill>
                  <a:latin typeface="Arimo"/>
                  <a:ea typeface="Arimo"/>
                  <a:cs typeface="Arimo"/>
                  <a:sym typeface="Arimo"/>
                </a:rPr>
                <a:t>Aplicaciones Prácticas</a:t>
              </a:r>
              <a:endParaRPr/>
            </a:p>
          </p:txBody>
        </p:sp>
      </p:grpSp>
      <p:grpSp>
        <p:nvGrpSpPr>
          <p:cNvPr id="312" name="Google Shape;312;p8"/>
          <p:cNvGrpSpPr/>
          <p:nvPr/>
        </p:nvGrpSpPr>
        <p:grpSpPr>
          <a:xfrm>
            <a:off x="12148691" y="7905303"/>
            <a:ext cx="5233245" cy="892374"/>
            <a:chOff x="0" y="-85725"/>
            <a:chExt cx="6977659" cy="1189832"/>
          </a:xfrm>
        </p:grpSpPr>
        <p:sp>
          <p:nvSpPr>
            <p:cNvPr id="313" name="Google Shape;313;p8"/>
            <p:cNvSpPr/>
            <p:nvPr/>
          </p:nvSpPr>
          <p:spPr>
            <a:xfrm>
              <a:off x="0" y="0"/>
              <a:ext cx="6977659" cy="1104107"/>
            </a:xfrm>
            <a:custGeom>
              <a:rect b="b" l="l" r="r" t="t"/>
              <a:pathLst>
                <a:path extrusionOk="0" h="1104107" w="6977659">
                  <a:moveTo>
                    <a:pt x="0" y="0"/>
                  </a:moveTo>
                  <a:lnTo>
                    <a:pt x="6977659" y="0"/>
                  </a:lnTo>
                  <a:lnTo>
                    <a:pt x="6977659" y="1104107"/>
                  </a:lnTo>
                  <a:lnTo>
                    <a:pt x="0" y="11041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14" name="Google Shape;314;p8"/>
            <p:cNvSpPr txBox="1"/>
            <p:nvPr/>
          </p:nvSpPr>
          <p:spPr>
            <a:xfrm>
              <a:off x="0" y="-85725"/>
              <a:ext cx="6977658" cy="1189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BFBFBF"/>
                  </a:solidFill>
                  <a:latin typeface="Open Sans"/>
                  <a:ea typeface="Open Sans"/>
                  <a:cs typeface="Open Sans"/>
                  <a:sym typeface="Open Sans"/>
                </a:rPr>
                <a:t>Logística, marketing territorial y planificación urbana.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24" name="Google Shape;324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F1F1F"/>
          </a:solidFill>
          <a:ln>
            <a:noFill/>
          </a:ln>
        </p:spPr>
      </p:sp>
      <p:sp>
        <p:nvSpPr>
          <p:cNvPr descr="preencoded.png" id="325" name="Google Shape;325;p9"/>
          <p:cNvSpPr/>
          <p:nvPr/>
        </p:nvSpPr>
        <p:spPr>
          <a:xfrm>
            <a:off x="0" y="0"/>
            <a:ext cx="6858000" cy="10287000"/>
          </a:xfrm>
          <a:custGeom>
            <a:rect b="b" l="l" r="r" t="t"/>
            <a:pathLst>
              <a:path extrusionOk="0"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26" name="Google Shape;326;p9"/>
          <p:cNvGrpSpPr/>
          <p:nvPr/>
        </p:nvGrpSpPr>
        <p:grpSpPr>
          <a:xfrm>
            <a:off x="7850237" y="823467"/>
            <a:ext cx="9445526" cy="1814809"/>
            <a:chOff x="0" y="-57150"/>
            <a:chExt cx="12594035" cy="2419747"/>
          </a:xfrm>
        </p:grpSpPr>
        <p:sp>
          <p:nvSpPr>
            <p:cNvPr id="327" name="Google Shape;327;p9"/>
            <p:cNvSpPr/>
            <p:nvPr/>
          </p:nvSpPr>
          <p:spPr>
            <a:xfrm>
              <a:off x="0" y="0"/>
              <a:ext cx="12594035" cy="2362597"/>
            </a:xfrm>
            <a:custGeom>
              <a:rect b="b" l="l" r="r" t="t"/>
              <a:pathLst>
                <a:path extrusionOk="0" h="2362597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2362597"/>
                  </a:lnTo>
                  <a:lnTo>
                    <a:pt x="0" y="23625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28" name="Google Shape;328;p9"/>
            <p:cNvSpPr txBox="1"/>
            <p:nvPr/>
          </p:nvSpPr>
          <p:spPr>
            <a:xfrm>
              <a:off x="0" y="-57150"/>
              <a:ext cx="12594035" cy="24197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7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562" u="none" cap="none" strike="noStrike">
                  <a:solidFill>
                    <a:srgbClr val="FEFEFE"/>
                  </a:solidFill>
                  <a:latin typeface="Arimo"/>
                  <a:ea typeface="Arimo"/>
                  <a:cs typeface="Arimo"/>
                  <a:sym typeface="Arimo"/>
                </a:rPr>
                <a:t>Integración de Sistemas: Definición</a:t>
              </a:r>
              <a:endParaRPr/>
            </a:p>
          </p:txBody>
        </p:sp>
      </p:grpSp>
      <p:sp>
        <p:nvSpPr>
          <p:cNvPr id="329" name="Google Shape;329;p9"/>
          <p:cNvSpPr/>
          <p:nvPr/>
        </p:nvSpPr>
        <p:spPr>
          <a:xfrm>
            <a:off x="7850237" y="3063479"/>
            <a:ext cx="637794" cy="637890"/>
          </a:xfrm>
          <a:custGeom>
            <a:rect b="b" l="l" r="r" t="t"/>
            <a:pathLst>
              <a:path extrusionOk="0" h="850519" w="850392">
                <a:moveTo>
                  <a:pt x="0" y="56642"/>
                </a:moveTo>
                <a:cubicBezTo>
                  <a:pt x="0" y="25400"/>
                  <a:pt x="25400" y="0"/>
                  <a:pt x="56642" y="0"/>
                </a:cubicBezTo>
                <a:lnTo>
                  <a:pt x="793750" y="0"/>
                </a:lnTo>
                <a:cubicBezTo>
                  <a:pt x="825119" y="0"/>
                  <a:pt x="850392" y="25400"/>
                  <a:pt x="850392" y="56642"/>
                </a:cubicBezTo>
                <a:lnTo>
                  <a:pt x="850392" y="793750"/>
                </a:lnTo>
                <a:cubicBezTo>
                  <a:pt x="850392" y="825119"/>
                  <a:pt x="824992" y="850392"/>
                  <a:pt x="793750" y="850392"/>
                </a:cubicBezTo>
                <a:lnTo>
                  <a:pt x="56642" y="850392"/>
                </a:lnTo>
                <a:cubicBezTo>
                  <a:pt x="25400" y="850519"/>
                  <a:pt x="0" y="825119"/>
                  <a:pt x="0" y="793750"/>
                </a:cubicBezTo>
                <a:close/>
              </a:path>
            </a:pathLst>
          </a:custGeom>
          <a:solidFill>
            <a:srgbClr val="3E3E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0" name="Google Shape;330;p9"/>
          <p:cNvGrpSpPr/>
          <p:nvPr/>
        </p:nvGrpSpPr>
        <p:grpSpPr>
          <a:xfrm>
            <a:off x="7956575" y="3116610"/>
            <a:ext cx="425203" cy="531614"/>
            <a:chOff x="0" y="0"/>
            <a:chExt cx="566937" cy="708818"/>
          </a:xfrm>
        </p:grpSpPr>
        <p:sp>
          <p:nvSpPr>
            <p:cNvPr id="331" name="Google Shape;331;p9"/>
            <p:cNvSpPr/>
            <p:nvPr/>
          </p:nvSpPr>
          <p:spPr>
            <a:xfrm>
              <a:off x="0" y="0"/>
              <a:ext cx="566937" cy="708818"/>
            </a:xfrm>
            <a:custGeom>
              <a:rect b="b" l="l" r="r" t="t"/>
              <a:pathLst>
                <a:path extrusionOk="0" h="708818" w="566937">
                  <a:moveTo>
                    <a:pt x="0" y="0"/>
                  </a:moveTo>
                  <a:lnTo>
                    <a:pt x="566937" y="0"/>
                  </a:lnTo>
                  <a:lnTo>
                    <a:pt x="566937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32" name="Google Shape;332;p9"/>
            <p:cNvSpPr txBox="1"/>
            <p:nvPr/>
          </p:nvSpPr>
          <p:spPr>
            <a:xfrm>
              <a:off x="0" y="38100"/>
              <a:ext cx="566937" cy="6707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12" u="none" cap="none" strike="noStrike">
                  <a:solidFill>
                    <a:srgbClr val="BFBFBF"/>
                  </a:solidFill>
                  <a:latin typeface="Arimo"/>
                  <a:ea typeface="Arimo"/>
                  <a:cs typeface="Arimo"/>
                  <a:sym typeface="Arimo"/>
                </a:rPr>
                <a:t>1</a:t>
              </a:r>
              <a:endParaRPr/>
            </a:p>
          </p:txBody>
        </p:sp>
      </p:grpSp>
      <p:grpSp>
        <p:nvGrpSpPr>
          <p:cNvPr id="333" name="Google Shape;333;p9"/>
          <p:cNvGrpSpPr/>
          <p:nvPr/>
        </p:nvGrpSpPr>
        <p:grpSpPr>
          <a:xfrm>
            <a:off x="8771632" y="3132236"/>
            <a:ext cx="3544044" cy="471487"/>
            <a:chOff x="0" y="-38100"/>
            <a:chExt cx="4725392" cy="628650"/>
          </a:xfrm>
        </p:grpSpPr>
        <p:sp>
          <p:nvSpPr>
            <p:cNvPr id="334" name="Google Shape;334;p9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35" name="Google Shape;335;p9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BFBFBF"/>
                  </a:solidFill>
                  <a:latin typeface="Arimo"/>
                  <a:ea typeface="Arimo"/>
                  <a:cs typeface="Arimo"/>
                  <a:sym typeface="Arimo"/>
                </a:rPr>
                <a:t>Proceso Conector</a:t>
              </a:r>
              <a:endParaRPr/>
            </a:p>
          </p:txBody>
        </p:sp>
      </p:grpSp>
      <p:grpSp>
        <p:nvGrpSpPr>
          <p:cNvPr id="336" name="Google Shape;336;p9"/>
          <p:cNvGrpSpPr/>
          <p:nvPr/>
        </p:nvGrpSpPr>
        <p:grpSpPr>
          <a:xfrm>
            <a:off x="8771632" y="3709541"/>
            <a:ext cx="8524132" cy="517923"/>
            <a:chOff x="0" y="-85725"/>
            <a:chExt cx="11365509" cy="690563"/>
          </a:xfrm>
        </p:grpSpPr>
        <p:sp>
          <p:nvSpPr>
            <p:cNvPr id="337" name="Google Shape;337;p9"/>
            <p:cNvSpPr/>
            <p:nvPr/>
          </p:nvSpPr>
          <p:spPr>
            <a:xfrm>
              <a:off x="0" y="0"/>
              <a:ext cx="11365509" cy="604838"/>
            </a:xfrm>
            <a:custGeom>
              <a:rect b="b" l="l" r="r" t="t"/>
              <a:pathLst>
                <a:path extrusionOk="0" h="604838" w="11365509">
                  <a:moveTo>
                    <a:pt x="0" y="0"/>
                  </a:moveTo>
                  <a:lnTo>
                    <a:pt x="11365509" y="0"/>
                  </a:lnTo>
                  <a:lnTo>
                    <a:pt x="11365509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38" name="Google Shape;338;p9"/>
            <p:cNvSpPr txBox="1"/>
            <p:nvPr/>
          </p:nvSpPr>
          <p:spPr>
            <a:xfrm>
              <a:off x="0" y="-85725"/>
              <a:ext cx="11365508" cy="690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BFBFBF"/>
                  </a:solidFill>
                  <a:latin typeface="Open Sans"/>
                  <a:ea typeface="Open Sans"/>
                  <a:cs typeface="Open Sans"/>
                  <a:sym typeface="Open Sans"/>
                </a:rPr>
                <a:t>Une sistemas diversos en una unidad funcional.</a:t>
              </a:r>
              <a:endParaRPr/>
            </a:p>
          </p:txBody>
        </p:sp>
      </p:grpSp>
      <p:sp>
        <p:nvSpPr>
          <p:cNvPr id="339" name="Google Shape;339;p9"/>
          <p:cNvSpPr/>
          <p:nvPr/>
        </p:nvSpPr>
        <p:spPr>
          <a:xfrm>
            <a:off x="7850237" y="4794498"/>
            <a:ext cx="637794" cy="637889"/>
          </a:xfrm>
          <a:custGeom>
            <a:rect b="b" l="l" r="r" t="t"/>
            <a:pathLst>
              <a:path extrusionOk="0" h="850519" w="850392">
                <a:moveTo>
                  <a:pt x="0" y="56642"/>
                </a:moveTo>
                <a:cubicBezTo>
                  <a:pt x="0" y="25400"/>
                  <a:pt x="25400" y="0"/>
                  <a:pt x="56642" y="0"/>
                </a:cubicBezTo>
                <a:lnTo>
                  <a:pt x="793750" y="0"/>
                </a:lnTo>
                <a:cubicBezTo>
                  <a:pt x="825119" y="0"/>
                  <a:pt x="850392" y="25400"/>
                  <a:pt x="850392" y="56642"/>
                </a:cubicBezTo>
                <a:lnTo>
                  <a:pt x="850392" y="793750"/>
                </a:lnTo>
                <a:cubicBezTo>
                  <a:pt x="850392" y="825119"/>
                  <a:pt x="824992" y="850392"/>
                  <a:pt x="793750" y="850392"/>
                </a:cubicBezTo>
                <a:lnTo>
                  <a:pt x="56642" y="850392"/>
                </a:lnTo>
                <a:cubicBezTo>
                  <a:pt x="25400" y="850519"/>
                  <a:pt x="0" y="825119"/>
                  <a:pt x="0" y="793750"/>
                </a:cubicBezTo>
                <a:close/>
              </a:path>
            </a:pathLst>
          </a:custGeom>
          <a:solidFill>
            <a:srgbClr val="3E3E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0" name="Google Shape;340;p9"/>
          <p:cNvGrpSpPr/>
          <p:nvPr/>
        </p:nvGrpSpPr>
        <p:grpSpPr>
          <a:xfrm>
            <a:off x="7956575" y="4847630"/>
            <a:ext cx="425203" cy="531614"/>
            <a:chOff x="0" y="0"/>
            <a:chExt cx="566937" cy="708818"/>
          </a:xfrm>
        </p:grpSpPr>
        <p:sp>
          <p:nvSpPr>
            <p:cNvPr id="341" name="Google Shape;341;p9"/>
            <p:cNvSpPr/>
            <p:nvPr/>
          </p:nvSpPr>
          <p:spPr>
            <a:xfrm>
              <a:off x="0" y="0"/>
              <a:ext cx="566937" cy="708818"/>
            </a:xfrm>
            <a:custGeom>
              <a:rect b="b" l="l" r="r" t="t"/>
              <a:pathLst>
                <a:path extrusionOk="0" h="708818" w="566937">
                  <a:moveTo>
                    <a:pt x="0" y="0"/>
                  </a:moveTo>
                  <a:lnTo>
                    <a:pt x="566937" y="0"/>
                  </a:lnTo>
                  <a:lnTo>
                    <a:pt x="566937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42" name="Google Shape;342;p9"/>
            <p:cNvSpPr txBox="1"/>
            <p:nvPr/>
          </p:nvSpPr>
          <p:spPr>
            <a:xfrm>
              <a:off x="0" y="38100"/>
              <a:ext cx="566937" cy="6707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12" u="none" cap="none" strike="noStrike">
                  <a:solidFill>
                    <a:srgbClr val="BFBFBF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  <a:endParaRPr/>
            </a:p>
          </p:txBody>
        </p:sp>
      </p:grpSp>
      <p:grpSp>
        <p:nvGrpSpPr>
          <p:cNvPr id="343" name="Google Shape;343;p9"/>
          <p:cNvGrpSpPr/>
          <p:nvPr/>
        </p:nvGrpSpPr>
        <p:grpSpPr>
          <a:xfrm>
            <a:off x="8771632" y="4863256"/>
            <a:ext cx="4535090" cy="471487"/>
            <a:chOff x="0" y="-38100"/>
            <a:chExt cx="6046787" cy="628650"/>
          </a:xfrm>
        </p:grpSpPr>
        <p:sp>
          <p:nvSpPr>
            <p:cNvPr id="344" name="Google Shape;344;p9"/>
            <p:cNvSpPr/>
            <p:nvPr/>
          </p:nvSpPr>
          <p:spPr>
            <a:xfrm>
              <a:off x="0" y="0"/>
              <a:ext cx="6046787" cy="590550"/>
            </a:xfrm>
            <a:custGeom>
              <a:rect b="b" l="l" r="r" t="t"/>
              <a:pathLst>
                <a:path extrusionOk="0" h="590550" w="6046787">
                  <a:moveTo>
                    <a:pt x="0" y="0"/>
                  </a:moveTo>
                  <a:lnTo>
                    <a:pt x="6046787" y="0"/>
                  </a:lnTo>
                  <a:lnTo>
                    <a:pt x="6046787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45" name="Google Shape;345;p9"/>
            <p:cNvSpPr txBox="1"/>
            <p:nvPr/>
          </p:nvSpPr>
          <p:spPr>
            <a:xfrm>
              <a:off x="0" y="-38100"/>
              <a:ext cx="6046787" cy="628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BFBFBF"/>
                  </a:solidFill>
                  <a:latin typeface="Arimo"/>
                  <a:ea typeface="Arimo"/>
                  <a:cs typeface="Arimo"/>
                  <a:sym typeface="Arimo"/>
                </a:rPr>
                <a:t>Intercambio de Información</a:t>
              </a:r>
              <a:endParaRPr/>
            </a:p>
          </p:txBody>
        </p:sp>
      </p:grpSp>
      <p:grpSp>
        <p:nvGrpSpPr>
          <p:cNvPr id="346" name="Google Shape;346;p9"/>
          <p:cNvGrpSpPr/>
          <p:nvPr/>
        </p:nvGrpSpPr>
        <p:grpSpPr>
          <a:xfrm>
            <a:off x="8771632" y="5440561"/>
            <a:ext cx="8524132" cy="517923"/>
            <a:chOff x="0" y="-85725"/>
            <a:chExt cx="11365509" cy="690563"/>
          </a:xfrm>
        </p:grpSpPr>
        <p:sp>
          <p:nvSpPr>
            <p:cNvPr id="347" name="Google Shape;347;p9"/>
            <p:cNvSpPr/>
            <p:nvPr/>
          </p:nvSpPr>
          <p:spPr>
            <a:xfrm>
              <a:off x="0" y="0"/>
              <a:ext cx="11365509" cy="604838"/>
            </a:xfrm>
            <a:custGeom>
              <a:rect b="b" l="l" r="r" t="t"/>
              <a:pathLst>
                <a:path extrusionOk="0" h="604838" w="11365509">
                  <a:moveTo>
                    <a:pt x="0" y="0"/>
                  </a:moveTo>
                  <a:lnTo>
                    <a:pt x="11365509" y="0"/>
                  </a:lnTo>
                  <a:lnTo>
                    <a:pt x="11365509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48" name="Google Shape;348;p9"/>
            <p:cNvSpPr txBox="1"/>
            <p:nvPr/>
          </p:nvSpPr>
          <p:spPr>
            <a:xfrm>
              <a:off x="0" y="-85725"/>
              <a:ext cx="11365508" cy="690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BFBFBF"/>
                  </a:solidFill>
                  <a:latin typeface="Open Sans"/>
                  <a:ea typeface="Open Sans"/>
                  <a:cs typeface="Open Sans"/>
                  <a:sym typeface="Open Sans"/>
                </a:rPr>
                <a:t>Facilita flujo entre áreas empresariales.</a:t>
              </a:r>
              <a:endParaRPr/>
            </a:p>
          </p:txBody>
        </p:sp>
      </p:grpSp>
      <p:sp>
        <p:nvSpPr>
          <p:cNvPr id="349" name="Google Shape;349;p9"/>
          <p:cNvSpPr/>
          <p:nvPr/>
        </p:nvSpPr>
        <p:spPr>
          <a:xfrm>
            <a:off x="7850237" y="6525517"/>
            <a:ext cx="637794" cy="637889"/>
          </a:xfrm>
          <a:custGeom>
            <a:rect b="b" l="l" r="r" t="t"/>
            <a:pathLst>
              <a:path extrusionOk="0" h="850519" w="850392">
                <a:moveTo>
                  <a:pt x="0" y="56642"/>
                </a:moveTo>
                <a:cubicBezTo>
                  <a:pt x="0" y="25400"/>
                  <a:pt x="25400" y="0"/>
                  <a:pt x="56642" y="0"/>
                </a:cubicBezTo>
                <a:lnTo>
                  <a:pt x="793750" y="0"/>
                </a:lnTo>
                <a:cubicBezTo>
                  <a:pt x="825119" y="0"/>
                  <a:pt x="850392" y="25400"/>
                  <a:pt x="850392" y="56642"/>
                </a:cubicBezTo>
                <a:lnTo>
                  <a:pt x="850392" y="793750"/>
                </a:lnTo>
                <a:cubicBezTo>
                  <a:pt x="850392" y="825119"/>
                  <a:pt x="824992" y="850392"/>
                  <a:pt x="793750" y="850392"/>
                </a:cubicBezTo>
                <a:lnTo>
                  <a:pt x="56642" y="850392"/>
                </a:lnTo>
                <a:cubicBezTo>
                  <a:pt x="25400" y="850519"/>
                  <a:pt x="0" y="825119"/>
                  <a:pt x="0" y="793750"/>
                </a:cubicBezTo>
                <a:close/>
              </a:path>
            </a:pathLst>
          </a:custGeom>
          <a:solidFill>
            <a:srgbClr val="3E3E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0" name="Google Shape;350;p9"/>
          <p:cNvGrpSpPr/>
          <p:nvPr/>
        </p:nvGrpSpPr>
        <p:grpSpPr>
          <a:xfrm>
            <a:off x="7956575" y="6578650"/>
            <a:ext cx="425203" cy="531614"/>
            <a:chOff x="0" y="0"/>
            <a:chExt cx="566937" cy="708818"/>
          </a:xfrm>
        </p:grpSpPr>
        <p:sp>
          <p:nvSpPr>
            <p:cNvPr id="351" name="Google Shape;351;p9"/>
            <p:cNvSpPr/>
            <p:nvPr/>
          </p:nvSpPr>
          <p:spPr>
            <a:xfrm>
              <a:off x="0" y="0"/>
              <a:ext cx="566937" cy="708818"/>
            </a:xfrm>
            <a:custGeom>
              <a:rect b="b" l="l" r="r" t="t"/>
              <a:pathLst>
                <a:path extrusionOk="0" h="708818" w="566937">
                  <a:moveTo>
                    <a:pt x="0" y="0"/>
                  </a:moveTo>
                  <a:lnTo>
                    <a:pt x="566937" y="0"/>
                  </a:lnTo>
                  <a:lnTo>
                    <a:pt x="566937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52" name="Google Shape;352;p9"/>
            <p:cNvSpPr txBox="1"/>
            <p:nvPr/>
          </p:nvSpPr>
          <p:spPr>
            <a:xfrm>
              <a:off x="0" y="38100"/>
              <a:ext cx="566937" cy="6707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12" u="none" cap="none" strike="noStrike">
                  <a:solidFill>
                    <a:srgbClr val="BFBFBF"/>
                  </a:solidFill>
                  <a:latin typeface="Arimo"/>
                  <a:ea typeface="Arimo"/>
                  <a:cs typeface="Arimo"/>
                  <a:sym typeface="Arimo"/>
                </a:rPr>
                <a:t>3</a:t>
              </a:r>
              <a:endParaRPr/>
            </a:p>
          </p:txBody>
        </p:sp>
      </p:grpSp>
      <p:grpSp>
        <p:nvGrpSpPr>
          <p:cNvPr id="353" name="Google Shape;353;p9"/>
          <p:cNvGrpSpPr/>
          <p:nvPr/>
        </p:nvGrpSpPr>
        <p:grpSpPr>
          <a:xfrm>
            <a:off x="8771632" y="6594276"/>
            <a:ext cx="3544044" cy="471487"/>
            <a:chOff x="0" y="-38100"/>
            <a:chExt cx="4725392" cy="628650"/>
          </a:xfrm>
        </p:grpSpPr>
        <p:sp>
          <p:nvSpPr>
            <p:cNvPr id="354" name="Google Shape;354;p9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55" name="Google Shape;355;p9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BFBFBF"/>
                  </a:solidFill>
                  <a:latin typeface="Arimo"/>
                  <a:ea typeface="Arimo"/>
                  <a:cs typeface="Arimo"/>
                  <a:sym typeface="Arimo"/>
                </a:rPr>
                <a:t>Estructura Unificada</a:t>
              </a:r>
              <a:endParaRPr/>
            </a:p>
          </p:txBody>
        </p:sp>
      </p:grpSp>
      <p:grpSp>
        <p:nvGrpSpPr>
          <p:cNvPr id="356" name="Google Shape;356;p9"/>
          <p:cNvGrpSpPr/>
          <p:nvPr/>
        </p:nvGrpSpPr>
        <p:grpSpPr>
          <a:xfrm>
            <a:off x="8771632" y="7171581"/>
            <a:ext cx="8524132" cy="517923"/>
            <a:chOff x="0" y="-85725"/>
            <a:chExt cx="11365509" cy="690563"/>
          </a:xfrm>
        </p:grpSpPr>
        <p:sp>
          <p:nvSpPr>
            <p:cNvPr id="357" name="Google Shape;357;p9"/>
            <p:cNvSpPr/>
            <p:nvPr/>
          </p:nvSpPr>
          <p:spPr>
            <a:xfrm>
              <a:off x="0" y="0"/>
              <a:ext cx="11365509" cy="604838"/>
            </a:xfrm>
            <a:custGeom>
              <a:rect b="b" l="l" r="r" t="t"/>
              <a:pathLst>
                <a:path extrusionOk="0" h="604838" w="11365509">
                  <a:moveTo>
                    <a:pt x="0" y="0"/>
                  </a:moveTo>
                  <a:lnTo>
                    <a:pt x="11365509" y="0"/>
                  </a:lnTo>
                  <a:lnTo>
                    <a:pt x="11365509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58" name="Google Shape;358;p9"/>
            <p:cNvSpPr txBox="1"/>
            <p:nvPr/>
          </p:nvSpPr>
          <p:spPr>
            <a:xfrm>
              <a:off x="0" y="-85725"/>
              <a:ext cx="11365508" cy="690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BFBFBF"/>
                  </a:solidFill>
                  <a:latin typeface="Open Sans"/>
                  <a:ea typeface="Open Sans"/>
                  <a:cs typeface="Open Sans"/>
                  <a:sym typeface="Open Sans"/>
                </a:rPr>
                <a:t>Combina software y hardware en un sistema centralizado.</a:t>
              </a:r>
              <a:endParaRPr/>
            </a:p>
          </p:txBody>
        </p:sp>
      </p:grpSp>
      <p:sp>
        <p:nvSpPr>
          <p:cNvPr id="359" name="Google Shape;359;p9"/>
          <p:cNvSpPr/>
          <p:nvPr/>
        </p:nvSpPr>
        <p:spPr>
          <a:xfrm>
            <a:off x="7850237" y="8256538"/>
            <a:ext cx="637794" cy="637890"/>
          </a:xfrm>
          <a:custGeom>
            <a:rect b="b" l="l" r="r" t="t"/>
            <a:pathLst>
              <a:path extrusionOk="0" h="850519" w="850392">
                <a:moveTo>
                  <a:pt x="0" y="56642"/>
                </a:moveTo>
                <a:cubicBezTo>
                  <a:pt x="0" y="25400"/>
                  <a:pt x="25400" y="0"/>
                  <a:pt x="56642" y="0"/>
                </a:cubicBezTo>
                <a:lnTo>
                  <a:pt x="793750" y="0"/>
                </a:lnTo>
                <a:cubicBezTo>
                  <a:pt x="825119" y="0"/>
                  <a:pt x="850392" y="25400"/>
                  <a:pt x="850392" y="56642"/>
                </a:cubicBezTo>
                <a:lnTo>
                  <a:pt x="850392" y="793750"/>
                </a:lnTo>
                <a:cubicBezTo>
                  <a:pt x="850392" y="825119"/>
                  <a:pt x="824992" y="850392"/>
                  <a:pt x="793750" y="850392"/>
                </a:cubicBezTo>
                <a:lnTo>
                  <a:pt x="56642" y="850392"/>
                </a:lnTo>
                <a:cubicBezTo>
                  <a:pt x="25400" y="850519"/>
                  <a:pt x="0" y="825119"/>
                  <a:pt x="0" y="793750"/>
                </a:cubicBezTo>
                <a:close/>
              </a:path>
            </a:pathLst>
          </a:custGeom>
          <a:solidFill>
            <a:srgbClr val="3E3E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0" name="Google Shape;360;p9"/>
          <p:cNvGrpSpPr/>
          <p:nvPr/>
        </p:nvGrpSpPr>
        <p:grpSpPr>
          <a:xfrm>
            <a:off x="7956575" y="8309670"/>
            <a:ext cx="425203" cy="531614"/>
            <a:chOff x="0" y="0"/>
            <a:chExt cx="566937" cy="708818"/>
          </a:xfrm>
        </p:grpSpPr>
        <p:sp>
          <p:nvSpPr>
            <p:cNvPr id="361" name="Google Shape;361;p9"/>
            <p:cNvSpPr/>
            <p:nvPr/>
          </p:nvSpPr>
          <p:spPr>
            <a:xfrm>
              <a:off x="0" y="0"/>
              <a:ext cx="566937" cy="708818"/>
            </a:xfrm>
            <a:custGeom>
              <a:rect b="b" l="l" r="r" t="t"/>
              <a:pathLst>
                <a:path extrusionOk="0" h="708818" w="566937">
                  <a:moveTo>
                    <a:pt x="0" y="0"/>
                  </a:moveTo>
                  <a:lnTo>
                    <a:pt x="566937" y="0"/>
                  </a:lnTo>
                  <a:lnTo>
                    <a:pt x="566937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62" name="Google Shape;362;p9"/>
            <p:cNvSpPr txBox="1"/>
            <p:nvPr/>
          </p:nvSpPr>
          <p:spPr>
            <a:xfrm>
              <a:off x="0" y="38100"/>
              <a:ext cx="566937" cy="6707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12" u="none" cap="none" strike="noStrike">
                  <a:solidFill>
                    <a:srgbClr val="BFBFBF"/>
                  </a:solidFill>
                  <a:latin typeface="Arimo"/>
                  <a:ea typeface="Arimo"/>
                  <a:cs typeface="Arimo"/>
                  <a:sym typeface="Arimo"/>
                </a:rPr>
                <a:t>4</a:t>
              </a:r>
              <a:endParaRPr/>
            </a:p>
          </p:txBody>
        </p:sp>
      </p:grpSp>
      <p:grpSp>
        <p:nvGrpSpPr>
          <p:cNvPr id="363" name="Google Shape;363;p9"/>
          <p:cNvGrpSpPr/>
          <p:nvPr/>
        </p:nvGrpSpPr>
        <p:grpSpPr>
          <a:xfrm>
            <a:off x="8771632" y="8325296"/>
            <a:ext cx="3544044" cy="471487"/>
            <a:chOff x="0" y="-38100"/>
            <a:chExt cx="4725392" cy="628650"/>
          </a:xfrm>
        </p:grpSpPr>
        <p:sp>
          <p:nvSpPr>
            <p:cNvPr id="364" name="Google Shape;364;p9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65" name="Google Shape;365;p9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BFBFBF"/>
                  </a:solidFill>
                  <a:latin typeface="Arimo"/>
                  <a:ea typeface="Arimo"/>
                  <a:cs typeface="Arimo"/>
                  <a:sym typeface="Arimo"/>
                </a:rPr>
                <a:t>Visibilidad Completa</a:t>
              </a:r>
              <a:endParaRPr/>
            </a:p>
          </p:txBody>
        </p:sp>
      </p:grpSp>
      <p:grpSp>
        <p:nvGrpSpPr>
          <p:cNvPr id="366" name="Google Shape;366;p9"/>
          <p:cNvGrpSpPr/>
          <p:nvPr/>
        </p:nvGrpSpPr>
        <p:grpSpPr>
          <a:xfrm>
            <a:off x="8771632" y="8902601"/>
            <a:ext cx="8524132" cy="517923"/>
            <a:chOff x="0" y="-85725"/>
            <a:chExt cx="11365509" cy="690563"/>
          </a:xfrm>
        </p:grpSpPr>
        <p:sp>
          <p:nvSpPr>
            <p:cNvPr id="367" name="Google Shape;367;p9"/>
            <p:cNvSpPr/>
            <p:nvPr/>
          </p:nvSpPr>
          <p:spPr>
            <a:xfrm>
              <a:off x="0" y="0"/>
              <a:ext cx="11365509" cy="604838"/>
            </a:xfrm>
            <a:custGeom>
              <a:rect b="b" l="l" r="r" t="t"/>
              <a:pathLst>
                <a:path extrusionOk="0" h="604838" w="11365509">
                  <a:moveTo>
                    <a:pt x="0" y="0"/>
                  </a:moveTo>
                  <a:lnTo>
                    <a:pt x="11365509" y="0"/>
                  </a:lnTo>
                  <a:lnTo>
                    <a:pt x="11365509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68" name="Google Shape;368;p9"/>
            <p:cNvSpPr txBox="1"/>
            <p:nvPr/>
          </p:nvSpPr>
          <p:spPr>
            <a:xfrm>
              <a:off x="0" y="-85725"/>
              <a:ext cx="11365508" cy="690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BFBFBF"/>
                  </a:solidFill>
                  <a:latin typeface="Open Sans"/>
                  <a:ea typeface="Open Sans"/>
                  <a:cs typeface="Open Sans"/>
                  <a:sym typeface="Open Sans"/>
                </a:rPr>
                <a:t>Centraliza datos para mejor control organizacional.</a:t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78" name="Google Shape;378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F1F1F"/>
          </a:solidFill>
          <a:ln>
            <a:noFill/>
          </a:ln>
        </p:spPr>
      </p:sp>
      <p:sp>
        <p:nvSpPr>
          <p:cNvPr descr="preencoded.png" id="379" name="Google Shape;379;p10"/>
          <p:cNvSpPr/>
          <p:nvPr/>
        </p:nvSpPr>
        <p:spPr>
          <a:xfrm>
            <a:off x="0" y="0"/>
            <a:ext cx="6858000" cy="10287000"/>
          </a:xfrm>
          <a:custGeom>
            <a:rect b="b" l="l" r="r" t="t"/>
            <a:pathLst>
              <a:path extrusionOk="0"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80" name="Google Shape;380;p10"/>
          <p:cNvGrpSpPr/>
          <p:nvPr/>
        </p:nvGrpSpPr>
        <p:grpSpPr>
          <a:xfrm>
            <a:off x="7773889" y="678210"/>
            <a:ext cx="9598224" cy="1678484"/>
            <a:chOff x="0" y="-57150"/>
            <a:chExt cx="12797632" cy="2237978"/>
          </a:xfrm>
        </p:grpSpPr>
        <p:sp>
          <p:nvSpPr>
            <p:cNvPr id="381" name="Google Shape;381;p10"/>
            <p:cNvSpPr/>
            <p:nvPr/>
          </p:nvSpPr>
          <p:spPr>
            <a:xfrm>
              <a:off x="0" y="0"/>
              <a:ext cx="12797632" cy="2180828"/>
            </a:xfrm>
            <a:custGeom>
              <a:rect b="b" l="l" r="r" t="t"/>
              <a:pathLst>
                <a:path extrusionOk="0" h="2180828" w="12797632">
                  <a:moveTo>
                    <a:pt x="0" y="0"/>
                  </a:moveTo>
                  <a:lnTo>
                    <a:pt x="12797632" y="0"/>
                  </a:lnTo>
                  <a:lnTo>
                    <a:pt x="12797632" y="2180828"/>
                  </a:lnTo>
                  <a:lnTo>
                    <a:pt x="0" y="21808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82" name="Google Shape;382;p10"/>
            <p:cNvSpPr txBox="1"/>
            <p:nvPr/>
          </p:nvSpPr>
          <p:spPr>
            <a:xfrm>
              <a:off x="0" y="-57150"/>
              <a:ext cx="12797632" cy="22379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125" u="none" cap="none" strike="noStrike">
                  <a:solidFill>
                    <a:srgbClr val="FEFEFE"/>
                  </a:solidFill>
                  <a:latin typeface="Arimo"/>
                  <a:ea typeface="Arimo"/>
                  <a:cs typeface="Arimo"/>
                  <a:sym typeface="Arimo"/>
                </a:rPr>
                <a:t>Beneficios de la Integración de Sistemas</a:t>
              </a:r>
              <a:endParaRPr/>
            </a:p>
          </p:txBody>
        </p:sp>
      </p:grpSp>
      <p:sp>
        <p:nvSpPr>
          <p:cNvPr id="383" name="Google Shape;383;p10"/>
          <p:cNvSpPr/>
          <p:nvPr/>
        </p:nvSpPr>
        <p:spPr>
          <a:xfrm>
            <a:off x="7773889" y="2749154"/>
            <a:ext cx="9598247" cy="1507903"/>
          </a:xfrm>
          <a:custGeom>
            <a:rect b="b" l="l" r="r" t="t"/>
            <a:pathLst>
              <a:path extrusionOk="0" h="2010537" w="12797663">
                <a:moveTo>
                  <a:pt x="0" y="52324"/>
                </a:moveTo>
                <a:cubicBezTo>
                  <a:pt x="0" y="23368"/>
                  <a:pt x="23368" y="0"/>
                  <a:pt x="52324" y="0"/>
                </a:cubicBezTo>
                <a:lnTo>
                  <a:pt x="12745339" y="0"/>
                </a:lnTo>
                <a:cubicBezTo>
                  <a:pt x="12774295" y="0"/>
                  <a:pt x="12797663" y="23368"/>
                  <a:pt x="12797663" y="52324"/>
                </a:cubicBezTo>
                <a:lnTo>
                  <a:pt x="12797663" y="1958213"/>
                </a:lnTo>
                <a:cubicBezTo>
                  <a:pt x="12797663" y="1987169"/>
                  <a:pt x="12774295" y="2010537"/>
                  <a:pt x="12745339" y="2010537"/>
                </a:cubicBezTo>
                <a:lnTo>
                  <a:pt x="52324" y="2010537"/>
                </a:lnTo>
                <a:cubicBezTo>
                  <a:pt x="23368" y="2010537"/>
                  <a:pt x="0" y="1987169"/>
                  <a:pt x="0" y="1958213"/>
                </a:cubicBezTo>
                <a:close/>
              </a:path>
            </a:pathLst>
          </a:custGeom>
          <a:solidFill>
            <a:srgbClr val="3E3E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4" name="Google Shape;384;p10"/>
          <p:cNvGrpSpPr/>
          <p:nvPr/>
        </p:nvGrpSpPr>
        <p:grpSpPr>
          <a:xfrm>
            <a:off x="8035529" y="2996505"/>
            <a:ext cx="3958381" cy="423118"/>
            <a:chOff x="0" y="-19050"/>
            <a:chExt cx="5277842" cy="564158"/>
          </a:xfrm>
        </p:grpSpPr>
        <p:sp>
          <p:nvSpPr>
            <p:cNvPr id="385" name="Google Shape;385;p10"/>
            <p:cNvSpPr/>
            <p:nvPr/>
          </p:nvSpPr>
          <p:spPr>
            <a:xfrm>
              <a:off x="0" y="0"/>
              <a:ext cx="5277842" cy="545108"/>
            </a:xfrm>
            <a:custGeom>
              <a:rect b="b" l="l" r="r" t="t"/>
              <a:pathLst>
                <a:path extrusionOk="0" h="545108" w="5277842">
                  <a:moveTo>
                    <a:pt x="0" y="0"/>
                  </a:moveTo>
                  <a:lnTo>
                    <a:pt x="5277842" y="0"/>
                  </a:lnTo>
                  <a:lnTo>
                    <a:pt x="5277842" y="545108"/>
                  </a:lnTo>
                  <a:lnTo>
                    <a:pt x="0" y="5451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86" name="Google Shape;386;p10"/>
            <p:cNvSpPr txBox="1"/>
            <p:nvPr/>
          </p:nvSpPr>
          <p:spPr>
            <a:xfrm>
              <a:off x="0" y="-19050"/>
              <a:ext cx="5277842" cy="564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39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562" u="none" cap="none" strike="noStrike">
                  <a:solidFill>
                    <a:srgbClr val="BFBFBF"/>
                  </a:solidFill>
                  <a:latin typeface="Arimo"/>
                  <a:ea typeface="Arimo"/>
                  <a:cs typeface="Arimo"/>
                  <a:sym typeface="Arimo"/>
                </a:rPr>
                <a:t>Optimización de Procesos</a:t>
              </a:r>
              <a:endParaRPr/>
            </a:p>
          </p:txBody>
        </p:sp>
      </p:grpSp>
      <p:grpSp>
        <p:nvGrpSpPr>
          <p:cNvPr id="387" name="Google Shape;387;p10"/>
          <p:cNvGrpSpPr/>
          <p:nvPr/>
        </p:nvGrpSpPr>
        <p:grpSpPr>
          <a:xfrm>
            <a:off x="8035529" y="3512344"/>
            <a:ext cx="9074944" cy="483096"/>
            <a:chOff x="0" y="-85725"/>
            <a:chExt cx="12099925" cy="644128"/>
          </a:xfrm>
        </p:grpSpPr>
        <p:sp>
          <p:nvSpPr>
            <p:cNvPr id="388" name="Google Shape;388;p10"/>
            <p:cNvSpPr/>
            <p:nvPr/>
          </p:nvSpPr>
          <p:spPr>
            <a:xfrm>
              <a:off x="0" y="0"/>
              <a:ext cx="12099925" cy="558403"/>
            </a:xfrm>
            <a:custGeom>
              <a:rect b="b" l="l" r="r" t="t"/>
              <a:pathLst>
                <a:path extrusionOk="0" h="558403" w="12099925">
                  <a:moveTo>
                    <a:pt x="0" y="0"/>
                  </a:moveTo>
                  <a:lnTo>
                    <a:pt x="12099925" y="0"/>
                  </a:lnTo>
                  <a:lnTo>
                    <a:pt x="12099925" y="558403"/>
                  </a:lnTo>
                  <a:lnTo>
                    <a:pt x="0" y="5584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89" name="Google Shape;389;p10"/>
            <p:cNvSpPr txBox="1"/>
            <p:nvPr/>
          </p:nvSpPr>
          <p:spPr>
            <a:xfrm>
              <a:off x="0" y="-85725"/>
              <a:ext cx="12099925" cy="6441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BFBFBF"/>
                  </a:solidFill>
                  <a:latin typeface="Open Sans"/>
                  <a:ea typeface="Open Sans"/>
                  <a:cs typeface="Open Sans"/>
                  <a:sym typeface="Open Sans"/>
                </a:rPr>
                <a:t>Simplifica operaciones al eliminar redundancias.</a:t>
              </a:r>
              <a:endParaRPr/>
            </a:p>
          </p:txBody>
        </p:sp>
      </p:grpSp>
      <p:sp>
        <p:nvSpPr>
          <p:cNvPr id="390" name="Google Shape;390;p10"/>
          <p:cNvSpPr/>
          <p:nvPr/>
        </p:nvSpPr>
        <p:spPr>
          <a:xfrm>
            <a:off x="7773889" y="4518720"/>
            <a:ext cx="9598247" cy="1507903"/>
          </a:xfrm>
          <a:custGeom>
            <a:rect b="b" l="l" r="r" t="t"/>
            <a:pathLst>
              <a:path extrusionOk="0" h="2010537" w="12797663">
                <a:moveTo>
                  <a:pt x="0" y="52324"/>
                </a:moveTo>
                <a:cubicBezTo>
                  <a:pt x="0" y="23368"/>
                  <a:pt x="23368" y="0"/>
                  <a:pt x="52324" y="0"/>
                </a:cubicBezTo>
                <a:lnTo>
                  <a:pt x="12745339" y="0"/>
                </a:lnTo>
                <a:cubicBezTo>
                  <a:pt x="12774295" y="0"/>
                  <a:pt x="12797663" y="23368"/>
                  <a:pt x="12797663" y="52324"/>
                </a:cubicBezTo>
                <a:lnTo>
                  <a:pt x="12797663" y="1958213"/>
                </a:lnTo>
                <a:cubicBezTo>
                  <a:pt x="12797663" y="1987169"/>
                  <a:pt x="12774295" y="2010537"/>
                  <a:pt x="12745339" y="2010537"/>
                </a:cubicBezTo>
                <a:lnTo>
                  <a:pt x="52324" y="2010537"/>
                </a:lnTo>
                <a:cubicBezTo>
                  <a:pt x="23368" y="2010537"/>
                  <a:pt x="0" y="1987169"/>
                  <a:pt x="0" y="1958213"/>
                </a:cubicBezTo>
                <a:close/>
              </a:path>
            </a:pathLst>
          </a:custGeom>
          <a:solidFill>
            <a:srgbClr val="3E3E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1" name="Google Shape;391;p10"/>
          <p:cNvGrpSpPr/>
          <p:nvPr/>
        </p:nvGrpSpPr>
        <p:grpSpPr>
          <a:xfrm>
            <a:off x="8035529" y="4766073"/>
            <a:ext cx="3271541" cy="423118"/>
            <a:chOff x="0" y="-19050"/>
            <a:chExt cx="4362054" cy="564158"/>
          </a:xfrm>
        </p:grpSpPr>
        <p:sp>
          <p:nvSpPr>
            <p:cNvPr id="392" name="Google Shape;392;p10"/>
            <p:cNvSpPr/>
            <p:nvPr/>
          </p:nvSpPr>
          <p:spPr>
            <a:xfrm>
              <a:off x="0" y="0"/>
              <a:ext cx="4362054" cy="545108"/>
            </a:xfrm>
            <a:custGeom>
              <a:rect b="b" l="l" r="r" t="t"/>
              <a:pathLst>
                <a:path extrusionOk="0" h="545108" w="4362054">
                  <a:moveTo>
                    <a:pt x="0" y="0"/>
                  </a:moveTo>
                  <a:lnTo>
                    <a:pt x="4362054" y="0"/>
                  </a:lnTo>
                  <a:lnTo>
                    <a:pt x="4362054" y="545108"/>
                  </a:lnTo>
                  <a:lnTo>
                    <a:pt x="0" y="5451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93" name="Google Shape;393;p10"/>
            <p:cNvSpPr txBox="1"/>
            <p:nvPr/>
          </p:nvSpPr>
          <p:spPr>
            <a:xfrm>
              <a:off x="0" y="-19050"/>
              <a:ext cx="4362053" cy="564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39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562" u="none" cap="none" strike="noStrike">
                  <a:solidFill>
                    <a:srgbClr val="BFBFBF"/>
                  </a:solidFill>
                  <a:latin typeface="Arimo"/>
                  <a:ea typeface="Arimo"/>
                  <a:cs typeface="Arimo"/>
                  <a:sym typeface="Arimo"/>
                </a:rPr>
                <a:t>Mejora Comunicativa</a:t>
              </a:r>
              <a:endParaRPr/>
            </a:p>
          </p:txBody>
        </p:sp>
      </p:grpSp>
      <p:grpSp>
        <p:nvGrpSpPr>
          <p:cNvPr id="394" name="Google Shape;394;p10"/>
          <p:cNvGrpSpPr/>
          <p:nvPr/>
        </p:nvGrpSpPr>
        <p:grpSpPr>
          <a:xfrm>
            <a:off x="8035529" y="5281910"/>
            <a:ext cx="9074944" cy="483097"/>
            <a:chOff x="0" y="-85725"/>
            <a:chExt cx="12099925" cy="644128"/>
          </a:xfrm>
        </p:grpSpPr>
        <p:sp>
          <p:nvSpPr>
            <p:cNvPr id="395" name="Google Shape;395;p10"/>
            <p:cNvSpPr/>
            <p:nvPr/>
          </p:nvSpPr>
          <p:spPr>
            <a:xfrm>
              <a:off x="0" y="0"/>
              <a:ext cx="12099925" cy="558403"/>
            </a:xfrm>
            <a:custGeom>
              <a:rect b="b" l="l" r="r" t="t"/>
              <a:pathLst>
                <a:path extrusionOk="0" h="558403" w="12099925">
                  <a:moveTo>
                    <a:pt x="0" y="0"/>
                  </a:moveTo>
                  <a:lnTo>
                    <a:pt x="12099925" y="0"/>
                  </a:lnTo>
                  <a:lnTo>
                    <a:pt x="12099925" y="558403"/>
                  </a:lnTo>
                  <a:lnTo>
                    <a:pt x="0" y="5584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96" name="Google Shape;396;p10"/>
            <p:cNvSpPr txBox="1"/>
            <p:nvPr/>
          </p:nvSpPr>
          <p:spPr>
            <a:xfrm>
              <a:off x="0" y="-85725"/>
              <a:ext cx="12099925" cy="6441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BFBFBF"/>
                  </a:solidFill>
                  <a:latin typeface="Open Sans"/>
                  <a:ea typeface="Open Sans"/>
                  <a:cs typeface="Open Sans"/>
                  <a:sym typeface="Open Sans"/>
                </a:rPr>
                <a:t>Facilita el flujo eficiente entre departamentos.</a:t>
              </a:r>
              <a:endParaRPr/>
            </a:p>
          </p:txBody>
        </p:sp>
      </p:grpSp>
      <p:sp>
        <p:nvSpPr>
          <p:cNvPr id="397" name="Google Shape;397;p10"/>
          <p:cNvSpPr/>
          <p:nvPr/>
        </p:nvSpPr>
        <p:spPr>
          <a:xfrm>
            <a:off x="7773889" y="6288286"/>
            <a:ext cx="9598247" cy="1507903"/>
          </a:xfrm>
          <a:custGeom>
            <a:rect b="b" l="l" r="r" t="t"/>
            <a:pathLst>
              <a:path extrusionOk="0" h="2010537" w="12797663">
                <a:moveTo>
                  <a:pt x="0" y="52324"/>
                </a:moveTo>
                <a:cubicBezTo>
                  <a:pt x="0" y="23368"/>
                  <a:pt x="23368" y="0"/>
                  <a:pt x="52324" y="0"/>
                </a:cubicBezTo>
                <a:lnTo>
                  <a:pt x="12745339" y="0"/>
                </a:lnTo>
                <a:cubicBezTo>
                  <a:pt x="12774295" y="0"/>
                  <a:pt x="12797663" y="23368"/>
                  <a:pt x="12797663" y="52324"/>
                </a:cubicBezTo>
                <a:lnTo>
                  <a:pt x="12797663" y="1958213"/>
                </a:lnTo>
                <a:cubicBezTo>
                  <a:pt x="12797663" y="1987169"/>
                  <a:pt x="12774295" y="2010537"/>
                  <a:pt x="12745339" y="2010537"/>
                </a:cubicBezTo>
                <a:lnTo>
                  <a:pt x="52324" y="2010537"/>
                </a:lnTo>
                <a:cubicBezTo>
                  <a:pt x="23368" y="2010537"/>
                  <a:pt x="0" y="1987169"/>
                  <a:pt x="0" y="1958213"/>
                </a:cubicBezTo>
                <a:close/>
              </a:path>
            </a:pathLst>
          </a:custGeom>
          <a:solidFill>
            <a:srgbClr val="3E3E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8" name="Google Shape;398;p10"/>
          <p:cNvGrpSpPr/>
          <p:nvPr/>
        </p:nvGrpSpPr>
        <p:grpSpPr>
          <a:xfrm>
            <a:off x="8035529" y="6535639"/>
            <a:ext cx="3271541" cy="423119"/>
            <a:chOff x="0" y="-19050"/>
            <a:chExt cx="4362054" cy="564158"/>
          </a:xfrm>
        </p:grpSpPr>
        <p:sp>
          <p:nvSpPr>
            <p:cNvPr id="399" name="Google Shape;399;p10"/>
            <p:cNvSpPr/>
            <p:nvPr/>
          </p:nvSpPr>
          <p:spPr>
            <a:xfrm>
              <a:off x="0" y="0"/>
              <a:ext cx="4362054" cy="545108"/>
            </a:xfrm>
            <a:custGeom>
              <a:rect b="b" l="l" r="r" t="t"/>
              <a:pathLst>
                <a:path extrusionOk="0" h="545108" w="4362054">
                  <a:moveTo>
                    <a:pt x="0" y="0"/>
                  </a:moveTo>
                  <a:lnTo>
                    <a:pt x="4362054" y="0"/>
                  </a:lnTo>
                  <a:lnTo>
                    <a:pt x="4362054" y="545108"/>
                  </a:lnTo>
                  <a:lnTo>
                    <a:pt x="0" y="5451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00" name="Google Shape;400;p10"/>
            <p:cNvSpPr txBox="1"/>
            <p:nvPr/>
          </p:nvSpPr>
          <p:spPr>
            <a:xfrm>
              <a:off x="0" y="-19050"/>
              <a:ext cx="4362053" cy="564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39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562" u="none" cap="none" strike="noStrike">
                  <a:solidFill>
                    <a:srgbClr val="BFBFBF"/>
                  </a:solidFill>
                  <a:latin typeface="Arimo"/>
                  <a:ea typeface="Arimo"/>
                  <a:cs typeface="Arimo"/>
                  <a:sym typeface="Arimo"/>
                </a:rPr>
                <a:t>Conocimiento Útil</a:t>
              </a:r>
              <a:endParaRPr/>
            </a:p>
          </p:txBody>
        </p:sp>
      </p:grpSp>
      <p:grpSp>
        <p:nvGrpSpPr>
          <p:cNvPr id="401" name="Google Shape;401;p10"/>
          <p:cNvGrpSpPr/>
          <p:nvPr/>
        </p:nvGrpSpPr>
        <p:grpSpPr>
          <a:xfrm>
            <a:off x="8035529" y="7051476"/>
            <a:ext cx="9074944" cy="483096"/>
            <a:chOff x="0" y="-85725"/>
            <a:chExt cx="12099925" cy="644128"/>
          </a:xfrm>
        </p:grpSpPr>
        <p:sp>
          <p:nvSpPr>
            <p:cNvPr id="402" name="Google Shape;402;p10"/>
            <p:cNvSpPr/>
            <p:nvPr/>
          </p:nvSpPr>
          <p:spPr>
            <a:xfrm>
              <a:off x="0" y="0"/>
              <a:ext cx="12099925" cy="558403"/>
            </a:xfrm>
            <a:custGeom>
              <a:rect b="b" l="l" r="r" t="t"/>
              <a:pathLst>
                <a:path extrusionOk="0" h="558403" w="12099925">
                  <a:moveTo>
                    <a:pt x="0" y="0"/>
                  </a:moveTo>
                  <a:lnTo>
                    <a:pt x="12099925" y="0"/>
                  </a:lnTo>
                  <a:lnTo>
                    <a:pt x="12099925" y="558403"/>
                  </a:lnTo>
                  <a:lnTo>
                    <a:pt x="0" y="5584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03" name="Google Shape;403;p10"/>
            <p:cNvSpPr txBox="1"/>
            <p:nvPr/>
          </p:nvSpPr>
          <p:spPr>
            <a:xfrm>
              <a:off x="0" y="-85725"/>
              <a:ext cx="12099925" cy="6441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BFBFBF"/>
                  </a:solidFill>
                  <a:latin typeface="Open Sans"/>
                  <a:ea typeface="Open Sans"/>
                  <a:cs typeface="Open Sans"/>
                  <a:sym typeface="Open Sans"/>
                </a:rPr>
                <a:t>Transforma datos en decisiones estratégicas.</a:t>
              </a:r>
              <a:endParaRPr/>
            </a:p>
          </p:txBody>
        </p:sp>
      </p:grpSp>
      <p:sp>
        <p:nvSpPr>
          <p:cNvPr id="404" name="Google Shape;404;p10"/>
          <p:cNvSpPr/>
          <p:nvPr/>
        </p:nvSpPr>
        <p:spPr>
          <a:xfrm>
            <a:off x="7773889" y="8057852"/>
            <a:ext cx="9598247" cy="1507903"/>
          </a:xfrm>
          <a:custGeom>
            <a:rect b="b" l="l" r="r" t="t"/>
            <a:pathLst>
              <a:path extrusionOk="0" h="2010537" w="12797663">
                <a:moveTo>
                  <a:pt x="0" y="52324"/>
                </a:moveTo>
                <a:cubicBezTo>
                  <a:pt x="0" y="23368"/>
                  <a:pt x="23368" y="0"/>
                  <a:pt x="52324" y="0"/>
                </a:cubicBezTo>
                <a:lnTo>
                  <a:pt x="12745339" y="0"/>
                </a:lnTo>
                <a:cubicBezTo>
                  <a:pt x="12774295" y="0"/>
                  <a:pt x="12797663" y="23368"/>
                  <a:pt x="12797663" y="52324"/>
                </a:cubicBezTo>
                <a:lnTo>
                  <a:pt x="12797663" y="1958213"/>
                </a:lnTo>
                <a:cubicBezTo>
                  <a:pt x="12797663" y="1987169"/>
                  <a:pt x="12774295" y="2010537"/>
                  <a:pt x="12745339" y="2010537"/>
                </a:cubicBezTo>
                <a:lnTo>
                  <a:pt x="52324" y="2010537"/>
                </a:lnTo>
                <a:cubicBezTo>
                  <a:pt x="23368" y="2010537"/>
                  <a:pt x="0" y="1987169"/>
                  <a:pt x="0" y="1958213"/>
                </a:cubicBezTo>
                <a:close/>
              </a:path>
            </a:pathLst>
          </a:custGeom>
          <a:solidFill>
            <a:srgbClr val="3E3E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5" name="Google Shape;405;p10"/>
          <p:cNvGrpSpPr/>
          <p:nvPr/>
        </p:nvGrpSpPr>
        <p:grpSpPr>
          <a:xfrm>
            <a:off x="8035529" y="8305205"/>
            <a:ext cx="3271541" cy="423118"/>
            <a:chOff x="0" y="-19050"/>
            <a:chExt cx="4362054" cy="564158"/>
          </a:xfrm>
        </p:grpSpPr>
        <p:sp>
          <p:nvSpPr>
            <p:cNvPr id="406" name="Google Shape;406;p10"/>
            <p:cNvSpPr/>
            <p:nvPr/>
          </p:nvSpPr>
          <p:spPr>
            <a:xfrm>
              <a:off x="0" y="0"/>
              <a:ext cx="4362054" cy="545108"/>
            </a:xfrm>
            <a:custGeom>
              <a:rect b="b" l="l" r="r" t="t"/>
              <a:pathLst>
                <a:path extrusionOk="0" h="545108" w="4362054">
                  <a:moveTo>
                    <a:pt x="0" y="0"/>
                  </a:moveTo>
                  <a:lnTo>
                    <a:pt x="4362054" y="0"/>
                  </a:lnTo>
                  <a:lnTo>
                    <a:pt x="4362054" y="545108"/>
                  </a:lnTo>
                  <a:lnTo>
                    <a:pt x="0" y="5451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07" name="Google Shape;407;p10"/>
            <p:cNvSpPr txBox="1"/>
            <p:nvPr/>
          </p:nvSpPr>
          <p:spPr>
            <a:xfrm>
              <a:off x="0" y="-19050"/>
              <a:ext cx="4362053" cy="564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39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562" u="none" cap="none" strike="noStrike">
                  <a:solidFill>
                    <a:srgbClr val="BFBFBF"/>
                  </a:solidFill>
                  <a:latin typeface="Arimo"/>
                  <a:ea typeface="Arimo"/>
                  <a:cs typeface="Arimo"/>
                  <a:sym typeface="Arimo"/>
                </a:rPr>
                <a:t>Trabajo Colaborativo</a:t>
              </a:r>
              <a:endParaRPr/>
            </a:p>
          </p:txBody>
        </p:sp>
      </p:grpSp>
      <p:grpSp>
        <p:nvGrpSpPr>
          <p:cNvPr id="408" name="Google Shape;408;p10"/>
          <p:cNvGrpSpPr/>
          <p:nvPr/>
        </p:nvGrpSpPr>
        <p:grpSpPr>
          <a:xfrm>
            <a:off x="8035529" y="8821042"/>
            <a:ext cx="9074944" cy="483097"/>
            <a:chOff x="0" y="-85725"/>
            <a:chExt cx="12099925" cy="644128"/>
          </a:xfrm>
        </p:grpSpPr>
        <p:sp>
          <p:nvSpPr>
            <p:cNvPr id="409" name="Google Shape;409;p10"/>
            <p:cNvSpPr/>
            <p:nvPr/>
          </p:nvSpPr>
          <p:spPr>
            <a:xfrm>
              <a:off x="0" y="0"/>
              <a:ext cx="12099925" cy="558403"/>
            </a:xfrm>
            <a:custGeom>
              <a:rect b="b" l="l" r="r" t="t"/>
              <a:pathLst>
                <a:path extrusionOk="0" h="558403" w="12099925">
                  <a:moveTo>
                    <a:pt x="0" y="0"/>
                  </a:moveTo>
                  <a:lnTo>
                    <a:pt x="12099925" y="0"/>
                  </a:lnTo>
                  <a:lnTo>
                    <a:pt x="12099925" y="558403"/>
                  </a:lnTo>
                  <a:lnTo>
                    <a:pt x="0" y="5584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10" name="Google Shape;410;p10"/>
            <p:cNvSpPr txBox="1"/>
            <p:nvPr/>
          </p:nvSpPr>
          <p:spPr>
            <a:xfrm>
              <a:off x="0" y="-85725"/>
              <a:ext cx="12099925" cy="6441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BFBFBF"/>
                  </a:solidFill>
                  <a:latin typeface="Open Sans"/>
                  <a:ea typeface="Open Sans"/>
                  <a:cs typeface="Open Sans"/>
                  <a:sym typeface="Open Sans"/>
                </a:rPr>
                <a:t>Aumenta productividad y sinergias internas.</a:t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20" name="Google Shape;420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F1F1F"/>
          </a:solidFill>
          <a:ln>
            <a:noFill/>
          </a:ln>
        </p:spPr>
      </p:sp>
      <p:grpSp>
        <p:nvGrpSpPr>
          <p:cNvPr id="421" name="Google Shape;421;p11"/>
          <p:cNvGrpSpPr/>
          <p:nvPr/>
        </p:nvGrpSpPr>
        <p:grpSpPr>
          <a:xfrm>
            <a:off x="992238" y="2834580"/>
            <a:ext cx="12879586" cy="928837"/>
            <a:chOff x="0" y="-57150"/>
            <a:chExt cx="17172782" cy="1238448"/>
          </a:xfrm>
        </p:grpSpPr>
        <p:sp>
          <p:nvSpPr>
            <p:cNvPr id="422" name="Google Shape;422;p11"/>
            <p:cNvSpPr/>
            <p:nvPr/>
          </p:nvSpPr>
          <p:spPr>
            <a:xfrm>
              <a:off x="0" y="0"/>
              <a:ext cx="17172781" cy="1181298"/>
            </a:xfrm>
            <a:custGeom>
              <a:rect b="b" l="l" r="r" t="t"/>
              <a:pathLst>
                <a:path extrusionOk="0" h="1181298" w="17172781">
                  <a:moveTo>
                    <a:pt x="0" y="0"/>
                  </a:moveTo>
                  <a:lnTo>
                    <a:pt x="17172781" y="0"/>
                  </a:lnTo>
                  <a:lnTo>
                    <a:pt x="17172781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23" name="Google Shape;423;p11"/>
            <p:cNvSpPr txBox="1"/>
            <p:nvPr/>
          </p:nvSpPr>
          <p:spPr>
            <a:xfrm>
              <a:off x="0" y="-57150"/>
              <a:ext cx="17172782" cy="12384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7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562" u="none" cap="none" strike="noStrike">
                  <a:solidFill>
                    <a:srgbClr val="FEFEFE"/>
                  </a:solidFill>
                  <a:latin typeface="Arimo"/>
                  <a:ea typeface="Arimo"/>
                  <a:cs typeface="Arimo"/>
                  <a:sym typeface="Arimo"/>
                </a:rPr>
                <a:t>Herramientas y Desafíos de Integración</a:t>
              </a:r>
              <a:endParaRPr/>
            </a:p>
          </p:txBody>
        </p:sp>
      </p:grpSp>
      <p:grpSp>
        <p:nvGrpSpPr>
          <p:cNvPr id="424" name="Google Shape;424;p11"/>
          <p:cNvGrpSpPr/>
          <p:nvPr/>
        </p:nvGrpSpPr>
        <p:grpSpPr>
          <a:xfrm>
            <a:off x="992238" y="4443561"/>
            <a:ext cx="3544044" cy="471487"/>
            <a:chOff x="0" y="-38100"/>
            <a:chExt cx="4725392" cy="628650"/>
          </a:xfrm>
        </p:grpSpPr>
        <p:sp>
          <p:nvSpPr>
            <p:cNvPr id="425" name="Google Shape;425;p11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26" name="Google Shape;426;p11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FEFEFE"/>
                  </a:solidFill>
                  <a:latin typeface="Arimo"/>
                  <a:ea typeface="Arimo"/>
                  <a:cs typeface="Arimo"/>
                  <a:sym typeface="Arimo"/>
                </a:rPr>
                <a:t>Herramientas Clave</a:t>
              </a:r>
              <a:endParaRPr/>
            </a:p>
          </p:txBody>
        </p:sp>
      </p:grpSp>
      <p:grpSp>
        <p:nvGrpSpPr>
          <p:cNvPr id="427" name="Google Shape;427;p11"/>
          <p:cNvGrpSpPr/>
          <p:nvPr/>
        </p:nvGrpSpPr>
        <p:grpSpPr>
          <a:xfrm>
            <a:off x="992238" y="5134272"/>
            <a:ext cx="7805886" cy="517923"/>
            <a:chOff x="0" y="-85725"/>
            <a:chExt cx="10407848" cy="690563"/>
          </a:xfrm>
        </p:grpSpPr>
        <p:sp>
          <p:nvSpPr>
            <p:cNvPr id="428" name="Google Shape;428;p11"/>
            <p:cNvSpPr/>
            <p:nvPr/>
          </p:nvSpPr>
          <p:spPr>
            <a:xfrm>
              <a:off x="0" y="0"/>
              <a:ext cx="10407848" cy="604838"/>
            </a:xfrm>
            <a:custGeom>
              <a:rect b="b" l="l" r="r" t="t"/>
              <a:pathLst>
                <a:path extrusionOk="0" h="604838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29" name="Google Shape;429;p11"/>
            <p:cNvSpPr txBox="1"/>
            <p:nvPr/>
          </p:nvSpPr>
          <p:spPr>
            <a:xfrm>
              <a:off x="0" y="-85725"/>
              <a:ext cx="10407848" cy="690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64951" lvl="1" marL="329902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2187"/>
                <a:buFont typeface="Arial"/>
                <a:buChar char="•"/>
              </a:pPr>
              <a:r>
                <a:rPr b="0" i="0" lang="en-US" sz="2187" u="none" cap="none" strike="noStrike">
                  <a:solidFill>
                    <a:srgbClr val="BFBFBF"/>
                  </a:solidFill>
                  <a:latin typeface="Open Sans"/>
                  <a:ea typeface="Open Sans"/>
                  <a:cs typeface="Open Sans"/>
                  <a:sym typeface="Open Sans"/>
                </a:rPr>
                <a:t>APIs sofisticadas</a:t>
              </a:r>
              <a:endParaRPr/>
            </a:p>
          </p:txBody>
        </p:sp>
      </p:grpSp>
      <p:grpSp>
        <p:nvGrpSpPr>
          <p:cNvPr id="430" name="Google Shape;430;p11"/>
          <p:cNvGrpSpPr/>
          <p:nvPr/>
        </p:nvGrpSpPr>
        <p:grpSpPr>
          <a:xfrm>
            <a:off x="992238" y="5687020"/>
            <a:ext cx="7805886" cy="517923"/>
            <a:chOff x="0" y="-85725"/>
            <a:chExt cx="10407848" cy="690563"/>
          </a:xfrm>
        </p:grpSpPr>
        <p:sp>
          <p:nvSpPr>
            <p:cNvPr id="431" name="Google Shape;431;p11"/>
            <p:cNvSpPr/>
            <p:nvPr/>
          </p:nvSpPr>
          <p:spPr>
            <a:xfrm>
              <a:off x="0" y="0"/>
              <a:ext cx="10407848" cy="604838"/>
            </a:xfrm>
            <a:custGeom>
              <a:rect b="b" l="l" r="r" t="t"/>
              <a:pathLst>
                <a:path extrusionOk="0" h="604838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32" name="Google Shape;432;p11"/>
            <p:cNvSpPr txBox="1"/>
            <p:nvPr/>
          </p:nvSpPr>
          <p:spPr>
            <a:xfrm>
              <a:off x="0" y="-85725"/>
              <a:ext cx="10407848" cy="690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64951" lvl="1" marL="329902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2187"/>
                <a:buFont typeface="Arial"/>
                <a:buChar char="•"/>
              </a:pPr>
              <a:r>
                <a:rPr b="0" i="0" lang="en-US" sz="2187" u="none" cap="none" strike="noStrike">
                  <a:solidFill>
                    <a:srgbClr val="BFBFBF"/>
                  </a:solidFill>
                  <a:latin typeface="Open Sans"/>
                  <a:ea typeface="Open Sans"/>
                  <a:cs typeface="Open Sans"/>
                  <a:sym typeface="Open Sans"/>
                </a:rPr>
                <a:t>Middleware empresarial</a:t>
              </a:r>
              <a:endParaRPr/>
            </a:p>
          </p:txBody>
        </p:sp>
      </p:grpSp>
      <p:grpSp>
        <p:nvGrpSpPr>
          <p:cNvPr id="433" name="Google Shape;433;p11"/>
          <p:cNvGrpSpPr/>
          <p:nvPr/>
        </p:nvGrpSpPr>
        <p:grpSpPr>
          <a:xfrm>
            <a:off x="992238" y="6239767"/>
            <a:ext cx="7805886" cy="517923"/>
            <a:chOff x="0" y="-85725"/>
            <a:chExt cx="10407848" cy="690563"/>
          </a:xfrm>
        </p:grpSpPr>
        <p:sp>
          <p:nvSpPr>
            <p:cNvPr id="434" name="Google Shape;434;p11"/>
            <p:cNvSpPr/>
            <p:nvPr/>
          </p:nvSpPr>
          <p:spPr>
            <a:xfrm>
              <a:off x="0" y="0"/>
              <a:ext cx="10407848" cy="604838"/>
            </a:xfrm>
            <a:custGeom>
              <a:rect b="b" l="l" r="r" t="t"/>
              <a:pathLst>
                <a:path extrusionOk="0" h="604838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35" name="Google Shape;435;p11"/>
            <p:cNvSpPr txBox="1"/>
            <p:nvPr/>
          </p:nvSpPr>
          <p:spPr>
            <a:xfrm>
              <a:off x="0" y="-85725"/>
              <a:ext cx="10407848" cy="690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64951" lvl="1" marL="329902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2187"/>
                <a:buFont typeface="Arial"/>
                <a:buChar char="•"/>
              </a:pPr>
              <a:r>
                <a:rPr b="0" i="0" lang="en-US" sz="2187" u="none" cap="none" strike="noStrike">
                  <a:solidFill>
                    <a:srgbClr val="BFBFBF"/>
                  </a:solidFill>
                  <a:latin typeface="Open Sans"/>
                  <a:ea typeface="Open Sans"/>
                  <a:cs typeface="Open Sans"/>
                  <a:sym typeface="Open Sans"/>
                </a:rPr>
                <a:t>Plataformas integradoras</a:t>
              </a:r>
              <a:endParaRPr/>
            </a:p>
          </p:txBody>
        </p:sp>
      </p:grpSp>
      <p:grpSp>
        <p:nvGrpSpPr>
          <p:cNvPr id="436" name="Google Shape;436;p11"/>
          <p:cNvGrpSpPr/>
          <p:nvPr/>
        </p:nvGrpSpPr>
        <p:grpSpPr>
          <a:xfrm>
            <a:off x="9499401" y="4443561"/>
            <a:ext cx="3544044" cy="471487"/>
            <a:chOff x="0" y="-38100"/>
            <a:chExt cx="4725392" cy="628650"/>
          </a:xfrm>
        </p:grpSpPr>
        <p:sp>
          <p:nvSpPr>
            <p:cNvPr id="437" name="Google Shape;437;p11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38" name="Google Shape;438;p11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FEFEFE"/>
                  </a:solidFill>
                  <a:latin typeface="Arimo"/>
                  <a:ea typeface="Arimo"/>
                  <a:cs typeface="Arimo"/>
                  <a:sym typeface="Arimo"/>
                </a:rPr>
                <a:t>Desafíos</a:t>
              </a:r>
              <a:endParaRPr/>
            </a:p>
          </p:txBody>
        </p:sp>
      </p:grpSp>
      <p:grpSp>
        <p:nvGrpSpPr>
          <p:cNvPr id="439" name="Google Shape;439;p11"/>
          <p:cNvGrpSpPr/>
          <p:nvPr/>
        </p:nvGrpSpPr>
        <p:grpSpPr>
          <a:xfrm>
            <a:off x="9499401" y="5134272"/>
            <a:ext cx="7805886" cy="517923"/>
            <a:chOff x="0" y="-85725"/>
            <a:chExt cx="10407848" cy="690563"/>
          </a:xfrm>
        </p:grpSpPr>
        <p:sp>
          <p:nvSpPr>
            <p:cNvPr id="440" name="Google Shape;440;p11"/>
            <p:cNvSpPr/>
            <p:nvPr/>
          </p:nvSpPr>
          <p:spPr>
            <a:xfrm>
              <a:off x="0" y="0"/>
              <a:ext cx="10407848" cy="604838"/>
            </a:xfrm>
            <a:custGeom>
              <a:rect b="b" l="l" r="r" t="t"/>
              <a:pathLst>
                <a:path extrusionOk="0" h="604838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41" name="Google Shape;441;p11"/>
            <p:cNvSpPr txBox="1"/>
            <p:nvPr/>
          </p:nvSpPr>
          <p:spPr>
            <a:xfrm>
              <a:off x="0" y="-85725"/>
              <a:ext cx="10407848" cy="690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64951" lvl="1" marL="329902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2187"/>
                <a:buFont typeface="Arial"/>
                <a:buChar char="•"/>
              </a:pPr>
              <a:r>
                <a:rPr b="0" i="0" lang="en-US" sz="2187" u="none" cap="none" strike="noStrike">
                  <a:solidFill>
                    <a:srgbClr val="BFBFBF"/>
                  </a:solidFill>
                  <a:latin typeface="Open Sans"/>
                  <a:ea typeface="Open Sans"/>
                  <a:cs typeface="Open Sans"/>
                  <a:sym typeface="Open Sans"/>
                </a:rPr>
                <a:t>Compatibilidad entre sistemas</a:t>
              </a:r>
              <a:endParaRPr/>
            </a:p>
          </p:txBody>
        </p:sp>
      </p:grpSp>
      <p:grpSp>
        <p:nvGrpSpPr>
          <p:cNvPr id="442" name="Google Shape;442;p11"/>
          <p:cNvGrpSpPr/>
          <p:nvPr/>
        </p:nvGrpSpPr>
        <p:grpSpPr>
          <a:xfrm>
            <a:off x="9499401" y="5687020"/>
            <a:ext cx="7805886" cy="517923"/>
            <a:chOff x="0" y="-85725"/>
            <a:chExt cx="10407848" cy="690563"/>
          </a:xfrm>
        </p:grpSpPr>
        <p:sp>
          <p:nvSpPr>
            <p:cNvPr id="443" name="Google Shape;443;p11"/>
            <p:cNvSpPr/>
            <p:nvPr/>
          </p:nvSpPr>
          <p:spPr>
            <a:xfrm>
              <a:off x="0" y="0"/>
              <a:ext cx="10407848" cy="604838"/>
            </a:xfrm>
            <a:custGeom>
              <a:rect b="b" l="l" r="r" t="t"/>
              <a:pathLst>
                <a:path extrusionOk="0" h="604838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44" name="Google Shape;444;p11"/>
            <p:cNvSpPr txBox="1"/>
            <p:nvPr/>
          </p:nvSpPr>
          <p:spPr>
            <a:xfrm>
              <a:off x="0" y="-85725"/>
              <a:ext cx="10407848" cy="690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64951" lvl="1" marL="329902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2187"/>
                <a:buFont typeface="Arial"/>
                <a:buChar char="•"/>
              </a:pPr>
              <a:r>
                <a:rPr b="0" i="0" lang="en-US" sz="2187" u="none" cap="none" strike="noStrike">
                  <a:solidFill>
                    <a:srgbClr val="BFBFBF"/>
                  </a:solidFill>
                  <a:latin typeface="Open Sans"/>
                  <a:ea typeface="Open Sans"/>
                  <a:cs typeface="Open Sans"/>
                  <a:sym typeface="Open Sans"/>
                </a:rPr>
                <a:t>Seguridad de datos crítica</a:t>
              </a:r>
              <a:endParaRPr/>
            </a:p>
          </p:txBody>
        </p:sp>
      </p:grpSp>
      <p:grpSp>
        <p:nvGrpSpPr>
          <p:cNvPr id="445" name="Google Shape;445;p11"/>
          <p:cNvGrpSpPr/>
          <p:nvPr/>
        </p:nvGrpSpPr>
        <p:grpSpPr>
          <a:xfrm>
            <a:off x="9499401" y="6239767"/>
            <a:ext cx="7805886" cy="517923"/>
            <a:chOff x="0" y="-85725"/>
            <a:chExt cx="10407848" cy="690563"/>
          </a:xfrm>
        </p:grpSpPr>
        <p:sp>
          <p:nvSpPr>
            <p:cNvPr id="446" name="Google Shape;446;p11"/>
            <p:cNvSpPr/>
            <p:nvPr/>
          </p:nvSpPr>
          <p:spPr>
            <a:xfrm>
              <a:off x="0" y="0"/>
              <a:ext cx="10407848" cy="604838"/>
            </a:xfrm>
            <a:custGeom>
              <a:rect b="b" l="l" r="r" t="t"/>
              <a:pathLst>
                <a:path extrusionOk="0" h="604838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47" name="Google Shape;447;p11"/>
            <p:cNvSpPr txBox="1"/>
            <p:nvPr/>
          </p:nvSpPr>
          <p:spPr>
            <a:xfrm>
              <a:off x="0" y="-85725"/>
              <a:ext cx="10407848" cy="690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64951" lvl="1" marL="329902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2187"/>
                <a:buFont typeface="Arial"/>
                <a:buChar char="•"/>
              </a:pPr>
              <a:r>
                <a:rPr b="0" i="0" lang="en-US" sz="2187" u="none" cap="none" strike="noStrike">
                  <a:solidFill>
                    <a:srgbClr val="BFBFBF"/>
                  </a:solidFill>
                  <a:latin typeface="Open Sans"/>
                  <a:ea typeface="Open Sans"/>
                  <a:cs typeface="Open Sans"/>
                  <a:sym typeface="Open Sans"/>
                </a:rPr>
                <a:t>Resistencia al cambio</a:t>
              </a:r>
              <a:endParaRPr/>
            </a:p>
          </p:txBody>
        </p:sp>
      </p:grpSp>
      <p:grpSp>
        <p:nvGrpSpPr>
          <p:cNvPr id="448" name="Google Shape;448;p11"/>
          <p:cNvGrpSpPr/>
          <p:nvPr/>
        </p:nvGrpSpPr>
        <p:grpSpPr>
          <a:xfrm>
            <a:off x="9499401" y="6792516"/>
            <a:ext cx="7805886" cy="517923"/>
            <a:chOff x="0" y="-85725"/>
            <a:chExt cx="10407848" cy="690563"/>
          </a:xfrm>
        </p:grpSpPr>
        <p:sp>
          <p:nvSpPr>
            <p:cNvPr id="449" name="Google Shape;449;p11"/>
            <p:cNvSpPr/>
            <p:nvPr/>
          </p:nvSpPr>
          <p:spPr>
            <a:xfrm>
              <a:off x="0" y="0"/>
              <a:ext cx="10407848" cy="604838"/>
            </a:xfrm>
            <a:custGeom>
              <a:rect b="b" l="l" r="r" t="t"/>
              <a:pathLst>
                <a:path extrusionOk="0" h="604838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50" name="Google Shape;450;p11"/>
            <p:cNvSpPr txBox="1"/>
            <p:nvPr/>
          </p:nvSpPr>
          <p:spPr>
            <a:xfrm>
              <a:off x="0" y="-85725"/>
              <a:ext cx="10407848" cy="690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64951" lvl="1" marL="329902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2187"/>
                <a:buFont typeface="Arial"/>
                <a:buChar char="•"/>
              </a:pPr>
              <a:r>
                <a:rPr b="0" i="0" lang="en-US" sz="2187" u="none" cap="none" strike="noStrike">
                  <a:solidFill>
                    <a:srgbClr val="BFBFBF"/>
                  </a:solidFill>
                  <a:latin typeface="Open Sans"/>
                  <a:ea typeface="Open Sans"/>
                  <a:cs typeface="Open Sans"/>
                  <a:sym typeface="Open Sans"/>
                </a:rPr>
                <a:t>Costos de implementación</a:t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60" name="Google Shape;460;p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F1F1F"/>
          </a:solidFill>
          <a:ln>
            <a:noFill/>
          </a:ln>
        </p:spPr>
      </p:sp>
      <p:sp>
        <p:nvSpPr>
          <p:cNvPr descr="preencoded.png" id="461" name="Google Shape;461;p12"/>
          <p:cNvSpPr/>
          <p:nvPr/>
        </p:nvSpPr>
        <p:spPr>
          <a:xfrm>
            <a:off x="11449050" y="120551"/>
            <a:ext cx="6858000" cy="10287000"/>
          </a:xfrm>
          <a:custGeom>
            <a:rect b="b" l="l" r="r" t="t"/>
            <a:pathLst>
              <a:path extrusionOk="0"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eencoded.png" id="462" name="Google Shape;462;p12"/>
          <p:cNvSpPr/>
          <p:nvPr/>
        </p:nvSpPr>
        <p:spPr>
          <a:xfrm>
            <a:off x="11775132" y="3087589"/>
            <a:ext cx="6167735" cy="4111824"/>
          </a:xfrm>
          <a:custGeom>
            <a:rect b="b" l="l" r="r" t="t"/>
            <a:pathLst>
              <a:path extrusionOk="0" h="4111824" w="6167735">
                <a:moveTo>
                  <a:pt x="0" y="0"/>
                </a:moveTo>
                <a:lnTo>
                  <a:pt x="6167736" y="0"/>
                </a:lnTo>
                <a:lnTo>
                  <a:pt x="6167736" y="4111823"/>
                </a:lnTo>
                <a:lnTo>
                  <a:pt x="0" y="41118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63" name="Google Shape;463;p12"/>
          <p:cNvGrpSpPr/>
          <p:nvPr/>
        </p:nvGrpSpPr>
        <p:grpSpPr>
          <a:xfrm>
            <a:off x="966341" y="717648"/>
            <a:ext cx="9497317" cy="1768377"/>
            <a:chOff x="0" y="-57150"/>
            <a:chExt cx="12663090" cy="2357835"/>
          </a:xfrm>
        </p:grpSpPr>
        <p:sp>
          <p:nvSpPr>
            <p:cNvPr id="464" name="Google Shape;464;p12"/>
            <p:cNvSpPr/>
            <p:nvPr/>
          </p:nvSpPr>
          <p:spPr>
            <a:xfrm>
              <a:off x="0" y="0"/>
              <a:ext cx="12663090" cy="2300685"/>
            </a:xfrm>
            <a:custGeom>
              <a:rect b="b" l="l" r="r" t="t"/>
              <a:pathLst>
                <a:path extrusionOk="0" h="2300685" w="12663090">
                  <a:moveTo>
                    <a:pt x="0" y="0"/>
                  </a:moveTo>
                  <a:lnTo>
                    <a:pt x="12663090" y="0"/>
                  </a:lnTo>
                  <a:lnTo>
                    <a:pt x="12663090" y="2300685"/>
                  </a:lnTo>
                  <a:lnTo>
                    <a:pt x="0" y="23006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65" name="Google Shape;465;p12"/>
            <p:cNvSpPr txBox="1"/>
            <p:nvPr/>
          </p:nvSpPr>
          <p:spPr>
            <a:xfrm>
              <a:off x="0" y="-57150"/>
              <a:ext cx="12663090" cy="23578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5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374" u="none" cap="none" strike="noStrike">
                  <a:solidFill>
                    <a:srgbClr val="FEFEFE"/>
                  </a:solidFill>
                  <a:latin typeface="Arimo"/>
                  <a:ea typeface="Arimo"/>
                  <a:cs typeface="Arimo"/>
                  <a:sym typeface="Arimo"/>
                </a:rPr>
                <a:t>Impacto en la Eficiencia Organizacional</a:t>
              </a:r>
              <a:endParaRPr/>
            </a:p>
          </p:txBody>
        </p:sp>
      </p:grpSp>
      <p:sp>
        <p:nvSpPr>
          <p:cNvPr descr="preencoded.png" id="466" name="Google Shape;466;p12"/>
          <p:cNvSpPr/>
          <p:nvPr/>
        </p:nvSpPr>
        <p:spPr>
          <a:xfrm>
            <a:off x="966341" y="2900065"/>
            <a:ext cx="1380530" cy="1656606"/>
          </a:xfrm>
          <a:custGeom>
            <a:rect b="b" l="l" r="r" t="t"/>
            <a:pathLst>
              <a:path extrusionOk="0" h="1656606" w="1380530">
                <a:moveTo>
                  <a:pt x="0" y="0"/>
                </a:moveTo>
                <a:lnTo>
                  <a:pt x="1380530" y="0"/>
                </a:lnTo>
                <a:lnTo>
                  <a:pt x="1380530" y="1656606"/>
                </a:lnTo>
                <a:lnTo>
                  <a:pt x="0" y="16566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67" name="Google Shape;467;p12"/>
          <p:cNvGrpSpPr/>
          <p:nvPr/>
        </p:nvGrpSpPr>
        <p:grpSpPr>
          <a:xfrm>
            <a:off x="2760910" y="3154710"/>
            <a:ext cx="3451472" cy="452735"/>
            <a:chOff x="0" y="-28575"/>
            <a:chExt cx="4601963" cy="603647"/>
          </a:xfrm>
        </p:grpSpPr>
        <p:sp>
          <p:nvSpPr>
            <p:cNvPr id="468" name="Google Shape;468;p12"/>
            <p:cNvSpPr/>
            <p:nvPr/>
          </p:nvSpPr>
          <p:spPr>
            <a:xfrm>
              <a:off x="0" y="0"/>
              <a:ext cx="4601963" cy="575072"/>
            </a:xfrm>
            <a:custGeom>
              <a:rect b="b" l="l" r="r" t="t"/>
              <a:pathLst>
                <a:path extrusionOk="0" h="575072" w="4601963">
                  <a:moveTo>
                    <a:pt x="0" y="0"/>
                  </a:moveTo>
                  <a:lnTo>
                    <a:pt x="4601963" y="0"/>
                  </a:lnTo>
                  <a:lnTo>
                    <a:pt x="4601963" y="575072"/>
                  </a:lnTo>
                  <a:lnTo>
                    <a:pt x="0" y="5750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69" name="Google Shape;469;p12"/>
            <p:cNvSpPr txBox="1"/>
            <p:nvPr/>
          </p:nvSpPr>
          <p:spPr>
            <a:xfrm>
              <a:off x="0" y="-28575"/>
              <a:ext cx="4601963" cy="6036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56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87" u="none" cap="none" strike="noStrike">
                  <a:solidFill>
                    <a:srgbClr val="BFBFBF"/>
                  </a:solidFill>
                  <a:latin typeface="Arimo"/>
                  <a:ea typeface="Arimo"/>
                  <a:cs typeface="Arimo"/>
                  <a:sym typeface="Arimo"/>
                </a:rPr>
                <a:t>Automatización</a:t>
              </a:r>
              <a:endParaRPr/>
            </a:p>
          </p:txBody>
        </p:sp>
      </p:grpSp>
      <p:grpSp>
        <p:nvGrpSpPr>
          <p:cNvPr id="470" name="Google Shape;470;p12"/>
          <p:cNvGrpSpPr/>
          <p:nvPr/>
        </p:nvGrpSpPr>
        <p:grpSpPr>
          <a:xfrm>
            <a:off x="2760910" y="3708797"/>
            <a:ext cx="7702749" cy="506016"/>
            <a:chOff x="0" y="-85725"/>
            <a:chExt cx="10270332" cy="674688"/>
          </a:xfrm>
        </p:grpSpPr>
        <p:sp>
          <p:nvSpPr>
            <p:cNvPr id="471" name="Google Shape;471;p12"/>
            <p:cNvSpPr/>
            <p:nvPr/>
          </p:nvSpPr>
          <p:spPr>
            <a:xfrm>
              <a:off x="0" y="0"/>
              <a:ext cx="10270332" cy="588963"/>
            </a:xfrm>
            <a:custGeom>
              <a:rect b="b" l="l" r="r" t="t"/>
              <a:pathLst>
                <a:path extrusionOk="0" h="588963" w="10270332">
                  <a:moveTo>
                    <a:pt x="0" y="0"/>
                  </a:moveTo>
                  <a:lnTo>
                    <a:pt x="10270332" y="0"/>
                  </a:lnTo>
                  <a:lnTo>
                    <a:pt x="10270332" y="588963"/>
                  </a:lnTo>
                  <a:lnTo>
                    <a:pt x="0" y="5889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72" name="Google Shape;472;p12"/>
            <p:cNvSpPr txBox="1"/>
            <p:nvPr/>
          </p:nvSpPr>
          <p:spPr>
            <a:xfrm>
              <a:off x="0" y="-85725"/>
              <a:ext cx="10270332" cy="6746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17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25" u="none" cap="none" strike="noStrike">
                  <a:solidFill>
                    <a:srgbClr val="BFBFBF"/>
                  </a:solidFill>
                  <a:latin typeface="Open Sans"/>
                  <a:ea typeface="Open Sans"/>
                  <a:cs typeface="Open Sans"/>
                  <a:sym typeface="Open Sans"/>
                </a:rPr>
                <a:t>Reduce errores y tareas manuales.</a:t>
              </a:r>
              <a:endParaRPr/>
            </a:p>
          </p:txBody>
        </p:sp>
      </p:grpSp>
      <p:sp>
        <p:nvSpPr>
          <p:cNvPr descr="preencoded.png" id="473" name="Google Shape;473;p12"/>
          <p:cNvSpPr/>
          <p:nvPr/>
        </p:nvSpPr>
        <p:spPr>
          <a:xfrm>
            <a:off x="966341" y="4556671"/>
            <a:ext cx="1380530" cy="1656606"/>
          </a:xfrm>
          <a:custGeom>
            <a:rect b="b" l="l" r="r" t="t"/>
            <a:pathLst>
              <a:path extrusionOk="0" h="1656606" w="1380530">
                <a:moveTo>
                  <a:pt x="0" y="0"/>
                </a:moveTo>
                <a:lnTo>
                  <a:pt x="1380530" y="0"/>
                </a:lnTo>
                <a:lnTo>
                  <a:pt x="1380530" y="1656606"/>
                </a:lnTo>
                <a:lnTo>
                  <a:pt x="0" y="16566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74" name="Google Shape;474;p12"/>
          <p:cNvGrpSpPr/>
          <p:nvPr/>
        </p:nvGrpSpPr>
        <p:grpSpPr>
          <a:xfrm>
            <a:off x="2760910" y="4811317"/>
            <a:ext cx="4632424" cy="452735"/>
            <a:chOff x="0" y="-28575"/>
            <a:chExt cx="6176565" cy="603647"/>
          </a:xfrm>
        </p:grpSpPr>
        <p:sp>
          <p:nvSpPr>
            <p:cNvPr id="475" name="Google Shape;475;p12"/>
            <p:cNvSpPr/>
            <p:nvPr/>
          </p:nvSpPr>
          <p:spPr>
            <a:xfrm>
              <a:off x="0" y="0"/>
              <a:ext cx="6176565" cy="575072"/>
            </a:xfrm>
            <a:custGeom>
              <a:rect b="b" l="l" r="r" t="t"/>
              <a:pathLst>
                <a:path extrusionOk="0" h="575072" w="6176565">
                  <a:moveTo>
                    <a:pt x="0" y="0"/>
                  </a:moveTo>
                  <a:lnTo>
                    <a:pt x="6176565" y="0"/>
                  </a:lnTo>
                  <a:lnTo>
                    <a:pt x="6176565" y="575072"/>
                  </a:lnTo>
                  <a:lnTo>
                    <a:pt x="0" y="5750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76" name="Google Shape;476;p12"/>
            <p:cNvSpPr txBox="1"/>
            <p:nvPr/>
          </p:nvSpPr>
          <p:spPr>
            <a:xfrm>
              <a:off x="0" y="-28575"/>
              <a:ext cx="6176565" cy="6036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56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87" u="none" cap="none" strike="noStrike">
                  <a:solidFill>
                    <a:srgbClr val="BFBFBF"/>
                  </a:solidFill>
                  <a:latin typeface="Arimo"/>
                  <a:ea typeface="Arimo"/>
                  <a:cs typeface="Arimo"/>
                  <a:sym typeface="Arimo"/>
                </a:rPr>
                <a:t>Decisiones Basadas en Datos</a:t>
              </a:r>
              <a:endParaRPr/>
            </a:p>
          </p:txBody>
        </p:sp>
      </p:grpSp>
      <p:grpSp>
        <p:nvGrpSpPr>
          <p:cNvPr id="477" name="Google Shape;477;p12"/>
          <p:cNvGrpSpPr/>
          <p:nvPr/>
        </p:nvGrpSpPr>
        <p:grpSpPr>
          <a:xfrm>
            <a:off x="2760910" y="5365402"/>
            <a:ext cx="7702749" cy="506016"/>
            <a:chOff x="0" y="-85725"/>
            <a:chExt cx="10270332" cy="674688"/>
          </a:xfrm>
        </p:grpSpPr>
        <p:sp>
          <p:nvSpPr>
            <p:cNvPr id="478" name="Google Shape;478;p12"/>
            <p:cNvSpPr/>
            <p:nvPr/>
          </p:nvSpPr>
          <p:spPr>
            <a:xfrm>
              <a:off x="0" y="0"/>
              <a:ext cx="10270332" cy="588963"/>
            </a:xfrm>
            <a:custGeom>
              <a:rect b="b" l="l" r="r" t="t"/>
              <a:pathLst>
                <a:path extrusionOk="0" h="588963" w="10270332">
                  <a:moveTo>
                    <a:pt x="0" y="0"/>
                  </a:moveTo>
                  <a:lnTo>
                    <a:pt x="10270332" y="0"/>
                  </a:lnTo>
                  <a:lnTo>
                    <a:pt x="10270332" y="588963"/>
                  </a:lnTo>
                  <a:lnTo>
                    <a:pt x="0" y="5889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79" name="Google Shape;479;p12"/>
            <p:cNvSpPr txBox="1"/>
            <p:nvPr/>
          </p:nvSpPr>
          <p:spPr>
            <a:xfrm>
              <a:off x="0" y="-85725"/>
              <a:ext cx="10270332" cy="6746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17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25" u="none" cap="none" strike="noStrike">
                  <a:solidFill>
                    <a:srgbClr val="BFBFBF"/>
                  </a:solidFill>
                  <a:latin typeface="Open Sans"/>
                  <a:ea typeface="Open Sans"/>
                  <a:cs typeface="Open Sans"/>
                  <a:sym typeface="Open Sans"/>
                </a:rPr>
                <a:t>Acceso rápido a información integrada.</a:t>
              </a:r>
              <a:endParaRPr/>
            </a:p>
          </p:txBody>
        </p:sp>
      </p:grpSp>
      <p:sp>
        <p:nvSpPr>
          <p:cNvPr descr="preencoded.png" id="480" name="Google Shape;480;p12"/>
          <p:cNvSpPr/>
          <p:nvPr/>
        </p:nvSpPr>
        <p:spPr>
          <a:xfrm>
            <a:off x="966341" y="6213276"/>
            <a:ext cx="1380530" cy="1656606"/>
          </a:xfrm>
          <a:custGeom>
            <a:rect b="b" l="l" r="r" t="t"/>
            <a:pathLst>
              <a:path extrusionOk="0" h="1656606" w="1380530">
                <a:moveTo>
                  <a:pt x="0" y="0"/>
                </a:moveTo>
                <a:lnTo>
                  <a:pt x="1380530" y="0"/>
                </a:lnTo>
                <a:lnTo>
                  <a:pt x="1380530" y="1656606"/>
                </a:lnTo>
                <a:lnTo>
                  <a:pt x="0" y="16566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81" name="Google Shape;481;p12"/>
          <p:cNvGrpSpPr/>
          <p:nvPr/>
        </p:nvGrpSpPr>
        <p:grpSpPr>
          <a:xfrm>
            <a:off x="2760910" y="6467921"/>
            <a:ext cx="3451472" cy="452735"/>
            <a:chOff x="0" y="-28575"/>
            <a:chExt cx="4601963" cy="603647"/>
          </a:xfrm>
        </p:grpSpPr>
        <p:sp>
          <p:nvSpPr>
            <p:cNvPr id="482" name="Google Shape;482;p12"/>
            <p:cNvSpPr/>
            <p:nvPr/>
          </p:nvSpPr>
          <p:spPr>
            <a:xfrm>
              <a:off x="0" y="0"/>
              <a:ext cx="4601963" cy="575072"/>
            </a:xfrm>
            <a:custGeom>
              <a:rect b="b" l="l" r="r" t="t"/>
              <a:pathLst>
                <a:path extrusionOk="0" h="575072" w="4601963">
                  <a:moveTo>
                    <a:pt x="0" y="0"/>
                  </a:moveTo>
                  <a:lnTo>
                    <a:pt x="4601963" y="0"/>
                  </a:lnTo>
                  <a:lnTo>
                    <a:pt x="4601963" y="575072"/>
                  </a:lnTo>
                  <a:lnTo>
                    <a:pt x="0" y="5750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83" name="Google Shape;483;p12"/>
            <p:cNvSpPr txBox="1"/>
            <p:nvPr/>
          </p:nvSpPr>
          <p:spPr>
            <a:xfrm>
              <a:off x="0" y="-28575"/>
              <a:ext cx="4601963" cy="6036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56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87" u="none" cap="none" strike="noStrike">
                  <a:solidFill>
                    <a:srgbClr val="BFBFBF"/>
                  </a:solidFill>
                  <a:latin typeface="Arimo"/>
                  <a:ea typeface="Arimo"/>
                  <a:cs typeface="Arimo"/>
                  <a:sym typeface="Arimo"/>
                </a:rPr>
                <a:t>Respuesta Ágil</a:t>
              </a:r>
              <a:endParaRPr/>
            </a:p>
          </p:txBody>
        </p:sp>
      </p:grpSp>
      <p:grpSp>
        <p:nvGrpSpPr>
          <p:cNvPr id="484" name="Google Shape;484;p12"/>
          <p:cNvGrpSpPr/>
          <p:nvPr/>
        </p:nvGrpSpPr>
        <p:grpSpPr>
          <a:xfrm>
            <a:off x="2760910" y="7022008"/>
            <a:ext cx="7702749" cy="506016"/>
            <a:chOff x="0" y="-85725"/>
            <a:chExt cx="10270332" cy="674688"/>
          </a:xfrm>
        </p:grpSpPr>
        <p:sp>
          <p:nvSpPr>
            <p:cNvPr id="485" name="Google Shape;485;p12"/>
            <p:cNvSpPr/>
            <p:nvPr/>
          </p:nvSpPr>
          <p:spPr>
            <a:xfrm>
              <a:off x="0" y="0"/>
              <a:ext cx="10270332" cy="588963"/>
            </a:xfrm>
            <a:custGeom>
              <a:rect b="b" l="l" r="r" t="t"/>
              <a:pathLst>
                <a:path extrusionOk="0" h="588963" w="10270332">
                  <a:moveTo>
                    <a:pt x="0" y="0"/>
                  </a:moveTo>
                  <a:lnTo>
                    <a:pt x="10270332" y="0"/>
                  </a:lnTo>
                  <a:lnTo>
                    <a:pt x="10270332" y="588963"/>
                  </a:lnTo>
                  <a:lnTo>
                    <a:pt x="0" y="5889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86" name="Google Shape;486;p12"/>
            <p:cNvSpPr txBox="1"/>
            <p:nvPr/>
          </p:nvSpPr>
          <p:spPr>
            <a:xfrm>
              <a:off x="0" y="-85725"/>
              <a:ext cx="10270332" cy="6746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17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25" u="none" cap="none" strike="noStrike">
                  <a:solidFill>
                    <a:srgbClr val="BFBFBF"/>
                  </a:solidFill>
                  <a:latin typeface="Open Sans"/>
                  <a:ea typeface="Open Sans"/>
                  <a:cs typeface="Open Sans"/>
                  <a:sym typeface="Open Sans"/>
                </a:rPr>
                <a:t>Mejora tiempos frente a necesidades del cliente.</a:t>
              </a:r>
              <a:endParaRPr/>
            </a:p>
          </p:txBody>
        </p:sp>
      </p:grpSp>
      <p:sp>
        <p:nvSpPr>
          <p:cNvPr descr="preencoded.png" id="487" name="Google Shape;487;p12"/>
          <p:cNvSpPr/>
          <p:nvPr/>
        </p:nvSpPr>
        <p:spPr>
          <a:xfrm>
            <a:off x="966341" y="7869882"/>
            <a:ext cx="1380530" cy="1656606"/>
          </a:xfrm>
          <a:custGeom>
            <a:rect b="b" l="l" r="r" t="t"/>
            <a:pathLst>
              <a:path extrusionOk="0" h="1656606" w="1380530">
                <a:moveTo>
                  <a:pt x="0" y="0"/>
                </a:moveTo>
                <a:lnTo>
                  <a:pt x="1380530" y="0"/>
                </a:lnTo>
                <a:lnTo>
                  <a:pt x="1380530" y="1656607"/>
                </a:lnTo>
                <a:lnTo>
                  <a:pt x="0" y="16566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88" name="Google Shape;488;p12"/>
          <p:cNvGrpSpPr/>
          <p:nvPr/>
        </p:nvGrpSpPr>
        <p:grpSpPr>
          <a:xfrm>
            <a:off x="2760910" y="8124528"/>
            <a:ext cx="3451472" cy="452735"/>
            <a:chOff x="0" y="-28575"/>
            <a:chExt cx="4601963" cy="603647"/>
          </a:xfrm>
        </p:grpSpPr>
        <p:sp>
          <p:nvSpPr>
            <p:cNvPr id="489" name="Google Shape;489;p12"/>
            <p:cNvSpPr/>
            <p:nvPr/>
          </p:nvSpPr>
          <p:spPr>
            <a:xfrm>
              <a:off x="0" y="0"/>
              <a:ext cx="4601963" cy="575072"/>
            </a:xfrm>
            <a:custGeom>
              <a:rect b="b" l="l" r="r" t="t"/>
              <a:pathLst>
                <a:path extrusionOk="0" h="575072" w="4601963">
                  <a:moveTo>
                    <a:pt x="0" y="0"/>
                  </a:moveTo>
                  <a:lnTo>
                    <a:pt x="4601963" y="0"/>
                  </a:lnTo>
                  <a:lnTo>
                    <a:pt x="4601963" y="575072"/>
                  </a:lnTo>
                  <a:lnTo>
                    <a:pt x="0" y="5750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90" name="Google Shape;490;p12"/>
            <p:cNvSpPr txBox="1"/>
            <p:nvPr/>
          </p:nvSpPr>
          <p:spPr>
            <a:xfrm>
              <a:off x="0" y="-28575"/>
              <a:ext cx="4601963" cy="6036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56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87" u="none" cap="none" strike="noStrike">
                  <a:solidFill>
                    <a:srgbClr val="BFBFBF"/>
                  </a:solidFill>
                  <a:latin typeface="Arimo"/>
                  <a:ea typeface="Arimo"/>
                  <a:cs typeface="Arimo"/>
                  <a:sym typeface="Arimo"/>
                </a:rPr>
                <a:t>Ventaja Competitiva</a:t>
              </a:r>
              <a:endParaRPr/>
            </a:p>
          </p:txBody>
        </p:sp>
      </p:grpSp>
      <p:grpSp>
        <p:nvGrpSpPr>
          <p:cNvPr id="491" name="Google Shape;491;p12"/>
          <p:cNvGrpSpPr/>
          <p:nvPr/>
        </p:nvGrpSpPr>
        <p:grpSpPr>
          <a:xfrm>
            <a:off x="2760910" y="8678615"/>
            <a:ext cx="7702749" cy="506016"/>
            <a:chOff x="0" y="-85725"/>
            <a:chExt cx="10270332" cy="674688"/>
          </a:xfrm>
        </p:grpSpPr>
        <p:sp>
          <p:nvSpPr>
            <p:cNvPr id="492" name="Google Shape;492;p12"/>
            <p:cNvSpPr/>
            <p:nvPr/>
          </p:nvSpPr>
          <p:spPr>
            <a:xfrm>
              <a:off x="0" y="0"/>
              <a:ext cx="10270332" cy="588963"/>
            </a:xfrm>
            <a:custGeom>
              <a:rect b="b" l="l" r="r" t="t"/>
              <a:pathLst>
                <a:path extrusionOk="0" h="588963" w="10270332">
                  <a:moveTo>
                    <a:pt x="0" y="0"/>
                  </a:moveTo>
                  <a:lnTo>
                    <a:pt x="10270332" y="0"/>
                  </a:lnTo>
                  <a:lnTo>
                    <a:pt x="10270332" y="588963"/>
                  </a:lnTo>
                  <a:lnTo>
                    <a:pt x="0" y="5889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93" name="Google Shape;493;p12"/>
            <p:cNvSpPr txBox="1"/>
            <p:nvPr/>
          </p:nvSpPr>
          <p:spPr>
            <a:xfrm>
              <a:off x="0" y="-85725"/>
              <a:ext cx="10270332" cy="6746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17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25" u="none" cap="none" strike="noStrike">
                  <a:solidFill>
                    <a:srgbClr val="BFBFBF"/>
                  </a:solidFill>
                  <a:latin typeface="Open Sans"/>
                  <a:ea typeface="Open Sans"/>
                  <a:cs typeface="Open Sans"/>
                  <a:sym typeface="Open Sans"/>
                </a:rPr>
                <a:t>Incrementa la agilidad y adaptabilidad empresarial.</a:t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503" name="Google Shape;503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F1F1F"/>
          </a:solidFill>
          <a:ln>
            <a:noFill/>
          </a:ln>
        </p:spPr>
      </p:sp>
      <p:grpSp>
        <p:nvGrpSpPr>
          <p:cNvPr id="504" name="Google Shape;504;p13"/>
          <p:cNvGrpSpPr/>
          <p:nvPr/>
        </p:nvGrpSpPr>
        <p:grpSpPr>
          <a:xfrm>
            <a:off x="992238" y="1521023"/>
            <a:ext cx="11893749" cy="928837"/>
            <a:chOff x="0" y="-57150"/>
            <a:chExt cx="15858332" cy="1238448"/>
          </a:xfrm>
        </p:grpSpPr>
        <p:sp>
          <p:nvSpPr>
            <p:cNvPr id="505" name="Google Shape;505;p13"/>
            <p:cNvSpPr/>
            <p:nvPr/>
          </p:nvSpPr>
          <p:spPr>
            <a:xfrm>
              <a:off x="0" y="0"/>
              <a:ext cx="15858331" cy="1181298"/>
            </a:xfrm>
            <a:custGeom>
              <a:rect b="b" l="l" r="r" t="t"/>
              <a:pathLst>
                <a:path extrusionOk="0" h="1181298" w="15858331">
                  <a:moveTo>
                    <a:pt x="0" y="0"/>
                  </a:moveTo>
                  <a:lnTo>
                    <a:pt x="15858331" y="0"/>
                  </a:lnTo>
                  <a:lnTo>
                    <a:pt x="15858331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06" name="Google Shape;506;p13"/>
            <p:cNvSpPr txBox="1"/>
            <p:nvPr/>
          </p:nvSpPr>
          <p:spPr>
            <a:xfrm>
              <a:off x="0" y="-57150"/>
              <a:ext cx="15858332" cy="12384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7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562" u="none" cap="none" strike="noStrike">
                  <a:solidFill>
                    <a:srgbClr val="FEFEFE"/>
                  </a:solidFill>
                  <a:latin typeface="Arimo"/>
                  <a:ea typeface="Arimo"/>
                  <a:cs typeface="Arimo"/>
                  <a:sym typeface="Arimo"/>
                </a:rPr>
                <a:t>Futuro de la Integración de Sistemas</a:t>
              </a:r>
              <a:endParaRPr/>
            </a:p>
          </p:txBody>
        </p:sp>
      </p:grpSp>
      <p:grpSp>
        <p:nvGrpSpPr>
          <p:cNvPr id="507" name="Google Shape;507;p13"/>
          <p:cNvGrpSpPr/>
          <p:nvPr/>
        </p:nvGrpSpPr>
        <p:grpSpPr>
          <a:xfrm>
            <a:off x="1796057" y="3548360"/>
            <a:ext cx="4069556" cy="471487"/>
            <a:chOff x="0" y="-38100"/>
            <a:chExt cx="5426075" cy="628650"/>
          </a:xfrm>
        </p:grpSpPr>
        <p:sp>
          <p:nvSpPr>
            <p:cNvPr id="508" name="Google Shape;508;p13"/>
            <p:cNvSpPr/>
            <p:nvPr/>
          </p:nvSpPr>
          <p:spPr>
            <a:xfrm>
              <a:off x="0" y="0"/>
              <a:ext cx="5426075" cy="590550"/>
            </a:xfrm>
            <a:custGeom>
              <a:rect b="b" l="l" r="r" t="t"/>
              <a:pathLst>
                <a:path extrusionOk="0" h="590550" w="5426075">
                  <a:moveTo>
                    <a:pt x="0" y="0"/>
                  </a:moveTo>
                  <a:lnTo>
                    <a:pt x="5426075" y="0"/>
                  </a:lnTo>
                  <a:lnTo>
                    <a:pt x="5426075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09" name="Google Shape;509;p13"/>
            <p:cNvSpPr txBox="1"/>
            <p:nvPr/>
          </p:nvSpPr>
          <p:spPr>
            <a:xfrm>
              <a:off x="0" y="-38100"/>
              <a:ext cx="5426075" cy="628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BFBFBF"/>
                  </a:solidFill>
                  <a:latin typeface="Arimo"/>
                  <a:ea typeface="Arimo"/>
                  <a:cs typeface="Arimo"/>
                  <a:sym typeface="Arimo"/>
                </a:rPr>
                <a:t>Tecnologías Emergentes</a:t>
              </a:r>
              <a:endParaRPr/>
            </a:p>
          </p:txBody>
        </p:sp>
      </p:grpSp>
      <p:grpSp>
        <p:nvGrpSpPr>
          <p:cNvPr id="510" name="Google Shape;510;p13"/>
          <p:cNvGrpSpPr/>
          <p:nvPr/>
        </p:nvGrpSpPr>
        <p:grpSpPr>
          <a:xfrm>
            <a:off x="992238" y="4125665"/>
            <a:ext cx="4873378" cy="971550"/>
            <a:chOff x="0" y="-85725"/>
            <a:chExt cx="6497837" cy="1295400"/>
          </a:xfrm>
        </p:grpSpPr>
        <p:sp>
          <p:nvSpPr>
            <p:cNvPr id="511" name="Google Shape;511;p13"/>
            <p:cNvSpPr/>
            <p:nvPr/>
          </p:nvSpPr>
          <p:spPr>
            <a:xfrm>
              <a:off x="0" y="0"/>
              <a:ext cx="6497837" cy="1209675"/>
            </a:xfrm>
            <a:custGeom>
              <a:rect b="b" l="l" r="r" t="t"/>
              <a:pathLst>
                <a:path extrusionOk="0" h="1209675" w="6497837">
                  <a:moveTo>
                    <a:pt x="0" y="0"/>
                  </a:moveTo>
                  <a:lnTo>
                    <a:pt x="6497837" y="0"/>
                  </a:lnTo>
                  <a:lnTo>
                    <a:pt x="6497837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12" name="Google Shape;512;p13"/>
            <p:cNvSpPr txBox="1"/>
            <p:nvPr/>
          </p:nvSpPr>
          <p:spPr>
            <a:xfrm>
              <a:off x="0" y="-85725"/>
              <a:ext cx="6497837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BFBFBF"/>
                  </a:solidFill>
                  <a:latin typeface="Open Sans"/>
                  <a:ea typeface="Open Sans"/>
                  <a:cs typeface="Open Sans"/>
                  <a:sym typeface="Open Sans"/>
                </a:rPr>
                <a:t>IA, IoT y blockchain revolucionan la integración.</a:t>
              </a:r>
              <a:endParaRPr/>
            </a:p>
          </p:txBody>
        </p:sp>
      </p:grpSp>
      <p:sp>
        <p:nvSpPr>
          <p:cNvPr descr="preencoded.png" id="513" name="Google Shape;513;p13"/>
          <p:cNvSpPr/>
          <p:nvPr/>
        </p:nvSpPr>
        <p:spPr>
          <a:xfrm>
            <a:off x="6290816" y="3016895"/>
            <a:ext cx="5706219" cy="5706219"/>
          </a:xfrm>
          <a:custGeom>
            <a:rect b="b" l="l" r="r" t="t"/>
            <a:pathLst>
              <a:path extrusionOk="0" h="5706219" w="5706219">
                <a:moveTo>
                  <a:pt x="0" y="0"/>
                </a:moveTo>
                <a:lnTo>
                  <a:pt x="5706219" y="0"/>
                </a:lnTo>
                <a:lnTo>
                  <a:pt x="5706219" y="5706219"/>
                </a:lnTo>
                <a:lnTo>
                  <a:pt x="0" y="57062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14" name="Google Shape;514;p13"/>
          <p:cNvGrpSpPr/>
          <p:nvPr/>
        </p:nvGrpSpPr>
        <p:grpSpPr>
          <a:xfrm>
            <a:off x="7783414" y="3856435"/>
            <a:ext cx="424160" cy="644575"/>
            <a:chOff x="0" y="-152400"/>
            <a:chExt cx="565547" cy="859433"/>
          </a:xfrm>
        </p:grpSpPr>
        <p:sp>
          <p:nvSpPr>
            <p:cNvPr id="515" name="Google Shape;515;p13"/>
            <p:cNvSpPr/>
            <p:nvPr/>
          </p:nvSpPr>
          <p:spPr>
            <a:xfrm>
              <a:off x="0" y="0"/>
              <a:ext cx="565547" cy="707033"/>
            </a:xfrm>
            <a:custGeom>
              <a:rect b="b" l="l" r="r" t="t"/>
              <a:pathLst>
                <a:path extrusionOk="0" h="707033" w="565547">
                  <a:moveTo>
                    <a:pt x="0" y="0"/>
                  </a:moveTo>
                  <a:lnTo>
                    <a:pt x="565547" y="0"/>
                  </a:lnTo>
                  <a:lnTo>
                    <a:pt x="565547" y="707033"/>
                  </a:lnTo>
                  <a:lnTo>
                    <a:pt x="0" y="7070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16" name="Google Shape;516;p13"/>
            <p:cNvSpPr txBox="1"/>
            <p:nvPr/>
          </p:nvSpPr>
          <p:spPr>
            <a:xfrm>
              <a:off x="0" y="-152400"/>
              <a:ext cx="565547" cy="859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03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12" u="none" cap="none" strike="noStrike">
                  <a:solidFill>
                    <a:srgbClr val="BFBFBF"/>
                  </a:solidFill>
                  <a:latin typeface="Arimo"/>
                  <a:ea typeface="Arimo"/>
                  <a:cs typeface="Arimo"/>
                  <a:sym typeface="Arimo"/>
                </a:rPr>
                <a:t>1</a:t>
              </a:r>
              <a:endParaRPr/>
            </a:p>
          </p:txBody>
        </p:sp>
      </p:grpSp>
      <p:grpSp>
        <p:nvGrpSpPr>
          <p:cNvPr id="517" name="Google Shape;517;p13"/>
          <p:cNvGrpSpPr/>
          <p:nvPr/>
        </p:nvGrpSpPr>
        <p:grpSpPr>
          <a:xfrm>
            <a:off x="12422237" y="3548360"/>
            <a:ext cx="3544044" cy="471487"/>
            <a:chOff x="0" y="-38100"/>
            <a:chExt cx="4725392" cy="628650"/>
          </a:xfrm>
        </p:grpSpPr>
        <p:sp>
          <p:nvSpPr>
            <p:cNvPr id="518" name="Google Shape;518;p13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19" name="Google Shape;519;p13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BFBFBF"/>
                  </a:solidFill>
                  <a:latin typeface="Arimo"/>
                  <a:ea typeface="Arimo"/>
                  <a:cs typeface="Arimo"/>
                  <a:sym typeface="Arimo"/>
                </a:rPr>
                <a:t>Sistemas Autónomos</a:t>
              </a:r>
              <a:endParaRPr/>
            </a:p>
          </p:txBody>
        </p:sp>
      </p:grpSp>
      <p:grpSp>
        <p:nvGrpSpPr>
          <p:cNvPr id="520" name="Google Shape;520;p13"/>
          <p:cNvGrpSpPr/>
          <p:nvPr/>
        </p:nvGrpSpPr>
        <p:grpSpPr>
          <a:xfrm>
            <a:off x="12422237" y="4125665"/>
            <a:ext cx="4873526" cy="971550"/>
            <a:chOff x="0" y="-85725"/>
            <a:chExt cx="6498035" cy="1295400"/>
          </a:xfrm>
        </p:grpSpPr>
        <p:sp>
          <p:nvSpPr>
            <p:cNvPr id="521" name="Google Shape;521;p13"/>
            <p:cNvSpPr/>
            <p:nvPr/>
          </p:nvSpPr>
          <p:spPr>
            <a:xfrm>
              <a:off x="0" y="0"/>
              <a:ext cx="6498035" cy="1209675"/>
            </a:xfrm>
            <a:custGeom>
              <a:rect b="b" l="l" r="r" t="t"/>
              <a:pathLst>
                <a:path extrusionOk="0" h="1209675" w="6498035">
                  <a:moveTo>
                    <a:pt x="0" y="0"/>
                  </a:moveTo>
                  <a:lnTo>
                    <a:pt x="6498035" y="0"/>
                  </a:lnTo>
                  <a:lnTo>
                    <a:pt x="6498035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22" name="Google Shape;522;p13"/>
            <p:cNvSpPr txBox="1"/>
            <p:nvPr/>
          </p:nvSpPr>
          <p:spPr>
            <a:xfrm>
              <a:off x="0" y="-85725"/>
              <a:ext cx="6498035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BFBFBF"/>
                  </a:solidFill>
                  <a:latin typeface="Open Sans"/>
                  <a:ea typeface="Open Sans"/>
                  <a:cs typeface="Open Sans"/>
                  <a:sym typeface="Open Sans"/>
                </a:rPr>
                <a:t>Interconexión creciente y toma de decisiones automática.</a:t>
              </a:r>
              <a:endParaRPr/>
            </a:p>
          </p:txBody>
        </p:sp>
      </p:grpSp>
      <p:sp>
        <p:nvSpPr>
          <p:cNvPr descr="preencoded.png" id="523" name="Google Shape;523;p13"/>
          <p:cNvSpPr/>
          <p:nvPr/>
        </p:nvSpPr>
        <p:spPr>
          <a:xfrm>
            <a:off x="6290816" y="3016895"/>
            <a:ext cx="5706219" cy="5706219"/>
          </a:xfrm>
          <a:custGeom>
            <a:rect b="b" l="l" r="r" t="t"/>
            <a:pathLst>
              <a:path extrusionOk="0" h="5706219" w="5706219">
                <a:moveTo>
                  <a:pt x="0" y="0"/>
                </a:moveTo>
                <a:lnTo>
                  <a:pt x="5706219" y="0"/>
                </a:lnTo>
                <a:lnTo>
                  <a:pt x="5706219" y="5706219"/>
                </a:lnTo>
                <a:lnTo>
                  <a:pt x="0" y="57062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24" name="Google Shape;524;p13"/>
          <p:cNvGrpSpPr/>
          <p:nvPr/>
        </p:nvGrpSpPr>
        <p:grpSpPr>
          <a:xfrm>
            <a:off x="10565755" y="4342060"/>
            <a:ext cx="424160" cy="644575"/>
            <a:chOff x="0" y="-152400"/>
            <a:chExt cx="565547" cy="859433"/>
          </a:xfrm>
        </p:grpSpPr>
        <p:sp>
          <p:nvSpPr>
            <p:cNvPr id="525" name="Google Shape;525;p13"/>
            <p:cNvSpPr/>
            <p:nvPr/>
          </p:nvSpPr>
          <p:spPr>
            <a:xfrm>
              <a:off x="0" y="0"/>
              <a:ext cx="565547" cy="707033"/>
            </a:xfrm>
            <a:custGeom>
              <a:rect b="b" l="l" r="r" t="t"/>
              <a:pathLst>
                <a:path extrusionOk="0" h="707033" w="565547">
                  <a:moveTo>
                    <a:pt x="0" y="0"/>
                  </a:moveTo>
                  <a:lnTo>
                    <a:pt x="565547" y="0"/>
                  </a:lnTo>
                  <a:lnTo>
                    <a:pt x="565547" y="707033"/>
                  </a:lnTo>
                  <a:lnTo>
                    <a:pt x="0" y="7070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26" name="Google Shape;526;p13"/>
            <p:cNvSpPr txBox="1"/>
            <p:nvPr/>
          </p:nvSpPr>
          <p:spPr>
            <a:xfrm>
              <a:off x="0" y="-152400"/>
              <a:ext cx="565547" cy="859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03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12" u="none" cap="none" strike="noStrike">
                  <a:solidFill>
                    <a:srgbClr val="BFBFBF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  <a:endParaRPr/>
            </a:p>
          </p:txBody>
        </p:sp>
      </p:grpSp>
      <p:grpSp>
        <p:nvGrpSpPr>
          <p:cNvPr id="527" name="Google Shape;527;p13"/>
          <p:cNvGrpSpPr/>
          <p:nvPr/>
        </p:nvGrpSpPr>
        <p:grpSpPr>
          <a:xfrm>
            <a:off x="12422237" y="6614071"/>
            <a:ext cx="3544044" cy="471487"/>
            <a:chOff x="0" y="-38100"/>
            <a:chExt cx="4725392" cy="628650"/>
          </a:xfrm>
        </p:grpSpPr>
        <p:sp>
          <p:nvSpPr>
            <p:cNvPr id="528" name="Google Shape;528;p13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29" name="Google Shape;529;p13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BFBFBF"/>
                  </a:solidFill>
                  <a:latin typeface="Arimo"/>
                  <a:ea typeface="Arimo"/>
                  <a:cs typeface="Arimo"/>
                  <a:sym typeface="Arimo"/>
                </a:rPr>
                <a:t>Personalización</a:t>
              </a:r>
              <a:endParaRPr/>
            </a:p>
          </p:txBody>
        </p:sp>
      </p:grpSp>
      <p:grpSp>
        <p:nvGrpSpPr>
          <p:cNvPr id="530" name="Google Shape;530;p13"/>
          <p:cNvGrpSpPr/>
          <p:nvPr/>
        </p:nvGrpSpPr>
        <p:grpSpPr>
          <a:xfrm>
            <a:off x="12422237" y="7191375"/>
            <a:ext cx="4873526" cy="971550"/>
            <a:chOff x="0" y="-85725"/>
            <a:chExt cx="6498035" cy="1295400"/>
          </a:xfrm>
        </p:grpSpPr>
        <p:sp>
          <p:nvSpPr>
            <p:cNvPr id="531" name="Google Shape;531;p13"/>
            <p:cNvSpPr/>
            <p:nvPr/>
          </p:nvSpPr>
          <p:spPr>
            <a:xfrm>
              <a:off x="0" y="0"/>
              <a:ext cx="6498035" cy="1209675"/>
            </a:xfrm>
            <a:custGeom>
              <a:rect b="b" l="l" r="r" t="t"/>
              <a:pathLst>
                <a:path extrusionOk="0" h="1209675" w="6498035">
                  <a:moveTo>
                    <a:pt x="0" y="0"/>
                  </a:moveTo>
                  <a:lnTo>
                    <a:pt x="6498035" y="0"/>
                  </a:lnTo>
                  <a:lnTo>
                    <a:pt x="6498035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32" name="Google Shape;532;p13"/>
            <p:cNvSpPr txBox="1"/>
            <p:nvPr/>
          </p:nvSpPr>
          <p:spPr>
            <a:xfrm>
              <a:off x="0" y="-85725"/>
              <a:ext cx="6498035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BFBFBF"/>
                  </a:solidFill>
                  <a:latin typeface="Open Sans"/>
                  <a:ea typeface="Open Sans"/>
                  <a:cs typeface="Open Sans"/>
                  <a:sym typeface="Open Sans"/>
                </a:rPr>
                <a:t>Análisis de datos para soluciones a medida.</a:t>
              </a:r>
              <a:endParaRPr/>
            </a:p>
          </p:txBody>
        </p:sp>
      </p:grpSp>
      <p:sp>
        <p:nvSpPr>
          <p:cNvPr descr="preencoded.png" id="533" name="Google Shape;533;p13"/>
          <p:cNvSpPr/>
          <p:nvPr/>
        </p:nvSpPr>
        <p:spPr>
          <a:xfrm>
            <a:off x="6290816" y="3016895"/>
            <a:ext cx="5706219" cy="5706219"/>
          </a:xfrm>
          <a:custGeom>
            <a:rect b="b" l="l" r="r" t="t"/>
            <a:pathLst>
              <a:path extrusionOk="0" h="5706219" w="5706219">
                <a:moveTo>
                  <a:pt x="0" y="0"/>
                </a:moveTo>
                <a:lnTo>
                  <a:pt x="5706219" y="0"/>
                </a:lnTo>
                <a:lnTo>
                  <a:pt x="5706219" y="5706219"/>
                </a:lnTo>
                <a:lnTo>
                  <a:pt x="0" y="57062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34" name="Google Shape;534;p13"/>
          <p:cNvGrpSpPr/>
          <p:nvPr/>
        </p:nvGrpSpPr>
        <p:grpSpPr>
          <a:xfrm>
            <a:off x="10080129" y="7124402"/>
            <a:ext cx="424160" cy="644575"/>
            <a:chOff x="0" y="-152400"/>
            <a:chExt cx="565547" cy="859433"/>
          </a:xfrm>
        </p:grpSpPr>
        <p:sp>
          <p:nvSpPr>
            <p:cNvPr id="535" name="Google Shape;535;p13"/>
            <p:cNvSpPr/>
            <p:nvPr/>
          </p:nvSpPr>
          <p:spPr>
            <a:xfrm>
              <a:off x="0" y="0"/>
              <a:ext cx="565547" cy="707033"/>
            </a:xfrm>
            <a:custGeom>
              <a:rect b="b" l="l" r="r" t="t"/>
              <a:pathLst>
                <a:path extrusionOk="0" h="707033" w="565547">
                  <a:moveTo>
                    <a:pt x="0" y="0"/>
                  </a:moveTo>
                  <a:lnTo>
                    <a:pt x="565547" y="0"/>
                  </a:lnTo>
                  <a:lnTo>
                    <a:pt x="565547" y="707033"/>
                  </a:lnTo>
                  <a:lnTo>
                    <a:pt x="0" y="7070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36" name="Google Shape;536;p13"/>
            <p:cNvSpPr txBox="1"/>
            <p:nvPr/>
          </p:nvSpPr>
          <p:spPr>
            <a:xfrm>
              <a:off x="0" y="-152400"/>
              <a:ext cx="565547" cy="859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03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12" u="none" cap="none" strike="noStrike">
                  <a:solidFill>
                    <a:srgbClr val="BFBFBF"/>
                  </a:solidFill>
                  <a:latin typeface="Arimo"/>
                  <a:ea typeface="Arimo"/>
                  <a:cs typeface="Arimo"/>
                  <a:sym typeface="Arimo"/>
                </a:rPr>
                <a:t>3</a:t>
              </a:r>
              <a:endParaRPr/>
            </a:p>
          </p:txBody>
        </p:sp>
      </p:grpSp>
      <p:grpSp>
        <p:nvGrpSpPr>
          <p:cNvPr id="537" name="Google Shape;537;p13"/>
          <p:cNvGrpSpPr/>
          <p:nvPr/>
        </p:nvGrpSpPr>
        <p:grpSpPr>
          <a:xfrm>
            <a:off x="2321570" y="6614071"/>
            <a:ext cx="3544044" cy="471487"/>
            <a:chOff x="0" y="-38100"/>
            <a:chExt cx="4725392" cy="628650"/>
          </a:xfrm>
        </p:grpSpPr>
        <p:sp>
          <p:nvSpPr>
            <p:cNvPr id="538" name="Google Shape;538;p13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39" name="Google Shape;539;p13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BFBFBF"/>
                  </a:solidFill>
                  <a:latin typeface="Arimo"/>
                  <a:ea typeface="Arimo"/>
                  <a:cs typeface="Arimo"/>
                  <a:sym typeface="Arimo"/>
                </a:rPr>
                <a:t>Adaptabilidad</a:t>
              </a:r>
              <a:endParaRPr/>
            </a:p>
          </p:txBody>
        </p:sp>
      </p:grpSp>
      <p:grpSp>
        <p:nvGrpSpPr>
          <p:cNvPr id="540" name="Google Shape;540;p13"/>
          <p:cNvGrpSpPr/>
          <p:nvPr/>
        </p:nvGrpSpPr>
        <p:grpSpPr>
          <a:xfrm>
            <a:off x="992238" y="7191375"/>
            <a:ext cx="4873378" cy="971550"/>
            <a:chOff x="0" y="-85725"/>
            <a:chExt cx="6497837" cy="1295400"/>
          </a:xfrm>
        </p:grpSpPr>
        <p:sp>
          <p:nvSpPr>
            <p:cNvPr id="541" name="Google Shape;541;p13"/>
            <p:cNvSpPr/>
            <p:nvPr/>
          </p:nvSpPr>
          <p:spPr>
            <a:xfrm>
              <a:off x="0" y="0"/>
              <a:ext cx="6497837" cy="1209675"/>
            </a:xfrm>
            <a:custGeom>
              <a:rect b="b" l="l" r="r" t="t"/>
              <a:pathLst>
                <a:path extrusionOk="0" h="1209675" w="6497837">
                  <a:moveTo>
                    <a:pt x="0" y="0"/>
                  </a:moveTo>
                  <a:lnTo>
                    <a:pt x="6497837" y="0"/>
                  </a:lnTo>
                  <a:lnTo>
                    <a:pt x="6497837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42" name="Google Shape;542;p13"/>
            <p:cNvSpPr txBox="1"/>
            <p:nvPr/>
          </p:nvSpPr>
          <p:spPr>
            <a:xfrm>
              <a:off x="0" y="-85725"/>
              <a:ext cx="6497837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BFBFBF"/>
                  </a:solidFill>
                  <a:latin typeface="Open Sans"/>
                  <a:ea typeface="Open Sans"/>
                  <a:cs typeface="Open Sans"/>
                  <a:sym typeface="Open Sans"/>
                </a:rPr>
                <a:t>Constante ajuste a cambios del mercado y empresa.</a:t>
              </a:r>
              <a:endParaRPr/>
            </a:p>
          </p:txBody>
        </p:sp>
      </p:grpSp>
      <p:sp>
        <p:nvSpPr>
          <p:cNvPr descr="preencoded.png" id="543" name="Google Shape;543;p13"/>
          <p:cNvSpPr/>
          <p:nvPr/>
        </p:nvSpPr>
        <p:spPr>
          <a:xfrm>
            <a:off x="6290816" y="3016895"/>
            <a:ext cx="5706219" cy="5706219"/>
          </a:xfrm>
          <a:custGeom>
            <a:rect b="b" l="l" r="r" t="t"/>
            <a:pathLst>
              <a:path extrusionOk="0" h="5706219" w="5706219">
                <a:moveTo>
                  <a:pt x="0" y="0"/>
                </a:moveTo>
                <a:lnTo>
                  <a:pt x="5706219" y="0"/>
                </a:lnTo>
                <a:lnTo>
                  <a:pt x="5706219" y="5706219"/>
                </a:lnTo>
                <a:lnTo>
                  <a:pt x="0" y="57062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44" name="Google Shape;544;p13"/>
          <p:cNvGrpSpPr/>
          <p:nvPr/>
        </p:nvGrpSpPr>
        <p:grpSpPr>
          <a:xfrm>
            <a:off x="7297788" y="6638776"/>
            <a:ext cx="424160" cy="644575"/>
            <a:chOff x="0" y="-152400"/>
            <a:chExt cx="565547" cy="859433"/>
          </a:xfrm>
        </p:grpSpPr>
        <p:sp>
          <p:nvSpPr>
            <p:cNvPr id="545" name="Google Shape;545;p13"/>
            <p:cNvSpPr/>
            <p:nvPr/>
          </p:nvSpPr>
          <p:spPr>
            <a:xfrm>
              <a:off x="0" y="0"/>
              <a:ext cx="565547" cy="707033"/>
            </a:xfrm>
            <a:custGeom>
              <a:rect b="b" l="l" r="r" t="t"/>
              <a:pathLst>
                <a:path extrusionOk="0" h="707033" w="565547">
                  <a:moveTo>
                    <a:pt x="0" y="0"/>
                  </a:moveTo>
                  <a:lnTo>
                    <a:pt x="565547" y="0"/>
                  </a:lnTo>
                  <a:lnTo>
                    <a:pt x="565547" y="707033"/>
                  </a:lnTo>
                  <a:lnTo>
                    <a:pt x="0" y="7070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46" name="Google Shape;546;p13"/>
            <p:cNvSpPr txBox="1"/>
            <p:nvPr/>
          </p:nvSpPr>
          <p:spPr>
            <a:xfrm>
              <a:off x="0" y="-152400"/>
              <a:ext cx="565547" cy="859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03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12" u="none" cap="none" strike="noStrike">
                  <a:solidFill>
                    <a:srgbClr val="BFBFBF"/>
                  </a:solidFill>
                  <a:latin typeface="Arimo"/>
                  <a:ea typeface="Arimo"/>
                  <a:cs typeface="Arimo"/>
                  <a:sym typeface="Arimo"/>
                </a:rPr>
                <a:t>4</a:t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E3E3E"/>
        </a:soli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14"/>
          <p:cNvSpPr txBox="1"/>
          <p:nvPr/>
        </p:nvSpPr>
        <p:spPr>
          <a:xfrm>
            <a:off x="2507390" y="1000125"/>
            <a:ext cx="13503315" cy="2052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rPr>
              <a:t>CONCEPTOS CLAVE APRENDIDOS </a:t>
            </a:r>
            <a:endParaRPr/>
          </a:p>
        </p:txBody>
      </p:sp>
      <p:sp>
        <p:nvSpPr>
          <p:cNvPr id="552" name="Google Shape;552;p14"/>
          <p:cNvSpPr txBox="1"/>
          <p:nvPr/>
        </p:nvSpPr>
        <p:spPr>
          <a:xfrm>
            <a:off x="1960694" y="3860833"/>
            <a:ext cx="13506718" cy="55111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rPr>
              <a:t>Clases de SI: Incluyen SCM (cadena de suministro), CRM (gestión de clientes), GIS (sistemas geográficos) y sistemas distribuidos.</a:t>
            </a:r>
            <a:endParaRPr/>
          </a:p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rPr>
              <a:t>Propósito específico: Cada tipo de sistema responde a una necesidad organizacional concreta.</a:t>
            </a:r>
            <a:endParaRPr/>
          </a:p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rPr>
              <a:t>Integración de sistemas: Conectar distintos SI para trabajar como una sola unidad.</a:t>
            </a:r>
            <a:endParaRPr/>
          </a:p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rPr>
              <a:t>Beneficios clave: Mejora la eficiencia, reduce errores y optimiza procesos.</a:t>
            </a:r>
            <a:endParaRPr/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51" u="none" cap="none" strike="noStrike">
              <a:solidFill>
                <a:srgbClr val="FEFEF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15"/>
          <p:cNvSpPr txBox="1"/>
          <p:nvPr/>
        </p:nvSpPr>
        <p:spPr>
          <a:xfrm>
            <a:off x="2401868" y="4593717"/>
            <a:ext cx="13503315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rPr>
              <a:t>EFICIENCIA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16"/>
          <p:cNvSpPr txBox="1"/>
          <p:nvPr/>
        </p:nvSpPr>
        <p:spPr>
          <a:xfrm>
            <a:off x="2507390" y="1000125"/>
            <a:ext cx="13503315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rPr>
              <a:t>REFERENCIAS </a:t>
            </a:r>
            <a:endParaRPr/>
          </a:p>
        </p:txBody>
      </p:sp>
      <p:sp>
        <p:nvSpPr>
          <p:cNvPr id="563" name="Google Shape;563;p16"/>
          <p:cNvSpPr txBox="1"/>
          <p:nvPr/>
        </p:nvSpPr>
        <p:spPr>
          <a:xfrm>
            <a:off x="3416041" y="4435592"/>
            <a:ext cx="11455919" cy="3331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1" u="none" cap="none" strike="noStrik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rPr>
              <a:t>https://www.kyoceradocumentsolutions.es/es/smarter-workspaces/business-challenges/the-cloud/los-6-principales-tipos-sistemas-informacion.html</a:t>
            </a:r>
            <a:endParaRPr/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51" u="none" cap="none" strike="noStrike">
              <a:solidFill>
                <a:srgbClr val="FEFEF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1" u="none" cap="none" strike="noStrik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rPr>
              <a:t>https://www.sydle.com/es/blog/integracion-de-sistemas-6140d39a84679b13bf127a93</a:t>
            </a:r>
            <a:endParaRPr/>
          </a:p>
        </p:txBody>
      </p:sp>
      <p:pic>
        <p:nvPicPr>
          <p:cNvPr id="564" name="Google Shape;56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25" y="81426"/>
            <a:ext cx="3556389" cy="2214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FBFBF"/>
        </a:solidFill>
      </p:bgPr>
    </p:bg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17"/>
          <p:cNvSpPr txBox="1"/>
          <p:nvPr/>
        </p:nvSpPr>
        <p:spPr>
          <a:xfrm>
            <a:off x="4437795" y="3389104"/>
            <a:ext cx="8658828" cy="2495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/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17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/>
          </a:p>
        </p:txBody>
      </p:sp>
      <p:sp>
        <p:nvSpPr>
          <p:cNvPr id="571" name="Google Shape;571;p17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72" name="Google Shape;572;p17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