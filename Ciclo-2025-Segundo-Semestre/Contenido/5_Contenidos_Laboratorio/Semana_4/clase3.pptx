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Play"/>
      <p:regular r:id="rId25"/>
      <p:bold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Petrona"/>
      <p:regular r:id="rId31"/>
      <p:bold r:id="rId32"/>
      <p:italic r:id="rId33"/>
      <p:boldItalic r:id="rId34"/>
    </p:embeddedFont>
    <p:embeddedFont>
      <p:font typeface="Open Sans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jiurxVKCKq7FI4QGbI0TGwS/26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2C9585-DC91-4145-85B9-B42307AA8480}">
  <a:tblStyle styleId="{0C2C9585-DC91-4145-85B9-B42307AA84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etrona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Petrona-italic.fntdata"/><Relationship Id="rId10" Type="http://schemas.openxmlformats.org/officeDocument/2006/relationships/slide" Target="slides/slide4.xml"/><Relationship Id="rId32" Type="http://schemas.openxmlformats.org/officeDocument/2006/relationships/font" Target="fonts/Petrona-bold.fntdata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Petrona-boldItalic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b9a622a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a0b9a622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5" name="Google Shape;15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57" name="Google Shape;15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2" name="Google Shape;172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74" name="Google Shape;174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5" name="Google Shape;175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2" name="Google Shape;212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3" name="Google Shape;213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15" name="Google Shape;215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6" name="Google Shape;216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3" name="Google Shape;243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4" name="Google Shape;244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46" name="Google Shape;246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7" name="Google Shape;247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8" name="Google Shape;278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9" name="Google Shape;279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81" name="Google Shape;281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2" name="Google Shape;282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9" name="Google Shape;319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0" name="Google Shape;320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22" name="Google Shape;322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3" name="Google Shape;323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0" name="Google Shape;360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1" name="Google Shape;361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363" name="Google Shape;363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4" name="Google Shape;364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7" name="Google Shape;377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8" name="Google Shape;378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380" name="Google Shape;380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1" name="Google Shape;381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0" name="Google Shape;420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21" name="Google Shape;421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423" name="Google Shape;423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4" name="Google Shape;424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5" name="Google Shape;455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56" name="Google Shape;456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458" name="Google Shape;458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9" name="Google Shape;459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b9a622a6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3a0b9a622a6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3a0b9a622a6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hyperlink" Target="https://youtu.be/4JuEebaOUIk" TargetMode="External"/><Relationship Id="rId6" Type="http://schemas.openxmlformats.org/officeDocument/2006/relationships/hyperlink" Target="https://youtu.be/4JuEebaOUI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0b9a622a6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g3a0b9a622a6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{0C2C9585-DC91-4145-85B9-B42307AA8480}</a:tableStyleId>
              </a:tblPr>
              <a:tblGrid>
                <a:gridCol w="3036400"/>
                <a:gridCol w="4344750"/>
              </a:tblGrid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/>
                        <a:t>00</a:t>
                      </a:r>
                      <a:r>
                        <a:rPr lang="en-US" sz="3600" u="none" cap="none" strike="noStrike"/>
                        <a:t>/0</a:t>
                      </a:r>
                      <a:r>
                        <a:rPr lang="en-US" sz="3600"/>
                        <a:t>0</a:t>
                      </a:r>
                      <a:r>
                        <a:rPr lang="en-US" sz="3600" u="none" cap="none" strike="noStrike"/>
                        <a:t>/202</a:t>
                      </a:r>
                      <a:r>
                        <a:rPr lang="en-US" sz="3600"/>
                        <a:t>6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cap="none" strike="noStrike"/>
                        <a:t>7:00 pm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4" name="Google Shape;94;g3a0b9a622a6_0_0"/>
          <p:cNvSpPr txBox="1"/>
          <p:nvPr/>
        </p:nvSpPr>
        <p:spPr>
          <a:xfrm>
            <a:off x="2880350" y="4516600"/>
            <a:ext cx="14708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Organizacionales y Gerenciales 1 [A]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0b9a622a6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Tutor Academico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EE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269140" y="7832650"/>
            <a:ext cx="1460544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0" y="3141906"/>
            <a:ext cx="18288000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Business Analytics y la Toma de Decisiones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pic>
        <p:nvPicPr>
          <p:cNvPr id="105" name="Google Shape;10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175" y="0"/>
            <a:ext cx="11214823" cy="1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EE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/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651754" y="-320617"/>
            <a:ext cx="6140237" cy="3052280"/>
            <a:chOff x="0" y="-95250"/>
            <a:chExt cx="8186982" cy="4069708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131715" y="97566"/>
            <a:ext cx="8416862" cy="2901857"/>
            <a:chOff x="0" y="-76200"/>
            <a:chExt cx="11222483" cy="3869143"/>
          </a:xfrm>
        </p:grpSpPr>
        <p:sp>
          <p:nvSpPr>
            <p:cNvPr id="122" name="Google Shape;122;p2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5" name="Google Shape;125;p2">
              <a:hlinkClick r:id="rId5"/>
            </p:cNvPr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/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/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/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/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/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2D4E5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0" y="4661852"/>
            <a:ext cx="18288000" cy="387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 Capacidad para implementar sistemas de información en la empresa (ERP, SCM, CRM).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 Habilidad para incorporar TIC de acuerdo con necesidades de cambio organizativo.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60" name="Google Shape;16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162" name="Google Shape;162;p4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4"/>
          <p:cNvGrpSpPr/>
          <p:nvPr/>
        </p:nvGrpSpPr>
        <p:grpSpPr>
          <a:xfrm>
            <a:off x="992238" y="3284338"/>
            <a:ext cx="9445526" cy="1935195"/>
            <a:chOff x="0" y="-47625"/>
            <a:chExt cx="12594035" cy="2580259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2594035" cy="2532634"/>
            </a:xfrm>
            <a:custGeom>
              <a:rect b="b" l="l" r="r" t="t"/>
              <a:pathLst>
                <a:path extrusionOk="0" h="253263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532634"/>
                  </a:lnTo>
                  <a:lnTo>
                    <a:pt x="0" y="2532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5" name="Google Shape;165;p4"/>
            <p:cNvSpPr txBox="1"/>
            <p:nvPr/>
          </p:nvSpPr>
          <p:spPr>
            <a:xfrm>
              <a:off x="0" y="-47625"/>
              <a:ext cx="12594035" cy="25802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8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12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Business Analytics y la Toma de Decisiones</a:t>
              </a:r>
              <a:endParaRPr/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992238" y="5541615"/>
            <a:ext cx="9445526" cy="1425179"/>
            <a:chOff x="0" y="-85725"/>
            <a:chExt cx="12594035" cy="1900238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12594035" cy="1814513"/>
            </a:xfrm>
            <a:custGeom>
              <a:rect b="b" l="l" r="r" t="t"/>
              <a:pathLst>
                <a:path extrusionOk="0" h="1814513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-85725"/>
              <a:ext cx="12594035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Business Analytics es clave para competir en mercados dinámicos. Combina datos con análisis para decisiones estratégicas y operativas precisas.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77" name="Google Shape;177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179" name="Google Shape;179;p5"/>
          <p:cNvSpPr/>
          <p:nvPr/>
        </p:nvSpPr>
        <p:spPr>
          <a:xfrm>
            <a:off x="0" y="0"/>
            <a:ext cx="18288000" cy="3544044"/>
          </a:xfrm>
          <a:custGeom>
            <a:rect b="b" l="l" r="r" t="t"/>
            <a:pathLst>
              <a:path extrusionOk="0"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9" r="-8" t="0"/>
            </a:stretch>
          </a:blipFill>
          <a:ln>
            <a:noFill/>
          </a:ln>
        </p:spPr>
      </p:sp>
      <p:grpSp>
        <p:nvGrpSpPr>
          <p:cNvPr id="180" name="Google Shape;180;p5"/>
          <p:cNvGrpSpPr/>
          <p:nvPr/>
        </p:nvGrpSpPr>
        <p:grpSpPr>
          <a:xfrm>
            <a:off x="992238" y="4905226"/>
            <a:ext cx="12974836" cy="966044"/>
            <a:chOff x="0" y="-47625"/>
            <a:chExt cx="17299782" cy="1288058"/>
          </a:xfrm>
        </p:grpSpPr>
        <p:sp>
          <p:nvSpPr>
            <p:cNvPr id="181" name="Google Shape;181;p5"/>
            <p:cNvSpPr/>
            <p:nvPr/>
          </p:nvSpPr>
          <p:spPr>
            <a:xfrm>
              <a:off x="0" y="0"/>
              <a:ext cx="17299781" cy="1240433"/>
            </a:xfrm>
            <a:custGeom>
              <a:rect b="b" l="l" r="r" t="t"/>
              <a:pathLst>
                <a:path extrusionOk="0" h="1240433" w="17299781">
                  <a:moveTo>
                    <a:pt x="0" y="0"/>
                  </a:moveTo>
                  <a:lnTo>
                    <a:pt x="17299781" y="0"/>
                  </a:lnTo>
                  <a:lnTo>
                    <a:pt x="17299781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2" name="Google Shape;182;p5"/>
            <p:cNvSpPr txBox="1"/>
            <p:nvPr/>
          </p:nvSpPr>
          <p:spPr>
            <a:xfrm>
              <a:off x="0" y="-47625"/>
              <a:ext cx="17299782" cy="1288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8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12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Importancia en la Toma de Decisiones</a:t>
              </a:r>
              <a:endParaRPr/>
            </a:p>
          </p:txBody>
        </p:sp>
      </p:grpSp>
      <p:grpSp>
        <p:nvGrpSpPr>
          <p:cNvPr id="183" name="Google Shape;183;p5"/>
          <p:cNvGrpSpPr/>
          <p:nvPr/>
        </p:nvGrpSpPr>
        <p:grpSpPr>
          <a:xfrm>
            <a:off x="987475" y="6291709"/>
            <a:ext cx="5254943" cy="2603182"/>
            <a:chOff x="0" y="0"/>
            <a:chExt cx="7006590" cy="3470910"/>
          </a:xfrm>
        </p:grpSpPr>
        <p:sp>
          <p:nvSpPr>
            <p:cNvPr id="184" name="Google Shape;184;p5"/>
            <p:cNvSpPr/>
            <p:nvPr/>
          </p:nvSpPr>
          <p:spPr>
            <a:xfrm>
              <a:off x="6350" y="6350"/>
              <a:ext cx="6993890" cy="3458210"/>
            </a:xfrm>
            <a:custGeom>
              <a:rect b="b" l="l" r="r" t="t"/>
              <a:pathLst>
                <a:path extrusionOk="0" h="3458210" w="6993890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3299460"/>
                  </a:lnTo>
                  <a:cubicBezTo>
                    <a:pt x="6993890" y="3387090"/>
                    <a:pt x="6922643" y="3458210"/>
                    <a:pt x="6834886" y="3458210"/>
                  </a:cubicBezTo>
                  <a:lnTo>
                    <a:pt x="159004" y="3458210"/>
                  </a:lnTo>
                  <a:cubicBezTo>
                    <a:pt x="71247" y="3458210"/>
                    <a:pt x="0" y="3387090"/>
                    <a:pt x="0" y="3299460"/>
                  </a:cubicBezTo>
                  <a:close/>
                </a:path>
              </a:pathLst>
            </a:custGeom>
            <a:solidFill>
              <a:srgbClr val="CC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0" y="0"/>
              <a:ext cx="7006590" cy="3470910"/>
            </a:xfrm>
            <a:custGeom>
              <a:rect b="b" l="l" r="r" t="t"/>
              <a:pathLst>
                <a:path extrusionOk="0" h="3470910" w="700659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3305810"/>
                  </a:lnTo>
                  <a:lnTo>
                    <a:pt x="7000240" y="3305810"/>
                  </a:lnTo>
                  <a:lnTo>
                    <a:pt x="7006590" y="3305810"/>
                  </a:lnTo>
                  <a:cubicBezTo>
                    <a:pt x="7006590" y="3396996"/>
                    <a:pt x="6932549" y="3470910"/>
                    <a:pt x="6841236" y="3470910"/>
                  </a:cubicBezTo>
                  <a:lnTo>
                    <a:pt x="6841236" y="3464560"/>
                  </a:lnTo>
                  <a:lnTo>
                    <a:pt x="6841236" y="3470910"/>
                  </a:lnTo>
                  <a:lnTo>
                    <a:pt x="165354" y="3470910"/>
                  </a:lnTo>
                  <a:lnTo>
                    <a:pt x="165354" y="3464560"/>
                  </a:lnTo>
                  <a:lnTo>
                    <a:pt x="165354" y="3470910"/>
                  </a:lnTo>
                  <a:cubicBezTo>
                    <a:pt x="74041" y="3470910"/>
                    <a:pt x="0" y="3396996"/>
                    <a:pt x="0" y="330581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305810"/>
                  </a:lnTo>
                  <a:lnTo>
                    <a:pt x="6350" y="3305810"/>
                  </a:lnTo>
                  <a:lnTo>
                    <a:pt x="12700" y="3305810"/>
                  </a:lnTo>
                  <a:cubicBezTo>
                    <a:pt x="12700" y="3390011"/>
                    <a:pt x="81026" y="3458210"/>
                    <a:pt x="165354" y="3458210"/>
                  </a:cubicBezTo>
                  <a:lnTo>
                    <a:pt x="6841236" y="3458210"/>
                  </a:lnTo>
                  <a:cubicBezTo>
                    <a:pt x="6925564" y="3458210"/>
                    <a:pt x="6993890" y="3390011"/>
                    <a:pt x="6993890" y="3305810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236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5"/>
          <p:cNvGrpSpPr/>
          <p:nvPr/>
        </p:nvGrpSpPr>
        <p:grpSpPr>
          <a:xfrm>
            <a:off x="1285280" y="6568083"/>
            <a:ext cx="4659362" cy="951607"/>
            <a:chOff x="0" y="-28575"/>
            <a:chExt cx="6212483" cy="1268810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6212483" cy="1240235"/>
            </a:xfrm>
            <a:custGeom>
              <a:rect b="b" l="l" r="r" t="t"/>
              <a:pathLst>
                <a:path extrusionOk="0" h="1240235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1240235"/>
                  </a:lnTo>
                  <a:lnTo>
                    <a:pt x="0" y="12402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8" name="Google Shape;188;p5"/>
            <p:cNvSpPr txBox="1"/>
            <p:nvPr/>
          </p:nvSpPr>
          <p:spPr>
            <a:xfrm>
              <a:off x="0" y="-28575"/>
              <a:ext cx="6212483" cy="1268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Decisiones basadas en datos</a:t>
              </a:r>
              <a:endParaRPr/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1285280" y="7625506"/>
            <a:ext cx="4659362" cy="971550"/>
            <a:chOff x="0" y="-85725"/>
            <a:chExt cx="6212483" cy="1295400"/>
          </a:xfrm>
        </p:grpSpPr>
        <p:sp>
          <p:nvSpPr>
            <p:cNvPr id="190" name="Google Shape;190;p5"/>
            <p:cNvSpPr/>
            <p:nvPr/>
          </p:nvSpPr>
          <p:spPr>
            <a:xfrm>
              <a:off x="0" y="0"/>
              <a:ext cx="6212483" cy="1209675"/>
            </a:xfrm>
            <a:custGeom>
              <a:rect b="b" l="l" r="r" t="t"/>
              <a:pathLst>
                <a:path extrusionOk="0" h="1209675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1" name="Google Shape;191;p5"/>
            <p:cNvSpPr txBox="1"/>
            <p:nvPr/>
          </p:nvSpPr>
          <p:spPr>
            <a:xfrm>
              <a:off x="0" y="-85725"/>
              <a:ext cx="621248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Evitan la intuición y fundamentan estrategias empresariales.</a:t>
              </a:r>
              <a:endParaRPr/>
            </a:p>
          </p:txBody>
        </p:sp>
      </p:grpSp>
      <p:grpSp>
        <p:nvGrpSpPr>
          <p:cNvPr id="192" name="Google Shape;192;p5"/>
          <p:cNvGrpSpPr/>
          <p:nvPr/>
        </p:nvGrpSpPr>
        <p:grpSpPr>
          <a:xfrm>
            <a:off x="6516440" y="6291709"/>
            <a:ext cx="5254943" cy="2603182"/>
            <a:chOff x="0" y="0"/>
            <a:chExt cx="7006590" cy="3470910"/>
          </a:xfrm>
        </p:grpSpPr>
        <p:sp>
          <p:nvSpPr>
            <p:cNvPr id="193" name="Google Shape;193;p5"/>
            <p:cNvSpPr/>
            <p:nvPr/>
          </p:nvSpPr>
          <p:spPr>
            <a:xfrm>
              <a:off x="6350" y="6350"/>
              <a:ext cx="6993890" cy="3458210"/>
            </a:xfrm>
            <a:custGeom>
              <a:rect b="b" l="l" r="r" t="t"/>
              <a:pathLst>
                <a:path extrusionOk="0" h="3458210" w="6993890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3299460"/>
                  </a:lnTo>
                  <a:cubicBezTo>
                    <a:pt x="6993890" y="3387090"/>
                    <a:pt x="6922643" y="3458210"/>
                    <a:pt x="6834886" y="3458210"/>
                  </a:cubicBezTo>
                  <a:lnTo>
                    <a:pt x="159004" y="3458210"/>
                  </a:lnTo>
                  <a:cubicBezTo>
                    <a:pt x="71247" y="3458210"/>
                    <a:pt x="0" y="3387090"/>
                    <a:pt x="0" y="3299460"/>
                  </a:cubicBezTo>
                  <a:close/>
                </a:path>
              </a:pathLst>
            </a:custGeom>
            <a:solidFill>
              <a:srgbClr val="CC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0" y="0"/>
              <a:ext cx="7006590" cy="3470910"/>
            </a:xfrm>
            <a:custGeom>
              <a:rect b="b" l="l" r="r" t="t"/>
              <a:pathLst>
                <a:path extrusionOk="0" h="3470910" w="700659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3305810"/>
                  </a:lnTo>
                  <a:lnTo>
                    <a:pt x="7000240" y="3305810"/>
                  </a:lnTo>
                  <a:lnTo>
                    <a:pt x="7006590" y="3305810"/>
                  </a:lnTo>
                  <a:cubicBezTo>
                    <a:pt x="7006590" y="3396996"/>
                    <a:pt x="6932549" y="3470910"/>
                    <a:pt x="6841236" y="3470910"/>
                  </a:cubicBezTo>
                  <a:lnTo>
                    <a:pt x="6841236" y="3464560"/>
                  </a:lnTo>
                  <a:lnTo>
                    <a:pt x="6841236" y="3470910"/>
                  </a:lnTo>
                  <a:lnTo>
                    <a:pt x="165354" y="3470910"/>
                  </a:lnTo>
                  <a:lnTo>
                    <a:pt x="165354" y="3464560"/>
                  </a:lnTo>
                  <a:lnTo>
                    <a:pt x="165354" y="3470910"/>
                  </a:lnTo>
                  <a:cubicBezTo>
                    <a:pt x="74041" y="3470910"/>
                    <a:pt x="0" y="3396996"/>
                    <a:pt x="0" y="330581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305810"/>
                  </a:lnTo>
                  <a:lnTo>
                    <a:pt x="6350" y="3305810"/>
                  </a:lnTo>
                  <a:lnTo>
                    <a:pt x="12700" y="3305810"/>
                  </a:lnTo>
                  <a:cubicBezTo>
                    <a:pt x="12700" y="3390011"/>
                    <a:pt x="81026" y="3458210"/>
                    <a:pt x="165354" y="3458210"/>
                  </a:cubicBezTo>
                  <a:lnTo>
                    <a:pt x="6841236" y="3458210"/>
                  </a:lnTo>
                  <a:cubicBezTo>
                    <a:pt x="6925564" y="3458210"/>
                    <a:pt x="6993890" y="3390011"/>
                    <a:pt x="6993890" y="3305810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236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" name="Google Shape;195;p5"/>
          <p:cNvGrpSpPr/>
          <p:nvPr/>
        </p:nvGrpSpPr>
        <p:grpSpPr>
          <a:xfrm>
            <a:off x="6814245" y="6568083"/>
            <a:ext cx="4659362" cy="951607"/>
            <a:chOff x="0" y="-28575"/>
            <a:chExt cx="6212483" cy="1268810"/>
          </a:xfrm>
        </p:grpSpPr>
        <p:sp>
          <p:nvSpPr>
            <p:cNvPr id="196" name="Google Shape;196;p5"/>
            <p:cNvSpPr/>
            <p:nvPr/>
          </p:nvSpPr>
          <p:spPr>
            <a:xfrm>
              <a:off x="0" y="0"/>
              <a:ext cx="6212483" cy="1240235"/>
            </a:xfrm>
            <a:custGeom>
              <a:rect b="b" l="l" r="r" t="t"/>
              <a:pathLst>
                <a:path extrusionOk="0" h="1240235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1240235"/>
                  </a:lnTo>
                  <a:lnTo>
                    <a:pt x="0" y="12402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7" name="Google Shape;197;p5"/>
            <p:cNvSpPr txBox="1"/>
            <p:nvPr/>
          </p:nvSpPr>
          <p:spPr>
            <a:xfrm>
              <a:off x="0" y="-28575"/>
              <a:ext cx="6212483" cy="1268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Identificación de oportunidades</a:t>
              </a:r>
              <a:endParaRPr/>
            </a:p>
          </p:txBody>
        </p:sp>
      </p:grpSp>
      <p:grpSp>
        <p:nvGrpSpPr>
          <p:cNvPr id="198" name="Google Shape;198;p5"/>
          <p:cNvGrpSpPr/>
          <p:nvPr/>
        </p:nvGrpSpPr>
        <p:grpSpPr>
          <a:xfrm>
            <a:off x="6814245" y="7625506"/>
            <a:ext cx="4659362" cy="971550"/>
            <a:chOff x="0" y="-85725"/>
            <a:chExt cx="6212483" cy="1295400"/>
          </a:xfrm>
        </p:grpSpPr>
        <p:sp>
          <p:nvSpPr>
            <p:cNvPr id="199" name="Google Shape;199;p5"/>
            <p:cNvSpPr/>
            <p:nvPr/>
          </p:nvSpPr>
          <p:spPr>
            <a:xfrm>
              <a:off x="0" y="0"/>
              <a:ext cx="6212483" cy="1209675"/>
            </a:xfrm>
            <a:custGeom>
              <a:rect b="b" l="l" r="r" t="t"/>
              <a:pathLst>
                <a:path extrusionOk="0" h="1209675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0" name="Google Shape;200;p5"/>
            <p:cNvSpPr txBox="1"/>
            <p:nvPr/>
          </p:nvSpPr>
          <p:spPr>
            <a:xfrm>
              <a:off x="0" y="-85725"/>
              <a:ext cx="621248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Detectar áreas de mejora y nuevos mercados.</a:t>
              </a:r>
              <a:endParaRPr/>
            </a:p>
          </p:txBody>
        </p:sp>
      </p:grpSp>
      <p:grpSp>
        <p:nvGrpSpPr>
          <p:cNvPr id="201" name="Google Shape;201;p5"/>
          <p:cNvGrpSpPr/>
          <p:nvPr/>
        </p:nvGrpSpPr>
        <p:grpSpPr>
          <a:xfrm>
            <a:off x="12045404" y="6291709"/>
            <a:ext cx="5254943" cy="2603182"/>
            <a:chOff x="0" y="0"/>
            <a:chExt cx="7006590" cy="3470910"/>
          </a:xfrm>
        </p:grpSpPr>
        <p:sp>
          <p:nvSpPr>
            <p:cNvPr id="202" name="Google Shape;202;p5"/>
            <p:cNvSpPr/>
            <p:nvPr/>
          </p:nvSpPr>
          <p:spPr>
            <a:xfrm>
              <a:off x="6350" y="6350"/>
              <a:ext cx="6993890" cy="3458210"/>
            </a:xfrm>
            <a:custGeom>
              <a:rect b="b" l="l" r="r" t="t"/>
              <a:pathLst>
                <a:path extrusionOk="0" h="3458210" w="6993890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3299460"/>
                  </a:lnTo>
                  <a:cubicBezTo>
                    <a:pt x="6993890" y="3387090"/>
                    <a:pt x="6922643" y="3458210"/>
                    <a:pt x="6834886" y="3458210"/>
                  </a:cubicBezTo>
                  <a:lnTo>
                    <a:pt x="159004" y="3458210"/>
                  </a:lnTo>
                  <a:cubicBezTo>
                    <a:pt x="71247" y="3458210"/>
                    <a:pt x="0" y="3387090"/>
                    <a:pt x="0" y="3299460"/>
                  </a:cubicBezTo>
                  <a:close/>
                </a:path>
              </a:pathLst>
            </a:custGeom>
            <a:solidFill>
              <a:srgbClr val="CC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0" y="0"/>
              <a:ext cx="7006590" cy="3470910"/>
            </a:xfrm>
            <a:custGeom>
              <a:rect b="b" l="l" r="r" t="t"/>
              <a:pathLst>
                <a:path extrusionOk="0" h="3470910" w="700659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3305810"/>
                  </a:lnTo>
                  <a:lnTo>
                    <a:pt x="7000240" y="3305810"/>
                  </a:lnTo>
                  <a:lnTo>
                    <a:pt x="7006590" y="3305810"/>
                  </a:lnTo>
                  <a:cubicBezTo>
                    <a:pt x="7006590" y="3396996"/>
                    <a:pt x="6932549" y="3470910"/>
                    <a:pt x="6841236" y="3470910"/>
                  </a:cubicBezTo>
                  <a:lnTo>
                    <a:pt x="6841236" y="3464560"/>
                  </a:lnTo>
                  <a:lnTo>
                    <a:pt x="6841236" y="3470910"/>
                  </a:lnTo>
                  <a:lnTo>
                    <a:pt x="165354" y="3470910"/>
                  </a:lnTo>
                  <a:lnTo>
                    <a:pt x="165354" y="3464560"/>
                  </a:lnTo>
                  <a:lnTo>
                    <a:pt x="165354" y="3470910"/>
                  </a:lnTo>
                  <a:cubicBezTo>
                    <a:pt x="74041" y="3470910"/>
                    <a:pt x="0" y="3396996"/>
                    <a:pt x="0" y="330581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305810"/>
                  </a:lnTo>
                  <a:lnTo>
                    <a:pt x="6350" y="3305810"/>
                  </a:lnTo>
                  <a:lnTo>
                    <a:pt x="12700" y="3305810"/>
                  </a:lnTo>
                  <a:cubicBezTo>
                    <a:pt x="12700" y="3390011"/>
                    <a:pt x="81026" y="3458210"/>
                    <a:pt x="165354" y="3458210"/>
                  </a:cubicBezTo>
                  <a:lnTo>
                    <a:pt x="6841236" y="3458210"/>
                  </a:lnTo>
                  <a:cubicBezTo>
                    <a:pt x="6925564" y="3458210"/>
                    <a:pt x="6993890" y="3390011"/>
                    <a:pt x="6993890" y="3305810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236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" name="Google Shape;204;p5"/>
          <p:cNvGrpSpPr/>
          <p:nvPr/>
        </p:nvGrpSpPr>
        <p:grpSpPr>
          <a:xfrm>
            <a:off x="12343210" y="6568083"/>
            <a:ext cx="3721299" cy="486519"/>
            <a:chOff x="0" y="-28575"/>
            <a:chExt cx="4961732" cy="648692"/>
          </a:xfrm>
        </p:grpSpPr>
        <p:sp>
          <p:nvSpPr>
            <p:cNvPr id="205" name="Google Shape;205;p5"/>
            <p:cNvSpPr/>
            <p:nvPr/>
          </p:nvSpPr>
          <p:spPr>
            <a:xfrm>
              <a:off x="0" y="0"/>
              <a:ext cx="4961732" cy="620117"/>
            </a:xfrm>
            <a:custGeom>
              <a:rect b="b" l="l" r="r" t="t"/>
              <a:pathLst>
                <a:path extrusionOk="0"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6" name="Google Shape;206;p5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Reducción de riesgos</a:t>
              </a:r>
              <a:endParaRPr/>
            </a:p>
          </p:txBody>
        </p:sp>
      </p:grpSp>
      <p:grpSp>
        <p:nvGrpSpPr>
          <p:cNvPr id="207" name="Google Shape;207;p5"/>
          <p:cNvGrpSpPr/>
          <p:nvPr/>
        </p:nvGrpSpPr>
        <p:grpSpPr>
          <a:xfrm>
            <a:off x="12343210" y="7160418"/>
            <a:ext cx="4659362" cy="971550"/>
            <a:chOff x="0" y="-85725"/>
            <a:chExt cx="6212483" cy="1295400"/>
          </a:xfrm>
        </p:grpSpPr>
        <p:sp>
          <p:nvSpPr>
            <p:cNvPr id="208" name="Google Shape;208;p5"/>
            <p:cNvSpPr/>
            <p:nvPr/>
          </p:nvSpPr>
          <p:spPr>
            <a:xfrm>
              <a:off x="0" y="0"/>
              <a:ext cx="6212483" cy="1209675"/>
            </a:xfrm>
            <a:custGeom>
              <a:rect b="b" l="l" r="r" t="t"/>
              <a:pathLst>
                <a:path extrusionOk="0" h="1209675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9" name="Google Shape;209;p5"/>
            <p:cNvSpPr txBox="1"/>
            <p:nvPr/>
          </p:nvSpPr>
          <p:spPr>
            <a:xfrm>
              <a:off x="0" y="-85725"/>
              <a:ext cx="621248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Minimizar errores y optimizar la eficiencia operativa.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18" name="Google Shape;21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grpSp>
        <p:nvGrpSpPr>
          <p:cNvPr id="220" name="Google Shape;220;p6"/>
          <p:cNvGrpSpPr/>
          <p:nvPr/>
        </p:nvGrpSpPr>
        <p:grpSpPr>
          <a:xfrm>
            <a:off x="992238" y="3332709"/>
            <a:ext cx="13423552" cy="966044"/>
            <a:chOff x="0" y="-47625"/>
            <a:chExt cx="17898070" cy="1288058"/>
          </a:xfrm>
        </p:grpSpPr>
        <p:sp>
          <p:nvSpPr>
            <p:cNvPr id="221" name="Google Shape;221;p6"/>
            <p:cNvSpPr/>
            <p:nvPr/>
          </p:nvSpPr>
          <p:spPr>
            <a:xfrm>
              <a:off x="0" y="0"/>
              <a:ext cx="17898070" cy="1240433"/>
            </a:xfrm>
            <a:custGeom>
              <a:rect b="b" l="l" r="r" t="t"/>
              <a:pathLst>
                <a:path extrusionOk="0" h="1240433" w="17898070">
                  <a:moveTo>
                    <a:pt x="0" y="0"/>
                  </a:moveTo>
                  <a:lnTo>
                    <a:pt x="17898070" y="0"/>
                  </a:lnTo>
                  <a:lnTo>
                    <a:pt x="17898070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2" name="Google Shape;222;p6"/>
            <p:cNvSpPr txBox="1"/>
            <p:nvPr/>
          </p:nvSpPr>
          <p:spPr>
            <a:xfrm>
              <a:off x="0" y="-47625"/>
              <a:ext cx="17898070" cy="1288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8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12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Rol del Business Analytics en Empresas</a:t>
              </a:r>
              <a:endParaRPr/>
            </a:p>
          </p:txBody>
        </p:sp>
      </p:grpSp>
      <p:grpSp>
        <p:nvGrpSpPr>
          <p:cNvPr id="223" name="Google Shape;223;p6"/>
          <p:cNvGrpSpPr/>
          <p:nvPr/>
        </p:nvGrpSpPr>
        <p:grpSpPr>
          <a:xfrm>
            <a:off x="992238" y="4986040"/>
            <a:ext cx="4535686" cy="486519"/>
            <a:chOff x="0" y="-28575"/>
            <a:chExt cx="6047582" cy="648692"/>
          </a:xfrm>
        </p:grpSpPr>
        <p:sp>
          <p:nvSpPr>
            <p:cNvPr id="224" name="Google Shape;224;p6"/>
            <p:cNvSpPr/>
            <p:nvPr/>
          </p:nvSpPr>
          <p:spPr>
            <a:xfrm>
              <a:off x="0" y="0"/>
              <a:ext cx="6047582" cy="620117"/>
            </a:xfrm>
            <a:custGeom>
              <a:rect b="b" l="l" r="r" t="t"/>
              <a:pathLst>
                <a:path extrusionOk="0" h="620117" w="6047582">
                  <a:moveTo>
                    <a:pt x="0" y="0"/>
                  </a:moveTo>
                  <a:lnTo>
                    <a:pt x="6047582" y="0"/>
                  </a:lnTo>
                  <a:lnTo>
                    <a:pt x="604758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5" name="Google Shape;225;p6"/>
            <p:cNvSpPr txBox="1"/>
            <p:nvPr/>
          </p:nvSpPr>
          <p:spPr>
            <a:xfrm>
              <a:off x="0" y="-28575"/>
              <a:ext cx="6047582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Evaluación del desempeño</a:t>
              </a:r>
              <a:endParaRPr/>
            </a:p>
          </p:txBody>
        </p:sp>
      </p:grpSp>
      <p:grpSp>
        <p:nvGrpSpPr>
          <p:cNvPr id="226" name="Google Shape;226;p6"/>
          <p:cNvGrpSpPr/>
          <p:nvPr/>
        </p:nvGrpSpPr>
        <p:grpSpPr>
          <a:xfrm>
            <a:off x="992238" y="5691782"/>
            <a:ext cx="4972645" cy="971550"/>
            <a:chOff x="0" y="-85725"/>
            <a:chExt cx="6630193" cy="1295400"/>
          </a:xfrm>
        </p:grpSpPr>
        <p:sp>
          <p:nvSpPr>
            <p:cNvPr id="227" name="Google Shape;227;p6"/>
            <p:cNvSpPr/>
            <p:nvPr/>
          </p:nvSpPr>
          <p:spPr>
            <a:xfrm>
              <a:off x="0" y="0"/>
              <a:ext cx="6630193" cy="1209675"/>
            </a:xfrm>
            <a:custGeom>
              <a:rect b="b" l="l" r="r" t="t"/>
              <a:pathLst>
                <a:path extrusionOk="0"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8" name="Google Shape;228;p6"/>
            <p:cNvSpPr txBox="1"/>
            <p:nvPr/>
          </p:nvSpPr>
          <p:spPr>
            <a:xfrm>
              <a:off x="0" y="-85725"/>
              <a:ext cx="663019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Métricas clave para medir resultados y productividad.</a:t>
              </a:r>
              <a:endParaRPr/>
            </a:p>
          </p:txBody>
        </p:sp>
      </p:grpSp>
      <p:grpSp>
        <p:nvGrpSpPr>
          <p:cNvPr id="229" name="Google Shape;229;p6"/>
          <p:cNvGrpSpPr/>
          <p:nvPr/>
        </p:nvGrpSpPr>
        <p:grpSpPr>
          <a:xfrm>
            <a:off x="6666160" y="4986040"/>
            <a:ext cx="4486870" cy="486519"/>
            <a:chOff x="0" y="-28575"/>
            <a:chExt cx="5982493" cy="648692"/>
          </a:xfrm>
        </p:grpSpPr>
        <p:sp>
          <p:nvSpPr>
            <p:cNvPr id="230" name="Google Shape;230;p6"/>
            <p:cNvSpPr/>
            <p:nvPr/>
          </p:nvSpPr>
          <p:spPr>
            <a:xfrm>
              <a:off x="0" y="0"/>
              <a:ext cx="5982493" cy="620117"/>
            </a:xfrm>
            <a:custGeom>
              <a:rect b="b" l="l" r="r" t="t"/>
              <a:pathLst>
                <a:path extrusionOk="0" h="620117" w="5982493">
                  <a:moveTo>
                    <a:pt x="0" y="0"/>
                  </a:moveTo>
                  <a:lnTo>
                    <a:pt x="5982493" y="0"/>
                  </a:lnTo>
                  <a:lnTo>
                    <a:pt x="5982493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1" name="Google Shape;231;p6"/>
            <p:cNvSpPr txBox="1"/>
            <p:nvPr/>
          </p:nvSpPr>
          <p:spPr>
            <a:xfrm>
              <a:off x="0" y="-28575"/>
              <a:ext cx="5982493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Pronóstico y planificación</a:t>
              </a:r>
              <a:endParaRPr/>
            </a:p>
          </p:txBody>
        </p:sp>
      </p:grpSp>
      <p:grpSp>
        <p:nvGrpSpPr>
          <p:cNvPr id="232" name="Google Shape;232;p6"/>
          <p:cNvGrpSpPr/>
          <p:nvPr/>
        </p:nvGrpSpPr>
        <p:grpSpPr>
          <a:xfrm>
            <a:off x="6666160" y="5691782"/>
            <a:ext cx="4972645" cy="971550"/>
            <a:chOff x="0" y="-85725"/>
            <a:chExt cx="6630193" cy="1295400"/>
          </a:xfrm>
        </p:grpSpPr>
        <p:sp>
          <p:nvSpPr>
            <p:cNvPr id="233" name="Google Shape;233;p6"/>
            <p:cNvSpPr/>
            <p:nvPr/>
          </p:nvSpPr>
          <p:spPr>
            <a:xfrm>
              <a:off x="0" y="0"/>
              <a:ext cx="6630193" cy="1209675"/>
            </a:xfrm>
            <a:custGeom>
              <a:rect b="b" l="l" r="r" t="t"/>
              <a:pathLst>
                <a:path extrusionOk="0"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4" name="Google Shape;234;p6"/>
            <p:cNvSpPr txBox="1"/>
            <p:nvPr/>
          </p:nvSpPr>
          <p:spPr>
            <a:xfrm>
              <a:off x="0" y="-85725"/>
              <a:ext cx="663019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Anticipar tendencias para tomar decisiones informadas.</a:t>
              </a:r>
              <a:endParaRPr/>
            </a:p>
          </p:txBody>
        </p:sp>
      </p:grpSp>
      <p:grpSp>
        <p:nvGrpSpPr>
          <p:cNvPr id="235" name="Google Shape;235;p6"/>
          <p:cNvGrpSpPr/>
          <p:nvPr/>
        </p:nvGrpSpPr>
        <p:grpSpPr>
          <a:xfrm>
            <a:off x="12340084" y="4986040"/>
            <a:ext cx="4354860" cy="486519"/>
            <a:chOff x="0" y="-28575"/>
            <a:chExt cx="5806480" cy="648692"/>
          </a:xfrm>
        </p:grpSpPr>
        <p:sp>
          <p:nvSpPr>
            <p:cNvPr id="236" name="Google Shape;236;p6"/>
            <p:cNvSpPr/>
            <p:nvPr/>
          </p:nvSpPr>
          <p:spPr>
            <a:xfrm>
              <a:off x="0" y="0"/>
              <a:ext cx="5806480" cy="620117"/>
            </a:xfrm>
            <a:custGeom>
              <a:rect b="b" l="l" r="r" t="t"/>
              <a:pathLst>
                <a:path extrusionOk="0" h="620117" w="5806480">
                  <a:moveTo>
                    <a:pt x="0" y="0"/>
                  </a:moveTo>
                  <a:lnTo>
                    <a:pt x="5806480" y="0"/>
                  </a:lnTo>
                  <a:lnTo>
                    <a:pt x="5806480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7" name="Google Shape;237;p6"/>
            <p:cNvSpPr txBox="1"/>
            <p:nvPr/>
          </p:nvSpPr>
          <p:spPr>
            <a:xfrm>
              <a:off x="0" y="-28575"/>
              <a:ext cx="5806480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Optimización de recursos</a:t>
              </a:r>
              <a:endParaRPr/>
            </a:p>
          </p:txBody>
        </p:sp>
      </p:grpSp>
      <p:grpSp>
        <p:nvGrpSpPr>
          <p:cNvPr id="238" name="Google Shape;238;p6"/>
          <p:cNvGrpSpPr/>
          <p:nvPr/>
        </p:nvGrpSpPr>
        <p:grpSpPr>
          <a:xfrm>
            <a:off x="12340084" y="5691782"/>
            <a:ext cx="4972645" cy="971550"/>
            <a:chOff x="0" y="-85725"/>
            <a:chExt cx="6630193" cy="1295400"/>
          </a:xfrm>
        </p:grpSpPr>
        <p:sp>
          <p:nvSpPr>
            <p:cNvPr id="239" name="Google Shape;239;p6"/>
            <p:cNvSpPr/>
            <p:nvPr/>
          </p:nvSpPr>
          <p:spPr>
            <a:xfrm>
              <a:off x="0" y="0"/>
              <a:ext cx="6630193" cy="1209675"/>
            </a:xfrm>
            <a:custGeom>
              <a:rect b="b" l="l" r="r" t="t"/>
              <a:pathLst>
                <a:path extrusionOk="0"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0" name="Google Shape;240;p6"/>
            <p:cNvSpPr txBox="1"/>
            <p:nvPr/>
          </p:nvSpPr>
          <p:spPr>
            <a:xfrm>
              <a:off x="0" y="-85725"/>
              <a:ext cx="663019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Mejorar la gestión interna y procesos empresariales.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49" name="Google Shape;24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251" name="Google Shape;251;p7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2" name="Google Shape;252;p7"/>
          <p:cNvGrpSpPr/>
          <p:nvPr/>
        </p:nvGrpSpPr>
        <p:grpSpPr>
          <a:xfrm>
            <a:off x="992238" y="1512093"/>
            <a:ext cx="9445526" cy="1896368"/>
            <a:chOff x="0" y="-47625"/>
            <a:chExt cx="12594035" cy="2528490"/>
          </a:xfrm>
        </p:grpSpPr>
        <p:sp>
          <p:nvSpPr>
            <p:cNvPr id="253" name="Google Shape;253;p7"/>
            <p:cNvSpPr/>
            <p:nvPr/>
          </p:nvSpPr>
          <p:spPr>
            <a:xfrm>
              <a:off x="0" y="0"/>
              <a:ext cx="12594035" cy="2480865"/>
            </a:xfrm>
            <a:custGeom>
              <a:rect b="b" l="l" r="r" t="t"/>
              <a:pathLst>
                <a:path extrusionOk="0" h="248086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480865"/>
                  </a:lnTo>
                  <a:lnTo>
                    <a:pt x="0" y="24808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4" name="Google Shape;254;p7"/>
            <p:cNvSpPr txBox="1"/>
            <p:nvPr/>
          </p:nvSpPr>
          <p:spPr>
            <a:xfrm>
              <a:off x="0" y="-47625"/>
              <a:ext cx="12594035" cy="2528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8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12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Ejemplos de Business Analytics</a:t>
              </a:r>
              <a:endParaRPr/>
            </a:p>
          </p:txBody>
        </p:sp>
      </p:grpSp>
      <p:sp>
        <p:nvSpPr>
          <p:cNvPr descr="preencoded.png" id="255" name="Google Shape;255;p7"/>
          <p:cNvSpPr/>
          <p:nvPr/>
        </p:nvSpPr>
        <p:spPr>
          <a:xfrm>
            <a:off x="992238" y="3883224"/>
            <a:ext cx="708720" cy="708720"/>
          </a:xfrm>
          <a:custGeom>
            <a:rect b="b" l="l" r="r" t="t"/>
            <a:pathLst>
              <a:path extrusionOk="0" h="708720" w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6" name="Google Shape;256;p7"/>
          <p:cNvGrpSpPr/>
          <p:nvPr/>
        </p:nvGrpSpPr>
        <p:grpSpPr>
          <a:xfrm>
            <a:off x="1984474" y="3980558"/>
            <a:ext cx="4058096" cy="486518"/>
            <a:chOff x="0" y="-28575"/>
            <a:chExt cx="5410795" cy="648692"/>
          </a:xfrm>
        </p:grpSpPr>
        <p:sp>
          <p:nvSpPr>
            <p:cNvPr id="257" name="Google Shape;257;p7"/>
            <p:cNvSpPr/>
            <p:nvPr/>
          </p:nvSpPr>
          <p:spPr>
            <a:xfrm>
              <a:off x="0" y="0"/>
              <a:ext cx="5410795" cy="620117"/>
            </a:xfrm>
            <a:custGeom>
              <a:rect b="b" l="l" r="r" t="t"/>
              <a:pathLst>
                <a:path extrusionOk="0" h="620117" w="5410795">
                  <a:moveTo>
                    <a:pt x="0" y="0"/>
                  </a:moveTo>
                  <a:lnTo>
                    <a:pt x="5410795" y="0"/>
                  </a:lnTo>
                  <a:lnTo>
                    <a:pt x="5410795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8" name="Google Shape;258;p7"/>
            <p:cNvSpPr txBox="1"/>
            <p:nvPr/>
          </p:nvSpPr>
          <p:spPr>
            <a:xfrm>
              <a:off x="0" y="-28575"/>
              <a:ext cx="5410795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Proyección de demanda</a:t>
              </a:r>
              <a:endParaRPr/>
            </a:p>
          </p:txBody>
        </p:sp>
      </p:grpSp>
      <p:grpSp>
        <p:nvGrpSpPr>
          <p:cNvPr id="259" name="Google Shape;259;p7"/>
          <p:cNvGrpSpPr/>
          <p:nvPr/>
        </p:nvGrpSpPr>
        <p:grpSpPr>
          <a:xfrm>
            <a:off x="1984474" y="4572892"/>
            <a:ext cx="8453289" cy="517923"/>
            <a:chOff x="0" y="-85725"/>
            <a:chExt cx="11271052" cy="690563"/>
          </a:xfrm>
        </p:grpSpPr>
        <p:sp>
          <p:nvSpPr>
            <p:cNvPr id="260" name="Google Shape;260;p7"/>
            <p:cNvSpPr/>
            <p:nvPr/>
          </p:nvSpPr>
          <p:spPr>
            <a:xfrm>
              <a:off x="0" y="0"/>
              <a:ext cx="11271052" cy="604838"/>
            </a:xfrm>
            <a:custGeom>
              <a:rect b="b" l="l" r="r" t="t"/>
              <a:pathLst>
                <a:path extrusionOk="0" h="604838" w="11271052">
                  <a:moveTo>
                    <a:pt x="0" y="0"/>
                  </a:moveTo>
                  <a:lnTo>
                    <a:pt x="11271052" y="0"/>
                  </a:lnTo>
                  <a:lnTo>
                    <a:pt x="1127105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1" name="Google Shape;261;p7"/>
            <p:cNvSpPr txBox="1"/>
            <p:nvPr/>
          </p:nvSpPr>
          <p:spPr>
            <a:xfrm>
              <a:off x="0" y="-85725"/>
              <a:ext cx="11271052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Analizar ventas históricas para planificar inventarios.</a:t>
              </a:r>
              <a:endParaRPr/>
            </a:p>
          </p:txBody>
        </p:sp>
      </p:grpSp>
      <p:sp>
        <p:nvSpPr>
          <p:cNvPr descr="preencoded.png" id="262" name="Google Shape;262;p7"/>
          <p:cNvSpPr/>
          <p:nvPr/>
        </p:nvSpPr>
        <p:spPr>
          <a:xfrm>
            <a:off x="992238" y="5707410"/>
            <a:ext cx="708720" cy="708720"/>
          </a:xfrm>
          <a:custGeom>
            <a:rect b="b" l="l" r="r" t="t"/>
            <a:pathLst>
              <a:path extrusionOk="0" h="708720" w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3" name="Google Shape;263;p7"/>
          <p:cNvGrpSpPr/>
          <p:nvPr/>
        </p:nvGrpSpPr>
        <p:grpSpPr>
          <a:xfrm>
            <a:off x="1984474" y="5804744"/>
            <a:ext cx="4333726" cy="486519"/>
            <a:chOff x="0" y="-28575"/>
            <a:chExt cx="5778302" cy="648692"/>
          </a:xfrm>
        </p:grpSpPr>
        <p:sp>
          <p:nvSpPr>
            <p:cNvPr id="264" name="Google Shape;264;p7"/>
            <p:cNvSpPr/>
            <p:nvPr/>
          </p:nvSpPr>
          <p:spPr>
            <a:xfrm>
              <a:off x="0" y="0"/>
              <a:ext cx="5778302" cy="620117"/>
            </a:xfrm>
            <a:custGeom>
              <a:rect b="b" l="l" r="r" t="t"/>
              <a:pathLst>
                <a:path extrusionOk="0" h="620117" w="5778302">
                  <a:moveTo>
                    <a:pt x="0" y="0"/>
                  </a:moveTo>
                  <a:lnTo>
                    <a:pt x="5778302" y="0"/>
                  </a:lnTo>
                  <a:lnTo>
                    <a:pt x="577830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5" name="Google Shape;265;p7"/>
            <p:cNvSpPr txBox="1"/>
            <p:nvPr/>
          </p:nvSpPr>
          <p:spPr>
            <a:xfrm>
              <a:off x="0" y="-28575"/>
              <a:ext cx="5778302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Segmentación de clientes</a:t>
              </a:r>
              <a:endParaRPr/>
            </a:p>
          </p:txBody>
        </p:sp>
      </p:grpSp>
      <p:grpSp>
        <p:nvGrpSpPr>
          <p:cNvPr id="266" name="Google Shape;266;p7"/>
          <p:cNvGrpSpPr/>
          <p:nvPr/>
        </p:nvGrpSpPr>
        <p:grpSpPr>
          <a:xfrm>
            <a:off x="1984474" y="6397078"/>
            <a:ext cx="8453289" cy="517923"/>
            <a:chOff x="0" y="-85725"/>
            <a:chExt cx="11271052" cy="690563"/>
          </a:xfrm>
        </p:grpSpPr>
        <p:sp>
          <p:nvSpPr>
            <p:cNvPr id="267" name="Google Shape;267;p7"/>
            <p:cNvSpPr/>
            <p:nvPr/>
          </p:nvSpPr>
          <p:spPr>
            <a:xfrm>
              <a:off x="0" y="0"/>
              <a:ext cx="11271052" cy="604838"/>
            </a:xfrm>
            <a:custGeom>
              <a:rect b="b" l="l" r="r" t="t"/>
              <a:pathLst>
                <a:path extrusionOk="0" h="604838" w="11271052">
                  <a:moveTo>
                    <a:pt x="0" y="0"/>
                  </a:moveTo>
                  <a:lnTo>
                    <a:pt x="11271052" y="0"/>
                  </a:lnTo>
                  <a:lnTo>
                    <a:pt x="1127105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8" name="Google Shape;268;p7"/>
            <p:cNvSpPr txBox="1"/>
            <p:nvPr/>
          </p:nvSpPr>
          <p:spPr>
            <a:xfrm>
              <a:off x="0" y="-85725"/>
              <a:ext cx="11271052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Personalizar ofertas para mejorar la experiencia.</a:t>
              </a:r>
              <a:endParaRPr/>
            </a:p>
          </p:txBody>
        </p:sp>
      </p:grpSp>
      <p:sp>
        <p:nvSpPr>
          <p:cNvPr descr="preencoded.png" id="269" name="Google Shape;269;p7"/>
          <p:cNvSpPr/>
          <p:nvPr/>
        </p:nvSpPr>
        <p:spPr>
          <a:xfrm>
            <a:off x="992238" y="7531596"/>
            <a:ext cx="708720" cy="708720"/>
          </a:xfrm>
          <a:custGeom>
            <a:rect b="b" l="l" r="r" t="t"/>
            <a:pathLst>
              <a:path extrusionOk="0" h="708720" w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0" name="Google Shape;270;p7"/>
          <p:cNvGrpSpPr/>
          <p:nvPr/>
        </p:nvGrpSpPr>
        <p:grpSpPr>
          <a:xfrm>
            <a:off x="1984474" y="7628930"/>
            <a:ext cx="3721299" cy="486519"/>
            <a:chOff x="0" y="-28575"/>
            <a:chExt cx="4961732" cy="648692"/>
          </a:xfrm>
        </p:grpSpPr>
        <p:sp>
          <p:nvSpPr>
            <p:cNvPr id="271" name="Google Shape;271;p7"/>
            <p:cNvSpPr/>
            <p:nvPr/>
          </p:nvSpPr>
          <p:spPr>
            <a:xfrm>
              <a:off x="0" y="0"/>
              <a:ext cx="4961732" cy="620117"/>
            </a:xfrm>
            <a:custGeom>
              <a:rect b="b" l="l" r="r" t="t"/>
              <a:pathLst>
                <a:path extrusionOk="0"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2" name="Google Shape;272;p7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Detección de fraudes</a:t>
              </a:r>
              <a:endParaRPr/>
            </a:p>
          </p:txBody>
        </p:sp>
      </p:grpSp>
      <p:grpSp>
        <p:nvGrpSpPr>
          <p:cNvPr id="273" name="Google Shape;273;p7"/>
          <p:cNvGrpSpPr/>
          <p:nvPr/>
        </p:nvGrpSpPr>
        <p:grpSpPr>
          <a:xfrm>
            <a:off x="1984474" y="8221266"/>
            <a:ext cx="8453289" cy="517923"/>
            <a:chOff x="0" y="-85725"/>
            <a:chExt cx="11271052" cy="690563"/>
          </a:xfrm>
        </p:grpSpPr>
        <p:sp>
          <p:nvSpPr>
            <p:cNvPr id="274" name="Google Shape;274;p7"/>
            <p:cNvSpPr/>
            <p:nvPr/>
          </p:nvSpPr>
          <p:spPr>
            <a:xfrm>
              <a:off x="0" y="0"/>
              <a:ext cx="11271052" cy="604838"/>
            </a:xfrm>
            <a:custGeom>
              <a:rect b="b" l="l" r="r" t="t"/>
              <a:pathLst>
                <a:path extrusionOk="0" h="604838" w="11271052">
                  <a:moveTo>
                    <a:pt x="0" y="0"/>
                  </a:moveTo>
                  <a:lnTo>
                    <a:pt x="11271052" y="0"/>
                  </a:lnTo>
                  <a:lnTo>
                    <a:pt x="1127105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5" name="Google Shape;275;p7"/>
            <p:cNvSpPr txBox="1"/>
            <p:nvPr/>
          </p:nvSpPr>
          <p:spPr>
            <a:xfrm>
              <a:off x="0" y="-85725"/>
              <a:ext cx="11271052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Monitorizar transacciones para identificar anomalías.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84" name="Google Shape;284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286" name="Google Shape;286;p8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7" name="Google Shape;287;p8"/>
          <p:cNvGrpSpPr/>
          <p:nvPr/>
        </p:nvGrpSpPr>
        <p:grpSpPr>
          <a:xfrm>
            <a:off x="992238" y="2279897"/>
            <a:ext cx="9279434" cy="966044"/>
            <a:chOff x="0" y="-47625"/>
            <a:chExt cx="12372578" cy="1288058"/>
          </a:xfrm>
        </p:grpSpPr>
        <p:sp>
          <p:nvSpPr>
            <p:cNvPr id="288" name="Google Shape;288;p8"/>
            <p:cNvSpPr/>
            <p:nvPr/>
          </p:nvSpPr>
          <p:spPr>
            <a:xfrm>
              <a:off x="0" y="0"/>
              <a:ext cx="12372578" cy="1240433"/>
            </a:xfrm>
            <a:custGeom>
              <a:rect b="b" l="l" r="r" t="t"/>
              <a:pathLst>
                <a:path extrusionOk="0" h="1240433" w="12372578">
                  <a:moveTo>
                    <a:pt x="0" y="0"/>
                  </a:moveTo>
                  <a:lnTo>
                    <a:pt x="12372578" y="0"/>
                  </a:lnTo>
                  <a:lnTo>
                    <a:pt x="12372578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9" name="Google Shape;289;p8"/>
            <p:cNvSpPr txBox="1"/>
            <p:nvPr/>
          </p:nvSpPr>
          <p:spPr>
            <a:xfrm>
              <a:off x="0" y="-47625"/>
              <a:ext cx="12372578" cy="1288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8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12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Casos de Éxito Empresarial</a:t>
              </a:r>
              <a:endParaRPr/>
            </a:p>
          </p:txBody>
        </p:sp>
      </p:grpSp>
      <p:grpSp>
        <p:nvGrpSpPr>
          <p:cNvPr id="290" name="Google Shape;290;p8"/>
          <p:cNvGrpSpPr/>
          <p:nvPr/>
        </p:nvGrpSpPr>
        <p:grpSpPr>
          <a:xfrm>
            <a:off x="987475" y="3666381"/>
            <a:ext cx="647414" cy="647414"/>
            <a:chOff x="0" y="0"/>
            <a:chExt cx="863219" cy="863219"/>
          </a:xfrm>
        </p:grpSpPr>
        <p:sp>
          <p:nvSpPr>
            <p:cNvPr id="291" name="Google Shape;291;p8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CC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" name="Google Shape;293;p8"/>
          <p:cNvGrpSpPr/>
          <p:nvPr/>
        </p:nvGrpSpPr>
        <p:grpSpPr>
          <a:xfrm>
            <a:off x="1913632" y="3747046"/>
            <a:ext cx="3624263" cy="486518"/>
            <a:chOff x="0" y="-28575"/>
            <a:chExt cx="4832350" cy="648692"/>
          </a:xfrm>
        </p:grpSpPr>
        <p:sp>
          <p:nvSpPr>
            <p:cNvPr id="294" name="Google Shape;294;p8"/>
            <p:cNvSpPr/>
            <p:nvPr/>
          </p:nvSpPr>
          <p:spPr>
            <a:xfrm>
              <a:off x="0" y="0"/>
              <a:ext cx="4832350" cy="620117"/>
            </a:xfrm>
            <a:custGeom>
              <a:rect b="b" l="l" r="r" t="t"/>
              <a:pathLst>
                <a:path extrusionOk="0" h="620117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5" name="Google Shape;295;p8"/>
            <p:cNvSpPr txBox="1"/>
            <p:nvPr/>
          </p:nvSpPr>
          <p:spPr>
            <a:xfrm>
              <a:off x="0" y="-28575"/>
              <a:ext cx="4832350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Amazon</a:t>
              </a:r>
              <a:endParaRPr/>
            </a:p>
          </p:txBody>
        </p:sp>
      </p:grpSp>
      <p:grpSp>
        <p:nvGrpSpPr>
          <p:cNvPr id="296" name="Google Shape;296;p8"/>
          <p:cNvGrpSpPr/>
          <p:nvPr/>
        </p:nvGrpSpPr>
        <p:grpSpPr>
          <a:xfrm>
            <a:off x="1913632" y="4339381"/>
            <a:ext cx="3624263" cy="1878806"/>
            <a:chOff x="0" y="-85725"/>
            <a:chExt cx="4832350" cy="2505075"/>
          </a:xfrm>
        </p:grpSpPr>
        <p:sp>
          <p:nvSpPr>
            <p:cNvPr id="297" name="Google Shape;297;p8"/>
            <p:cNvSpPr/>
            <p:nvPr/>
          </p:nvSpPr>
          <p:spPr>
            <a:xfrm>
              <a:off x="0" y="0"/>
              <a:ext cx="4832350" cy="2419350"/>
            </a:xfrm>
            <a:custGeom>
              <a:rect b="b" l="l" r="r" t="t"/>
              <a:pathLst>
                <a:path extrusionOk="0" h="2419350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8" name="Google Shape;298;p8"/>
            <p:cNvSpPr txBox="1"/>
            <p:nvPr/>
          </p:nvSpPr>
          <p:spPr>
            <a:xfrm>
              <a:off x="0" y="-85725"/>
              <a:ext cx="4832350" cy="2505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Personaliza recomendaciones y optimiza logística predictiva.</a:t>
              </a:r>
              <a:endParaRPr/>
            </a:p>
          </p:txBody>
        </p:sp>
      </p:grpSp>
      <p:grpSp>
        <p:nvGrpSpPr>
          <p:cNvPr id="299" name="Google Shape;299;p8"/>
          <p:cNvGrpSpPr/>
          <p:nvPr/>
        </p:nvGrpSpPr>
        <p:grpSpPr>
          <a:xfrm>
            <a:off x="5887491" y="3666381"/>
            <a:ext cx="647415" cy="647414"/>
            <a:chOff x="0" y="0"/>
            <a:chExt cx="863219" cy="863219"/>
          </a:xfrm>
        </p:grpSpPr>
        <p:sp>
          <p:nvSpPr>
            <p:cNvPr id="300" name="Google Shape;300;p8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CC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8"/>
          <p:cNvGrpSpPr/>
          <p:nvPr/>
        </p:nvGrpSpPr>
        <p:grpSpPr>
          <a:xfrm>
            <a:off x="6813649" y="3747046"/>
            <a:ext cx="3624262" cy="486518"/>
            <a:chOff x="0" y="-28575"/>
            <a:chExt cx="4832350" cy="648692"/>
          </a:xfrm>
        </p:grpSpPr>
        <p:sp>
          <p:nvSpPr>
            <p:cNvPr id="303" name="Google Shape;303;p8"/>
            <p:cNvSpPr/>
            <p:nvPr/>
          </p:nvSpPr>
          <p:spPr>
            <a:xfrm>
              <a:off x="0" y="0"/>
              <a:ext cx="4832350" cy="620117"/>
            </a:xfrm>
            <a:custGeom>
              <a:rect b="b" l="l" r="r" t="t"/>
              <a:pathLst>
                <a:path extrusionOk="0" h="620117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4" name="Google Shape;304;p8"/>
            <p:cNvSpPr txBox="1"/>
            <p:nvPr/>
          </p:nvSpPr>
          <p:spPr>
            <a:xfrm>
              <a:off x="0" y="-28575"/>
              <a:ext cx="4832350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Netflix</a:t>
              </a:r>
              <a:endParaRPr/>
            </a:p>
          </p:txBody>
        </p:sp>
      </p:grpSp>
      <p:grpSp>
        <p:nvGrpSpPr>
          <p:cNvPr id="305" name="Google Shape;305;p8"/>
          <p:cNvGrpSpPr/>
          <p:nvPr/>
        </p:nvGrpSpPr>
        <p:grpSpPr>
          <a:xfrm>
            <a:off x="6813649" y="4339381"/>
            <a:ext cx="3624262" cy="1878806"/>
            <a:chOff x="0" y="-85725"/>
            <a:chExt cx="4832350" cy="2505075"/>
          </a:xfrm>
        </p:grpSpPr>
        <p:sp>
          <p:nvSpPr>
            <p:cNvPr id="306" name="Google Shape;306;p8"/>
            <p:cNvSpPr/>
            <p:nvPr/>
          </p:nvSpPr>
          <p:spPr>
            <a:xfrm>
              <a:off x="0" y="0"/>
              <a:ext cx="4832350" cy="2419350"/>
            </a:xfrm>
            <a:custGeom>
              <a:rect b="b" l="l" r="r" t="t"/>
              <a:pathLst>
                <a:path extrusionOk="0" h="2419350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7" name="Google Shape;307;p8"/>
            <p:cNvSpPr txBox="1"/>
            <p:nvPr/>
          </p:nvSpPr>
          <p:spPr>
            <a:xfrm>
              <a:off x="0" y="-85725"/>
              <a:ext cx="4832350" cy="2505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Emplea modelos predictivos para sugerir contenidos personalizados.</a:t>
              </a:r>
              <a:endParaRPr/>
            </a:p>
          </p:txBody>
        </p:sp>
      </p:grpSp>
      <p:grpSp>
        <p:nvGrpSpPr>
          <p:cNvPr id="308" name="Google Shape;308;p8"/>
          <p:cNvGrpSpPr/>
          <p:nvPr/>
        </p:nvGrpSpPr>
        <p:grpSpPr>
          <a:xfrm>
            <a:off x="987475" y="6780460"/>
            <a:ext cx="647414" cy="647415"/>
            <a:chOff x="0" y="0"/>
            <a:chExt cx="863219" cy="863219"/>
          </a:xfrm>
        </p:grpSpPr>
        <p:sp>
          <p:nvSpPr>
            <p:cNvPr id="309" name="Google Shape;309;p8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CC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8"/>
          <p:cNvGrpSpPr/>
          <p:nvPr/>
        </p:nvGrpSpPr>
        <p:grpSpPr>
          <a:xfrm>
            <a:off x="1913632" y="6861125"/>
            <a:ext cx="3721299" cy="486519"/>
            <a:chOff x="0" y="-28575"/>
            <a:chExt cx="4961732" cy="648692"/>
          </a:xfrm>
        </p:grpSpPr>
        <p:sp>
          <p:nvSpPr>
            <p:cNvPr id="312" name="Google Shape;312;p8"/>
            <p:cNvSpPr/>
            <p:nvPr/>
          </p:nvSpPr>
          <p:spPr>
            <a:xfrm>
              <a:off x="0" y="0"/>
              <a:ext cx="4961732" cy="620117"/>
            </a:xfrm>
            <a:custGeom>
              <a:rect b="b" l="l" r="r" t="t"/>
              <a:pathLst>
                <a:path extrusionOk="0"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3" name="Google Shape;313;p8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Zara</a:t>
              </a:r>
              <a:endParaRPr/>
            </a:p>
          </p:txBody>
        </p:sp>
      </p:grpSp>
      <p:grpSp>
        <p:nvGrpSpPr>
          <p:cNvPr id="314" name="Google Shape;314;p8"/>
          <p:cNvGrpSpPr/>
          <p:nvPr/>
        </p:nvGrpSpPr>
        <p:grpSpPr>
          <a:xfrm>
            <a:off x="1913632" y="7453461"/>
            <a:ext cx="8524132" cy="517923"/>
            <a:chOff x="0" y="-85725"/>
            <a:chExt cx="11365509" cy="690563"/>
          </a:xfrm>
        </p:grpSpPr>
        <p:sp>
          <p:nvSpPr>
            <p:cNvPr id="315" name="Google Shape;315;p8"/>
            <p:cNvSpPr/>
            <p:nvPr/>
          </p:nvSpPr>
          <p:spPr>
            <a:xfrm>
              <a:off x="0" y="0"/>
              <a:ext cx="11365509" cy="604838"/>
            </a:xfrm>
            <a:custGeom>
              <a:rect b="b" l="l" r="r" t="t"/>
              <a:pathLst>
                <a:path extrusionOk="0"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6" name="Google Shape;316;p8"/>
            <p:cNvSpPr txBox="1"/>
            <p:nvPr/>
          </p:nvSpPr>
          <p:spPr>
            <a:xfrm>
              <a:off x="0" y="-85725"/>
              <a:ext cx="1136550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Gestiona inventarios en tiempo real para reducir costos.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25" name="Google Shape;325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327" name="Google Shape;327;p9"/>
          <p:cNvSpPr/>
          <p:nvPr/>
        </p:nvSpPr>
        <p:spPr>
          <a:xfrm>
            <a:off x="0" y="0"/>
            <a:ext cx="18288000" cy="3544044"/>
          </a:xfrm>
          <a:custGeom>
            <a:rect b="b" l="l" r="r" t="t"/>
            <a:pathLst>
              <a:path extrusionOk="0"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9" r="-8" t="0"/>
            </a:stretch>
          </a:blipFill>
          <a:ln>
            <a:noFill/>
          </a:ln>
        </p:spPr>
      </p:sp>
      <p:grpSp>
        <p:nvGrpSpPr>
          <p:cNvPr id="328" name="Google Shape;328;p9"/>
          <p:cNvGrpSpPr/>
          <p:nvPr/>
        </p:nvGrpSpPr>
        <p:grpSpPr>
          <a:xfrm>
            <a:off x="992238" y="4651176"/>
            <a:ext cx="14062770" cy="966044"/>
            <a:chOff x="0" y="-47625"/>
            <a:chExt cx="18750360" cy="1288058"/>
          </a:xfrm>
        </p:grpSpPr>
        <p:sp>
          <p:nvSpPr>
            <p:cNvPr id="329" name="Google Shape;329;p9"/>
            <p:cNvSpPr/>
            <p:nvPr/>
          </p:nvSpPr>
          <p:spPr>
            <a:xfrm>
              <a:off x="0" y="0"/>
              <a:ext cx="18750359" cy="1240433"/>
            </a:xfrm>
            <a:custGeom>
              <a:rect b="b" l="l" r="r" t="t"/>
              <a:pathLst>
                <a:path extrusionOk="0" h="1240433" w="18750359">
                  <a:moveTo>
                    <a:pt x="0" y="0"/>
                  </a:moveTo>
                  <a:lnTo>
                    <a:pt x="18750359" y="0"/>
                  </a:lnTo>
                  <a:lnTo>
                    <a:pt x="18750359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0" name="Google Shape;330;p9"/>
            <p:cNvSpPr txBox="1"/>
            <p:nvPr/>
          </p:nvSpPr>
          <p:spPr>
            <a:xfrm>
              <a:off x="0" y="-47625"/>
              <a:ext cx="18750360" cy="1288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8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12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Integración con Sistemas de Información</a:t>
              </a:r>
              <a:endParaRPr/>
            </a:p>
          </p:txBody>
        </p:sp>
      </p:grpSp>
      <p:grpSp>
        <p:nvGrpSpPr>
          <p:cNvPr id="331" name="Google Shape;331;p9"/>
          <p:cNvGrpSpPr/>
          <p:nvPr/>
        </p:nvGrpSpPr>
        <p:grpSpPr>
          <a:xfrm>
            <a:off x="987475" y="6888212"/>
            <a:ext cx="5160454" cy="292990"/>
            <a:chOff x="0" y="0"/>
            <a:chExt cx="6880606" cy="390652"/>
          </a:xfrm>
        </p:grpSpPr>
        <p:sp>
          <p:nvSpPr>
            <p:cNvPr id="332" name="Google Shape;332;p9"/>
            <p:cNvSpPr/>
            <p:nvPr/>
          </p:nvSpPr>
          <p:spPr>
            <a:xfrm>
              <a:off x="6350" y="6350"/>
              <a:ext cx="6867906" cy="378079"/>
            </a:xfrm>
            <a:custGeom>
              <a:rect b="b" l="l" r="r" t="t"/>
              <a:pathLst>
                <a:path extrusionOk="0" h="378079" w="6867906">
                  <a:moveTo>
                    <a:pt x="0" y="158750"/>
                  </a:moveTo>
                  <a:cubicBezTo>
                    <a:pt x="0" y="71120"/>
                    <a:pt x="73279" y="0"/>
                    <a:pt x="163830" y="0"/>
                  </a:cubicBezTo>
                  <a:lnTo>
                    <a:pt x="6704076" y="0"/>
                  </a:lnTo>
                  <a:cubicBezTo>
                    <a:pt x="6794500" y="0"/>
                    <a:pt x="6867906" y="71120"/>
                    <a:pt x="6867906" y="158750"/>
                  </a:cubicBezTo>
                  <a:lnTo>
                    <a:pt x="6867906" y="219202"/>
                  </a:lnTo>
                  <a:cubicBezTo>
                    <a:pt x="6867906" y="306832"/>
                    <a:pt x="6794627" y="377952"/>
                    <a:pt x="6704076" y="377952"/>
                  </a:cubicBezTo>
                  <a:lnTo>
                    <a:pt x="163830" y="377952"/>
                  </a:lnTo>
                  <a:cubicBezTo>
                    <a:pt x="73279" y="378079"/>
                    <a:pt x="0" y="306959"/>
                    <a:pt x="0" y="219202"/>
                  </a:cubicBezTo>
                  <a:close/>
                </a:path>
              </a:pathLst>
            </a:custGeom>
            <a:solidFill>
              <a:srgbClr val="CC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0" y="0"/>
              <a:ext cx="6880606" cy="390652"/>
            </a:xfrm>
            <a:custGeom>
              <a:rect b="b" l="l" r="r" t="t"/>
              <a:pathLst>
                <a:path extrusionOk="0" h="390652" w="6880606">
                  <a:moveTo>
                    <a:pt x="0" y="165100"/>
                  </a:moveTo>
                  <a:cubicBezTo>
                    <a:pt x="0" y="73787"/>
                    <a:pt x="76327" y="0"/>
                    <a:pt x="170180" y="0"/>
                  </a:cubicBezTo>
                  <a:lnTo>
                    <a:pt x="6710426" y="0"/>
                  </a:lnTo>
                  <a:lnTo>
                    <a:pt x="6710426" y="6350"/>
                  </a:lnTo>
                  <a:lnTo>
                    <a:pt x="6710426" y="0"/>
                  </a:lnTo>
                  <a:cubicBezTo>
                    <a:pt x="6804279" y="0"/>
                    <a:pt x="6880606" y="73787"/>
                    <a:pt x="6880606" y="165100"/>
                  </a:cubicBezTo>
                  <a:lnTo>
                    <a:pt x="6874256" y="165100"/>
                  </a:lnTo>
                  <a:lnTo>
                    <a:pt x="6880606" y="165100"/>
                  </a:lnTo>
                  <a:lnTo>
                    <a:pt x="6880606" y="225552"/>
                  </a:lnTo>
                  <a:lnTo>
                    <a:pt x="6874256" y="225552"/>
                  </a:lnTo>
                  <a:lnTo>
                    <a:pt x="6880606" y="225552"/>
                  </a:lnTo>
                  <a:cubicBezTo>
                    <a:pt x="6880606" y="316992"/>
                    <a:pt x="6804279" y="390652"/>
                    <a:pt x="6710426" y="390652"/>
                  </a:cubicBezTo>
                  <a:lnTo>
                    <a:pt x="6710426" y="384302"/>
                  </a:lnTo>
                  <a:lnTo>
                    <a:pt x="6710426" y="390652"/>
                  </a:lnTo>
                  <a:lnTo>
                    <a:pt x="170180" y="390652"/>
                  </a:lnTo>
                  <a:lnTo>
                    <a:pt x="170180" y="384302"/>
                  </a:lnTo>
                  <a:lnTo>
                    <a:pt x="170180" y="390652"/>
                  </a:lnTo>
                  <a:cubicBezTo>
                    <a:pt x="76327" y="390652"/>
                    <a:pt x="0" y="316865"/>
                    <a:pt x="0" y="2255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25552"/>
                  </a:lnTo>
                  <a:lnTo>
                    <a:pt x="6350" y="225552"/>
                  </a:lnTo>
                  <a:lnTo>
                    <a:pt x="12700" y="225552"/>
                  </a:lnTo>
                  <a:cubicBezTo>
                    <a:pt x="12700" y="309499"/>
                    <a:pt x="83058" y="377952"/>
                    <a:pt x="170180" y="377952"/>
                  </a:cubicBezTo>
                  <a:lnTo>
                    <a:pt x="6710426" y="377952"/>
                  </a:lnTo>
                  <a:cubicBezTo>
                    <a:pt x="6797548" y="377952"/>
                    <a:pt x="6867906" y="309499"/>
                    <a:pt x="6867906" y="225552"/>
                  </a:cubicBezTo>
                  <a:lnTo>
                    <a:pt x="6867906" y="165100"/>
                  </a:lnTo>
                  <a:cubicBezTo>
                    <a:pt x="6867906" y="81153"/>
                    <a:pt x="6797548" y="12700"/>
                    <a:pt x="6710426" y="12700"/>
                  </a:cubicBezTo>
                  <a:lnTo>
                    <a:pt x="170180" y="12700"/>
                  </a:lnTo>
                  <a:lnTo>
                    <a:pt x="170180" y="6350"/>
                  </a:lnTo>
                  <a:lnTo>
                    <a:pt x="170180" y="12700"/>
                  </a:lnTo>
                  <a:cubicBezTo>
                    <a:pt x="83058" y="12700"/>
                    <a:pt x="12700" y="81153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" name="Google Shape;334;p9"/>
          <p:cNvGrpSpPr/>
          <p:nvPr/>
        </p:nvGrpSpPr>
        <p:grpSpPr>
          <a:xfrm>
            <a:off x="992238" y="7580263"/>
            <a:ext cx="4316910" cy="486519"/>
            <a:chOff x="0" y="-28575"/>
            <a:chExt cx="5755879" cy="648692"/>
          </a:xfrm>
        </p:grpSpPr>
        <p:sp>
          <p:nvSpPr>
            <p:cNvPr id="335" name="Google Shape;335;p9"/>
            <p:cNvSpPr/>
            <p:nvPr/>
          </p:nvSpPr>
          <p:spPr>
            <a:xfrm>
              <a:off x="0" y="0"/>
              <a:ext cx="5755879" cy="620117"/>
            </a:xfrm>
            <a:custGeom>
              <a:rect b="b" l="l" r="r" t="t"/>
              <a:pathLst>
                <a:path extrusionOk="0" h="620117" w="5755879">
                  <a:moveTo>
                    <a:pt x="0" y="0"/>
                  </a:moveTo>
                  <a:lnTo>
                    <a:pt x="5755879" y="0"/>
                  </a:lnTo>
                  <a:lnTo>
                    <a:pt x="5755879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6" name="Google Shape;336;p9"/>
            <p:cNvSpPr txBox="1"/>
            <p:nvPr/>
          </p:nvSpPr>
          <p:spPr>
            <a:xfrm>
              <a:off x="0" y="-28575"/>
              <a:ext cx="5755878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Conexión con ERP y CRM</a:t>
              </a:r>
              <a:endParaRPr/>
            </a:p>
          </p:txBody>
        </p:sp>
      </p:grpSp>
      <p:grpSp>
        <p:nvGrpSpPr>
          <p:cNvPr id="337" name="Google Shape;337;p9"/>
          <p:cNvGrpSpPr/>
          <p:nvPr/>
        </p:nvGrpSpPr>
        <p:grpSpPr>
          <a:xfrm>
            <a:off x="992238" y="8172598"/>
            <a:ext cx="5150941" cy="971550"/>
            <a:chOff x="0" y="-85725"/>
            <a:chExt cx="6867922" cy="1295400"/>
          </a:xfrm>
        </p:grpSpPr>
        <p:sp>
          <p:nvSpPr>
            <p:cNvPr id="338" name="Google Shape;338;p9"/>
            <p:cNvSpPr/>
            <p:nvPr/>
          </p:nvSpPr>
          <p:spPr>
            <a:xfrm>
              <a:off x="0" y="0"/>
              <a:ext cx="6867922" cy="1209675"/>
            </a:xfrm>
            <a:custGeom>
              <a:rect b="b" l="l" r="r" t="t"/>
              <a:pathLst>
                <a:path extrusionOk="0" h="1209675" w="6867922">
                  <a:moveTo>
                    <a:pt x="0" y="0"/>
                  </a:moveTo>
                  <a:lnTo>
                    <a:pt x="6867922" y="0"/>
                  </a:lnTo>
                  <a:lnTo>
                    <a:pt x="686792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9" name="Google Shape;339;p9"/>
            <p:cNvSpPr txBox="1"/>
            <p:nvPr/>
          </p:nvSpPr>
          <p:spPr>
            <a:xfrm>
              <a:off x="0" y="-85725"/>
              <a:ext cx="6867922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Permite consolidar datos de diferentes áreas.</a:t>
              </a:r>
              <a:endParaRPr/>
            </a:p>
          </p:txBody>
        </p:sp>
      </p:grpSp>
      <p:grpSp>
        <p:nvGrpSpPr>
          <p:cNvPr id="340" name="Google Shape;340;p9"/>
          <p:cNvGrpSpPr/>
          <p:nvPr/>
        </p:nvGrpSpPr>
        <p:grpSpPr>
          <a:xfrm>
            <a:off x="6563617" y="6462861"/>
            <a:ext cx="5160645" cy="292990"/>
            <a:chOff x="0" y="0"/>
            <a:chExt cx="6880860" cy="390652"/>
          </a:xfrm>
        </p:grpSpPr>
        <p:sp>
          <p:nvSpPr>
            <p:cNvPr id="341" name="Google Shape;341;p9"/>
            <p:cNvSpPr/>
            <p:nvPr/>
          </p:nvSpPr>
          <p:spPr>
            <a:xfrm>
              <a:off x="6350" y="6350"/>
              <a:ext cx="6868160" cy="378079"/>
            </a:xfrm>
            <a:custGeom>
              <a:rect b="b" l="l" r="r" t="t"/>
              <a:pathLst>
                <a:path extrusionOk="0" h="378079" w="6868160">
                  <a:moveTo>
                    <a:pt x="0" y="158750"/>
                  </a:moveTo>
                  <a:cubicBezTo>
                    <a:pt x="0" y="71120"/>
                    <a:pt x="73279" y="0"/>
                    <a:pt x="163830" y="0"/>
                  </a:cubicBezTo>
                  <a:lnTo>
                    <a:pt x="6704330" y="0"/>
                  </a:lnTo>
                  <a:cubicBezTo>
                    <a:pt x="6794754" y="0"/>
                    <a:pt x="6868160" y="71120"/>
                    <a:pt x="6868160" y="158750"/>
                  </a:cubicBezTo>
                  <a:lnTo>
                    <a:pt x="6868160" y="219202"/>
                  </a:lnTo>
                  <a:cubicBezTo>
                    <a:pt x="6868160" y="306832"/>
                    <a:pt x="6794881" y="377952"/>
                    <a:pt x="6704330" y="377952"/>
                  </a:cubicBezTo>
                  <a:lnTo>
                    <a:pt x="163830" y="377952"/>
                  </a:lnTo>
                  <a:cubicBezTo>
                    <a:pt x="73279" y="378079"/>
                    <a:pt x="0" y="306959"/>
                    <a:pt x="0" y="219202"/>
                  </a:cubicBezTo>
                  <a:close/>
                </a:path>
              </a:pathLst>
            </a:custGeom>
            <a:solidFill>
              <a:srgbClr val="CC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0" y="0"/>
              <a:ext cx="6880860" cy="390652"/>
            </a:xfrm>
            <a:custGeom>
              <a:rect b="b" l="l" r="r" t="t"/>
              <a:pathLst>
                <a:path extrusionOk="0" h="390652" w="6880860">
                  <a:moveTo>
                    <a:pt x="0" y="165100"/>
                  </a:moveTo>
                  <a:cubicBezTo>
                    <a:pt x="0" y="73787"/>
                    <a:pt x="76327" y="0"/>
                    <a:pt x="170180" y="0"/>
                  </a:cubicBezTo>
                  <a:lnTo>
                    <a:pt x="6710680" y="0"/>
                  </a:lnTo>
                  <a:lnTo>
                    <a:pt x="6710680" y="6350"/>
                  </a:lnTo>
                  <a:lnTo>
                    <a:pt x="6710680" y="0"/>
                  </a:lnTo>
                  <a:cubicBezTo>
                    <a:pt x="6804533" y="0"/>
                    <a:pt x="6880860" y="73787"/>
                    <a:pt x="6880860" y="165100"/>
                  </a:cubicBezTo>
                  <a:lnTo>
                    <a:pt x="6874510" y="165100"/>
                  </a:lnTo>
                  <a:lnTo>
                    <a:pt x="6880860" y="165100"/>
                  </a:lnTo>
                  <a:lnTo>
                    <a:pt x="6880860" y="225552"/>
                  </a:lnTo>
                  <a:lnTo>
                    <a:pt x="6874510" y="225552"/>
                  </a:lnTo>
                  <a:lnTo>
                    <a:pt x="6880860" y="225552"/>
                  </a:lnTo>
                  <a:cubicBezTo>
                    <a:pt x="6880860" y="316992"/>
                    <a:pt x="6804533" y="390652"/>
                    <a:pt x="6710680" y="390652"/>
                  </a:cubicBezTo>
                  <a:lnTo>
                    <a:pt x="6710680" y="384302"/>
                  </a:lnTo>
                  <a:lnTo>
                    <a:pt x="6710680" y="390652"/>
                  </a:lnTo>
                  <a:lnTo>
                    <a:pt x="170180" y="390652"/>
                  </a:lnTo>
                  <a:lnTo>
                    <a:pt x="170180" y="384302"/>
                  </a:lnTo>
                  <a:lnTo>
                    <a:pt x="170180" y="390652"/>
                  </a:lnTo>
                  <a:cubicBezTo>
                    <a:pt x="76327" y="390652"/>
                    <a:pt x="0" y="316865"/>
                    <a:pt x="0" y="2255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25552"/>
                  </a:lnTo>
                  <a:lnTo>
                    <a:pt x="6350" y="225552"/>
                  </a:lnTo>
                  <a:lnTo>
                    <a:pt x="12700" y="225552"/>
                  </a:lnTo>
                  <a:cubicBezTo>
                    <a:pt x="12700" y="309499"/>
                    <a:pt x="83058" y="377952"/>
                    <a:pt x="170180" y="377952"/>
                  </a:cubicBezTo>
                  <a:lnTo>
                    <a:pt x="6710680" y="377952"/>
                  </a:lnTo>
                  <a:cubicBezTo>
                    <a:pt x="6797802" y="377952"/>
                    <a:pt x="6868160" y="309499"/>
                    <a:pt x="6868160" y="225552"/>
                  </a:cubicBezTo>
                  <a:lnTo>
                    <a:pt x="6868160" y="165100"/>
                  </a:lnTo>
                  <a:cubicBezTo>
                    <a:pt x="6868160" y="81153"/>
                    <a:pt x="6797802" y="12700"/>
                    <a:pt x="6710680" y="12700"/>
                  </a:cubicBezTo>
                  <a:lnTo>
                    <a:pt x="170180" y="12700"/>
                  </a:lnTo>
                  <a:lnTo>
                    <a:pt x="170180" y="6350"/>
                  </a:lnTo>
                  <a:lnTo>
                    <a:pt x="170180" y="12700"/>
                  </a:lnTo>
                  <a:cubicBezTo>
                    <a:pt x="83058" y="12700"/>
                    <a:pt x="12700" y="81153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3" name="Google Shape;343;p9"/>
          <p:cNvGrpSpPr/>
          <p:nvPr/>
        </p:nvGrpSpPr>
        <p:grpSpPr>
          <a:xfrm>
            <a:off x="6568380" y="7154913"/>
            <a:ext cx="4719341" cy="486519"/>
            <a:chOff x="0" y="-28575"/>
            <a:chExt cx="6292454" cy="648692"/>
          </a:xfrm>
        </p:grpSpPr>
        <p:sp>
          <p:nvSpPr>
            <p:cNvPr id="344" name="Google Shape;344;p9"/>
            <p:cNvSpPr/>
            <p:nvPr/>
          </p:nvSpPr>
          <p:spPr>
            <a:xfrm>
              <a:off x="0" y="0"/>
              <a:ext cx="6292454" cy="620117"/>
            </a:xfrm>
            <a:custGeom>
              <a:rect b="b" l="l" r="r" t="t"/>
              <a:pathLst>
                <a:path extrusionOk="0" h="620117" w="6292454">
                  <a:moveTo>
                    <a:pt x="0" y="0"/>
                  </a:moveTo>
                  <a:lnTo>
                    <a:pt x="6292454" y="0"/>
                  </a:lnTo>
                  <a:lnTo>
                    <a:pt x="6292454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5" name="Google Shape;345;p9"/>
            <p:cNvSpPr txBox="1"/>
            <p:nvPr/>
          </p:nvSpPr>
          <p:spPr>
            <a:xfrm>
              <a:off x="0" y="-28575"/>
              <a:ext cx="6292453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Automatización de reportes</a:t>
              </a:r>
              <a:endParaRPr/>
            </a:p>
          </p:txBody>
        </p:sp>
      </p:grpSp>
      <p:grpSp>
        <p:nvGrpSpPr>
          <p:cNvPr id="346" name="Google Shape;346;p9"/>
          <p:cNvGrpSpPr/>
          <p:nvPr/>
        </p:nvGrpSpPr>
        <p:grpSpPr>
          <a:xfrm>
            <a:off x="6568380" y="7747247"/>
            <a:ext cx="5151090" cy="971550"/>
            <a:chOff x="0" y="-85725"/>
            <a:chExt cx="6868120" cy="1295400"/>
          </a:xfrm>
        </p:grpSpPr>
        <p:sp>
          <p:nvSpPr>
            <p:cNvPr id="347" name="Google Shape;347;p9"/>
            <p:cNvSpPr/>
            <p:nvPr/>
          </p:nvSpPr>
          <p:spPr>
            <a:xfrm>
              <a:off x="0" y="0"/>
              <a:ext cx="6868120" cy="1209675"/>
            </a:xfrm>
            <a:custGeom>
              <a:rect b="b" l="l" r="r" t="t"/>
              <a:pathLst>
                <a:path extrusionOk="0" h="1209675" w="6868120">
                  <a:moveTo>
                    <a:pt x="0" y="0"/>
                  </a:moveTo>
                  <a:lnTo>
                    <a:pt x="6868120" y="0"/>
                  </a:lnTo>
                  <a:lnTo>
                    <a:pt x="686812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8" name="Google Shape;348;p9"/>
            <p:cNvSpPr txBox="1"/>
            <p:nvPr/>
          </p:nvSpPr>
          <p:spPr>
            <a:xfrm>
              <a:off x="0" y="-85725"/>
              <a:ext cx="686812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Genera dashboards dinámicos para monitoreo continuo.</a:t>
              </a:r>
              <a:endParaRPr/>
            </a:p>
          </p:txBody>
        </p:sp>
      </p:grpSp>
      <p:grpSp>
        <p:nvGrpSpPr>
          <p:cNvPr id="349" name="Google Shape;349;p9"/>
          <p:cNvGrpSpPr/>
          <p:nvPr/>
        </p:nvGrpSpPr>
        <p:grpSpPr>
          <a:xfrm>
            <a:off x="12139910" y="6037659"/>
            <a:ext cx="5160645" cy="292990"/>
            <a:chOff x="0" y="0"/>
            <a:chExt cx="6880860" cy="390652"/>
          </a:xfrm>
        </p:grpSpPr>
        <p:sp>
          <p:nvSpPr>
            <p:cNvPr id="350" name="Google Shape;350;p9"/>
            <p:cNvSpPr/>
            <p:nvPr/>
          </p:nvSpPr>
          <p:spPr>
            <a:xfrm>
              <a:off x="6350" y="6350"/>
              <a:ext cx="6868160" cy="378079"/>
            </a:xfrm>
            <a:custGeom>
              <a:rect b="b" l="l" r="r" t="t"/>
              <a:pathLst>
                <a:path extrusionOk="0" h="378079" w="6868160">
                  <a:moveTo>
                    <a:pt x="0" y="158750"/>
                  </a:moveTo>
                  <a:cubicBezTo>
                    <a:pt x="0" y="71120"/>
                    <a:pt x="73279" y="0"/>
                    <a:pt x="163830" y="0"/>
                  </a:cubicBezTo>
                  <a:lnTo>
                    <a:pt x="6704330" y="0"/>
                  </a:lnTo>
                  <a:cubicBezTo>
                    <a:pt x="6794754" y="0"/>
                    <a:pt x="6868160" y="71120"/>
                    <a:pt x="6868160" y="158750"/>
                  </a:cubicBezTo>
                  <a:lnTo>
                    <a:pt x="6868160" y="219202"/>
                  </a:lnTo>
                  <a:cubicBezTo>
                    <a:pt x="6868160" y="306832"/>
                    <a:pt x="6794881" y="377952"/>
                    <a:pt x="6704330" y="377952"/>
                  </a:cubicBezTo>
                  <a:lnTo>
                    <a:pt x="163830" y="377952"/>
                  </a:lnTo>
                  <a:cubicBezTo>
                    <a:pt x="73279" y="378079"/>
                    <a:pt x="0" y="306959"/>
                    <a:pt x="0" y="219202"/>
                  </a:cubicBezTo>
                  <a:close/>
                </a:path>
              </a:pathLst>
            </a:custGeom>
            <a:solidFill>
              <a:srgbClr val="CC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0" y="0"/>
              <a:ext cx="6880860" cy="390652"/>
            </a:xfrm>
            <a:custGeom>
              <a:rect b="b" l="l" r="r" t="t"/>
              <a:pathLst>
                <a:path extrusionOk="0" h="390652" w="6880860">
                  <a:moveTo>
                    <a:pt x="0" y="165100"/>
                  </a:moveTo>
                  <a:cubicBezTo>
                    <a:pt x="0" y="73787"/>
                    <a:pt x="76327" y="0"/>
                    <a:pt x="170180" y="0"/>
                  </a:cubicBezTo>
                  <a:lnTo>
                    <a:pt x="6710680" y="0"/>
                  </a:lnTo>
                  <a:lnTo>
                    <a:pt x="6710680" y="6350"/>
                  </a:lnTo>
                  <a:lnTo>
                    <a:pt x="6710680" y="0"/>
                  </a:lnTo>
                  <a:cubicBezTo>
                    <a:pt x="6804533" y="0"/>
                    <a:pt x="6880860" y="73787"/>
                    <a:pt x="6880860" y="165100"/>
                  </a:cubicBezTo>
                  <a:lnTo>
                    <a:pt x="6874510" y="165100"/>
                  </a:lnTo>
                  <a:lnTo>
                    <a:pt x="6880860" y="165100"/>
                  </a:lnTo>
                  <a:lnTo>
                    <a:pt x="6880860" y="225552"/>
                  </a:lnTo>
                  <a:lnTo>
                    <a:pt x="6874510" y="225552"/>
                  </a:lnTo>
                  <a:lnTo>
                    <a:pt x="6880860" y="225552"/>
                  </a:lnTo>
                  <a:cubicBezTo>
                    <a:pt x="6880860" y="316992"/>
                    <a:pt x="6804533" y="390652"/>
                    <a:pt x="6710680" y="390652"/>
                  </a:cubicBezTo>
                  <a:lnTo>
                    <a:pt x="6710680" y="384302"/>
                  </a:lnTo>
                  <a:lnTo>
                    <a:pt x="6710680" y="390652"/>
                  </a:lnTo>
                  <a:lnTo>
                    <a:pt x="170180" y="390652"/>
                  </a:lnTo>
                  <a:lnTo>
                    <a:pt x="170180" y="384302"/>
                  </a:lnTo>
                  <a:lnTo>
                    <a:pt x="170180" y="390652"/>
                  </a:lnTo>
                  <a:cubicBezTo>
                    <a:pt x="76327" y="390652"/>
                    <a:pt x="0" y="316865"/>
                    <a:pt x="0" y="2255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25552"/>
                  </a:lnTo>
                  <a:lnTo>
                    <a:pt x="6350" y="225552"/>
                  </a:lnTo>
                  <a:lnTo>
                    <a:pt x="12700" y="225552"/>
                  </a:lnTo>
                  <a:cubicBezTo>
                    <a:pt x="12700" y="309499"/>
                    <a:pt x="83058" y="377952"/>
                    <a:pt x="170180" y="377952"/>
                  </a:cubicBezTo>
                  <a:lnTo>
                    <a:pt x="6710680" y="377952"/>
                  </a:lnTo>
                  <a:cubicBezTo>
                    <a:pt x="6797802" y="377952"/>
                    <a:pt x="6868160" y="309499"/>
                    <a:pt x="6868160" y="225552"/>
                  </a:cubicBezTo>
                  <a:lnTo>
                    <a:pt x="6868160" y="165100"/>
                  </a:lnTo>
                  <a:cubicBezTo>
                    <a:pt x="6868160" y="81153"/>
                    <a:pt x="6797802" y="12700"/>
                    <a:pt x="6710680" y="12700"/>
                  </a:cubicBezTo>
                  <a:lnTo>
                    <a:pt x="170180" y="12700"/>
                  </a:lnTo>
                  <a:lnTo>
                    <a:pt x="170180" y="6350"/>
                  </a:lnTo>
                  <a:lnTo>
                    <a:pt x="170180" y="12700"/>
                  </a:lnTo>
                  <a:cubicBezTo>
                    <a:pt x="83058" y="12700"/>
                    <a:pt x="12700" y="81153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2" name="Google Shape;352;p9"/>
          <p:cNvGrpSpPr/>
          <p:nvPr/>
        </p:nvGrpSpPr>
        <p:grpSpPr>
          <a:xfrm>
            <a:off x="12144672" y="6729710"/>
            <a:ext cx="4072235" cy="486519"/>
            <a:chOff x="0" y="-28575"/>
            <a:chExt cx="5429647" cy="648692"/>
          </a:xfrm>
        </p:grpSpPr>
        <p:sp>
          <p:nvSpPr>
            <p:cNvPr id="353" name="Google Shape;353;p9"/>
            <p:cNvSpPr/>
            <p:nvPr/>
          </p:nvSpPr>
          <p:spPr>
            <a:xfrm>
              <a:off x="0" y="0"/>
              <a:ext cx="5429647" cy="620117"/>
            </a:xfrm>
            <a:custGeom>
              <a:rect b="b" l="l" r="r" t="t"/>
              <a:pathLst>
                <a:path extrusionOk="0" h="620117" w="5429647">
                  <a:moveTo>
                    <a:pt x="0" y="0"/>
                  </a:moveTo>
                  <a:lnTo>
                    <a:pt x="5429647" y="0"/>
                  </a:lnTo>
                  <a:lnTo>
                    <a:pt x="5429647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4" name="Google Shape;354;p9"/>
            <p:cNvSpPr txBox="1"/>
            <p:nvPr/>
          </p:nvSpPr>
          <p:spPr>
            <a:xfrm>
              <a:off x="0" y="-28575"/>
              <a:ext cx="5429647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Visión 360° del negocio</a:t>
              </a:r>
              <a:endParaRPr/>
            </a:p>
          </p:txBody>
        </p:sp>
      </p:grpSp>
      <p:grpSp>
        <p:nvGrpSpPr>
          <p:cNvPr id="355" name="Google Shape;355;p9"/>
          <p:cNvGrpSpPr/>
          <p:nvPr/>
        </p:nvGrpSpPr>
        <p:grpSpPr>
          <a:xfrm>
            <a:off x="12144672" y="7322046"/>
            <a:ext cx="5151090" cy="971550"/>
            <a:chOff x="0" y="-85725"/>
            <a:chExt cx="6868120" cy="1295400"/>
          </a:xfrm>
        </p:grpSpPr>
        <p:sp>
          <p:nvSpPr>
            <p:cNvPr id="356" name="Google Shape;356;p9"/>
            <p:cNvSpPr/>
            <p:nvPr/>
          </p:nvSpPr>
          <p:spPr>
            <a:xfrm>
              <a:off x="0" y="0"/>
              <a:ext cx="6868120" cy="1209675"/>
            </a:xfrm>
            <a:custGeom>
              <a:rect b="b" l="l" r="r" t="t"/>
              <a:pathLst>
                <a:path extrusionOk="0" h="1209675" w="6868120">
                  <a:moveTo>
                    <a:pt x="0" y="0"/>
                  </a:moveTo>
                  <a:lnTo>
                    <a:pt x="6868120" y="0"/>
                  </a:lnTo>
                  <a:lnTo>
                    <a:pt x="686812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7" name="Google Shape;357;p9"/>
            <p:cNvSpPr txBox="1"/>
            <p:nvPr/>
          </p:nvSpPr>
          <p:spPr>
            <a:xfrm>
              <a:off x="0" y="-85725"/>
              <a:ext cx="686812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Integrar información para análisis completos.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66" name="Google Shape;366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7" name="Google Shape;367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368" name="Google Shape;368;p10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9" name="Google Shape;369;p10"/>
          <p:cNvGrpSpPr/>
          <p:nvPr/>
        </p:nvGrpSpPr>
        <p:grpSpPr>
          <a:xfrm>
            <a:off x="7850237" y="3284338"/>
            <a:ext cx="9445526" cy="1896368"/>
            <a:chOff x="0" y="-47625"/>
            <a:chExt cx="12594035" cy="2528490"/>
          </a:xfrm>
        </p:grpSpPr>
        <p:sp>
          <p:nvSpPr>
            <p:cNvPr id="370" name="Google Shape;370;p10"/>
            <p:cNvSpPr/>
            <p:nvPr/>
          </p:nvSpPr>
          <p:spPr>
            <a:xfrm>
              <a:off x="0" y="0"/>
              <a:ext cx="12594035" cy="2480865"/>
            </a:xfrm>
            <a:custGeom>
              <a:rect b="b" l="l" r="r" t="t"/>
              <a:pathLst>
                <a:path extrusionOk="0" h="248086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480865"/>
                  </a:lnTo>
                  <a:lnTo>
                    <a:pt x="0" y="24808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1" name="Google Shape;371;p10"/>
            <p:cNvSpPr txBox="1"/>
            <p:nvPr/>
          </p:nvSpPr>
          <p:spPr>
            <a:xfrm>
              <a:off x="0" y="-47625"/>
              <a:ext cx="12594035" cy="2528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8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12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Concepto de Gestión del Conocimiento</a:t>
              </a:r>
              <a:endParaRPr/>
            </a:p>
          </p:txBody>
        </p:sp>
      </p:grpSp>
      <p:grpSp>
        <p:nvGrpSpPr>
          <p:cNvPr id="372" name="Google Shape;372;p10"/>
          <p:cNvGrpSpPr/>
          <p:nvPr/>
        </p:nvGrpSpPr>
        <p:grpSpPr>
          <a:xfrm>
            <a:off x="7850237" y="5541615"/>
            <a:ext cx="9445526" cy="1425179"/>
            <a:chOff x="0" y="-85725"/>
            <a:chExt cx="12594035" cy="1900238"/>
          </a:xfrm>
        </p:grpSpPr>
        <p:sp>
          <p:nvSpPr>
            <p:cNvPr id="373" name="Google Shape;373;p10"/>
            <p:cNvSpPr/>
            <p:nvPr/>
          </p:nvSpPr>
          <p:spPr>
            <a:xfrm>
              <a:off x="0" y="0"/>
              <a:ext cx="12594035" cy="1814513"/>
            </a:xfrm>
            <a:custGeom>
              <a:rect b="b" l="l" r="r" t="t"/>
              <a:pathLst>
                <a:path extrusionOk="0" h="1814513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4" name="Google Shape;374;p10"/>
            <p:cNvSpPr txBox="1"/>
            <p:nvPr/>
          </p:nvSpPr>
          <p:spPr>
            <a:xfrm>
              <a:off x="0" y="-85725"/>
              <a:ext cx="12594035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Se trata de capturar, compartir y aprovechar el conocimiento organizacional. Facilita innovación y mejora las decisiones estratégicas.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83" name="Google Shape;383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grpSp>
        <p:nvGrpSpPr>
          <p:cNvPr id="385" name="Google Shape;385;p11"/>
          <p:cNvGrpSpPr/>
          <p:nvPr/>
        </p:nvGrpSpPr>
        <p:grpSpPr>
          <a:xfrm>
            <a:off x="992238" y="1505991"/>
            <a:ext cx="13785950" cy="966044"/>
            <a:chOff x="0" y="-47625"/>
            <a:chExt cx="18381266" cy="1288058"/>
          </a:xfrm>
        </p:grpSpPr>
        <p:sp>
          <p:nvSpPr>
            <p:cNvPr id="386" name="Google Shape;386;p11"/>
            <p:cNvSpPr/>
            <p:nvPr/>
          </p:nvSpPr>
          <p:spPr>
            <a:xfrm>
              <a:off x="0" y="0"/>
              <a:ext cx="18381266" cy="1240433"/>
            </a:xfrm>
            <a:custGeom>
              <a:rect b="b" l="l" r="r" t="t"/>
              <a:pathLst>
                <a:path extrusionOk="0" h="1240433" w="18381266">
                  <a:moveTo>
                    <a:pt x="0" y="0"/>
                  </a:moveTo>
                  <a:lnTo>
                    <a:pt x="18381266" y="0"/>
                  </a:lnTo>
                  <a:lnTo>
                    <a:pt x="18381266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7" name="Google Shape;387;p11"/>
            <p:cNvSpPr txBox="1"/>
            <p:nvPr/>
          </p:nvSpPr>
          <p:spPr>
            <a:xfrm>
              <a:off x="0" y="-47625"/>
              <a:ext cx="18381265" cy="1288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8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12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Estrategias de Gestión del Conocimiento</a:t>
              </a:r>
              <a:endParaRPr/>
            </a:p>
          </p:txBody>
        </p:sp>
      </p:grpSp>
      <p:grpSp>
        <p:nvGrpSpPr>
          <p:cNvPr id="388" name="Google Shape;388;p11"/>
          <p:cNvGrpSpPr/>
          <p:nvPr/>
        </p:nvGrpSpPr>
        <p:grpSpPr>
          <a:xfrm>
            <a:off x="1383060" y="5099448"/>
            <a:ext cx="4340722" cy="486519"/>
            <a:chOff x="0" y="-28575"/>
            <a:chExt cx="5787629" cy="648692"/>
          </a:xfrm>
        </p:grpSpPr>
        <p:sp>
          <p:nvSpPr>
            <p:cNvPr id="389" name="Google Shape;389;p11"/>
            <p:cNvSpPr/>
            <p:nvPr/>
          </p:nvSpPr>
          <p:spPr>
            <a:xfrm>
              <a:off x="0" y="0"/>
              <a:ext cx="5787629" cy="620117"/>
            </a:xfrm>
            <a:custGeom>
              <a:rect b="b" l="l" r="r" t="t"/>
              <a:pathLst>
                <a:path extrusionOk="0" h="620117" w="5787629">
                  <a:moveTo>
                    <a:pt x="0" y="0"/>
                  </a:moveTo>
                  <a:lnTo>
                    <a:pt x="5787629" y="0"/>
                  </a:lnTo>
                  <a:lnTo>
                    <a:pt x="5787629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0" name="Google Shape;390;p11"/>
            <p:cNvSpPr txBox="1"/>
            <p:nvPr/>
          </p:nvSpPr>
          <p:spPr>
            <a:xfrm>
              <a:off x="0" y="-28575"/>
              <a:ext cx="5787628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Comunidades de práctica</a:t>
              </a:r>
              <a:endParaRPr/>
            </a:p>
          </p:txBody>
        </p:sp>
      </p:grpSp>
      <p:grpSp>
        <p:nvGrpSpPr>
          <p:cNvPr id="391" name="Google Shape;391;p11"/>
          <p:cNvGrpSpPr/>
          <p:nvPr/>
        </p:nvGrpSpPr>
        <p:grpSpPr>
          <a:xfrm>
            <a:off x="992238" y="5691782"/>
            <a:ext cx="4731544" cy="971550"/>
            <a:chOff x="0" y="-85725"/>
            <a:chExt cx="6308725" cy="1295400"/>
          </a:xfrm>
        </p:grpSpPr>
        <p:sp>
          <p:nvSpPr>
            <p:cNvPr id="392" name="Google Shape;392;p11"/>
            <p:cNvSpPr/>
            <p:nvPr/>
          </p:nvSpPr>
          <p:spPr>
            <a:xfrm>
              <a:off x="0" y="0"/>
              <a:ext cx="6308725" cy="1209675"/>
            </a:xfrm>
            <a:custGeom>
              <a:rect b="b" l="l" r="r" t="t"/>
              <a:pathLst>
                <a:path extrusionOk="0" h="1209675" w="6308725">
                  <a:moveTo>
                    <a:pt x="0" y="0"/>
                  </a:moveTo>
                  <a:lnTo>
                    <a:pt x="6308725" y="0"/>
                  </a:lnTo>
                  <a:lnTo>
                    <a:pt x="630872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3" name="Google Shape;393;p11"/>
            <p:cNvSpPr txBox="1"/>
            <p:nvPr/>
          </p:nvSpPr>
          <p:spPr>
            <a:xfrm>
              <a:off x="0" y="-85725"/>
              <a:ext cx="6308725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Grupos para compartir experiencias y aprendizajes.</a:t>
              </a:r>
              <a:endParaRPr/>
            </a:p>
          </p:txBody>
        </p:sp>
      </p:grpSp>
      <p:sp>
        <p:nvSpPr>
          <p:cNvPr descr="preencoded.png" id="394" name="Google Shape;394;p11"/>
          <p:cNvSpPr/>
          <p:nvPr/>
        </p:nvSpPr>
        <p:spPr>
          <a:xfrm>
            <a:off x="6290816" y="3039070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5" name="Google Shape;395;p11"/>
          <p:cNvGrpSpPr/>
          <p:nvPr/>
        </p:nvGrpSpPr>
        <p:grpSpPr>
          <a:xfrm>
            <a:off x="6964264" y="5176392"/>
            <a:ext cx="424160" cy="637431"/>
            <a:chOff x="0" y="-142875"/>
            <a:chExt cx="565547" cy="849908"/>
          </a:xfrm>
        </p:grpSpPr>
        <p:sp>
          <p:nvSpPr>
            <p:cNvPr id="396" name="Google Shape;396;p11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7" name="Google Shape;397;p11"/>
            <p:cNvSpPr txBox="1"/>
            <p:nvPr/>
          </p:nvSpPr>
          <p:spPr>
            <a:xfrm>
              <a:off x="0" y="-142875"/>
              <a:ext cx="565547" cy="849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1</a:t>
              </a:r>
              <a:endParaRPr/>
            </a:p>
          </p:txBody>
        </p:sp>
      </p:grpSp>
      <p:grpSp>
        <p:nvGrpSpPr>
          <p:cNvPr id="398" name="Google Shape;398;p11"/>
          <p:cNvGrpSpPr/>
          <p:nvPr/>
        </p:nvGrpSpPr>
        <p:grpSpPr>
          <a:xfrm>
            <a:off x="12422237" y="3566667"/>
            <a:ext cx="4009728" cy="486518"/>
            <a:chOff x="0" y="-28575"/>
            <a:chExt cx="5346304" cy="648692"/>
          </a:xfrm>
        </p:grpSpPr>
        <p:sp>
          <p:nvSpPr>
            <p:cNvPr id="399" name="Google Shape;399;p11"/>
            <p:cNvSpPr/>
            <p:nvPr/>
          </p:nvSpPr>
          <p:spPr>
            <a:xfrm>
              <a:off x="0" y="0"/>
              <a:ext cx="5346304" cy="620117"/>
            </a:xfrm>
            <a:custGeom>
              <a:rect b="b" l="l" r="r" t="t"/>
              <a:pathLst>
                <a:path extrusionOk="0" h="620117" w="5346304">
                  <a:moveTo>
                    <a:pt x="0" y="0"/>
                  </a:moveTo>
                  <a:lnTo>
                    <a:pt x="5346304" y="0"/>
                  </a:lnTo>
                  <a:lnTo>
                    <a:pt x="5346304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0" name="Google Shape;400;p11"/>
            <p:cNvSpPr txBox="1"/>
            <p:nvPr/>
          </p:nvSpPr>
          <p:spPr>
            <a:xfrm>
              <a:off x="0" y="-28575"/>
              <a:ext cx="5346303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Sistemas documentales</a:t>
              </a:r>
              <a:endParaRPr/>
            </a:p>
          </p:txBody>
        </p:sp>
      </p:grpSp>
      <p:grpSp>
        <p:nvGrpSpPr>
          <p:cNvPr id="401" name="Google Shape;401;p11"/>
          <p:cNvGrpSpPr/>
          <p:nvPr/>
        </p:nvGrpSpPr>
        <p:grpSpPr>
          <a:xfrm>
            <a:off x="12422237" y="4159002"/>
            <a:ext cx="4873526" cy="971550"/>
            <a:chOff x="0" y="-85725"/>
            <a:chExt cx="6498035" cy="1295400"/>
          </a:xfrm>
        </p:grpSpPr>
        <p:sp>
          <p:nvSpPr>
            <p:cNvPr id="402" name="Google Shape;402;p11"/>
            <p:cNvSpPr/>
            <p:nvPr/>
          </p:nvSpPr>
          <p:spPr>
            <a:xfrm>
              <a:off x="0" y="0"/>
              <a:ext cx="6498035" cy="1209675"/>
            </a:xfrm>
            <a:custGeom>
              <a:rect b="b" l="l" r="r" t="t"/>
              <a:pathLst>
                <a:path extrusionOk="0" h="1209675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3" name="Google Shape;403;p11"/>
            <p:cNvSpPr txBox="1"/>
            <p:nvPr/>
          </p:nvSpPr>
          <p:spPr>
            <a:xfrm>
              <a:off x="0" y="-85725"/>
              <a:ext cx="6498035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Herramientas para almacenar y gestionar conocimiento.</a:t>
              </a:r>
              <a:endParaRPr/>
            </a:p>
          </p:txBody>
        </p:sp>
      </p:grpSp>
      <p:sp>
        <p:nvSpPr>
          <p:cNvPr descr="preencoded.png" id="404" name="Google Shape;404;p11"/>
          <p:cNvSpPr/>
          <p:nvPr/>
        </p:nvSpPr>
        <p:spPr>
          <a:xfrm>
            <a:off x="6290816" y="3039070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5" name="Google Shape;405;p11"/>
          <p:cNvGrpSpPr/>
          <p:nvPr/>
        </p:nvGrpSpPr>
        <p:grpSpPr>
          <a:xfrm>
            <a:off x="10212884" y="3987553"/>
            <a:ext cx="424160" cy="637431"/>
            <a:chOff x="0" y="-142875"/>
            <a:chExt cx="565547" cy="849908"/>
          </a:xfrm>
        </p:grpSpPr>
        <p:sp>
          <p:nvSpPr>
            <p:cNvPr id="406" name="Google Shape;406;p11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7" name="Google Shape;407;p11"/>
            <p:cNvSpPr txBox="1"/>
            <p:nvPr/>
          </p:nvSpPr>
          <p:spPr>
            <a:xfrm>
              <a:off x="0" y="-142875"/>
              <a:ext cx="565547" cy="849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2</a:t>
              </a:r>
              <a:endParaRPr/>
            </a:p>
          </p:txBody>
        </p:sp>
      </p:grpSp>
      <p:grpSp>
        <p:nvGrpSpPr>
          <p:cNvPr id="408" name="Google Shape;408;p11"/>
          <p:cNvGrpSpPr/>
          <p:nvPr/>
        </p:nvGrpSpPr>
        <p:grpSpPr>
          <a:xfrm>
            <a:off x="12422237" y="6632376"/>
            <a:ext cx="3855393" cy="486519"/>
            <a:chOff x="0" y="-28575"/>
            <a:chExt cx="5140523" cy="648692"/>
          </a:xfrm>
        </p:grpSpPr>
        <p:sp>
          <p:nvSpPr>
            <p:cNvPr id="409" name="Google Shape;409;p11"/>
            <p:cNvSpPr/>
            <p:nvPr/>
          </p:nvSpPr>
          <p:spPr>
            <a:xfrm>
              <a:off x="0" y="0"/>
              <a:ext cx="5140523" cy="620117"/>
            </a:xfrm>
            <a:custGeom>
              <a:rect b="b" l="l" r="r" t="t"/>
              <a:pathLst>
                <a:path extrusionOk="0" h="620117" w="5140523">
                  <a:moveTo>
                    <a:pt x="0" y="0"/>
                  </a:moveTo>
                  <a:lnTo>
                    <a:pt x="5140523" y="0"/>
                  </a:lnTo>
                  <a:lnTo>
                    <a:pt x="5140523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0" name="Google Shape;410;p11"/>
            <p:cNvSpPr txBox="1"/>
            <p:nvPr/>
          </p:nvSpPr>
          <p:spPr>
            <a:xfrm>
              <a:off x="0" y="-28575"/>
              <a:ext cx="5140523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Capacitación continua</a:t>
              </a:r>
              <a:endParaRPr/>
            </a:p>
          </p:txBody>
        </p:sp>
      </p:grpSp>
      <p:grpSp>
        <p:nvGrpSpPr>
          <p:cNvPr id="411" name="Google Shape;411;p11"/>
          <p:cNvGrpSpPr/>
          <p:nvPr/>
        </p:nvGrpSpPr>
        <p:grpSpPr>
          <a:xfrm>
            <a:off x="12422237" y="7224712"/>
            <a:ext cx="4873526" cy="971550"/>
            <a:chOff x="0" y="-85725"/>
            <a:chExt cx="6498035" cy="1295400"/>
          </a:xfrm>
        </p:grpSpPr>
        <p:sp>
          <p:nvSpPr>
            <p:cNvPr id="412" name="Google Shape;412;p11"/>
            <p:cNvSpPr/>
            <p:nvPr/>
          </p:nvSpPr>
          <p:spPr>
            <a:xfrm>
              <a:off x="0" y="0"/>
              <a:ext cx="6498035" cy="1209675"/>
            </a:xfrm>
            <a:custGeom>
              <a:rect b="b" l="l" r="r" t="t"/>
              <a:pathLst>
                <a:path extrusionOk="0" h="1209675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3" name="Google Shape;413;p11"/>
            <p:cNvSpPr txBox="1"/>
            <p:nvPr/>
          </p:nvSpPr>
          <p:spPr>
            <a:xfrm>
              <a:off x="0" y="-85725"/>
              <a:ext cx="6498035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Fomentar cultura de aprendizaje permanente.</a:t>
              </a:r>
              <a:endParaRPr/>
            </a:p>
          </p:txBody>
        </p:sp>
      </p:grpSp>
      <p:sp>
        <p:nvSpPr>
          <p:cNvPr descr="preencoded.png" id="414" name="Google Shape;414;p11"/>
          <p:cNvSpPr/>
          <p:nvPr/>
        </p:nvSpPr>
        <p:spPr>
          <a:xfrm>
            <a:off x="6290816" y="3039070"/>
            <a:ext cx="5706219" cy="5706219"/>
          </a:xfrm>
          <a:custGeom>
            <a:rect b="b" l="l" r="r" t="t"/>
            <a:pathLst>
              <a:path extrusionOk="0"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5" name="Google Shape;415;p11"/>
          <p:cNvGrpSpPr/>
          <p:nvPr/>
        </p:nvGrpSpPr>
        <p:grpSpPr>
          <a:xfrm>
            <a:off x="9618166" y="7395270"/>
            <a:ext cx="424160" cy="637431"/>
            <a:chOff x="0" y="-142875"/>
            <a:chExt cx="565547" cy="849908"/>
          </a:xfrm>
        </p:grpSpPr>
        <p:sp>
          <p:nvSpPr>
            <p:cNvPr id="416" name="Google Shape;416;p11"/>
            <p:cNvSpPr/>
            <p:nvPr/>
          </p:nvSpPr>
          <p:spPr>
            <a:xfrm>
              <a:off x="0" y="0"/>
              <a:ext cx="565547" cy="707033"/>
            </a:xfrm>
            <a:custGeom>
              <a:rect b="b" l="l" r="r" t="t"/>
              <a:pathLst>
                <a:path extrusionOk="0"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7" name="Google Shape;417;p11"/>
            <p:cNvSpPr txBox="1"/>
            <p:nvPr/>
          </p:nvSpPr>
          <p:spPr>
            <a:xfrm>
              <a:off x="0" y="-142875"/>
              <a:ext cx="565547" cy="849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3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12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3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426" name="Google Shape;426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7" name="Google Shape;427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428" name="Google Shape;428;p12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9" name="Google Shape;429;p12"/>
          <p:cNvGrpSpPr/>
          <p:nvPr/>
        </p:nvGrpSpPr>
        <p:grpSpPr>
          <a:xfrm>
            <a:off x="7850237" y="1208931"/>
            <a:ext cx="9445526" cy="1896368"/>
            <a:chOff x="0" y="-47625"/>
            <a:chExt cx="12594035" cy="2528490"/>
          </a:xfrm>
        </p:grpSpPr>
        <p:sp>
          <p:nvSpPr>
            <p:cNvPr id="430" name="Google Shape;430;p12"/>
            <p:cNvSpPr/>
            <p:nvPr/>
          </p:nvSpPr>
          <p:spPr>
            <a:xfrm>
              <a:off x="0" y="0"/>
              <a:ext cx="12594035" cy="2480865"/>
            </a:xfrm>
            <a:custGeom>
              <a:rect b="b" l="l" r="r" t="t"/>
              <a:pathLst>
                <a:path extrusionOk="0" h="248086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480865"/>
                  </a:lnTo>
                  <a:lnTo>
                    <a:pt x="0" y="24808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1" name="Google Shape;431;p12"/>
            <p:cNvSpPr txBox="1"/>
            <p:nvPr/>
          </p:nvSpPr>
          <p:spPr>
            <a:xfrm>
              <a:off x="0" y="-47625"/>
              <a:ext cx="12594035" cy="2528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8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12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Tendencias Futuras en Business Analytics</a:t>
              </a:r>
              <a:endParaRPr/>
            </a:p>
          </p:txBody>
        </p:sp>
      </p:grpSp>
      <p:sp>
        <p:nvSpPr>
          <p:cNvPr descr="preencoded.png" id="432" name="Google Shape;432;p12"/>
          <p:cNvSpPr/>
          <p:nvPr/>
        </p:nvSpPr>
        <p:spPr>
          <a:xfrm>
            <a:off x="7850237" y="3530501"/>
            <a:ext cx="1417588" cy="1701105"/>
          </a:xfrm>
          <a:custGeom>
            <a:rect b="b" l="l" r="r" t="t"/>
            <a:pathLst>
              <a:path extrusionOk="0" h="1701105" w="1417588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4" l="0" r="0" t="-53"/>
            </a:stretch>
          </a:blipFill>
          <a:ln>
            <a:noFill/>
          </a:ln>
        </p:spPr>
      </p:sp>
      <p:grpSp>
        <p:nvGrpSpPr>
          <p:cNvPr id="433" name="Google Shape;433;p12"/>
          <p:cNvGrpSpPr/>
          <p:nvPr/>
        </p:nvGrpSpPr>
        <p:grpSpPr>
          <a:xfrm>
            <a:off x="9693028" y="3792588"/>
            <a:ext cx="3864025" cy="486518"/>
            <a:chOff x="0" y="-28575"/>
            <a:chExt cx="5152033" cy="648692"/>
          </a:xfrm>
        </p:grpSpPr>
        <p:sp>
          <p:nvSpPr>
            <p:cNvPr id="434" name="Google Shape;434;p12"/>
            <p:cNvSpPr/>
            <p:nvPr/>
          </p:nvSpPr>
          <p:spPr>
            <a:xfrm>
              <a:off x="0" y="0"/>
              <a:ext cx="5152033" cy="620117"/>
            </a:xfrm>
            <a:custGeom>
              <a:rect b="b" l="l" r="r" t="t"/>
              <a:pathLst>
                <a:path extrusionOk="0" h="620117" w="5152033">
                  <a:moveTo>
                    <a:pt x="0" y="0"/>
                  </a:moveTo>
                  <a:lnTo>
                    <a:pt x="5152033" y="0"/>
                  </a:lnTo>
                  <a:lnTo>
                    <a:pt x="5152033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5" name="Google Shape;435;p12"/>
            <p:cNvSpPr txBox="1"/>
            <p:nvPr/>
          </p:nvSpPr>
          <p:spPr>
            <a:xfrm>
              <a:off x="0" y="-28575"/>
              <a:ext cx="5152033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IA y Machine Learning</a:t>
              </a:r>
              <a:endParaRPr/>
            </a:p>
          </p:txBody>
        </p:sp>
      </p:grpSp>
      <p:grpSp>
        <p:nvGrpSpPr>
          <p:cNvPr id="436" name="Google Shape;436;p12"/>
          <p:cNvGrpSpPr/>
          <p:nvPr/>
        </p:nvGrpSpPr>
        <p:grpSpPr>
          <a:xfrm>
            <a:off x="9693028" y="4384922"/>
            <a:ext cx="7602736" cy="517923"/>
            <a:chOff x="0" y="-85725"/>
            <a:chExt cx="10136982" cy="690563"/>
          </a:xfrm>
        </p:grpSpPr>
        <p:sp>
          <p:nvSpPr>
            <p:cNvPr id="437" name="Google Shape;437;p12"/>
            <p:cNvSpPr/>
            <p:nvPr/>
          </p:nvSpPr>
          <p:spPr>
            <a:xfrm>
              <a:off x="0" y="0"/>
              <a:ext cx="10136982" cy="604838"/>
            </a:xfrm>
            <a:custGeom>
              <a:rect b="b" l="l" r="r" t="t"/>
              <a:pathLst>
                <a:path extrusionOk="0" h="604838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8" name="Google Shape;438;p12"/>
            <p:cNvSpPr txBox="1"/>
            <p:nvPr/>
          </p:nvSpPr>
          <p:spPr>
            <a:xfrm>
              <a:off x="0" y="-85725"/>
              <a:ext cx="10136982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Análisis predictivo avanzado y automatización.</a:t>
              </a:r>
              <a:endParaRPr/>
            </a:p>
          </p:txBody>
        </p:sp>
      </p:grpSp>
      <p:sp>
        <p:nvSpPr>
          <p:cNvPr descr="preencoded.png" id="439" name="Google Shape;439;p12"/>
          <p:cNvSpPr/>
          <p:nvPr/>
        </p:nvSpPr>
        <p:spPr>
          <a:xfrm>
            <a:off x="7850237" y="5231606"/>
            <a:ext cx="1417588" cy="1701105"/>
          </a:xfrm>
          <a:custGeom>
            <a:rect b="b" l="l" r="r" t="t"/>
            <a:pathLst>
              <a:path extrusionOk="0" h="1701105" w="1417588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4" l="0" r="0" t="-53"/>
            </a:stretch>
          </a:blipFill>
          <a:ln>
            <a:noFill/>
          </a:ln>
        </p:spPr>
      </p:sp>
      <p:grpSp>
        <p:nvGrpSpPr>
          <p:cNvPr id="440" name="Google Shape;440;p12"/>
          <p:cNvGrpSpPr/>
          <p:nvPr/>
        </p:nvGrpSpPr>
        <p:grpSpPr>
          <a:xfrm>
            <a:off x="9693028" y="5493693"/>
            <a:ext cx="3721299" cy="486519"/>
            <a:chOff x="0" y="-28575"/>
            <a:chExt cx="4961732" cy="648692"/>
          </a:xfrm>
        </p:grpSpPr>
        <p:sp>
          <p:nvSpPr>
            <p:cNvPr id="441" name="Google Shape;441;p12"/>
            <p:cNvSpPr/>
            <p:nvPr/>
          </p:nvSpPr>
          <p:spPr>
            <a:xfrm>
              <a:off x="0" y="0"/>
              <a:ext cx="4961732" cy="620117"/>
            </a:xfrm>
            <a:custGeom>
              <a:rect b="b" l="l" r="r" t="t"/>
              <a:pathLst>
                <a:path extrusionOk="0"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2" name="Google Shape;442;p12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Analítica aumentada</a:t>
              </a:r>
              <a:endParaRPr/>
            </a:p>
          </p:txBody>
        </p:sp>
      </p:grpSp>
      <p:grpSp>
        <p:nvGrpSpPr>
          <p:cNvPr id="443" name="Google Shape;443;p12"/>
          <p:cNvGrpSpPr/>
          <p:nvPr/>
        </p:nvGrpSpPr>
        <p:grpSpPr>
          <a:xfrm>
            <a:off x="9693028" y="6086028"/>
            <a:ext cx="7602736" cy="517923"/>
            <a:chOff x="0" y="-85725"/>
            <a:chExt cx="10136982" cy="690563"/>
          </a:xfrm>
        </p:grpSpPr>
        <p:sp>
          <p:nvSpPr>
            <p:cNvPr id="444" name="Google Shape;444;p12"/>
            <p:cNvSpPr/>
            <p:nvPr/>
          </p:nvSpPr>
          <p:spPr>
            <a:xfrm>
              <a:off x="0" y="0"/>
              <a:ext cx="10136982" cy="604838"/>
            </a:xfrm>
            <a:custGeom>
              <a:rect b="b" l="l" r="r" t="t"/>
              <a:pathLst>
                <a:path extrusionOk="0" h="604838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5" name="Google Shape;445;p12"/>
            <p:cNvSpPr txBox="1"/>
            <p:nvPr/>
          </p:nvSpPr>
          <p:spPr>
            <a:xfrm>
              <a:off x="0" y="-85725"/>
              <a:ext cx="10136982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Facilita storytelling para mejor comprensión.</a:t>
              </a:r>
              <a:endParaRPr/>
            </a:p>
          </p:txBody>
        </p:sp>
      </p:grpSp>
      <p:sp>
        <p:nvSpPr>
          <p:cNvPr descr="preencoded.png" id="446" name="Google Shape;446;p12"/>
          <p:cNvSpPr/>
          <p:nvPr/>
        </p:nvSpPr>
        <p:spPr>
          <a:xfrm>
            <a:off x="7850237" y="6932711"/>
            <a:ext cx="1417588" cy="2109490"/>
          </a:xfrm>
          <a:custGeom>
            <a:rect b="b" l="l" r="r" t="t"/>
            <a:pathLst>
              <a:path extrusionOk="0" h="2109490" w="1417588">
                <a:moveTo>
                  <a:pt x="0" y="0"/>
                </a:moveTo>
                <a:lnTo>
                  <a:pt x="1417588" y="0"/>
                </a:lnTo>
                <a:lnTo>
                  <a:pt x="1417588" y="2109490"/>
                </a:lnTo>
                <a:lnTo>
                  <a:pt x="0" y="2109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62" r="-161" t="0"/>
            </a:stretch>
          </a:blipFill>
          <a:ln>
            <a:noFill/>
          </a:ln>
        </p:spPr>
      </p:sp>
      <p:grpSp>
        <p:nvGrpSpPr>
          <p:cNvPr id="447" name="Google Shape;447;p12"/>
          <p:cNvGrpSpPr/>
          <p:nvPr/>
        </p:nvGrpSpPr>
        <p:grpSpPr>
          <a:xfrm>
            <a:off x="9693028" y="7194798"/>
            <a:ext cx="3721299" cy="486519"/>
            <a:chOff x="0" y="-28575"/>
            <a:chExt cx="4961732" cy="648692"/>
          </a:xfrm>
        </p:grpSpPr>
        <p:sp>
          <p:nvSpPr>
            <p:cNvPr id="448" name="Google Shape;448;p12"/>
            <p:cNvSpPr/>
            <p:nvPr/>
          </p:nvSpPr>
          <p:spPr>
            <a:xfrm>
              <a:off x="0" y="0"/>
              <a:ext cx="4961732" cy="620117"/>
            </a:xfrm>
            <a:custGeom>
              <a:rect b="b" l="l" r="r" t="t"/>
              <a:pathLst>
                <a:path extrusionOk="0"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9" name="Google Shape;449;p12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Datos en tiempo real</a:t>
              </a:r>
              <a:endParaRPr/>
            </a:p>
          </p:txBody>
        </p:sp>
      </p:grpSp>
      <p:grpSp>
        <p:nvGrpSpPr>
          <p:cNvPr id="450" name="Google Shape;450;p12"/>
          <p:cNvGrpSpPr/>
          <p:nvPr/>
        </p:nvGrpSpPr>
        <p:grpSpPr>
          <a:xfrm>
            <a:off x="9693028" y="7787133"/>
            <a:ext cx="7602736" cy="971550"/>
            <a:chOff x="0" y="-85725"/>
            <a:chExt cx="10136982" cy="1295400"/>
          </a:xfrm>
        </p:grpSpPr>
        <p:sp>
          <p:nvSpPr>
            <p:cNvPr id="451" name="Google Shape;451;p12"/>
            <p:cNvSpPr/>
            <p:nvPr/>
          </p:nvSpPr>
          <p:spPr>
            <a:xfrm>
              <a:off x="0" y="0"/>
              <a:ext cx="10136982" cy="1209675"/>
            </a:xfrm>
            <a:custGeom>
              <a:rect b="b" l="l" r="r" t="t"/>
              <a:pathLst>
                <a:path extrusionOk="0" h="1209675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2" name="Google Shape;452;p12"/>
            <p:cNvSpPr txBox="1"/>
            <p:nvPr/>
          </p:nvSpPr>
          <p:spPr>
            <a:xfrm>
              <a:off x="0" y="-85725"/>
              <a:ext cx="10136982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Toma rápida de decisiones basadas en eventos instantáneos.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461" name="Google Shape;461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2" name="Google Shape;462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</p:sp>
      <p:sp>
        <p:nvSpPr>
          <p:cNvPr descr="preencoded.png" id="463" name="Google Shape;463;p13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4" name="Google Shape;464;p13"/>
          <p:cNvGrpSpPr/>
          <p:nvPr/>
        </p:nvGrpSpPr>
        <p:grpSpPr>
          <a:xfrm>
            <a:off x="7850237" y="2035820"/>
            <a:ext cx="9445526" cy="1896368"/>
            <a:chOff x="0" y="-47625"/>
            <a:chExt cx="12594035" cy="2528490"/>
          </a:xfrm>
        </p:grpSpPr>
        <p:sp>
          <p:nvSpPr>
            <p:cNvPr id="465" name="Google Shape;465;p13"/>
            <p:cNvSpPr/>
            <p:nvPr/>
          </p:nvSpPr>
          <p:spPr>
            <a:xfrm>
              <a:off x="0" y="0"/>
              <a:ext cx="12594035" cy="2480865"/>
            </a:xfrm>
            <a:custGeom>
              <a:rect b="b" l="l" r="r" t="t"/>
              <a:pathLst>
                <a:path extrusionOk="0" h="248086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480865"/>
                  </a:lnTo>
                  <a:lnTo>
                    <a:pt x="0" y="24808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6" name="Google Shape;466;p13"/>
            <p:cNvSpPr txBox="1"/>
            <p:nvPr/>
          </p:nvSpPr>
          <p:spPr>
            <a:xfrm>
              <a:off x="0" y="-47625"/>
              <a:ext cx="12594035" cy="2528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8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12" u="none" cap="none" strike="noStrike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Conclusiones y Recomendaciones</a:t>
              </a:r>
              <a:endParaRPr/>
            </a:p>
          </p:txBody>
        </p:sp>
      </p:grpSp>
      <p:grpSp>
        <p:nvGrpSpPr>
          <p:cNvPr id="467" name="Google Shape;467;p13"/>
          <p:cNvGrpSpPr/>
          <p:nvPr/>
        </p:nvGrpSpPr>
        <p:grpSpPr>
          <a:xfrm>
            <a:off x="7845475" y="4352628"/>
            <a:ext cx="647414" cy="647414"/>
            <a:chOff x="0" y="0"/>
            <a:chExt cx="863219" cy="863219"/>
          </a:xfrm>
        </p:grpSpPr>
        <p:sp>
          <p:nvSpPr>
            <p:cNvPr id="468" name="Google Shape;468;p13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CC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13"/>
          <p:cNvGrpSpPr/>
          <p:nvPr/>
        </p:nvGrpSpPr>
        <p:grpSpPr>
          <a:xfrm>
            <a:off x="8771632" y="4433293"/>
            <a:ext cx="3624262" cy="951607"/>
            <a:chOff x="0" y="-28575"/>
            <a:chExt cx="4832350" cy="1268810"/>
          </a:xfrm>
        </p:grpSpPr>
        <p:sp>
          <p:nvSpPr>
            <p:cNvPr id="471" name="Google Shape;471;p13"/>
            <p:cNvSpPr/>
            <p:nvPr/>
          </p:nvSpPr>
          <p:spPr>
            <a:xfrm>
              <a:off x="0" y="0"/>
              <a:ext cx="4832350" cy="1240235"/>
            </a:xfrm>
            <a:custGeom>
              <a:rect b="b" l="l" r="r" t="t"/>
              <a:pathLst>
                <a:path extrusionOk="0" h="1240235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240235"/>
                  </a:lnTo>
                  <a:lnTo>
                    <a:pt x="0" y="12402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2" name="Google Shape;472;p13"/>
            <p:cNvSpPr txBox="1"/>
            <p:nvPr/>
          </p:nvSpPr>
          <p:spPr>
            <a:xfrm>
              <a:off x="0" y="-28575"/>
              <a:ext cx="4832350" cy="1268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Business Analytics, decisivo</a:t>
              </a:r>
              <a:endParaRPr/>
            </a:p>
          </p:txBody>
        </p:sp>
      </p:grpSp>
      <p:grpSp>
        <p:nvGrpSpPr>
          <p:cNvPr id="473" name="Google Shape;473;p13"/>
          <p:cNvGrpSpPr/>
          <p:nvPr/>
        </p:nvGrpSpPr>
        <p:grpSpPr>
          <a:xfrm>
            <a:off x="8771632" y="5490716"/>
            <a:ext cx="3624262" cy="971550"/>
            <a:chOff x="0" y="-85725"/>
            <a:chExt cx="4832350" cy="1295400"/>
          </a:xfrm>
        </p:grpSpPr>
        <p:sp>
          <p:nvSpPr>
            <p:cNvPr id="474" name="Google Shape;474;p13"/>
            <p:cNvSpPr/>
            <p:nvPr/>
          </p:nvSpPr>
          <p:spPr>
            <a:xfrm>
              <a:off x="0" y="0"/>
              <a:ext cx="4832350" cy="1209675"/>
            </a:xfrm>
            <a:custGeom>
              <a:rect b="b" l="l" r="r" t="t"/>
              <a:pathLst>
                <a:path extrusionOk="0" h="1209675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5" name="Google Shape;475;p13"/>
            <p:cNvSpPr txBox="1"/>
            <p:nvPr/>
          </p:nvSpPr>
          <p:spPr>
            <a:xfrm>
              <a:off x="0" y="-85725"/>
              <a:ext cx="483235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Clave para competitividad y éxito sostenible.</a:t>
              </a:r>
              <a:endParaRPr/>
            </a:p>
          </p:txBody>
        </p:sp>
      </p:grpSp>
      <p:grpSp>
        <p:nvGrpSpPr>
          <p:cNvPr id="476" name="Google Shape;476;p13"/>
          <p:cNvGrpSpPr/>
          <p:nvPr/>
        </p:nvGrpSpPr>
        <p:grpSpPr>
          <a:xfrm>
            <a:off x="12745491" y="4352628"/>
            <a:ext cx="647414" cy="647414"/>
            <a:chOff x="0" y="0"/>
            <a:chExt cx="863219" cy="863219"/>
          </a:xfrm>
        </p:grpSpPr>
        <p:sp>
          <p:nvSpPr>
            <p:cNvPr id="477" name="Google Shape;477;p13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CC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3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9" name="Google Shape;479;p13"/>
          <p:cNvGrpSpPr/>
          <p:nvPr/>
        </p:nvGrpSpPr>
        <p:grpSpPr>
          <a:xfrm>
            <a:off x="13671649" y="4433293"/>
            <a:ext cx="3624262" cy="486519"/>
            <a:chOff x="0" y="-28575"/>
            <a:chExt cx="4832350" cy="648692"/>
          </a:xfrm>
        </p:grpSpPr>
        <p:sp>
          <p:nvSpPr>
            <p:cNvPr id="480" name="Google Shape;480;p13"/>
            <p:cNvSpPr/>
            <p:nvPr/>
          </p:nvSpPr>
          <p:spPr>
            <a:xfrm>
              <a:off x="0" y="0"/>
              <a:ext cx="4832350" cy="620117"/>
            </a:xfrm>
            <a:custGeom>
              <a:rect b="b" l="l" r="r" t="t"/>
              <a:pathLst>
                <a:path extrusionOk="0" h="620117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1" name="Google Shape;481;p13"/>
            <p:cNvSpPr txBox="1"/>
            <p:nvPr/>
          </p:nvSpPr>
          <p:spPr>
            <a:xfrm>
              <a:off x="0" y="-28575"/>
              <a:ext cx="4832350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Integración y gestión</a:t>
              </a:r>
              <a:endParaRPr/>
            </a:p>
          </p:txBody>
        </p:sp>
      </p:grpSp>
      <p:grpSp>
        <p:nvGrpSpPr>
          <p:cNvPr id="482" name="Google Shape;482;p13"/>
          <p:cNvGrpSpPr/>
          <p:nvPr/>
        </p:nvGrpSpPr>
        <p:grpSpPr>
          <a:xfrm>
            <a:off x="13671649" y="5025627"/>
            <a:ext cx="3624262" cy="1425179"/>
            <a:chOff x="0" y="-85725"/>
            <a:chExt cx="4832350" cy="1900238"/>
          </a:xfrm>
        </p:grpSpPr>
        <p:sp>
          <p:nvSpPr>
            <p:cNvPr id="483" name="Google Shape;483;p13"/>
            <p:cNvSpPr/>
            <p:nvPr/>
          </p:nvSpPr>
          <p:spPr>
            <a:xfrm>
              <a:off x="0" y="0"/>
              <a:ext cx="4832350" cy="1814513"/>
            </a:xfrm>
            <a:custGeom>
              <a:rect b="b" l="l" r="r" t="t"/>
              <a:pathLst>
                <a:path extrusionOk="0" h="1814513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4" name="Google Shape;484;p13"/>
            <p:cNvSpPr txBox="1"/>
            <p:nvPr/>
          </p:nvSpPr>
          <p:spPr>
            <a:xfrm>
              <a:off x="0" y="-85725"/>
              <a:ext cx="4832350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Fundamentales para maximizar el valor de datos.</a:t>
              </a:r>
              <a:endParaRPr/>
            </a:p>
          </p:txBody>
        </p:sp>
      </p:grpSp>
      <p:grpSp>
        <p:nvGrpSpPr>
          <p:cNvPr id="485" name="Google Shape;485;p13"/>
          <p:cNvGrpSpPr/>
          <p:nvPr/>
        </p:nvGrpSpPr>
        <p:grpSpPr>
          <a:xfrm>
            <a:off x="7845475" y="7024539"/>
            <a:ext cx="647414" cy="647415"/>
            <a:chOff x="0" y="0"/>
            <a:chExt cx="863219" cy="863219"/>
          </a:xfrm>
        </p:grpSpPr>
        <p:sp>
          <p:nvSpPr>
            <p:cNvPr id="486" name="Google Shape;486;p13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CC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3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13"/>
          <p:cNvGrpSpPr/>
          <p:nvPr/>
        </p:nvGrpSpPr>
        <p:grpSpPr>
          <a:xfrm>
            <a:off x="8771632" y="7105204"/>
            <a:ext cx="5061198" cy="486519"/>
            <a:chOff x="0" y="-28575"/>
            <a:chExt cx="6748263" cy="648692"/>
          </a:xfrm>
        </p:grpSpPr>
        <p:sp>
          <p:nvSpPr>
            <p:cNvPr id="489" name="Google Shape;489;p13"/>
            <p:cNvSpPr/>
            <p:nvPr/>
          </p:nvSpPr>
          <p:spPr>
            <a:xfrm>
              <a:off x="0" y="0"/>
              <a:ext cx="6748263" cy="620117"/>
            </a:xfrm>
            <a:custGeom>
              <a:rect b="b" l="l" r="r" t="t"/>
              <a:pathLst>
                <a:path extrusionOk="0" h="620117" w="6748263">
                  <a:moveTo>
                    <a:pt x="0" y="0"/>
                  </a:moveTo>
                  <a:lnTo>
                    <a:pt x="6748263" y="0"/>
                  </a:lnTo>
                  <a:lnTo>
                    <a:pt x="6748263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0" name="Google Shape;490;p13"/>
            <p:cNvSpPr txBox="1"/>
            <p:nvPr/>
          </p:nvSpPr>
          <p:spPr>
            <a:xfrm>
              <a:off x="0" y="-28575"/>
              <a:ext cx="6748263" cy="64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74" u="none" cap="none" strike="noStrike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Invertir en analítica avanzada</a:t>
              </a:r>
              <a:endParaRPr/>
            </a:p>
          </p:txBody>
        </p:sp>
      </p:grpSp>
      <p:grpSp>
        <p:nvGrpSpPr>
          <p:cNvPr id="491" name="Google Shape;491;p13"/>
          <p:cNvGrpSpPr/>
          <p:nvPr/>
        </p:nvGrpSpPr>
        <p:grpSpPr>
          <a:xfrm>
            <a:off x="8771632" y="7697540"/>
            <a:ext cx="8524132" cy="517923"/>
            <a:chOff x="0" y="-85725"/>
            <a:chExt cx="11365509" cy="690563"/>
          </a:xfrm>
        </p:grpSpPr>
        <p:sp>
          <p:nvSpPr>
            <p:cNvPr id="492" name="Google Shape;492;p13"/>
            <p:cNvSpPr/>
            <p:nvPr/>
          </p:nvSpPr>
          <p:spPr>
            <a:xfrm>
              <a:off x="0" y="0"/>
              <a:ext cx="11365509" cy="604838"/>
            </a:xfrm>
            <a:custGeom>
              <a:rect b="b" l="l" r="r" t="t"/>
              <a:pathLst>
                <a:path extrusionOk="0"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3" name="Google Shape;493;p13"/>
            <p:cNvSpPr txBox="1"/>
            <p:nvPr/>
          </p:nvSpPr>
          <p:spPr>
            <a:xfrm>
              <a:off x="0" y="-85725"/>
              <a:ext cx="11365508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Para anticipar cambios y liderar mercados.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4DA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499" name="Google Shape;499;p14"/>
          <p:cNvSpPr txBox="1"/>
          <p:nvPr/>
        </p:nvSpPr>
        <p:spPr>
          <a:xfrm>
            <a:off x="1960694" y="3860833"/>
            <a:ext cx="13506718" cy="4958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Business Analytics: Apoya decisiones basadas en datos reales y análisis predictivo.</a:t>
            </a:r>
            <a:endParaRPr/>
          </a:p>
          <a:p>
            <a:pPr indent="-340217" lvl="1" marL="680435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Integración con SI: BA se conecta con sistemas para extraer y analizar información útil.</a:t>
            </a:r>
            <a:endParaRPr/>
          </a:p>
          <a:p>
            <a:pPr indent="-340217" lvl="1" marL="680435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Gestión del conocimiento: Captura, organiza y comparte el saber dentro de la organización.</a:t>
            </a:r>
            <a:endParaRPr/>
          </a:p>
          <a:p>
            <a:pPr indent="-340217" lvl="1" marL="680435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Estrategias clave: Comunidades de práctica, mentoring, bases de conocimiento.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4DA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5"/>
          <p:cNvSpPr txBox="1"/>
          <p:nvPr/>
        </p:nvSpPr>
        <p:spPr>
          <a:xfrm>
            <a:off x="2401868" y="4593717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PERSEVERANCIA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D6DE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6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510" name="Google Shape;510;p16"/>
          <p:cNvSpPr txBox="1"/>
          <p:nvPr/>
        </p:nvSpPr>
        <p:spPr>
          <a:xfrm>
            <a:off x="3416041" y="4435592"/>
            <a:ext cx="11455919" cy="4446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https://www.ibm.com/think/topics/business-analytics#:~:text=Business%20analytics%20involves%20companies%20that,and%20better%20serve%20their%20customers.</a:t>
            </a:r>
            <a:endParaRPr/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https://www.ibm.com/es-es/topics/knowledge-management</a:t>
            </a:r>
            <a:endParaRPr/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5" y="81426"/>
            <a:ext cx="3556389" cy="22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D6DE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7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518" name="Google Shape;518;p1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p17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