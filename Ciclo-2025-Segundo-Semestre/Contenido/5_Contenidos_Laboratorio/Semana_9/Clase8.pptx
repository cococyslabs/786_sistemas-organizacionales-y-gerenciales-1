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Raleway Medium"/>
      <p:regular r:id="rId27"/>
      <p:bold r:id="rId28"/>
      <p:italic r:id="rId29"/>
      <p:boldItalic r:id="rId30"/>
    </p:embeddedFont>
    <p:embeddedFont>
      <p:font typeface="Comfortaa"/>
      <p:regular r:id="rId31"/>
      <p:bold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gxYaACDAYvWbGuhmCedidEJ4fQ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11D3B3-1BE5-43D0-973A-45B8C6C0B018}">
  <a:tblStyle styleId="{5911D3B3-1BE5-43D0-973A-45B8C6C0B01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RalewayMedium-bold.fntdata"/><Relationship Id="rId27" Type="http://schemas.openxmlformats.org/officeDocument/2006/relationships/font" Target="fonts/Raleway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omfortaa-regular.fntdata"/><Relationship Id="rId30" Type="http://schemas.openxmlformats.org/officeDocument/2006/relationships/font" Target="fonts/Raleway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font" Target="fonts/Comfortaa-bold.fntdata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90e2c2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b90e2c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7" name="Google Shape;15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5" name="Google Shape;175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77" name="Google Shape;177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16" name="Google Shape;216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7" name="Google Shape;217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19" name="Google Shape;219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20" name="Google Shape;220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47" name="Google Shape;247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8" name="Google Shape;248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50" name="Google Shape;250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51" name="Google Shape;251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82" name="Google Shape;282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3" name="Google Shape;283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85" name="Google Shape;285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86" name="Google Shape;286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19" name="Google Shape;319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0" name="Google Shape;320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22" name="Google Shape;322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23" name="Google Shape;323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73" name="Google Shape;373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4" name="Google Shape;374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76" name="Google Shape;376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77" name="Google Shape;377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08" name="Google Shape;408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9" name="Google Shape;409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11" name="Google Shape;411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12" name="Google Shape;412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33" name="Google Shape;433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34" name="Google Shape;434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36" name="Google Shape;436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37" name="Google Shape;437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61" name="Google Shape;461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2" name="Google Shape;462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464" name="Google Shape;464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65" name="Google Shape;465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90e2c26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b90e2c26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b90e2c26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youtu.be/Q44kU5QKpbE" TargetMode="External"/><Relationship Id="rId6" Type="http://schemas.openxmlformats.org/officeDocument/2006/relationships/hyperlink" Target="https://youtu.be/Q44kU5QKpb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b90e2c26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b90e2c26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{5911D3B3-1BE5-43D0-973A-45B8C6C0B018}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b90e2c26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b90e2c26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6464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69140" y="7832650"/>
            <a:ext cx="1460544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0" y="3141906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Problemas éticos y sociales en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6464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49" y="-320617"/>
            <a:ext cx="7257826" cy="3120467"/>
            <a:chOff x="-6" y="-95250"/>
            <a:chExt cx="9677100" cy="4160623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-6" y="986773"/>
              <a:ext cx="96771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5" name="Google Shape;125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6464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B1B1E"/>
          </a:solid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7272B"/>
          </a:solidFill>
          <a:ln>
            <a:noFill/>
          </a:ln>
        </p:spPr>
      </p:sp>
      <p:sp>
        <p:nvSpPr>
          <p:cNvPr descr="preencoded.png" id="162" name="Google Shape;162;p4"/>
          <p:cNvSpPr/>
          <p:nvPr/>
        </p:nvSpPr>
        <p:spPr>
          <a:xfrm>
            <a:off x="11430000" y="140196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1080046" y="2683371"/>
            <a:ext cx="9269909" cy="2600325"/>
            <a:chOff x="0" y="-38100"/>
            <a:chExt cx="12359878" cy="3467100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2359878" cy="3429000"/>
            </a:xfrm>
            <a:custGeom>
              <a:rect b="b" l="l" r="r" t="t"/>
              <a:pathLst>
                <a:path extrusionOk="0" h="3429000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38100"/>
              <a:ext cx="12359878" cy="3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74"/>
                <a:buFont typeface="Arial"/>
                <a:buNone/>
              </a:pPr>
              <a:r>
                <a:rPr b="1" i="0" lang="en-US" sz="5374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 Problemas Éticos y Sociales en Sistemas de 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1080046" y="5667970"/>
            <a:ext cx="9269909" cy="1066205"/>
            <a:chOff x="0" y="-104775"/>
            <a:chExt cx="12359878" cy="1421607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2359878" cy="1316832"/>
            </a:xfrm>
            <a:custGeom>
              <a:rect b="b" l="l" r="r" t="t"/>
              <a:pathLst>
                <a:path extrusionOk="0" h="1316832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104775"/>
              <a:ext cx="12359878" cy="1421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Las TIC son clave en la transformación social y económica global.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1080046" y="7002661"/>
            <a:ext cx="9269909" cy="572392"/>
            <a:chOff x="0" y="-104775"/>
            <a:chExt cx="12359878" cy="763190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12359878" cy="658415"/>
            </a:xfrm>
            <a:custGeom>
              <a:rect b="b" l="l" r="r" t="t"/>
              <a:pathLst>
                <a:path extrusionOk="0" h="658415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1" name="Google Shape;171;p4"/>
            <p:cNvSpPr txBox="1"/>
            <p:nvPr/>
          </p:nvSpPr>
          <p:spPr>
            <a:xfrm>
              <a:off x="0" y="-104775"/>
              <a:ext cx="12359878" cy="763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Enfrentan desafíos éticos, sociales y de innovación digital.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B1B1E"/>
          </a:solidFill>
          <a:ln>
            <a:noFill/>
          </a:ln>
        </p:spPr>
      </p:sp>
      <p:sp>
        <p:nvSpPr>
          <p:cNvPr id="181" name="Google Shape;181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7272B"/>
          </a:solidFill>
          <a:ln>
            <a:noFill/>
          </a:ln>
        </p:spPr>
      </p:sp>
      <p:sp>
        <p:nvSpPr>
          <p:cNvPr descr="preencoded.png" id="182" name="Google Shape;182;p5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3" name="Google Shape;183;p5"/>
          <p:cNvGrpSpPr/>
          <p:nvPr/>
        </p:nvGrpSpPr>
        <p:grpSpPr>
          <a:xfrm>
            <a:off x="7759601" y="941785"/>
            <a:ext cx="9626799" cy="1459409"/>
            <a:chOff x="0" y="-38100"/>
            <a:chExt cx="12835732" cy="1945878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12835732" cy="1907778"/>
            </a:xfrm>
            <a:custGeom>
              <a:rect b="b" l="l" r="r" t="t"/>
              <a:pathLst>
                <a:path extrusionOk="0" h="1907778" w="12835732">
                  <a:moveTo>
                    <a:pt x="0" y="0"/>
                  </a:moveTo>
                  <a:lnTo>
                    <a:pt x="12835732" y="0"/>
                  </a:lnTo>
                  <a:lnTo>
                    <a:pt x="12835732" y="1907778"/>
                  </a:lnTo>
                  <a:lnTo>
                    <a:pt x="0" y="1907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12835732" cy="1945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Ejemplos de Problemas Éticos en 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" name="Google Shape;186;p5"/>
          <p:cNvSpPr/>
          <p:nvPr/>
        </p:nvSpPr>
        <p:spPr>
          <a:xfrm>
            <a:off x="7759601" y="2787551"/>
            <a:ext cx="9626822" cy="1439228"/>
          </a:xfrm>
          <a:custGeom>
            <a:rect b="b" l="l" r="r" t="t"/>
            <a:pathLst>
              <a:path extrusionOk="0" h="1918970" w="12835763">
                <a:moveTo>
                  <a:pt x="0" y="515239"/>
                </a:moveTo>
                <a:cubicBezTo>
                  <a:pt x="0" y="230632"/>
                  <a:pt x="230632" y="0"/>
                  <a:pt x="515239" y="0"/>
                </a:cubicBezTo>
                <a:lnTo>
                  <a:pt x="12320524" y="0"/>
                </a:lnTo>
                <a:cubicBezTo>
                  <a:pt x="12605004" y="0"/>
                  <a:pt x="12835763" y="230632"/>
                  <a:pt x="12835763" y="515239"/>
                </a:cubicBezTo>
                <a:lnTo>
                  <a:pt x="12835763" y="1403731"/>
                </a:lnTo>
                <a:cubicBezTo>
                  <a:pt x="12835763" y="1688211"/>
                  <a:pt x="12605131" y="1918970"/>
                  <a:pt x="12320524" y="1918970"/>
                </a:cubicBezTo>
                <a:lnTo>
                  <a:pt x="515239" y="1918970"/>
                </a:lnTo>
                <a:cubicBezTo>
                  <a:pt x="230632" y="1918843"/>
                  <a:pt x="0" y="1688211"/>
                  <a:pt x="0" y="1403731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5"/>
          <p:cNvGrpSpPr/>
          <p:nvPr/>
        </p:nvGrpSpPr>
        <p:grpSpPr>
          <a:xfrm>
            <a:off x="8017074" y="3023593"/>
            <a:ext cx="3521720" cy="379065"/>
            <a:chOff x="0" y="-28575"/>
            <a:chExt cx="4695627" cy="505420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4695627" cy="476845"/>
            </a:xfrm>
            <a:custGeom>
              <a:rect b="b" l="l" r="r" t="t"/>
              <a:pathLst>
                <a:path extrusionOk="0" h="476845" w="4695627">
                  <a:moveTo>
                    <a:pt x="0" y="0"/>
                  </a:moveTo>
                  <a:lnTo>
                    <a:pt x="4695627" y="0"/>
                  </a:lnTo>
                  <a:lnTo>
                    <a:pt x="4695627" y="476845"/>
                  </a:lnTo>
                  <a:lnTo>
                    <a:pt x="0" y="4768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9" name="Google Shape;189;p5"/>
            <p:cNvSpPr txBox="1"/>
            <p:nvPr/>
          </p:nvSpPr>
          <p:spPr>
            <a:xfrm>
              <a:off x="0" y="-28575"/>
              <a:ext cx="4695627" cy="505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1" i="0" lang="en-US" sz="2249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Abuso y Discriminación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5"/>
          <p:cNvGrpSpPr/>
          <p:nvPr/>
        </p:nvGrpSpPr>
        <p:grpSpPr>
          <a:xfrm>
            <a:off x="8017074" y="3492847"/>
            <a:ext cx="9111854" cy="476399"/>
            <a:chOff x="0" y="-85725"/>
            <a:chExt cx="12149138" cy="635198"/>
          </a:xfrm>
        </p:grpSpPr>
        <p:sp>
          <p:nvSpPr>
            <p:cNvPr id="191" name="Google Shape;191;p5"/>
            <p:cNvSpPr/>
            <p:nvPr/>
          </p:nvSpPr>
          <p:spPr>
            <a:xfrm>
              <a:off x="0" y="0"/>
              <a:ext cx="12149138" cy="549473"/>
            </a:xfrm>
            <a:custGeom>
              <a:rect b="b" l="l" r="r" t="t"/>
              <a:pathLst>
                <a:path extrusionOk="0" h="549473" w="12149138">
                  <a:moveTo>
                    <a:pt x="0" y="0"/>
                  </a:moveTo>
                  <a:lnTo>
                    <a:pt x="12149138" y="0"/>
                  </a:lnTo>
                  <a:lnTo>
                    <a:pt x="12149138" y="549473"/>
                  </a:lnTo>
                  <a:lnTo>
                    <a:pt x="0" y="549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2" name="Google Shape;192;p5"/>
            <p:cNvSpPr txBox="1"/>
            <p:nvPr/>
          </p:nvSpPr>
          <p:spPr>
            <a:xfrm>
              <a:off x="0" y="-85725"/>
              <a:ext cx="12149138" cy="635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Sistemas automatizados usados para discriminar y ejercer poder indebido.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5"/>
          <p:cNvSpPr/>
          <p:nvPr/>
        </p:nvSpPr>
        <p:spPr>
          <a:xfrm>
            <a:off x="7759601" y="4484191"/>
            <a:ext cx="9626822" cy="1439228"/>
          </a:xfrm>
          <a:custGeom>
            <a:rect b="b" l="l" r="r" t="t"/>
            <a:pathLst>
              <a:path extrusionOk="0" h="1918970" w="12835763">
                <a:moveTo>
                  <a:pt x="0" y="515239"/>
                </a:moveTo>
                <a:cubicBezTo>
                  <a:pt x="0" y="230632"/>
                  <a:pt x="230632" y="0"/>
                  <a:pt x="515239" y="0"/>
                </a:cubicBezTo>
                <a:lnTo>
                  <a:pt x="12320524" y="0"/>
                </a:lnTo>
                <a:cubicBezTo>
                  <a:pt x="12605004" y="0"/>
                  <a:pt x="12835763" y="230632"/>
                  <a:pt x="12835763" y="515239"/>
                </a:cubicBezTo>
                <a:lnTo>
                  <a:pt x="12835763" y="1403731"/>
                </a:lnTo>
                <a:cubicBezTo>
                  <a:pt x="12835763" y="1688211"/>
                  <a:pt x="12605131" y="1918970"/>
                  <a:pt x="12320524" y="1918970"/>
                </a:cubicBezTo>
                <a:lnTo>
                  <a:pt x="515239" y="1918970"/>
                </a:lnTo>
                <a:cubicBezTo>
                  <a:pt x="230632" y="1918843"/>
                  <a:pt x="0" y="1688211"/>
                  <a:pt x="0" y="1403731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5"/>
          <p:cNvGrpSpPr/>
          <p:nvPr/>
        </p:nvGrpSpPr>
        <p:grpSpPr>
          <a:xfrm>
            <a:off x="8017074" y="4720233"/>
            <a:ext cx="3575745" cy="379065"/>
            <a:chOff x="0" y="-28575"/>
            <a:chExt cx="4767660" cy="505420"/>
          </a:xfrm>
        </p:grpSpPr>
        <p:sp>
          <p:nvSpPr>
            <p:cNvPr id="195" name="Google Shape;195;p5"/>
            <p:cNvSpPr/>
            <p:nvPr/>
          </p:nvSpPr>
          <p:spPr>
            <a:xfrm>
              <a:off x="0" y="0"/>
              <a:ext cx="4767660" cy="476845"/>
            </a:xfrm>
            <a:custGeom>
              <a:rect b="b" l="l" r="r" t="t"/>
              <a:pathLst>
                <a:path extrusionOk="0" h="476845" w="4767660">
                  <a:moveTo>
                    <a:pt x="0" y="0"/>
                  </a:moveTo>
                  <a:lnTo>
                    <a:pt x="4767660" y="0"/>
                  </a:lnTo>
                  <a:lnTo>
                    <a:pt x="4767660" y="476845"/>
                  </a:lnTo>
                  <a:lnTo>
                    <a:pt x="0" y="4768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6" name="Google Shape;196;p5"/>
            <p:cNvSpPr txBox="1"/>
            <p:nvPr/>
          </p:nvSpPr>
          <p:spPr>
            <a:xfrm>
              <a:off x="0" y="-28575"/>
              <a:ext cx="4767660" cy="505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1" i="0" lang="en-US" sz="2249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Software No Autorizado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5"/>
          <p:cNvGrpSpPr/>
          <p:nvPr/>
        </p:nvGrpSpPr>
        <p:grpSpPr>
          <a:xfrm>
            <a:off x="8017074" y="5189487"/>
            <a:ext cx="9111854" cy="476399"/>
            <a:chOff x="0" y="-85725"/>
            <a:chExt cx="12149138" cy="635198"/>
          </a:xfrm>
        </p:grpSpPr>
        <p:sp>
          <p:nvSpPr>
            <p:cNvPr id="198" name="Google Shape;198;p5"/>
            <p:cNvSpPr/>
            <p:nvPr/>
          </p:nvSpPr>
          <p:spPr>
            <a:xfrm>
              <a:off x="0" y="0"/>
              <a:ext cx="12149138" cy="549473"/>
            </a:xfrm>
            <a:custGeom>
              <a:rect b="b" l="l" r="r" t="t"/>
              <a:pathLst>
                <a:path extrusionOk="0" h="549473" w="12149138">
                  <a:moveTo>
                    <a:pt x="0" y="0"/>
                  </a:moveTo>
                  <a:lnTo>
                    <a:pt x="12149138" y="0"/>
                  </a:lnTo>
                  <a:lnTo>
                    <a:pt x="12149138" y="549473"/>
                  </a:lnTo>
                  <a:lnTo>
                    <a:pt x="0" y="549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9" name="Google Shape;199;p5"/>
            <p:cNvSpPr txBox="1"/>
            <p:nvPr/>
          </p:nvSpPr>
          <p:spPr>
            <a:xfrm>
              <a:off x="0" y="-85725"/>
              <a:ext cx="12149138" cy="635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Uso indebido de correos electrónicos y software sin licencia.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5"/>
          <p:cNvSpPr/>
          <p:nvPr/>
        </p:nvSpPr>
        <p:spPr>
          <a:xfrm>
            <a:off x="7759601" y="6180832"/>
            <a:ext cx="9626822" cy="1439227"/>
          </a:xfrm>
          <a:custGeom>
            <a:rect b="b" l="l" r="r" t="t"/>
            <a:pathLst>
              <a:path extrusionOk="0" h="1918970" w="12835763">
                <a:moveTo>
                  <a:pt x="0" y="515239"/>
                </a:moveTo>
                <a:cubicBezTo>
                  <a:pt x="0" y="230632"/>
                  <a:pt x="230632" y="0"/>
                  <a:pt x="515239" y="0"/>
                </a:cubicBezTo>
                <a:lnTo>
                  <a:pt x="12320524" y="0"/>
                </a:lnTo>
                <a:cubicBezTo>
                  <a:pt x="12605004" y="0"/>
                  <a:pt x="12835763" y="230632"/>
                  <a:pt x="12835763" y="515239"/>
                </a:cubicBezTo>
                <a:lnTo>
                  <a:pt x="12835763" y="1403731"/>
                </a:lnTo>
                <a:cubicBezTo>
                  <a:pt x="12835763" y="1688211"/>
                  <a:pt x="12605131" y="1918970"/>
                  <a:pt x="12320524" y="1918970"/>
                </a:cubicBezTo>
                <a:lnTo>
                  <a:pt x="515239" y="1918970"/>
                </a:lnTo>
                <a:cubicBezTo>
                  <a:pt x="230632" y="1918843"/>
                  <a:pt x="0" y="1688211"/>
                  <a:pt x="0" y="1403731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" name="Google Shape;201;p5"/>
          <p:cNvGrpSpPr/>
          <p:nvPr/>
        </p:nvGrpSpPr>
        <p:grpSpPr>
          <a:xfrm>
            <a:off x="8017074" y="6416874"/>
            <a:ext cx="3248917" cy="379065"/>
            <a:chOff x="0" y="-28575"/>
            <a:chExt cx="4331890" cy="505420"/>
          </a:xfrm>
        </p:grpSpPr>
        <p:sp>
          <p:nvSpPr>
            <p:cNvPr id="202" name="Google Shape;202;p5"/>
            <p:cNvSpPr/>
            <p:nvPr/>
          </p:nvSpPr>
          <p:spPr>
            <a:xfrm>
              <a:off x="0" y="0"/>
              <a:ext cx="4331890" cy="476845"/>
            </a:xfrm>
            <a:custGeom>
              <a:rect b="b" l="l" r="r" t="t"/>
              <a:pathLst>
                <a:path extrusionOk="0" h="476845" w="4331890">
                  <a:moveTo>
                    <a:pt x="0" y="0"/>
                  </a:moveTo>
                  <a:lnTo>
                    <a:pt x="4331890" y="0"/>
                  </a:lnTo>
                  <a:lnTo>
                    <a:pt x="4331890" y="476845"/>
                  </a:lnTo>
                  <a:lnTo>
                    <a:pt x="0" y="4768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3" name="Google Shape;203;p5"/>
            <p:cNvSpPr txBox="1"/>
            <p:nvPr/>
          </p:nvSpPr>
          <p:spPr>
            <a:xfrm>
              <a:off x="0" y="-28575"/>
              <a:ext cx="4331890" cy="505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1" i="0" lang="en-US" sz="2249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Privacidad Vulnerada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5"/>
          <p:cNvGrpSpPr/>
          <p:nvPr/>
        </p:nvGrpSpPr>
        <p:grpSpPr>
          <a:xfrm>
            <a:off x="8017074" y="6886129"/>
            <a:ext cx="9111854" cy="476399"/>
            <a:chOff x="0" y="-85725"/>
            <a:chExt cx="12149138" cy="635198"/>
          </a:xfrm>
        </p:grpSpPr>
        <p:sp>
          <p:nvSpPr>
            <p:cNvPr id="205" name="Google Shape;205;p5"/>
            <p:cNvSpPr/>
            <p:nvPr/>
          </p:nvSpPr>
          <p:spPr>
            <a:xfrm>
              <a:off x="0" y="0"/>
              <a:ext cx="12149138" cy="549473"/>
            </a:xfrm>
            <a:custGeom>
              <a:rect b="b" l="l" r="r" t="t"/>
              <a:pathLst>
                <a:path extrusionOk="0" h="549473" w="12149138">
                  <a:moveTo>
                    <a:pt x="0" y="0"/>
                  </a:moveTo>
                  <a:lnTo>
                    <a:pt x="12149138" y="0"/>
                  </a:lnTo>
                  <a:lnTo>
                    <a:pt x="12149138" y="549473"/>
                  </a:lnTo>
                  <a:lnTo>
                    <a:pt x="0" y="549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6" name="Google Shape;206;p5"/>
            <p:cNvSpPr txBox="1"/>
            <p:nvPr/>
          </p:nvSpPr>
          <p:spPr>
            <a:xfrm>
              <a:off x="0" y="-85725"/>
              <a:ext cx="12149138" cy="635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Accesos no autorizados a datos y brechas de seguridad frecuentes.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5"/>
          <p:cNvSpPr/>
          <p:nvPr/>
        </p:nvSpPr>
        <p:spPr>
          <a:xfrm>
            <a:off x="7759601" y="7877472"/>
            <a:ext cx="9626822" cy="1439227"/>
          </a:xfrm>
          <a:custGeom>
            <a:rect b="b" l="l" r="r" t="t"/>
            <a:pathLst>
              <a:path extrusionOk="0" h="1918970" w="12835763">
                <a:moveTo>
                  <a:pt x="0" y="515239"/>
                </a:moveTo>
                <a:cubicBezTo>
                  <a:pt x="0" y="230632"/>
                  <a:pt x="230632" y="0"/>
                  <a:pt x="515239" y="0"/>
                </a:cubicBezTo>
                <a:lnTo>
                  <a:pt x="12320524" y="0"/>
                </a:lnTo>
                <a:cubicBezTo>
                  <a:pt x="12605004" y="0"/>
                  <a:pt x="12835763" y="230632"/>
                  <a:pt x="12835763" y="515239"/>
                </a:cubicBezTo>
                <a:lnTo>
                  <a:pt x="12835763" y="1403731"/>
                </a:lnTo>
                <a:cubicBezTo>
                  <a:pt x="12835763" y="1688211"/>
                  <a:pt x="12605131" y="1918970"/>
                  <a:pt x="12320524" y="1918970"/>
                </a:cubicBezTo>
                <a:lnTo>
                  <a:pt x="515239" y="1918970"/>
                </a:lnTo>
                <a:cubicBezTo>
                  <a:pt x="230632" y="1918843"/>
                  <a:pt x="0" y="1688211"/>
                  <a:pt x="0" y="1403731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5"/>
          <p:cNvGrpSpPr/>
          <p:nvPr/>
        </p:nvGrpSpPr>
        <p:grpSpPr>
          <a:xfrm>
            <a:off x="8017074" y="8113514"/>
            <a:ext cx="2862262" cy="379065"/>
            <a:chOff x="0" y="-28575"/>
            <a:chExt cx="3816350" cy="505420"/>
          </a:xfrm>
        </p:grpSpPr>
        <p:sp>
          <p:nvSpPr>
            <p:cNvPr id="209" name="Google Shape;209;p5"/>
            <p:cNvSpPr/>
            <p:nvPr/>
          </p:nvSpPr>
          <p:spPr>
            <a:xfrm>
              <a:off x="0" y="0"/>
              <a:ext cx="3816350" cy="476845"/>
            </a:xfrm>
            <a:custGeom>
              <a:rect b="b" l="l" r="r" t="t"/>
              <a:pathLst>
                <a:path extrusionOk="0" h="476845" w="3816350">
                  <a:moveTo>
                    <a:pt x="0" y="0"/>
                  </a:moveTo>
                  <a:lnTo>
                    <a:pt x="3816350" y="0"/>
                  </a:lnTo>
                  <a:lnTo>
                    <a:pt x="3816350" y="476845"/>
                  </a:lnTo>
                  <a:lnTo>
                    <a:pt x="0" y="4768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0" name="Google Shape;210;p5"/>
            <p:cNvSpPr txBox="1"/>
            <p:nvPr/>
          </p:nvSpPr>
          <p:spPr>
            <a:xfrm>
              <a:off x="0" y="-28575"/>
              <a:ext cx="3816350" cy="505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1" i="0" lang="en-US" sz="2249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Virus Informáticos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5"/>
          <p:cNvGrpSpPr/>
          <p:nvPr/>
        </p:nvGrpSpPr>
        <p:grpSpPr>
          <a:xfrm>
            <a:off x="8017074" y="8582768"/>
            <a:ext cx="9111854" cy="476399"/>
            <a:chOff x="0" y="-85725"/>
            <a:chExt cx="12149138" cy="635198"/>
          </a:xfrm>
        </p:grpSpPr>
        <p:sp>
          <p:nvSpPr>
            <p:cNvPr id="212" name="Google Shape;212;p5"/>
            <p:cNvSpPr/>
            <p:nvPr/>
          </p:nvSpPr>
          <p:spPr>
            <a:xfrm>
              <a:off x="0" y="0"/>
              <a:ext cx="12149138" cy="549473"/>
            </a:xfrm>
            <a:custGeom>
              <a:rect b="b" l="l" r="r" t="t"/>
              <a:pathLst>
                <a:path extrusionOk="0" h="549473" w="12149138">
                  <a:moveTo>
                    <a:pt x="0" y="0"/>
                  </a:moveTo>
                  <a:lnTo>
                    <a:pt x="12149138" y="0"/>
                  </a:lnTo>
                  <a:lnTo>
                    <a:pt x="12149138" y="549473"/>
                  </a:lnTo>
                  <a:lnTo>
                    <a:pt x="0" y="549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3" name="Google Shape;213;p5"/>
            <p:cNvSpPr txBox="1"/>
            <p:nvPr/>
          </p:nvSpPr>
          <p:spPr>
            <a:xfrm>
              <a:off x="0" y="-85725"/>
              <a:ext cx="12149138" cy="635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Creación y difusión de software malicioso afecta sistemas y usuarios.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B1B1E"/>
          </a:solidFill>
          <a:ln>
            <a:noFill/>
          </a:ln>
        </p:spPr>
      </p:sp>
      <p:sp>
        <p:nvSpPr>
          <p:cNvPr id="223" name="Google Shape;22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7272B"/>
          </a:solidFill>
          <a:ln>
            <a:noFill/>
          </a:ln>
        </p:spPr>
      </p:sp>
      <p:grpSp>
        <p:nvGrpSpPr>
          <p:cNvPr id="224" name="Google Shape;224;p6"/>
          <p:cNvGrpSpPr/>
          <p:nvPr/>
        </p:nvGrpSpPr>
        <p:grpSpPr>
          <a:xfrm>
            <a:off x="1080046" y="3052465"/>
            <a:ext cx="9096524" cy="885825"/>
            <a:chOff x="0" y="-38100"/>
            <a:chExt cx="12128698" cy="1181100"/>
          </a:xfrm>
        </p:grpSpPr>
        <p:sp>
          <p:nvSpPr>
            <p:cNvPr id="225" name="Google Shape;225;p6"/>
            <p:cNvSpPr/>
            <p:nvPr/>
          </p:nvSpPr>
          <p:spPr>
            <a:xfrm>
              <a:off x="0" y="0"/>
              <a:ext cx="12128698" cy="1143000"/>
            </a:xfrm>
            <a:custGeom>
              <a:rect b="b" l="l" r="r" t="t"/>
              <a:pathLst>
                <a:path extrusionOk="0" h="1143000" w="12128698">
                  <a:moveTo>
                    <a:pt x="0" y="0"/>
                  </a:moveTo>
                  <a:lnTo>
                    <a:pt x="12128698" y="0"/>
                  </a:lnTo>
                  <a:lnTo>
                    <a:pt x="12128698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6" name="Google Shape;226;p6"/>
            <p:cNvSpPr txBox="1"/>
            <p:nvPr/>
          </p:nvSpPr>
          <p:spPr>
            <a:xfrm>
              <a:off x="0" y="-38100"/>
              <a:ext cx="12128698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74"/>
                <a:buFont typeface="Arial"/>
                <a:buNone/>
              </a:pPr>
              <a:r>
                <a:rPr b="1" i="0" lang="en-US" sz="5374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Impacto Social de las 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1080046" y="4695379"/>
            <a:ext cx="4439245" cy="442913"/>
            <a:chOff x="0" y="-19050"/>
            <a:chExt cx="5918993" cy="590550"/>
          </a:xfrm>
        </p:grpSpPr>
        <p:sp>
          <p:nvSpPr>
            <p:cNvPr id="228" name="Google Shape;228;p6"/>
            <p:cNvSpPr/>
            <p:nvPr/>
          </p:nvSpPr>
          <p:spPr>
            <a:xfrm>
              <a:off x="0" y="0"/>
              <a:ext cx="5918993" cy="571500"/>
            </a:xfrm>
            <a:custGeom>
              <a:rect b="b" l="l" r="r" t="t"/>
              <a:pathLst>
                <a:path extrusionOk="0" h="571500" w="5918993">
                  <a:moveTo>
                    <a:pt x="0" y="0"/>
                  </a:moveTo>
                  <a:lnTo>
                    <a:pt x="5918993" y="0"/>
                  </a:lnTo>
                  <a:lnTo>
                    <a:pt x="5918993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9" name="Google Shape;229;p6"/>
            <p:cNvSpPr txBox="1"/>
            <p:nvPr/>
          </p:nvSpPr>
          <p:spPr>
            <a:xfrm>
              <a:off x="0" y="-19050"/>
              <a:ext cx="5918993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Acceso y Oportunidades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6"/>
          <p:cNvGrpSpPr/>
          <p:nvPr/>
        </p:nvGrpSpPr>
        <p:grpSpPr>
          <a:xfrm>
            <a:off x="1080046" y="5368230"/>
            <a:ext cx="4873526" cy="1560016"/>
            <a:chOff x="0" y="-104775"/>
            <a:chExt cx="6498035" cy="2080022"/>
          </a:xfrm>
        </p:grpSpPr>
        <p:sp>
          <p:nvSpPr>
            <p:cNvPr id="231" name="Google Shape;231;p6"/>
            <p:cNvSpPr/>
            <p:nvPr/>
          </p:nvSpPr>
          <p:spPr>
            <a:xfrm>
              <a:off x="0" y="0"/>
              <a:ext cx="6498035" cy="1975247"/>
            </a:xfrm>
            <a:custGeom>
              <a:rect b="b" l="l" r="r" t="t"/>
              <a:pathLst>
                <a:path extrusionOk="0" h="1975247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2" name="Google Shape;232;p6"/>
            <p:cNvSpPr txBox="1"/>
            <p:nvPr/>
          </p:nvSpPr>
          <p:spPr>
            <a:xfrm>
              <a:off x="0" y="-104775"/>
              <a:ext cx="6498035" cy="2080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TIC amplifican el acceso a información y nuevas oportunidades.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6"/>
          <p:cNvGrpSpPr/>
          <p:nvPr/>
        </p:nvGrpSpPr>
        <p:grpSpPr>
          <a:xfrm>
            <a:off x="6715869" y="4695379"/>
            <a:ext cx="4343251" cy="442913"/>
            <a:chOff x="0" y="-19050"/>
            <a:chExt cx="5791002" cy="590550"/>
          </a:xfrm>
        </p:grpSpPr>
        <p:sp>
          <p:nvSpPr>
            <p:cNvPr id="234" name="Google Shape;234;p6"/>
            <p:cNvSpPr/>
            <p:nvPr/>
          </p:nvSpPr>
          <p:spPr>
            <a:xfrm>
              <a:off x="0" y="0"/>
              <a:ext cx="5791002" cy="571500"/>
            </a:xfrm>
            <a:custGeom>
              <a:rect b="b" l="l" r="r" t="t"/>
              <a:pathLst>
                <a:path extrusionOk="0" h="571500" w="5791002">
                  <a:moveTo>
                    <a:pt x="0" y="0"/>
                  </a:moveTo>
                  <a:lnTo>
                    <a:pt x="5791002" y="0"/>
                  </a:lnTo>
                  <a:lnTo>
                    <a:pt x="5791002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5" name="Google Shape;235;p6"/>
            <p:cNvSpPr txBox="1"/>
            <p:nvPr/>
          </p:nvSpPr>
          <p:spPr>
            <a:xfrm>
              <a:off x="0" y="-19050"/>
              <a:ext cx="5791002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Desigualdades y Sesgos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6"/>
          <p:cNvGrpSpPr/>
          <p:nvPr/>
        </p:nvGrpSpPr>
        <p:grpSpPr>
          <a:xfrm>
            <a:off x="6715869" y="5368230"/>
            <a:ext cx="4873526" cy="1066205"/>
            <a:chOff x="0" y="-104775"/>
            <a:chExt cx="6498035" cy="1421607"/>
          </a:xfrm>
        </p:grpSpPr>
        <p:sp>
          <p:nvSpPr>
            <p:cNvPr id="237" name="Google Shape;237;p6"/>
            <p:cNvSpPr/>
            <p:nvPr/>
          </p:nvSpPr>
          <p:spPr>
            <a:xfrm>
              <a:off x="0" y="0"/>
              <a:ext cx="6498035" cy="1316832"/>
            </a:xfrm>
            <a:custGeom>
              <a:rect b="b" l="l" r="r" t="t"/>
              <a:pathLst>
                <a:path extrusionOk="0" h="1316832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8" name="Google Shape;238;p6"/>
            <p:cNvSpPr txBox="1"/>
            <p:nvPr/>
          </p:nvSpPr>
          <p:spPr>
            <a:xfrm>
              <a:off x="0" y="-104775"/>
              <a:ext cx="6498035" cy="1421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Algoritmos pueden perpetuar desigualdades sociales y sesgos.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6"/>
          <p:cNvGrpSpPr/>
          <p:nvPr/>
        </p:nvGrpSpPr>
        <p:grpSpPr>
          <a:xfrm>
            <a:off x="12351692" y="4695379"/>
            <a:ext cx="3429000" cy="442913"/>
            <a:chOff x="0" y="-19050"/>
            <a:chExt cx="4572000" cy="590550"/>
          </a:xfrm>
        </p:grpSpPr>
        <p:sp>
          <p:nvSpPr>
            <p:cNvPr id="240" name="Google Shape;240;p6"/>
            <p:cNvSpPr/>
            <p:nvPr/>
          </p:nvSpPr>
          <p:spPr>
            <a:xfrm>
              <a:off x="0" y="0"/>
              <a:ext cx="4572000" cy="571500"/>
            </a:xfrm>
            <a:custGeom>
              <a:rect b="b" l="l" r="r" t="t"/>
              <a:pathLst>
                <a:path extrusionOk="0"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1" name="Google Shape;241;p6"/>
            <p:cNvSpPr txBox="1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Privacidad y Ética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6"/>
          <p:cNvGrpSpPr/>
          <p:nvPr/>
        </p:nvGrpSpPr>
        <p:grpSpPr>
          <a:xfrm>
            <a:off x="12351692" y="5368230"/>
            <a:ext cx="4873526" cy="1560016"/>
            <a:chOff x="0" y="-104775"/>
            <a:chExt cx="6498035" cy="2080022"/>
          </a:xfrm>
        </p:grpSpPr>
        <p:sp>
          <p:nvSpPr>
            <p:cNvPr id="243" name="Google Shape;243;p6"/>
            <p:cNvSpPr/>
            <p:nvPr/>
          </p:nvSpPr>
          <p:spPr>
            <a:xfrm>
              <a:off x="0" y="0"/>
              <a:ext cx="6498035" cy="1975247"/>
            </a:xfrm>
            <a:custGeom>
              <a:rect b="b" l="l" r="r" t="t"/>
              <a:pathLst>
                <a:path extrusionOk="0" h="1975247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4" name="Google Shape;244;p6"/>
            <p:cNvSpPr txBox="1"/>
            <p:nvPr/>
          </p:nvSpPr>
          <p:spPr>
            <a:xfrm>
              <a:off x="0" y="-104775"/>
              <a:ext cx="6498035" cy="2080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Importancia de proteger la intimidad y promover la ética en TIC.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B1B1E"/>
          </a:solidFill>
          <a:ln>
            <a:noFill/>
          </a:ln>
        </p:spPr>
      </p:sp>
      <p:sp>
        <p:nvSpPr>
          <p:cNvPr id="254" name="Google Shape;254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7272B"/>
          </a:solidFill>
          <a:ln>
            <a:noFill/>
          </a:ln>
        </p:spPr>
      </p:sp>
      <p:sp>
        <p:nvSpPr>
          <p:cNvPr descr="preencoded.png" id="255" name="Google Shape;255;p7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6" name="Google Shape;256;p7"/>
          <p:cNvGrpSpPr/>
          <p:nvPr/>
        </p:nvGrpSpPr>
        <p:grpSpPr>
          <a:xfrm>
            <a:off x="1080046" y="873472"/>
            <a:ext cx="9269909" cy="2600325"/>
            <a:chOff x="0" y="-38100"/>
            <a:chExt cx="12359878" cy="3467100"/>
          </a:xfrm>
        </p:grpSpPr>
        <p:sp>
          <p:nvSpPr>
            <p:cNvPr id="257" name="Google Shape;257;p7"/>
            <p:cNvSpPr/>
            <p:nvPr/>
          </p:nvSpPr>
          <p:spPr>
            <a:xfrm>
              <a:off x="0" y="0"/>
              <a:ext cx="12359878" cy="3429000"/>
            </a:xfrm>
            <a:custGeom>
              <a:rect b="b" l="l" r="r" t="t"/>
              <a:pathLst>
                <a:path extrusionOk="0" h="3429000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8" name="Google Shape;258;p7"/>
            <p:cNvSpPr txBox="1"/>
            <p:nvPr/>
          </p:nvSpPr>
          <p:spPr>
            <a:xfrm>
              <a:off x="0" y="-38100"/>
              <a:ext cx="12359878" cy="3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74"/>
                <a:buFont typeface="Arial"/>
                <a:buNone/>
              </a:pPr>
              <a:r>
                <a:rPr b="1" i="0" lang="en-US" sz="5374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Casos de Estudio: Problemas Éticos en la Práctica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7"/>
          <p:cNvSpPr/>
          <p:nvPr/>
        </p:nvSpPr>
        <p:spPr>
          <a:xfrm>
            <a:off x="1080046" y="3936652"/>
            <a:ext cx="694277" cy="694277"/>
          </a:xfrm>
          <a:custGeom>
            <a:rect b="b" l="l" r="r" t="t"/>
            <a:pathLst>
              <a:path extrusionOk="0" h="925703" w="925703">
                <a:moveTo>
                  <a:pt x="0" y="462915"/>
                </a:moveTo>
                <a:cubicBezTo>
                  <a:pt x="0" y="207264"/>
                  <a:pt x="207264" y="0"/>
                  <a:pt x="462915" y="0"/>
                </a:cubicBezTo>
                <a:cubicBezTo>
                  <a:pt x="718566" y="0"/>
                  <a:pt x="925703" y="207264"/>
                  <a:pt x="925703" y="462915"/>
                </a:cubicBezTo>
                <a:cubicBezTo>
                  <a:pt x="925703" y="718566"/>
                  <a:pt x="718439" y="925703"/>
                  <a:pt x="462915" y="925703"/>
                </a:cubicBezTo>
                <a:cubicBezTo>
                  <a:pt x="207391" y="925703"/>
                  <a:pt x="0" y="718439"/>
                  <a:pt x="0" y="462915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7"/>
          <p:cNvGrpSpPr/>
          <p:nvPr/>
        </p:nvGrpSpPr>
        <p:grpSpPr>
          <a:xfrm>
            <a:off x="2082850" y="4028332"/>
            <a:ext cx="3429000" cy="442913"/>
            <a:chOff x="0" y="-19050"/>
            <a:chExt cx="4572000" cy="590550"/>
          </a:xfrm>
        </p:grpSpPr>
        <p:sp>
          <p:nvSpPr>
            <p:cNvPr id="261" name="Google Shape;261;p7"/>
            <p:cNvSpPr/>
            <p:nvPr/>
          </p:nvSpPr>
          <p:spPr>
            <a:xfrm>
              <a:off x="0" y="0"/>
              <a:ext cx="4572000" cy="571500"/>
            </a:xfrm>
            <a:custGeom>
              <a:rect b="b" l="l" r="r" t="t"/>
              <a:pathLst>
                <a:path extrusionOk="0"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2" name="Google Shape;262;p7"/>
            <p:cNvSpPr txBox="1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Salud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7"/>
          <p:cNvGrpSpPr/>
          <p:nvPr/>
        </p:nvGrpSpPr>
        <p:grpSpPr>
          <a:xfrm>
            <a:off x="2082850" y="4577804"/>
            <a:ext cx="3439269" cy="1560016"/>
            <a:chOff x="0" y="-104775"/>
            <a:chExt cx="4585692" cy="2080022"/>
          </a:xfrm>
        </p:grpSpPr>
        <p:sp>
          <p:nvSpPr>
            <p:cNvPr id="264" name="Google Shape;264;p7"/>
            <p:cNvSpPr/>
            <p:nvPr/>
          </p:nvSpPr>
          <p:spPr>
            <a:xfrm>
              <a:off x="0" y="0"/>
              <a:ext cx="4585692" cy="1975247"/>
            </a:xfrm>
            <a:custGeom>
              <a:rect b="b" l="l" r="r" t="t"/>
              <a:pathLst>
                <a:path extrusionOk="0" h="1975247" w="4585692">
                  <a:moveTo>
                    <a:pt x="0" y="0"/>
                  </a:moveTo>
                  <a:lnTo>
                    <a:pt x="4585692" y="0"/>
                  </a:lnTo>
                  <a:lnTo>
                    <a:pt x="4585692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5" name="Google Shape;265;p7"/>
            <p:cNvSpPr txBox="1"/>
            <p:nvPr/>
          </p:nvSpPr>
          <p:spPr>
            <a:xfrm>
              <a:off x="0" y="-104775"/>
              <a:ext cx="4585692" cy="2080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Filtración de datos médicos compromete confianza y seguridad.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7"/>
          <p:cNvSpPr/>
          <p:nvPr/>
        </p:nvSpPr>
        <p:spPr>
          <a:xfrm>
            <a:off x="5907881" y="3936652"/>
            <a:ext cx="694277" cy="694277"/>
          </a:xfrm>
          <a:custGeom>
            <a:rect b="b" l="l" r="r" t="t"/>
            <a:pathLst>
              <a:path extrusionOk="0" h="925703" w="925703">
                <a:moveTo>
                  <a:pt x="0" y="462915"/>
                </a:moveTo>
                <a:cubicBezTo>
                  <a:pt x="0" y="207264"/>
                  <a:pt x="207264" y="0"/>
                  <a:pt x="462915" y="0"/>
                </a:cubicBezTo>
                <a:cubicBezTo>
                  <a:pt x="718566" y="0"/>
                  <a:pt x="925703" y="207264"/>
                  <a:pt x="925703" y="462915"/>
                </a:cubicBezTo>
                <a:cubicBezTo>
                  <a:pt x="925703" y="718566"/>
                  <a:pt x="718439" y="925703"/>
                  <a:pt x="462915" y="925703"/>
                </a:cubicBezTo>
                <a:cubicBezTo>
                  <a:pt x="207391" y="925703"/>
                  <a:pt x="0" y="718439"/>
                  <a:pt x="0" y="462915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7"/>
          <p:cNvGrpSpPr/>
          <p:nvPr/>
        </p:nvGrpSpPr>
        <p:grpSpPr>
          <a:xfrm>
            <a:off x="6910685" y="4028332"/>
            <a:ext cx="3439269" cy="871538"/>
            <a:chOff x="0" y="-19050"/>
            <a:chExt cx="4585692" cy="1162050"/>
          </a:xfrm>
        </p:grpSpPr>
        <p:sp>
          <p:nvSpPr>
            <p:cNvPr id="268" name="Google Shape;268;p7"/>
            <p:cNvSpPr/>
            <p:nvPr/>
          </p:nvSpPr>
          <p:spPr>
            <a:xfrm>
              <a:off x="0" y="0"/>
              <a:ext cx="4585692" cy="1143000"/>
            </a:xfrm>
            <a:custGeom>
              <a:rect b="b" l="l" r="r" t="t"/>
              <a:pathLst>
                <a:path extrusionOk="0" h="1143000" w="4585692">
                  <a:moveTo>
                    <a:pt x="0" y="0"/>
                  </a:moveTo>
                  <a:lnTo>
                    <a:pt x="4585692" y="0"/>
                  </a:lnTo>
                  <a:lnTo>
                    <a:pt x="4585692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9" name="Google Shape;269;p7"/>
            <p:cNvSpPr txBox="1"/>
            <p:nvPr/>
          </p:nvSpPr>
          <p:spPr>
            <a:xfrm>
              <a:off x="0" y="-19050"/>
              <a:ext cx="458569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Inteligencia Artificial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7"/>
          <p:cNvGrpSpPr/>
          <p:nvPr/>
        </p:nvGrpSpPr>
        <p:grpSpPr>
          <a:xfrm>
            <a:off x="6910685" y="5006429"/>
            <a:ext cx="3439269" cy="2053828"/>
            <a:chOff x="0" y="-104775"/>
            <a:chExt cx="4585692" cy="2738438"/>
          </a:xfrm>
        </p:grpSpPr>
        <p:sp>
          <p:nvSpPr>
            <p:cNvPr id="271" name="Google Shape;271;p7"/>
            <p:cNvSpPr/>
            <p:nvPr/>
          </p:nvSpPr>
          <p:spPr>
            <a:xfrm>
              <a:off x="0" y="0"/>
              <a:ext cx="4585692" cy="2633663"/>
            </a:xfrm>
            <a:custGeom>
              <a:rect b="b" l="l" r="r" t="t"/>
              <a:pathLst>
                <a:path extrusionOk="0" h="2633663" w="4585692">
                  <a:moveTo>
                    <a:pt x="0" y="0"/>
                  </a:moveTo>
                  <a:lnTo>
                    <a:pt x="4585692" y="0"/>
                  </a:lnTo>
                  <a:lnTo>
                    <a:pt x="4585692" y="2633663"/>
                  </a:lnTo>
                  <a:lnTo>
                    <a:pt x="0" y="26336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2" name="Google Shape;272;p7"/>
            <p:cNvSpPr txBox="1"/>
            <p:nvPr/>
          </p:nvSpPr>
          <p:spPr>
            <a:xfrm>
              <a:off x="0" y="-104775"/>
              <a:ext cx="4585692" cy="2738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Sesgos algorítmicos generan discriminación en procesos de selección.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p7"/>
          <p:cNvSpPr/>
          <p:nvPr/>
        </p:nvSpPr>
        <p:spPr>
          <a:xfrm>
            <a:off x="1080046" y="7677447"/>
            <a:ext cx="694277" cy="694277"/>
          </a:xfrm>
          <a:custGeom>
            <a:rect b="b" l="l" r="r" t="t"/>
            <a:pathLst>
              <a:path extrusionOk="0" h="925703" w="925703">
                <a:moveTo>
                  <a:pt x="0" y="462915"/>
                </a:moveTo>
                <a:cubicBezTo>
                  <a:pt x="0" y="207264"/>
                  <a:pt x="207264" y="0"/>
                  <a:pt x="462915" y="0"/>
                </a:cubicBezTo>
                <a:cubicBezTo>
                  <a:pt x="718566" y="0"/>
                  <a:pt x="925703" y="207264"/>
                  <a:pt x="925703" y="462915"/>
                </a:cubicBezTo>
                <a:cubicBezTo>
                  <a:pt x="925703" y="718566"/>
                  <a:pt x="718439" y="925703"/>
                  <a:pt x="462915" y="925703"/>
                </a:cubicBezTo>
                <a:cubicBezTo>
                  <a:pt x="207391" y="925703"/>
                  <a:pt x="0" y="718439"/>
                  <a:pt x="0" y="462915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p7"/>
          <p:cNvGrpSpPr/>
          <p:nvPr/>
        </p:nvGrpSpPr>
        <p:grpSpPr>
          <a:xfrm>
            <a:off x="2082850" y="7769127"/>
            <a:ext cx="3429000" cy="442913"/>
            <a:chOff x="0" y="-19050"/>
            <a:chExt cx="4572000" cy="590550"/>
          </a:xfrm>
        </p:grpSpPr>
        <p:sp>
          <p:nvSpPr>
            <p:cNvPr id="275" name="Google Shape;275;p7"/>
            <p:cNvSpPr/>
            <p:nvPr/>
          </p:nvSpPr>
          <p:spPr>
            <a:xfrm>
              <a:off x="0" y="0"/>
              <a:ext cx="4572000" cy="571500"/>
            </a:xfrm>
            <a:custGeom>
              <a:rect b="b" l="l" r="r" t="t"/>
              <a:pathLst>
                <a:path extrusionOk="0"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6" name="Google Shape;276;p7"/>
            <p:cNvSpPr txBox="1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Justicia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7" name="Google Shape;277;p7"/>
          <p:cNvGrpSpPr/>
          <p:nvPr/>
        </p:nvGrpSpPr>
        <p:grpSpPr>
          <a:xfrm>
            <a:off x="2082850" y="8318599"/>
            <a:ext cx="8267105" cy="1066205"/>
            <a:chOff x="0" y="-104775"/>
            <a:chExt cx="11022807" cy="1421607"/>
          </a:xfrm>
        </p:grpSpPr>
        <p:sp>
          <p:nvSpPr>
            <p:cNvPr id="278" name="Google Shape;278;p7"/>
            <p:cNvSpPr/>
            <p:nvPr/>
          </p:nvSpPr>
          <p:spPr>
            <a:xfrm>
              <a:off x="0" y="0"/>
              <a:ext cx="11022807" cy="1316832"/>
            </a:xfrm>
            <a:custGeom>
              <a:rect b="b" l="l" r="r" t="t"/>
              <a:pathLst>
                <a:path extrusionOk="0" h="1316832" w="11022807">
                  <a:moveTo>
                    <a:pt x="0" y="0"/>
                  </a:moveTo>
                  <a:lnTo>
                    <a:pt x="11022807" y="0"/>
                  </a:lnTo>
                  <a:lnTo>
                    <a:pt x="11022807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9" name="Google Shape;279;p7"/>
            <p:cNvSpPr txBox="1"/>
            <p:nvPr/>
          </p:nvSpPr>
          <p:spPr>
            <a:xfrm>
              <a:off x="0" y="-104775"/>
              <a:ext cx="11022807" cy="1421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Decisiones judiciales automatizadas carecen de transparencia.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B1B1E"/>
          </a:solidFill>
          <a:ln>
            <a:noFill/>
          </a:ln>
        </p:spPr>
      </p:sp>
      <p:sp>
        <p:nvSpPr>
          <p:cNvPr id="289" name="Google Shape;289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7272B"/>
          </a:solidFill>
          <a:ln>
            <a:noFill/>
          </a:ln>
        </p:spPr>
      </p:sp>
      <p:grpSp>
        <p:nvGrpSpPr>
          <p:cNvPr id="290" name="Google Shape;290;p8"/>
          <p:cNvGrpSpPr/>
          <p:nvPr/>
        </p:nvGrpSpPr>
        <p:grpSpPr>
          <a:xfrm>
            <a:off x="1080046" y="2838152"/>
            <a:ext cx="15921633" cy="885825"/>
            <a:chOff x="0" y="-38100"/>
            <a:chExt cx="21228844" cy="1181100"/>
          </a:xfrm>
        </p:grpSpPr>
        <p:sp>
          <p:nvSpPr>
            <p:cNvPr id="291" name="Google Shape;291;p8"/>
            <p:cNvSpPr/>
            <p:nvPr/>
          </p:nvSpPr>
          <p:spPr>
            <a:xfrm>
              <a:off x="0" y="0"/>
              <a:ext cx="21228844" cy="1143000"/>
            </a:xfrm>
            <a:custGeom>
              <a:rect b="b" l="l" r="r" t="t"/>
              <a:pathLst>
                <a:path extrusionOk="0" h="1143000" w="21228844">
                  <a:moveTo>
                    <a:pt x="0" y="0"/>
                  </a:moveTo>
                  <a:lnTo>
                    <a:pt x="21228844" y="0"/>
                  </a:lnTo>
                  <a:lnTo>
                    <a:pt x="21228844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2" name="Google Shape;292;p8"/>
            <p:cNvSpPr txBox="1"/>
            <p:nvPr/>
          </p:nvSpPr>
          <p:spPr>
            <a:xfrm>
              <a:off x="0" y="-38100"/>
              <a:ext cx="21228843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74"/>
                <a:buFont typeface="Arial"/>
                <a:buNone/>
              </a:pPr>
              <a:r>
                <a:rPr b="1" i="0" lang="en-US" sz="5374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Desafíos Éticos en la Implementación de 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8"/>
          <p:cNvGrpSpPr/>
          <p:nvPr/>
        </p:nvGrpSpPr>
        <p:grpSpPr>
          <a:xfrm>
            <a:off x="1080046" y="4481067"/>
            <a:ext cx="3467397" cy="871538"/>
            <a:chOff x="0" y="-19050"/>
            <a:chExt cx="4623197" cy="1162050"/>
          </a:xfrm>
        </p:grpSpPr>
        <p:sp>
          <p:nvSpPr>
            <p:cNvPr id="294" name="Google Shape;294;p8"/>
            <p:cNvSpPr/>
            <p:nvPr/>
          </p:nvSpPr>
          <p:spPr>
            <a:xfrm>
              <a:off x="0" y="0"/>
              <a:ext cx="4623197" cy="1143000"/>
            </a:xfrm>
            <a:custGeom>
              <a:rect b="b" l="l" r="r" t="t"/>
              <a:pathLst>
                <a:path extrusionOk="0" h="1143000" w="4623197">
                  <a:moveTo>
                    <a:pt x="0" y="0"/>
                  </a:moveTo>
                  <a:lnTo>
                    <a:pt x="4623197" y="0"/>
                  </a:lnTo>
                  <a:lnTo>
                    <a:pt x="4623197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5" name="Google Shape;295;p8"/>
            <p:cNvSpPr txBox="1"/>
            <p:nvPr/>
          </p:nvSpPr>
          <p:spPr>
            <a:xfrm>
              <a:off x="0" y="-19050"/>
              <a:ext cx="4623197" cy="1162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Falta de Transparencia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8"/>
          <p:cNvGrpSpPr/>
          <p:nvPr/>
        </p:nvGrpSpPr>
        <p:grpSpPr>
          <a:xfrm>
            <a:off x="1080046" y="5582543"/>
            <a:ext cx="3467397" cy="1560016"/>
            <a:chOff x="0" y="-104775"/>
            <a:chExt cx="4623197" cy="2080022"/>
          </a:xfrm>
        </p:grpSpPr>
        <p:sp>
          <p:nvSpPr>
            <p:cNvPr id="297" name="Google Shape;297;p8"/>
            <p:cNvSpPr/>
            <p:nvPr/>
          </p:nvSpPr>
          <p:spPr>
            <a:xfrm>
              <a:off x="0" y="0"/>
              <a:ext cx="4623197" cy="1975247"/>
            </a:xfrm>
            <a:custGeom>
              <a:rect b="b" l="l" r="r" t="t"/>
              <a:pathLst>
                <a:path extrusionOk="0" h="1975247" w="4623197">
                  <a:moveTo>
                    <a:pt x="0" y="0"/>
                  </a:moveTo>
                  <a:lnTo>
                    <a:pt x="4623197" y="0"/>
                  </a:lnTo>
                  <a:lnTo>
                    <a:pt x="4623197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8" name="Google Shape;298;p8"/>
            <p:cNvSpPr txBox="1"/>
            <p:nvPr/>
          </p:nvSpPr>
          <p:spPr>
            <a:xfrm>
              <a:off x="0" y="-104775"/>
              <a:ext cx="4623197" cy="2080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“Cajas negras” en IA dificultan explicaciones claras.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8"/>
          <p:cNvGrpSpPr/>
          <p:nvPr/>
        </p:nvGrpSpPr>
        <p:grpSpPr>
          <a:xfrm>
            <a:off x="5309741" y="4481067"/>
            <a:ext cx="3429000" cy="442913"/>
            <a:chOff x="0" y="-19050"/>
            <a:chExt cx="4572000" cy="590550"/>
          </a:xfrm>
        </p:grpSpPr>
        <p:sp>
          <p:nvSpPr>
            <p:cNvPr id="300" name="Google Shape;300;p8"/>
            <p:cNvSpPr/>
            <p:nvPr/>
          </p:nvSpPr>
          <p:spPr>
            <a:xfrm>
              <a:off x="0" y="0"/>
              <a:ext cx="4572000" cy="571500"/>
            </a:xfrm>
            <a:custGeom>
              <a:rect b="b" l="l" r="r" t="t"/>
              <a:pathLst>
                <a:path extrusionOk="0"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1" name="Google Shape;301;p8"/>
            <p:cNvSpPr txBox="1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Dilemas Éticos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2" name="Google Shape;302;p8"/>
          <p:cNvGrpSpPr/>
          <p:nvPr/>
        </p:nvGrpSpPr>
        <p:grpSpPr>
          <a:xfrm>
            <a:off x="5309741" y="5153918"/>
            <a:ext cx="3467398" cy="1560016"/>
            <a:chOff x="0" y="-104775"/>
            <a:chExt cx="4623197" cy="2080022"/>
          </a:xfrm>
        </p:grpSpPr>
        <p:sp>
          <p:nvSpPr>
            <p:cNvPr id="303" name="Google Shape;303;p8"/>
            <p:cNvSpPr/>
            <p:nvPr/>
          </p:nvSpPr>
          <p:spPr>
            <a:xfrm>
              <a:off x="0" y="0"/>
              <a:ext cx="4623197" cy="1975247"/>
            </a:xfrm>
            <a:custGeom>
              <a:rect b="b" l="l" r="r" t="t"/>
              <a:pathLst>
                <a:path extrusionOk="0" h="1975247" w="4623197">
                  <a:moveTo>
                    <a:pt x="0" y="0"/>
                  </a:moveTo>
                  <a:lnTo>
                    <a:pt x="4623197" y="0"/>
                  </a:lnTo>
                  <a:lnTo>
                    <a:pt x="4623197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4" name="Google Shape;304;p8"/>
            <p:cNvSpPr txBox="1"/>
            <p:nvPr/>
          </p:nvSpPr>
          <p:spPr>
            <a:xfrm>
              <a:off x="0" y="-104775"/>
              <a:ext cx="4623197" cy="2080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Conflicto entre eficiencia tecnológica y derechos humanos.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5" name="Google Shape;305;p8"/>
          <p:cNvGrpSpPr/>
          <p:nvPr/>
        </p:nvGrpSpPr>
        <p:grpSpPr>
          <a:xfrm>
            <a:off x="9539436" y="4481067"/>
            <a:ext cx="3467397" cy="871538"/>
            <a:chOff x="0" y="-19050"/>
            <a:chExt cx="4623197" cy="1162050"/>
          </a:xfrm>
        </p:grpSpPr>
        <p:sp>
          <p:nvSpPr>
            <p:cNvPr id="306" name="Google Shape;306;p8"/>
            <p:cNvSpPr/>
            <p:nvPr/>
          </p:nvSpPr>
          <p:spPr>
            <a:xfrm>
              <a:off x="0" y="0"/>
              <a:ext cx="4623197" cy="1143000"/>
            </a:xfrm>
            <a:custGeom>
              <a:rect b="b" l="l" r="r" t="t"/>
              <a:pathLst>
                <a:path extrusionOk="0" h="1143000" w="4623197">
                  <a:moveTo>
                    <a:pt x="0" y="0"/>
                  </a:moveTo>
                  <a:lnTo>
                    <a:pt x="4623197" y="0"/>
                  </a:lnTo>
                  <a:lnTo>
                    <a:pt x="4623197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7" name="Google Shape;307;p8"/>
            <p:cNvSpPr txBox="1"/>
            <p:nvPr/>
          </p:nvSpPr>
          <p:spPr>
            <a:xfrm>
              <a:off x="0" y="-19050"/>
              <a:ext cx="4623197" cy="1162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Regulación Insuficiente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8"/>
          <p:cNvGrpSpPr/>
          <p:nvPr/>
        </p:nvGrpSpPr>
        <p:grpSpPr>
          <a:xfrm>
            <a:off x="9539436" y="5582543"/>
            <a:ext cx="3467397" cy="1560016"/>
            <a:chOff x="0" y="-104775"/>
            <a:chExt cx="4623197" cy="2080022"/>
          </a:xfrm>
        </p:grpSpPr>
        <p:sp>
          <p:nvSpPr>
            <p:cNvPr id="309" name="Google Shape;309;p8"/>
            <p:cNvSpPr/>
            <p:nvPr/>
          </p:nvSpPr>
          <p:spPr>
            <a:xfrm>
              <a:off x="0" y="0"/>
              <a:ext cx="4623197" cy="1975247"/>
            </a:xfrm>
            <a:custGeom>
              <a:rect b="b" l="l" r="r" t="t"/>
              <a:pathLst>
                <a:path extrusionOk="0" h="1975247" w="4623197">
                  <a:moveTo>
                    <a:pt x="0" y="0"/>
                  </a:moveTo>
                  <a:lnTo>
                    <a:pt x="4623197" y="0"/>
                  </a:lnTo>
                  <a:lnTo>
                    <a:pt x="4623197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0" name="Google Shape;310;p8"/>
            <p:cNvSpPr txBox="1"/>
            <p:nvPr/>
          </p:nvSpPr>
          <p:spPr>
            <a:xfrm>
              <a:off x="0" y="-104775"/>
              <a:ext cx="4623197" cy="2080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Normativas no acompañan los rápidos avances tecnológicos.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8"/>
          <p:cNvGrpSpPr/>
          <p:nvPr/>
        </p:nvGrpSpPr>
        <p:grpSpPr>
          <a:xfrm>
            <a:off x="13769131" y="4481067"/>
            <a:ext cx="3429000" cy="442913"/>
            <a:chOff x="0" y="-19050"/>
            <a:chExt cx="4572000" cy="590550"/>
          </a:xfrm>
        </p:grpSpPr>
        <p:sp>
          <p:nvSpPr>
            <p:cNvPr id="312" name="Google Shape;312;p8"/>
            <p:cNvSpPr/>
            <p:nvPr/>
          </p:nvSpPr>
          <p:spPr>
            <a:xfrm>
              <a:off x="0" y="0"/>
              <a:ext cx="4572000" cy="571500"/>
            </a:xfrm>
            <a:custGeom>
              <a:rect b="b" l="l" r="r" t="t"/>
              <a:pathLst>
                <a:path extrusionOk="0"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3" name="Google Shape;313;p8"/>
            <p:cNvSpPr txBox="1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Balance Necesario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8"/>
          <p:cNvGrpSpPr/>
          <p:nvPr/>
        </p:nvGrpSpPr>
        <p:grpSpPr>
          <a:xfrm>
            <a:off x="13769131" y="5153918"/>
            <a:ext cx="3467398" cy="1560016"/>
            <a:chOff x="0" y="-104775"/>
            <a:chExt cx="4623197" cy="2080022"/>
          </a:xfrm>
        </p:grpSpPr>
        <p:sp>
          <p:nvSpPr>
            <p:cNvPr id="315" name="Google Shape;315;p8"/>
            <p:cNvSpPr/>
            <p:nvPr/>
          </p:nvSpPr>
          <p:spPr>
            <a:xfrm>
              <a:off x="0" y="0"/>
              <a:ext cx="4623197" cy="1975247"/>
            </a:xfrm>
            <a:custGeom>
              <a:rect b="b" l="l" r="r" t="t"/>
              <a:pathLst>
                <a:path extrusionOk="0" h="1975247" w="4623197">
                  <a:moveTo>
                    <a:pt x="0" y="0"/>
                  </a:moveTo>
                  <a:lnTo>
                    <a:pt x="4623197" y="0"/>
                  </a:lnTo>
                  <a:lnTo>
                    <a:pt x="4623197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6" name="Google Shape;316;p8"/>
            <p:cNvSpPr txBox="1"/>
            <p:nvPr/>
          </p:nvSpPr>
          <p:spPr>
            <a:xfrm>
              <a:off x="0" y="-104775"/>
              <a:ext cx="4623197" cy="2080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Innovación debe ir de la mano con responsabilidad social.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B1B1E"/>
          </a:solidFill>
          <a:ln>
            <a:noFill/>
          </a:ln>
        </p:spPr>
      </p:sp>
      <p:sp>
        <p:nvSpPr>
          <p:cNvPr id="326" name="Google Shape;326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7272B"/>
          </a:solidFill>
          <a:ln>
            <a:noFill/>
          </a:ln>
        </p:spPr>
      </p:sp>
      <p:sp>
        <p:nvSpPr>
          <p:cNvPr descr="preencoded.png" id="327" name="Google Shape;327;p9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8" name="Google Shape;328;p9"/>
          <p:cNvGrpSpPr/>
          <p:nvPr/>
        </p:nvGrpSpPr>
        <p:grpSpPr>
          <a:xfrm>
            <a:off x="974229" y="1503015"/>
            <a:ext cx="9123461" cy="794742"/>
            <a:chOff x="0" y="-28575"/>
            <a:chExt cx="12164615" cy="1059657"/>
          </a:xfrm>
        </p:grpSpPr>
        <p:sp>
          <p:nvSpPr>
            <p:cNvPr id="329" name="Google Shape;329;p9"/>
            <p:cNvSpPr/>
            <p:nvPr/>
          </p:nvSpPr>
          <p:spPr>
            <a:xfrm>
              <a:off x="0" y="0"/>
              <a:ext cx="12164615" cy="1031082"/>
            </a:xfrm>
            <a:custGeom>
              <a:rect b="b" l="l" r="r" t="t"/>
              <a:pathLst>
                <a:path extrusionOk="0" h="1031082" w="12164615">
                  <a:moveTo>
                    <a:pt x="0" y="0"/>
                  </a:moveTo>
                  <a:lnTo>
                    <a:pt x="12164615" y="0"/>
                  </a:lnTo>
                  <a:lnTo>
                    <a:pt x="12164615" y="1031082"/>
                  </a:lnTo>
                  <a:lnTo>
                    <a:pt x="0" y="10310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0" name="Google Shape;330;p9"/>
            <p:cNvSpPr txBox="1"/>
            <p:nvPr/>
          </p:nvSpPr>
          <p:spPr>
            <a:xfrm>
              <a:off x="0" y="-28575"/>
              <a:ext cx="12164615" cy="105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9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12"/>
                <a:buFont typeface="Arial"/>
                <a:buNone/>
              </a:pPr>
              <a:r>
                <a:rPr b="1" i="0" lang="en-US" sz="4812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Futuro de la Ética en las 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9"/>
          <p:cNvSpPr/>
          <p:nvPr/>
        </p:nvSpPr>
        <p:spPr>
          <a:xfrm>
            <a:off x="974229" y="2715220"/>
            <a:ext cx="626269" cy="626269"/>
          </a:xfrm>
          <a:custGeom>
            <a:rect b="b" l="l" r="r" t="t"/>
            <a:pathLst>
              <a:path extrusionOk="0" h="835025" w="835025">
                <a:moveTo>
                  <a:pt x="0" y="417576"/>
                </a:moveTo>
                <a:cubicBezTo>
                  <a:pt x="0" y="186944"/>
                  <a:pt x="186944" y="0"/>
                  <a:pt x="417449" y="0"/>
                </a:cubicBezTo>
                <a:cubicBezTo>
                  <a:pt x="647954" y="0"/>
                  <a:pt x="835025" y="186944"/>
                  <a:pt x="835025" y="417449"/>
                </a:cubicBezTo>
                <a:cubicBezTo>
                  <a:pt x="835025" y="647954"/>
                  <a:pt x="648081" y="835025"/>
                  <a:pt x="417576" y="835025"/>
                </a:cubicBezTo>
                <a:cubicBezTo>
                  <a:pt x="187071" y="835025"/>
                  <a:pt x="0" y="648081"/>
                  <a:pt x="0" y="417576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9"/>
          <p:cNvGrpSpPr/>
          <p:nvPr/>
        </p:nvGrpSpPr>
        <p:grpSpPr>
          <a:xfrm>
            <a:off x="1101849" y="2796406"/>
            <a:ext cx="371029" cy="463897"/>
            <a:chOff x="0" y="0"/>
            <a:chExt cx="494705" cy="618530"/>
          </a:xfrm>
        </p:grpSpPr>
        <p:sp>
          <p:nvSpPr>
            <p:cNvPr id="333" name="Google Shape;333;p9"/>
            <p:cNvSpPr/>
            <p:nvPr/>
          </p:nvSpPr>
          <p:spPr>
            <a:xfrm>
              <a:off x="0" y="0"/>
              <a:ext cx="494705" cy="618530"/>
            </a:xfrm>
            <a:custGeom>
              <a:rect b="b" l="l" r="r" t="t"/>
              <a:pathLst>
                <a:path extrusionOk="0" h="618530" w="494705">
                  <a:moveTo>
                    <a:pt x="0" y="0"/>
                  </a:moveTo>
                  <a:lnTo>
                    <a:pt x="494705" y="0"/>
                  </a:lnTo>
                  <a:lnTo>
                    <a:pt x="494705" y="618530"/>
                  </a:lnTo>
                  <a:lnTo>
                    <a:pt x="0" y="6185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4" name="Google Shape;334;p9"/>
            <p:cNvSpPr txBox="1"/>
            <p:nvPr/>
          </p:nvSpPr>
          <p:spPr>
            <a:xfrm>
              <a:off x="0" y="47625"/>
              <a:ext cx="494705" cy="570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74"/>
                <a:buFont typeface="Arial"/>
                <a:buNone/>
              </a:pPr>
              <a:r>
                <a:rPr b="1" i="0" lang="en-US" sz="2874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9"/>
          <p:cNvGrpSpPr/>
          <p:nvPr/>
        </p:nvGrpSpPr>
        <p:grpSpPr>
          <a:xfrm>
            <a:off x="1878806" y="2789336"/>
            <a:ext cx="3093095" cy="407937"/>
            <a:chOff x="0" y="-28575"/>
            <a:chExt cx="4124127" cy="543917"/>
          </a:xfrm>
        </p:grpSpPr>
        <p:sp>
          <p:nvSpPr>
            <p:cNvPr id="336" name="Google Shape;336;p9"/>
            <p:cNvSpPr/>
            <p:nvPr/>
          </p:nvSpPr>
          <p:spPr>
            <a:xfrm>
              <a:off x="0" y="0"/>
              <a:ext cx="4124127" cy="515342"/>
            </a:xfrm>
            <a:custGeom>
              <a:rect b="b" l="l" r="r" t="t"/>
              <a:pathLst>
                <a:path extrusionOk="0" h="515342" w="4124127">
                  <a:moveTo>
                    <a:pt x="0" y="0"/>
                  </a:moveTo>
                  <a:lnTo>
                    <a:pt x="4124127" y="0"/>
                  </a:lnTo>
                  <a:lnTo>
                    <a:pt x="4124127" y="515342"/>
                  </a:lnTo>
                  <a:lnTo>
                    <a:pt x="0" y="515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7" name="Google Shape;337;p9"/>
            <p:cNvSpPr txBox="1"/>
            <p:nvPr/>
          </p:nvSpPr>
          <p:spPr>
            <a:xfrm>
              <a:off x="0" y="-28575"/>
              <a:ext cx="4124127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31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IA Explicable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9"/>
          <p:cNvGrpSpPr/>
          <p:nvPr/>
        </p:nvGrpSpPr>
        <p:grpSpPr>
          <a:xfrm>
            <a:off x="1878806" y="3292822"/>
            <a:ext cx="8576965" cy="516732"/>
            <a:chOff x="0" y="-95250"/>
            <a:chExt cx="11435953" cy="688975"/>
          </a:xfrm>
        </p:grpSpPr>
        <p:sp>
          <p:nvSpPr>
            <p:cNvPr id="339" name="Google Shape;339;p9"/>
            <p:cNvSpPr/>
            <p:nvPr/>
          </p:nvSpPr>
          <p:spPr>
            <a:xfrm>
              <a:off x="0" y="0"/>
              <a:ext cx="11435953" cy="593725"/>
            </a:xfrm>
            <a:custGeom>
              <a:rect b="b" l="l" r="r" t="t"/>
              <a:pathLst>
                <a:path extrusionOk="0" h="593725" w="11435953">
                  <a:moveTo>
                    <a:pt x="0" y="0"/>
                  </a:moveTo>
                  <a:lnTo>
                    <a:pt x="11435953" y="0"/>
                  </a:lnTo>
                  <a:lnTo>
                    <a:pt x="11435953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0" name="Google Shape;340;p9"/>
            <p:cNvSpPr txBox="1"/>
            <p:nvPr/>
          </p:nvSpPr>
          <p:spPr>
            <a:xfrm>
              <a:off x="0" y="-95250"/>
              <a:ext cx="11435953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0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1" i="0" lang="en-US" sz="2187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Desarrollar inteligencia artificial transparente y auditables.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9"/>
          <p:cNvSpPr/>
          <p:nvPr/>
        </p:nvSpPr>
        <p:spPr>
          <a:xfrm>
            <a:off x="974229" y="4366171"/>
            <a:ext cx="626269" cy="626269"/>
          </a:xfrm>
          <a:custGeom>
            <a:rect b="b" l="l" r="r" t="t"/>
            <a:pathLst>
              <a:path extrusionOk="0" h="835025" w="835025">
                <a:moveTo>
                  <a:pt x="0" y="417576"/>
                </a:moveTo>
                <a:cubicBezTo>
                  <a:pt x="0" y="186944"/>
                  <a:pt x="186944" y="0"/>
                  <a:pt x="417449" y="0"/>
                </a:cubicBezTo>
                <a:cubicBezTo>
                  <a:pt x="647954" y="0"/>
                  <a:pt x="835025" y="186944"/>
                  <a:pt x="835025" y="417449"/>
                </a:cubicBezTo>
                <a:cubicBezTo>
                  <a:pt x="835025" y="647954"/>
                  <a:pt x="648081" y="835025"/>
                  <a:pt x="417576" y="835025"/>
                </a:cubicBezTo>
                <a:cubicBezTo>
                  <a:pt x="187071" y="835025"/>
                  <a:pt x="0" y="648081"/>
                  <a:pt x="0" y="417576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" name="Google Shape;342;p9"/>
          <p:cNvGrpSpPr/>
          <p:nvPr/>
        </p:nvGrpSpPr>
        <p:grpSpPr>
          <a:xfrm>
            <a:off x="1101849" y="4447356"/>
            <a:ext cx="371029" cy="463898"/>
            <a:chOff x="0" y="0"/>
            <a:chExt cx="494705" cy="618530"/>
          </a:xfrm>
        </p:grpSpPr>
        <p:sp>
          <p:nvSpPr>
            <p:cNvPr id="343" name="Google Shape;343;p9"/>
            <p:cNvSpPr/>
            <p:nvPr/>
          </p:nvSpPr>
          <p:spPr>
            <a:xfrm>
              <a:off x="0" y="0"/>
              <a:ext cx="494705" cy="618530"/>
            </a:xfrm>
            <a:custGeom>
              <a:rect b="b" l="l" r="r" t="t"/>
              <a:pathLst>
                <a:path extrusionOk="0" h="618530" w="494705">
                  <a:moveTo>
                    <a:pt x="0" y="0"/>
                  </a:moveTo>
                  <a:lnTo>
                    <a:pt x="494705" y="0"/>
                  </a:lnTo>
                  <a:lnTo>
                    <a:pt x="494705" y="618530"/>
                  </a:lnTo>
                  <a:lnTo>
                    <a:pt x="0" y="6185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4" name="Google Shape;344;p9"/>
            <p:cNvSpPr txBox="1"/>
            <p:nvPr/>
          </p:nvSpPr>
          <p:spPr>
            <a:xfrm>
              <a:off x="0" y="47625"/>
              <a:ext cx="494705" cy="570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74"/>
                <a:buFont typeface="Arial"/>
                <a:buNone/>
              </a:pPr>
              <a:r>
                <a:rPr b="1" i="0" lang="en-US" sz="2874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9"/>
          <p:cNvGrpSpPr/>
          <p:nvPr/>
        </p:nvGrpSpPr>
        <p:grpSpPr>
          <a:xfrm>
            <a:off x="1878806" y="4440288"/>
            <a:ext cx="4449515" cy="407937"/>
            <a:chOff x="0" y="-28575"/>
            <a:chExt cx="5932687" cy="543917"/>
          </a:xfrm>
        </p:grpSpPr>
        <p:sp>
          <p:nvSpPr>
            <p:cNvPr id="346" name="Google Shape;346;p9"/>
            <p:cNvSpPr/>
            <p:nvPr/>
          </p:nvSpPr>
          <p:spPr>
            <a:xfrm>
              <a:off x="0" y="0"/>
              <a:ext cx="5932687" cy="515342"/>
            </a:xfrm>
            <a:custGeom>
              <a:rect b="b" l="l" r="r" t="t"/>
              <a:pathLst>
                <a:path extrusionOk="0" h="515342" w="5932687">
                  <a:moveTo>
                    <a:pt x="0" y="0"/>
                  </a:moveTo>
                  <a:lnTo>
                    <a:pt x="5932687" y="0"/>
                  </a:lnTo>
                  <a:lnTo>
                    <a:pt x="5932687" y="515342"/>
                  </a:lnTo>
                  <a:lnTo>
                    <a:pt x="0" y="515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7" name="Google Shape;347;p9"/>
            <p:cNvSpPr txBox="1"/>
            <p:nvPr/>
          </p:nvSpPr>
          <p:spPr>
            <a:xfrm>
              <a:off x="0" y="-28575"/>
              <a:ext cx="5932687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31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Equipos Multidisciplinarios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9"/>
          <p:cNvGrpSpPr/>
          <p:nvPr/>
        </p:nvGrpSpPr>
        <p:grpSpPr>
          <a:xfrm>
            <a:off x="1878806" y="4943772"/>
            <a:ext cx="8576965" cy="516732"/>
            <a:chOff x="0" y="-95250"/>
            <a:chExt cx="11435953" cy="688975"/>
          </a:xfrm>
        </p:grpSpPr>
        <p:sp>
          <p:nvSpPr>
            <p:cNvPr id="349" name="Google Shape;349;p9"/>
            <p:cNvSpPr/>
            <p:nvPr/>
          </p:nvSpPr>
          <p:spPr>
            <a:xfrm>
              <a:off x="0" y="0"/>
              <a:ext cx="11435953" cy="593725"/>
            </a:xfrm>
            <a:custGeom>
              <a:rect b="b" l="l" r="r" t="t"/>
              <a:pathLst>
                <a:path extrusionOk="0" h="593725" w="11435953">
                  <a:moveTo>
                    <a:pt x="0" y="0"/>
                  </a:moveTo>
                  <a:lnTo>
                    <a:pt x="11435953" y="0"/>
                  </a:lnTo>
                  <a:lnTo>
                    <a:pt x="11435953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0" name="Google Shape;350;p9"/>
            <p:cNvSpPr txBox="1"/>
            <p:nvPr/>
          </p:nvSpPr>
          <p:spPr>
            <a:xfrm>
              <a:off x="0" y="-95250"/>
              <a:ext cx="11435953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0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1" i="0" lang="en-US" sz="2187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Incluir expertos en ética desde el diseño del sistema.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1" name="Google Shape;351;p9"/>
          <p:cNvSpPr/>
          <p:nvPr/>
        </p:nvSpPr>
        <p:spPr>
          <a:xfrm>
            <a:off x="974229" y="6017121"/>
            <a:ext cx="626269" cy="626269"/>
          </a:xfrm>
          <a:custGeom>
            <a:rect b="b" l="l" r="r" t="t"/>
            <a:pathLst>
              <a:path extrusionOk="0" h="835025" w="835025">
                <a:moveTo>
                  <a:pt x="0" y="417576"/>
                </a:moveTo>
                <a:cubicBezTo>
                  <a:pt x="0" y="186944"/>
                  <a:pt x="186944" y="0"/>
                  <a:pt x="417449" y="0"/>
                </a:cubicBezTo>
                <a:cubicBezTo>
                  <a:pt x="647954" y="0"/>
                  <a:pt x="835025" y="186944"/>
                  <a:pt x="835025" y="417449"/>
                </a:cubicBezTo>
                <a:cubicBezTo>
                  <a:pt x="835025" y="647954"/>
                  <a:pt x="648081" y="835025"/>
                  <a:pt x="417576" y="835025"/>
                </a:cubicBezTo>
                <a:cubicBezTo>
                  <a:pt x="187071" y="835025"/>
                  <a:pt x="0" y="648081"/>
                  <a:pt x="0" y="417576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" name="Google Shape;352;p9"/>
          <p:cNvGrpSpPr/>
          <p:nvPr/>
        </p:nvGrpSpPr>
        <p:grpSpPr>
          <a:xfrm>
            <a:off x="1101849" y="6098306"/>
            <a:ext cx="371029" cy="463898"/>
            <a:chOff x="0" y="0"/>
            <a:chExt cx="494705" cy="618530"/>
          </a:xfrm>
        </p:grpSpPr>
        <p:sp>
          <p:nvSpPr>
            <p:cNvPr id="353" name="Google Shape;353;p9"/>
            <p:cNvSpPr/>
            <p:nvPr/>
          </p:nvSpPr>
          <p:spPr>
            <a:xfrm>
              <a:off x="0" y="0"/>
              <a:ext cx="494705" cy="618530"/>
            </a:xfrm>
            <a:custGeom>
              <a:rect b="b" l="l" r="r" t="t"/>
              <a:pathLst>
                <a:path extrusionOk="0" h="618530" w="494705">
                  <a:moveTo>
                    <a:pt x="0" y="0"/>
                  </a:moveTo>
                  <a:lnTo>
                    <a:pt x="494705" y="0"/>
                  </a:lnTo>
                  <a:lnTo>
                    <a:pt x="494705" y="618530"/>
                  </a:lnTo>
                  <a:lnTo>
                    <a:pt x="0" y="6185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4" name="Google Shape;354;p9"/>
            <p:cNvSpPr txBox="1"/>
            <p:nvPr/>
          </p:nvSpPr>
          <p:spPr>
            <a:xfrm>
              <a:off x="0" y="47625"/>
              <a:ext cx="494705" cy="570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74"/>
                <a:buFont typeface="Arial"/>
                <a:buNone/>
              </a:pPr>
              <a:r>
                <a:rPr b="1" i="0" lang="en-US" sz="2874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p9"/>
          <p:cNvGrpSpPr/>
          <p:nvPr/>
        </p:nvGrpSpPr>
        <p:grpSpPr>
          <a:xfrm>
            <a:off x="1878806" y="6091238"/>
            <a:ext cx="4452641" cy="407937"/>
            <a:chOff x="0" y="-28575"/>
            <a:chExt cx="5936854" cy="543917"/>
          </a:xfrm>
        </p:grpSpPr>
        <p:sp>
          <p:nvSpPr>
            <p:cNvPr id="356" name="Google Shape;356;p9"/>
            <p:cNvSpPr/>
            <p:nvPr/>
          </p:nvSpPr>
          <p:spPr>
            <a:xfrm>
              <a:off x="0" y="0"/>
              <a:ext cx="5936854" cy="515342"/>
            </a:xfrm>
            <a:custGeom>
              <a:rect b="b" l="l" r="r" t="t"/>
              <a:pathLst>
                <a:path extrusionOk="0" h="515342" w="5936854">
                  <a:moveTo>
                    <a:pt x="0" y="0"/>
                  </a:moveTo>
                  <a:lnTo>
                    <a:pt x="5936854" y="0"/>
                  </a:lnTo>
                  <a:lnTo>
                    <a:pt x="5936854" y="515342"/>
                  </a:lnTo>
                  <a:lnTo>
                    <a:pt x="0" y="515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7" name="Google Shape;357;p9"/>
            <p:cNvSpPr txBox="1"/>
            <p:nvPr/>
          </p:nvSpPr>
          <p:spPr>
            <a:xfrm>
              <a:off x="0" y="-28575"/>
              <a:ext cx="5936853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31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Regulaciones Más Estrictas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9"/>
          <p:cNvGrpSpPr/>
          <p:nvPr/>
        </p:nvGrpSpPr>
        <p:grpSpPr>
          <a:xfrm>
            <a:off x="1878806" y="6594722"/>
            <a:ext cx="8576965" cy="516732"/>
            <a:chOff x="0" y="-95250"/>
            <a:chExt cx="11435953" cy="688975"/>
          </a:xfrm>
        </p:grpSpPr>
        <p:sp>
          <p:nvSpPr>
            <p:cNvPr id="359" name="Google Shape;359;p9"/>
            <p:cNvSpPr/>
            <p:nvPr/>
          </p:nvSpPr>
          <p:spPr>
            <a:xfrm>
              <a:off x="0" y="0"/>
              <a:ext cx="11435953" cy="593725"/>
            </a:xfrm>
            <a:custGeom>
              <a:rect b="b" l="l" r="r" t="t"/>
              <a:pathLst>
                <a:path extrusionOk="0" h="593725" w="11435953">
                  <a:moveTo>
                    <a:pt x="0" y="0"/>
                  </a:moveTo>
                  <a:lnTo>
                    <a:pt x="11435953" y="0"/>
                  </a:lnTo>
                  <a:lnTo>
                    <a:pt x="11435953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0" name="Google Shape;360;p9"/>
            <p:cNvSpPr txBox="1"/>
            <p:nvPr/>
          </p:nvSpPr>
          <p:spPr>
            <a:xfrm>
              <a:off x="0" y="-95250"/>
              <a:ext cx="11435953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0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1" i="0" lang="en-US" sz="2187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Promover leyes que controlen el uso y responsabilidades.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1" name="Google Shape;361;p9"/>
          <p:cNvSpPr/>
          <p:nvPr/>
        </p:nvSpPr>
        <p:spPr>
          <a:xfrm>
            <a:off x="974229" y="7668071"/>
            <a:ext cx="626269" cy="626269"/>
          </a:xfrm>
          <a:custGeom>
            <a:rect b="b" l="l" r="r" t="t"/>
            <a:pathLst>
              <a:path extrusionOk="0" h="835025" w="835025">
                <a:moveTo>
                  <a:pt x="0" y="417576"/>
                </a:moveTo>
                <a:cubicBezTo>
                  <a:pt x="0" y="186944"/>
                  <a:pt x="186944" y="0"/>
                  <a:pt x="417449" y="0"/>
                </a:cubicBezTo>
                <a:cubicBezTo>
                  <a:pt x="647954" y="0"/>
                  <a:pt x="835025" y="186944"/>
                  <a:pt x="835025" y="417449"/>
                </a:cubicBezTo>
                <a:cubicBezTo>
                  <a:pt x="835025" y="647954"/>
                  <a:pt x="648081" y="835025"/>
                  <a:pt x="417576" y="835025"/>
                </a:cubicBezTo>
                <a:cubicBezTo>
                  <a:pt x="187071" y="835025"/>
                  <a:pt x="0" y="648081"/>
                  <a:pt x="0" y="417576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" name="Google Shape;362;p9"/>
          <p:cNvGrpSpPr/>
          <p:nvPr/>
        </p:nvGrpSpPr>
        <p:grpSpPr>
          <a:xfrm>
            <a:off x="1101849" y="7749257"/>
            <a:ext cx="371029" cy="463898"/>
            <a:chOff x="0" y="0"/>
            <a:chExt cx="494705" cy="618530"/>
          </a:xfrm>
        </p:grpSpPr>
        <p:sp>
          <p:nvSpPr>
            <p:cNvPr id="363" name="Google Shape;363;p9"/>
            <p:cNvSpPr/>
            <p:nvPr/>
          </p:nvSpPr>
          <p:spPr>
            <a:xfrm>
              <a:off x="0" y="0"/>
              <a:ext cx="494705" cy="618530"/>
            </a:xfrm>
            <a:custGeom>
              <a:rect b="b" l="l" r="r" t="t"/>
              <a:pathLst>
                <a:path extrusionOk="0" h="618530" w="494705">
                  <a:moveTo>
                    <a:pt x="0" y="0"/>
                  </a:moveTo>
                  <a:lnTo>
                    <a:pt x="494705" y="0"/>
                  </a:lnTo>
                  <a:lnTo>
                    <a:pt x="494705" y="618530"/>
                  </a:lnTo>
                  <a:lnTo>
                    <a:pt x="0" y="6185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4" name="Google Shape;364;p9"/>
            <p:cNvSpPr txBox="1"/>
            <p:nvPr/>
          </p:nvSpPr>
          <p:spPr>
            <a:xfrm>
              <a:off x="0" y="47625"/>
              <a:ext cx="494705" cy="570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74"/>
                <a:buFont typeface="Arial"/>
                <a:buNone/>
              </a:pPr>
              <a:r>
                <a:rPr b="1" i="0" lang="en-US" sz="2874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9"/>
          <p:cNvGrpSpPr/>
          <p:nvPr/>
        </p:nvGrpSpPr>
        <p:grpSpPr>
          <a:xfrm>
            <a:off x="1878806" y="7742188"/>
            <a:ext cx="3093095" cy="407937"/>
            <a:chOff x="0" y="-28575"/>
            <a:chExt cx="4124127" cy="543917"/>
          </a:xfrm>
        </p:grpSpPr>
        <p:sp>
          <p:nvSpPr>
            <p:cNvPr id="366" name="Google Shape;366;p9"/>
            <p:cNvSpPr/>
            <p:nvPr/>
          </p:nvSpPr>
          <p:spPr>
            <a:xfrm>
              <a:off x="0" y="0"/>
              <a:ext cx="4124127" cy="515342"/>
            </a:xfrm>
            <a:custGeom>
              <a:rect b="b" l="l" r="r" t="t"/>
              <a:pathLst>
                <a:path extrusionOk="0" h="515342" w="4124127">
                  <a:moveTo>
                    <a:pt x="0" y="0"/>
                  </a:moveTo>
                  <a:lnTo>
                    <a:pt x="4124127" y="0"/>
                  </a:lnTo>
                  <a:lnTo>
                    <a:pt x="4124127" y="515342"/>
                  </a:lnTo>
                  <a:lnTo>
                    <a:pt x="0" y="515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7" name="Google Shape;367;p9"/>
            <p:cNvSpPr txBox="1"/>
            <p:nvPr/>
          </p:nvSpPr>
          <p:spPr>
            <a:xfrm>
              <a:off x="0" y="-28575"/>
              <a:ext cx="4124127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31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Cultura Ética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" name="Google Shape;368;p9"/>
          <p:cNvGrpSpPr/>
          <p:nvPr/>
        </p:nvGrpSpPr>
        <p:grpSpPr>
          <a:xfrm>
            <a:off x="1878806" y="8245673"/>
            <a:ext cx="8576965" cy="516732"/>
            <a:chOff x="0" y="-95250"/>
            <a:chExt cx="11435953" cy="688975"/>
          </a:xfrm>
        </p:grpSpPr>
        <p:sp>
          <p:nvSpPr>
            <p:cNvPr id="369" name="Google Shape;369;p9"/>
            <p:cNvSpPr/>
            <p:nvPr/>
          </p:nvSpPr>
          <p:spPr>
            <a:xfrm>
              <a:off x="0" y="0"/>
              <a:ext cx="11435953" cy="593725"/>
            </a:xfrm>
            <a:custGeom>
              <a:rect b="b" l="l" r="r" t="t"/>
              <a:pathLst>
                <a:path extrusionOk="0" h="593725" w="11435953">
                  <a:moveTo>
                    <a:pt x="0" y="0"/>
                  </a:moveTo>
                  <a:lnTo>
                    <a:pt x="11435953" y="0"/>
                  </a:lnTo>
                  <a:lnTo>
                    <a:pt x="11435953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0" name="Google Shape;370;p9"/>
            <p:cNvSpPr txBox="1"/>
            <p:nvPr/>
          </p:nvSpPr>
          <p:spPr>
            <a:xfrm>
              <a:off x="0" y="-95250"/>
              <a:ext cx="11435953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0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1" i="0" lang="en-US" sz="2187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Fomentar valores éticos permanentes en las organizaciones.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B1B1E"/>
          </a:solidFill>
          <a:ln>
            <a:noFill/>
          </a:ln>
        </p:spPr>
      </p:sp>
      <p:sp>
        <p:nvSpPr>
          <p:cNvPr id="380" name="Google Shape;380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7272B"/>
          </a:solidFill>
          <a:ln>
            <a:noFill/>
          </a:ln>
        </p:spPr>
      </p:sp>
      <p:sp>
        <p:nvSpPr>
          <p:cNvPr descr="preencoded.png" id="381" name="Google Shape;381;p10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2" name="Google Shape;382;p10"/>
          <p:cNvGrpSpPr/>
          <p:nvPr/>
        </p:nvGrpSpPr>
        <p:grpSpPr>
          <a:xfrm>
            <a:off x="7938046" y="1224855"/>
            <a:ext cx="9269909" cy="2600325"/>
            <a:chOff x="0" y="-38100"/>
            <a:chExt cx="12359878" cy="3467100"/>
          </a:xfrm>
        </p:grpSpPr>
        <p:sp>
          <p:nvSpPr>
            <p:cNvPr id="383" name="Google Shape;383;p10"/>
            <p:cNvSpPr/>
            <p:nvPr/>
          </p:nvSpPr>
          <p:spPr>
            <a:xfrm>
              <a:off x="0" y="0"/>
              <a:ext cx="12359878" cy="3429000"/>
            </a:xfrm>
            <a:custGeom>
              <a:rect b="b" l="l" r="r" t="t"/>
              <a:pathLst>
                <a:path extrusionOk="0" h="3429000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4" name="Google Shape;384;p10"/>
            <p:cNvSpPr txBox="1"/>
            <p:nvPr/>
          </p:nvSpPr>
          <p:spPr>
            <a:xfrm>
              <a:off x="0" y="-38100"/>
              <a:ext cx="12359878" cy="3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74"/>
                <a:buFont typeface="Arial"/>
                <a:buNone/>
              </a:pPr>
              <a:r>
                <a:rPr b="1" i="0" lang="en-US" sz="5374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Conclusiones sobre Problemas Éticos en Sistemas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p10"/>
          <p:cNvSpPr/>
          <p:nvPr/>
        </p:nvSpPr>
        <p:spPr>
          <a:xfrm>
            <a:off x="7938046" y="4288036"/>
            <a:ext cx="4480751" cy="2712244"/>
          </a:xfrm>
          <a:custGeom>
            <a:rect b="b" l="l" r="r" t="t"/>
            <a:pathLst>
              <a:path extrusionOk="0" h="3616325" w="5974334">
                <a:moveTo>
                  <a:pt x="0" y="617220"/>
                </a:moveTo>
                <a:cubicBezTo>
                  <a:pt x="0" y="276352"/>
                  <a:pt x="276352" y="0"/>
                  <a:pt x="617220" y="0"/>
                </a:cubicBezTo>
                <a:lnTo>
                  <a:pt x="5357114" y="0"/>
                </a:lnTo>
                <a:cubicBezTo>
                  <a:pt x="5697982" y="0"/>
                  <a:pt x="5974334" y="276352"/>
                  <a:pt x="5974334" y="617220"/>
                </a:cubicBezTo>
                <a:lnTo>
                  <a:pt x="5974334" y="2999105"/>
                </a:lnTo>
                <a:cubicBezTo>
                  <a:pt x="5974334" y="3339973"/>
                  <a:pt x="5697982" y="3616325"/>
                  <a:pt x="5357114" y="3616325"/>
                </a:cubicBezTo>
                <a:lnTo>
                  <a:pt x="617220" y="3616325"/>
                </a:lnTo>
                <a:cubicBezTo>
                  <a:pt x="276352" y="3616325"/>
                  <a:pt x="0" y="3339973"/>
                  <a:pt x="0" y="2999105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10"/>
          <p:cNvGrpSpPr/>
          <p:nvPr/>
        </p:nvGrpSpPr>
        <p:grpSpPr>
          <a:xfrm>
            <a:off x="8246566" y="4582269"/>
            <a:ext cx="3429000" cy="442913"/>
            <a:chOff x="0" y="-19050"/>
            <a:chExt cx="4572000" cy="590550"/>
          </a:xfrm>
        </p:grpSpPr>
        <p:sp>
          <p:nvSpPr>
            <p:cNvPr id="387" name="Google Shape;387;p10"/>
            <p:cNvSpPr/>
            <p:nvPr/>
          </p:nvSpPr>
          <p:spPr>
            <a:xfrm>
              <a:off x="0" y="0"/>
              <a:ext cx="4572000" cy="571500"/>
            </a:xfrm>
            <a:custGeom>
              <a:rect b="b" l="l" r="r" t="t"/>
              <a:pathLst>
                <a:path extrusionOk="0"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8" name="Google Shape;388;p10"/>
            <p:cNvSpPr txBox="1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Ética Fundamental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" name="Google Shape;389;p10"/>
          <p:cNvGrpSpPr/>
          <p:nvPr/>
        </p:nvGrpSpPr>
        <p:grpSpPr>
          <a:xfrm>
            <a:off x="8246566" y="5131743"/>
            <a:ext cx="3863728" cy="1560016"/>
            <a:chOff x="0" y="-104775"/>
            <a:chExt cx="5151637" cy="2080022"/>
          </a:xfrm>
        </p:grpSpPr>
        <p:sp>
          <p:nvSpPr>
            <p:cNvPr id="390" name="Google Shape;390;p10"/>
            <p:cNvSpPr/>
            <p:nvPr/>
          </p:nvSpPr>
          <p:spPr>
            <a:xfrm>
              <a:off x="0" y="0"/>
              <a:ext cx="5151637" cy="1975247"/>
            </a:xfrm>
            <a:custGeom>
              <a:rect b="b" l="l" r="r" t="t"/>
              <a:pathLst>
                <a:path extrusionOk="0" h="1975247" w="5151637">
                  <a:moveTo>
                    <a:pt x="0" y="0"/>
                  </a:moveTo>
                  <a:lnTo>
                    <a:pt x="5151637" y="0"/>
                  </a:lnTo>
                  <a:lnTo>
                    <a:pt x="5151637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1" name="Google Shape;391;p10"/>
            <p:cNvSpPr txBox="1"/>
            <p:nvPr/>
          </p:nvSpPr>
          <p:spPr>
            <a:xfrm>
              <a:off x="0" y="-104775"/>
              <a:ext cx="5151637" cy="2080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Clave para confianza y sostenibilidad en tecnologías.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10"/>
          <p:cNvSpPr/>
          <p:nvPr/>
        </p:nvSpPr>
        <p:spPr>
          <a:xfrm>
            <a:off x="12727335" y="4288036"/>
            <a:ext cx="4480751" cy="2712244"/>
          </a:xfrm>
          <a:custGeom>
            <a:rect b="b" l="l" r="r" t="t"/>
            <a:pathLst>
              <a:path extrusionOk="0" h="3616325" w="5974334">
                <a:moveTo>
                  <a:pt x="0" y="617220"/>
                </a:moveTo>
                <a:cubicBezTo>
                  <a:pt x="0" y="276352"/>
                  <a:pt x="276352" y="0"/>
                  <a:pt x="617220" y="0"/>
                </a:cubicBezTo>
                <a:lnTo>
                  <a:pt x="5357114" y="0"/>
                </a:lnTo>
                <a:cubicBezTo>
                  <a:pt x="5697982" y="0"/>
                  <a:pt x="5974334" y="276352"/>
                  <a:pt x="5974334" y="617220"/>
                </a:cubicBezTo>
                <a:lnTo>
                  <a:pt x="5974334" y="2999105"/>
                </a:lnTo>
                <a:cubicBezTo>
                  <a:pt x="5974334" y="3339973"/>
                  <a:pt x="5697982" y="3616325"/>
                  <a:pt x="5357114" y="3616325"/>
                </a:cubicBezTo>
                <a:lnTo>
                  <a:pt x="617220" y="3616325"/>
                </a:lnTo>
                <a:cubicBezTo>
                  <a:pt x="276352" y="3616325"/>
                  <a:pt x="0" y="3339973"/>
                  <a:pt x="0" y="2999105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3" name="Google Shape;393;p10"/>
          <p:cNvGrpSpPr/>
          <p:nvPr/>
        </p:nvGrpSpPr>
        <p:grpSpPr>
          <a:xfrm>
            <a:off x="13035855" y="4582269"/>
            <a:ext cx="3512344" cy="442913"/>
            <a:chOff x="0" y="-19050"/>
            <a:chExt cx="4683125" cy="590550"/>
          </a:xfrm>
        </p:grpSpPr>
        <p:sp>
          <p:nvSpPr>
            <p:cNvPr id="394" name="Google Shape;394;p10"/>
            <p:cNvSpPr/>
            <p:nvPr/>
          </p:nvSpPr>
          <p:spPr>
            <a:xfrm>
              <a:off x="0" y="0"/>
              <a:ext cx="4683125" cy="571500"/>
            </a:xfrm>
            <a:custGeom>
              <a:rect b="b" l="l" r="r" t="t"/>
              <a:pathLst>
                <a:path extrusionOk="0" h="571500" w="4683125">
                  <a:moveTo>
                    <a:pt x="0" y="0"/>
                  </a:moveTo>
                  <a:lnTo>
                    <a:pt x="4683125" y="0"/>
                  </a:lnTo>
                  <a:lnTo>
                    <a:pt x="4683125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5" name="Google Shape;395;p10"/>
            <p:cNvSpPr txBox="1"/>
            <p:nvPr/>
          </p:nvSpPr>
          <p:spPr>
            <a:xfrm>
              <a:off x="0" y="-19050"/>
              <a:ext cx="4683125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Formación Urgente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" name="Google Shape;396;p10"/>
          <p:cNvGrpSpPr/>
          <p:nvPr/>
        </p:nvGrpSpPr>
        <p:grpSpPr>
          <a:xfrm>
            <a:off x="13035855" y="5131743"/>
            <a:ext cx="3863728" cy="1560016"/>
            <a:chOff x="0" y="-104775"/>
            <a:chExt cx="5151637" cy="2080022"/>
          </a:xfrm>
        </p:grpSpPr>
        <p:sp>
          <p:nvSpPr>
            <p:cNvPr id="397" name="Google Shape;397;p10"/>
            <p:cNvSpPr/>
            <p:nvPr/>
          </p:nvSpPr>
          <p:spPr>
            <a:xfrm>
              <a:off x="0" y="0"/>
              <a:ext cx="5151637" cy="1975247"/>
            </a:xfrm>
            <a:custGeom>
              <a:rect b="b" l="l" r="r" t="t"/>
              <a:pathLst>
                <a:path extrusionOk="0" h="1975247" w="5151637">
                  <a:moveTo>
                    <a:pt x="0" y="0"/>
                  </a:moveTo>
                  <a:lnTo>
                    <a:pt x="5151637" y="0"/>
                  </a:lnTo>
                  <a:lnTo>
                    <a:pt x="5151637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8" name="Google Shape;398;p10"/>
            <p:cNvSpPr txBox="1"/>
            <p:nvPr/>
          </p:nvSpPr>
          <p:spPr>
            <a:xfrm>
              <a:off x="0" y="-104775"/>
              <a:ext cx="5151637" cy="2080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Desarrolladores y usuarios deben recibir educación ética constante.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9" name="Google Shape;399;p10"/>
          <p:cNvSpPr/>
          <p:nvPr/>
        </p:nvSpPr>
        <p:spPr>
          <a:xfrm>
            <a:off x="7938046" y="7308800"/>
            <a:ext cx="9269921" cy="1724597"/>
          </a:xfrm>
          <a:custGeom>
            <a:rect b="b" l="l" r="r" t="t"/>
            <a:pathLst>
              <a:path extrusionOk="0" h="2299462" w="12359894">
                <a:moveTo>
                  <a:pt x="0" y="617220"/>
                </a:moveTo>
                <a:cubicBezTo>
                  <a:pt x="0" y="276352"/>
                  <a:pt x="276352" y="0"/>
                  <a:pt x="617220" y="0"/>
                </a:cubicBezTo>
                <a:lnTo>
                  <a:pt x="11742674" y="0"/>
                </a:lnTo>
                <a:cubicBezTo>
                  <a:pt x="12083542" y="0"/>
                  <a:pt x="12359894" y="276352"/>
                  <a:pt x="12359894" y="617220"/>
                </a:cubicBezTo>
                <a:lnTo>
                  <a:pt x="12359894" y="1682242"/>
                </a:lnTo>
                <a:cubicBezTo>
                  <a:pt x="12359894" y="2023110"/>
                  <a:pt x="12083542" y="2299462"/>
                  <a:pt x="11742674" y="2299462"/>
                </a:cubicBezTo>
                <a:lnTo>
                  <a:pt x="617220" y="2299462"/>
                </a:lnTo>
                <a:cubicBezTo>
                  <a:pt x="276352" y="2299462"/>
                  <a:pt x="0" y="2023110"/>
                  <a:pt x="0" y="1682242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0" name="Google Shape;400;p10"/>
          <p:cNvGrpSpPr/>
          <p:nvPr/>
        </p:nvGrpSpPr>
        <p:grpSpPr>
          <a:xfrm>
            <a:off x="8246566" y="7603034"/>
            <a:ext cx="3514130" cy="442913"/>
            <a:chOff x="0" y="-19050"/>
            <a:chExt cx="4685507" cy="590550"/>
          </a:xfrm>
        </p:grpSpPr>
        <p:sp>
          <p:nvSpPr>
            <p:cNvPr id="401" name="Google Shape;401;p10"/>
            <p:cNvSpPr/>
            <p:nvPr/>
          </p:nvSpPr>
          <p:spPr>
            <a:xfrm>
              <a:off x="0" y="0"/>
              <a:ext cx="4685507" cy="571500"/>
            </a:xfrm>
            <a:custGeom>
              <a:rect b="b" l="l" r="r" t="t"/>
              <a:pathLst>
                <a:path extrusionOk="0" h="571500" w="4685507">
                  <a:moveTo>
                    <a:pt x="0" y="0"/>
                  </a:moveTo>
                  <a:lnTo>
                    <a:pt x="4685507" y="0"/>
                  </a:lnTo>
                  <a:lnTo>
                    <a:pt x="4685507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2" name="Google Shape;402;p10"/>
            <p:cNvSpPr txBox="1"/>
            <p:nvPr/>
          </p:nvSpPr>
          <p:spPr>
            <a:xfrm>
              <a:off x="0" y="-19050"/>
              <a:ext cx="4685507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Riesgos en Ascenso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3" name="Google Shape;403;p10"/>
          <p:cNvGrpSpPr/>
          <p:nvPr/>
        </p:nvGrpSpPr>
        <p:grpSpPr>
          <a:xfrm>
            <a:off x="8246566" y="8152508"/>
            <a:ext cx="8652867" cy="572392"/>
            <a:chOff x="0" y="-104775"/>
            <a:chExt cx="11537157" cy="763190"/>
          </a:xfrm>
        </p:grpSpPr>
        <p:sp>
          <p:nvSpPr>
            <p:cNvPr id="404" name="Google Shape;404;p10"/>
            <p:cNvSpPr/>
            <p:nvPr/>
          </p:nvSpPr>
          <p:spPr>
            <a:xfrm>
              <a:off x="0" y="0"/>
              <a:ext cx="11537157" cy="658415"/>
            </a:xfrm>
            <a:custGeom>
              <a:rect b="b" l="l" r="r" t="t"/>
              <a:pathLst>
                <a:path extrusionOk="0" h="658415" w="11537157">
                  <a:moveTo>
                    <a:pt x="0" y="0"/>
                  </a:moveTo>
                  <a:lnTo>
                    <a:pt x="11537157" y="0"/>
                  </a:lnTo>
                  <a:lnTo>
                    <a:pt x="11537157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5" name="Google Shape;405;p10"/>
            <p:cNvSpPr txBox="1"/>
            <p:nvPr/>
          </p:nvSpPr>
          <p:spPr>
            <a:xfrm>
              <a:off x="0" y="-104775"/>
              <a:ext cx="11537157" cy="763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Avances tecnológicos elevan desafíos éticos y sociales.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B1B1E"/>
          </a:solidFill>
          <a:ln>
            <a:noFill/>
          </a:ln>
        </p:spPr>
      </p:sp>
      <p:sp>
        <p:nvSpPr>
          <p:cNvPr id="415" name="Google Shape;415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7272B"/>
          </a:solidFill>
          <a:ln>
            <a:noFill/>
          </a:ln>
        </p:spPr>
      </p:sp>
      <p:grpSp>
        <p:nvGrpSpPr>
          <p:cNvPr id="416" name="Google Shape;416;p11"/>
          <p:cNvGrpSpPr/>
          <p:nvPr/>
        </p:nvGrpSpPr>
        <p:grpSpPr>
          <a:xfrm>
            <a:off x="1080046" y="2870746"/>
            <a:ext cx="16127909" cy="1743075"/>
            <a:chOff x="0" y="-38100"/>
            <a:chExt cx="21503878" cy="2324100"/>
          </a:xfrm>
        </p:grpSpPr>
        <p:sp>
          <p:nvSpPr>
            <p:cNvPr id="417" name="Google Shape;417;p11"/>
            <p:cNvSpPr/>
            <p:nvPr/>
          </p:nvSpPr>
          <p:spPr>
            <a:xfrm>
              <a:off x="0" y="0"/>
              <a:ext cx="21503878" cy="2286000"/>
            </a:xfrm>
            <a:custGeom>
              <a:rect b="b" l="l" r="r" t="t"/>
              <a:pathLst>
                <a:path extrusionOk="0" h="2286000" w="21503878">
                  <a:moveTo>
                    <a:pt x="0" y="0"/>
                  </a:moveTo>
                  <a:lnTo>
                    <a:pt x="21503878" y="0"/>
                  </a:lnTo>
                  <a:lnTo>
                    <a:pt x="21503878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8" name="Google Shape;418;p11"/>
            <p:cNvSpPr txBox="1"/>
            <p:nvPr/>
          </p:nvSpPr>
          <p:spPr>
            <a:xfrm>
              <a:off x="0" y="-38100"/>
              <a:ext cx="21503878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74"/>
                <a:buFont typeface="Arial"/>
                <a:buNone/>
              </a:pPr>
              <a:r>
                <a:rPr b="1" i="0" lang="en-US" sz="5374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Clases de Sistemas de Información: Visión General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p11"/>
          <p:cNvGrpSpPr/>
          <p:nvPr/>
        </p:nvGrpSpPr>
        <p:grpSpPr>
          <a:xfrm>
            <a:off x="1080046" y="5370910"/>
            <a:ext cx="3429000" cy="442913"/>
            <a:chOff x="0" y="-19050"/>
            <a:chExt cx="4572000" cy="590550"/>
          </a:xfrm>
        </p:grpSpPr>
        <p:sp>
          <p:nvSpPr>
            <p:cNvPr id="420" name="Google Shape;420;p11"/>
            <p:cNvSpPr/>
            <p:nvPr/>
          </p:nvSpPr>
          <p:spPr>
            <a:xfrm>
              <a:off x="0" y="0"/>
              <a:ext cx="4572000" cy="571500"/>
            </a:xfrm>
            <a:custGeom>
              <a:rect b="b" l="l" r="r" t="t"/>
              <a:pathLst>
                <a:path extrusionOk="0"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1" name="Google Shape;421;p11"/>
            <p:cNvSpPr txBox="1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Definición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" name="Google Shape;422;p11"/>
          <p:cNvGrpSpPr/>
          <p:nvPr/>
        </p:nvGrpSpPr>
        <p:grpSpPr>
          <a:xfrm>
            <a:off x="1080046" y="6043761"/>
            <a:ext cx="7687567" cy="1066205"/>
            <a:chOff x="0" y="-104775"/>
            <a:chExt cx="10250090" cy="1421607"/>
          </a:xfrm>
        </p:grpSpPr>
        <p:sp>
          <p:nvSpPr>
            <p:cNvPr id="423" name="Google Shape;423;p11"/>
            <p:cNvSpPr/>
            <p:nvPr/>
          </p:nvSpPr>
          <p:spPr>
            <a:xfrm>
              <a:off x="0" y="0"/>
              <a:ext cx="10250090" cy="1316832"/>
            </a:xfrm>
            <a:custGeom>
              <a:rect b="b" l="l" r="r" t="t"/>
              <a:pathLst>
                <a:path extrusionOk="0" h="1316832" w="10250090">
                  <a:moveTo>
                    <a:pt x="0" y="0"/>
                  </a:moveTo>
                  <a:lnTo>
                    <a:pt x="10250090" y="0"/>
                  </a:lnTo>
                  <a:lnTo>
                    <a:pt x="10250090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4" name="Google Shape;424;p11"/>
            <p:cNvSpPr txBox="1"/>
            <p:nvPr/>
          </p:nvSpPr>
          <p:spPr>
            <a:xfrm>
              <a:off x="0" y="-104775"/>
              <a:ext cx="10250090" cy="1421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Herramientas que gestionan y distribuyen información en organizaciones.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" name="Google Shape;425;p11"/>
          <p:cNvGrpSpPr/>
          <p:nvPr/>
        </p:nvGrpSpPr>
        <p:grpSpPr>
          <a:xfrm>
            <a:off x="9529911" y="5370910"/>
            <a:ext cx="3429000" cy="442913"/>
            <a:chOff x="0" y="-19050"/>
            <a:chExt cx="4572000" cy="590550"/>
          </a:xfrm>
        </p:grpSpPr>
        <p:sp>
          <p:nvSpPr>
            <p:cNvPr id="426" name="Google Shape;426;p11"/>
            <p:cNvSpPr/>
            <p:nvPr/>
          </p:nvSpPr>
          <p:spPr>
            <a:xfrm>
              <a:off x="0" y="0"/>
              <a:ext cx="4572000" cy="571500"/>
            </a:xfrm>
            <a:custGeom>
              <a:rect b="b" l="l" r="r" t="t"/>
              <a:pathLst>
                <a:path extrusionOk="0"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7" name="Google Shape;427;p11"/>
            <p:cNvSpPr txBox="1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Clasificación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8" name="Google Shape;428;p11"/>
          <p:cNvGrpSpPr/>
          <p:nvPr/>
        </p:nvGrpSpPr>
        <p:grpSpPr>
          <a:xfrm>
            <a:off x="9529911" y="6043761"/>
            <a:ext cx="7687567" cy="1066205"/>
            <a:chOff x="0" y="-104775"/>
            <a:chExt cx="10250090" cy="1421607"/>
          </a:xfrm>
        </p:grpSpPr>
        <p:sp>
          <p:nvSpPr>
            <p:cNvPr id="429" name="Google Shape;429;p11"/>
            <p:cNvSpPr/>
            <p:nvPr/>
          </p:nvSpPr>
          <p:spPr>
            <a:xfrm>
              <a:off x="0" y="0"/>
              <a:ext cx="10250090" cy="1316832"/>
            </a:xfrm>
            <a:custGeom>
              <a:rect b="b" l="l" r="r" t="t"/>
              <a:pathLst>
                <a:path extrusionOk="0" h="1316832" w="10250090">
                  <a:moveTo>
                    <a:pt x="0" y="0"/>
                  </a:moveTo>
                  <a:lnTo>
                    <a:pt x="10250090" y="0"/>
                  </a:lnTo>
                  <a:lnTo>
                    <a:pt x="10250090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0" name="Google Shape;430;p11"/>
            <p:cNvSpPr txBox="1"/>
            <p:nvPr/>
          </p:nvSpPr>
          <p:spPr>
            <a:xfrm>
              <a:off x="0" y="-104775"/>
              <a:ext cx="10250090" cy="1421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Agrupados según función y alcance operativo dentro de la empresa.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B1B1E"/>
          </a:solidFill>
          <a:ln>
            <a:noFill/>
          </a:ln>
        </p:spPr>
      </p:sp>
      <p:sp>
        <p:nvSpPr>
          <p:cNvPr id="440" name="Google Shape;440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7272B"/>
          </a:solidFill>
          <a:ln>
            <a:noFill/>
          </a:ln>
        </p:spPr>
      </p:sp>
      <p:grpSp>
        <p:nvGrpSpPr>
          <p:cNvPr id="441" name="Google Shape;441;p12"/>
          <p:cNvGrpSpPr/>
          <p:nvPr/>
        </p:nvGrpSpPr>
        <p:grpSpPr>
          <a:xfrm>
            <a:off x="1080046" y="2666703"/>
            <a:ext cx="9904362" cy="885825"/>
            <a:chOff x="0" y="-38100"/>
            <a:chExt cx="13205817" cy="1181100"/>
          </a:xfrm>
        </p:grpSpPr>
        <p:sp>
          <p:nvSpPr>
            <p:cNvPr id="442" name="Google Shape;442;p12"/>
            <p:cNvSpPr/>
            <p:nvPr/>
          </p:nvSpPr>
          <p:spPr>
            <a:xfrm>
              <a:off x="0" y="0"/>
              <a:ext cx="13205817" cy="1143000"/>
            </a:xfrm>
            <a:custGeom>
              <a:rect b="b" l="l" r="r" t="t"/>
              <a:pathLst>
                <a:path extrusionOk="0" h="1143000" w="13205817">
                  <a:moveTo>
                    <a:pt x="0" y="0"/>
                  </a:moveTo>
                  <a:lnTo>
                    <a:pt x="13205817" y="0"/>
                  </a:lnTo>
                  <a:lnTo>
                    <a:pt x="13205817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3" name="Google Shape;443;p12"/>
            <p:cNvSpPr txBox="1"/>
            <p:nvPr/>
          </p:nvSpPr>
          <p:spPr>
            <a:xfrm>
              <a:off x="0" y="-38100"/>
              <a:ext cx="13205817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74"/>
                <a:buFont typeface="Arial"/>
                <a:buNone/>
              </a:pPr>
              <a:r>
                <a:rPr b="1" i="0" lang="en-US" sz="5374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Sistemas Funcionales y ERP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4" name="Google Shape;444;p12"/>
          <p:cNvGrpSpPr/>
          <p:nvPr/>
        </p:nvGrpSpPr>
        <p:grpSpPr>
          <a:xfrm>
            <a:off x="1080046" y="4309617"/>
            <a:ext cx="3896171" cy="442913"/>
            <a:chOff x="0" y="-19050"/>
            <a:chExt cx="5194895" cy="590550"/>
          </a:xfrm>
        </p:grpSpPr>
        <p:sp>
          <p:nvSpPr>
            <p:cNvPr id="445" name="Google Shape;445;p12"/>
            <p:cNvSpPr/>
            <p:nvPr/>
          </p:nvSpPr>
          <p:spPr>
            <a:xfrm>
              <a:off x="0" y="0"/>
              <a:ext cx="5194895" cy="571500"/>
            </a:xfrm>
            <a:custGeom>
              <a:rect b="b" l="l" r="r" t="t"/>
              <a:pathLst>
                <a:path extrusionOk="0" h="571500" w="5194895">
                  <a:moveTo>
                    <a:pt x="0" y="0"/>
                  </a:moveTo>
                  <a:lnTo>
                    <a:pt x="5194895" y="0"/>
                  </a:lnTo>
                  <a:lnTo>
                    <a:pt x="5194895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6" name="Google Shape;446;p12"/>
            <p:cNvSpPr txBox="1"/>
            <p:nvPr/>
          </p:nvSpPr>
          <p:spPr>
            <a:xfrm>
              <a:off x="0" y="-19050"/>
              <a:ext cx="5194895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Sistemas Funcionales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7" name="Google Shape;447;p12"/>
          <p:cNvGrpSpPr/>
          <p:nvPr/>
        </p:nvGrpSpPr>
        <p:grpSpPr>
          <a:xfrm>
            <a:off x="1080046" y="4982468"/>
            <a:ext cx="7687567" cy="1066205"/>
            <a:chOff x="0" y="-104775"/>
            <a:chExt cx="10250090" cy="1421607"/>
          </a:xfrm>
        </p:grpSpPr>
        <p:sp>
          <p:nvSpPr>
            <p:cNvPr id="448" name="Google Shape;448;p12"/>
            <p:cNvSpPr/>
            <p:nvPr/>
          </p:nvSpPr>
          <p:spPr>
            <a:xfrm>
              <a:off x="0" y="0"/>
              <a:ext cx="10250090" cy="1316832"/>
            </a:xfrm>
            <a:custGeom>
              <a:rect b="b" l="l" r="r" t="t"/>
              <a:pathLst>
                <a:path extrusionOk="0" h="1316832" w="10250090">
                  <a:moveTo>
                    <a:pt x="0" y="0"/>
                  </a:moveTo>
                  <a:lnTo>
                    <a:pt x="10250090" y="0"/>
                  </a:lnTo>
                  <a:lnTo>
                    <a:pt x="10250090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9" name="Google Shape;449;p12"/>
            <p:cNvSpPr txBox="1"/>
            <p:nvPr/>
          </p:nvSpPr>
          <p:spPr>
            <a:xfrm>
              <a:off x="0" y="-104775"/>
              <a:ext cx="10250090" cy="1421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Automatizan áreas específicas como ventas y recursos humanos.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0" name="Google Shape;450;p12"/>
          <p:cNvGrpSpPr/>
          <p:nvPr/>
        </p:nvGrpSpPr>
        <p:grpSpPr>
          <a:xfrm>
            <a:off x="9529911" y="4309617"/>
            <a:ext cx="3429000" cy="442913"/>
            <a:chOff x="0" y="-19050"/>
            <a:chExt cx="4572000" cy="590550"/>
          </a:xfrm>
        </p:grpSpPr>
        <p:sp>
          <p:nvSpPr>
            <p:cNvPr id="451" name="Google Shape;451;p12"/>
            <p:cNvSpPr/>
            <p:nvPr/>
          </p:nvSpPr>
          <p:spPr>
            <a:xfrm>
              <a:off x="0" y="0"/>
              <a:ext cx="4572000" cy="571500"/>
            </a:xfrm>
            <a:custGeom>
              <a:rect b="b" l="l" r="r" t="t"/>
              <a:pathLst>
                <a:path extrusionOk="0"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2" name="Google Shape;452;p12"/>
            <p:cNvSpPr txBox="1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ERP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p12"/>
          <p:cNvGrpSpPr/>
          <p:nvPr/>
        </p:nvGrpSpPr>
        <p:grpSpPr>
          <a:xfrm>
            <a:off x="9529911" y="4982468"/>
            <a:ext cx="7687567" cy="1066205"/>
            <a:chOff x="0" y="-104775"/>
            <a:chExt cx="10250090" cy="1421607"/>
          </a:xfrm>
        </p:grpSpPr>
        <p:sp>
          <p:nvSpPr>
            <p:cNvPr id="454" name="Google Shape;454;p12"/>
            <p:cNvSpPr/>
            <p:nvPr/>
          </p:nvSpPr>
          <p:spPr>
            <a:xfrm>
              <a:off x="0" y="0"/>
              <a:ext cx="10250090" cy="1316832"/>
            </a:xfrm>
            <a:custGeom>
              <a:rect b="b" l="l" r="r" t="t"/>
              <a:pathLst>
                <a:path extrusionOk="0" h="1316832" w="10250090">
                  <a:moveTo>
                    <a:pt x="0" y="0"/>
                  </a:moveTo>
                  <a:lnTo>
                    <a:pt x="10250090" y="0"/>
                  </a:lnTo>
                  <a:lnTo>
                    <a:pt x="10250090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5" name="Google Shape;455;p12"/>
            <p:cNvSpPr txBox="1"/>
            <p:nvPr/>
          </p:nvSpPr>
          <p:spPr>
            <a:xfrm>
              <a:off x="0" y="-104775"/>
              <a:ext cx="10250090" cy="1421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Integran procesos completos en una sola plataforma unificada.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6" name="Google Shape;456;p12"/>
          <p:cNvGrpSpPr/>
          <p:nvPr/>
        </p:nvGrpSpPr>
        <p:grpSpPr>
          <a:xfrm>
            <a:off x="9529911" y="6247805"/>
            <a:ext cx="7687567" cy="1066205"/>
            <a:chOff x="0" y="-104775"/>
            <a:chExt cx="10250090" cy="1421607"/>
          </a:xfrm>
        </p:grpSpPr>
        <p:sp>
          <p:nvSpPr>
            <p:cNvPr id="457" name="Google Shape;457;p12"/>
            <p:cNvSpPr/>
            <p:nvPr/>
          </p:nvSpPr>
          <p:spPr>
            <a:xfrm>
              <a:off x="0" y="0"/>
              <a:ext cx="10250090" cy="1316832"/>
            </a:xfrm>
            <a:custGeom>
              <a:rect b="b" l="l" r="r" t="t"/>
              <a:pathLst>
                <a:path extrusionOk="0" h="1316832" w="10250090">
                  <a:moveTo>
                    <a:pt x="0" y="0"/>
                  </a:moveTo>
                  <a:lnTo>
                    <a:pt x="10250090" y="0"/>
                  </a:lnTo>
                  <a:lnTo>
                    <a:pt x="10250090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8" name="Google Shape;458;p12"/>
            <p:cNvSpPr txBox="1"/>
            <p:nvPr/>
          </p:nvSpPr>
          <p:spPr>
            <a:xfrm>
              <a:off x="0" y="-104775"/>
              <a:ext cx="10250090" cy="1421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Facilitan intercambio de datos y mejor toman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B1B1E"/>
          </a:solidFill>
          <a:ln>
            <a:noFill/>
          </a:ln>
        </p:spPr>
      </p:sp>
      <p:sp>
        <p:nvSpPr>
          <p:cNvPr id="468" name="Google Shape;468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7272B"/>
          </a:solidFill>
          <a:ln>
            <a:noFill/>
          </a:ln>
        </p:spPr>
      </p:sp>
      <p:sp>
        <p:nvSpPr>
          <p:cNvPr descr="preencoded.png" id="469" name="Google Shape;469;p13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0" name="Google Shape;470;p13"/>
          <p:cNvGrpSpPr/>
          <p:nvPr/>
        </p:nvGrpSpPr>
        <p:grpSpPr>
          <a:xfrm>
            <a:off x="1080046" y="873472"/>
            <a:ext cx="9269909" cy="2600325"/>
            <a:chOff x="0" y="-38100"/>
            <a:chExt cx="12359878" cy="3467100"/>
          </a:xfrm>
        </p:grpSpPr>
        <p:sp>
          <p:nvSpPr>
            <p:cNvPr id="471" name="Google Shape;471;p13"/>
            <p:cNvSpPr/>
            <p:nvPr/>
          </p:nvSpPr>
          <p:spPr>
            <a:xfrm>
              <a:off x="0" y="0"/>
              <a:ext cx="12359878" cy="3429000"/>
            </a:xfrm>
            <a:custGeom>
              <a:rect b="b" l="l" r="r" t="t"/>
              <a:pathLst>
                <a:path extrusionOk="0" h="3429000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2" name="Google Shape;472;p13"/>
            <p:cNvSpPr txBox="1"/>
            <p:nvPr/>
          </p:nvSpPr>
          <p:spPr>
            <a:xfrm>
              <a:off x="0" y="-38100"/>
              <a:ext cx="12359878" cy="3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74"/>
                <a:buFont typeface="Arial"/>
                <a:buNone/>
              </a:pPr>
              <a:r>
                <a:rPr b="1" i="0" lang="en-US" sz="5374" u="none" cap="none" strike="noStrike">
                  <a:solidFill>
                    <a:srgbClr val="FFE14D"/>
                  </a:solidFill>
                  <a:latin typeface="Comfortaa"/>
                  <a:ea typeface="Comfortaa"/>
                  <a:cs typeface="Comfortaa"/>
                  <a:sym typeface="Comfortaa"/>
                </a:rPr>
                <a:t>Conclusiones y Retos Futuros en Sistemas de 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3" name="Google Shape;473;p13"/>
          <p:cNvSpPr/>
          <p:nvPr/>
        </p:nvSpPr>
        <p:spPr>
          <a:xfrm>
            <a:off x="1080046" y="3936652"/>
            <a:ext cx="694277" cy="694277"/>
          </a:xfrm>
          <a:custGeom>
            <a:rect b="b" l="l" r="r" t="t"/>
            <a:pathLst>
              <a:path extrusionOk="0" h="925703" w="925703">
                <a:moveTo>
                  <a:pt x="0" y="462915"/>
                </a:moveTo>
                <a:cubicBezTo>
                  <a:pt x="0" y="207264"/>
                  <a:pt x="207264" y="0"/>
                  <a:pt x="462915" y="0"/>
                </a:cubicBezTo>
                <a:cubicBezTo>
                  <a:pt x="718566" y="0"/>
                  <a:pt x="925703" y="207264"/>
                  <a:pt x="925703" y="462915"/>
                </a:cubicBezTo>
                <a:cubicBezTo>
                  <a:pt x="925703" y="718566"/>
                  <a:pt x="718439" y="925703"/>
                  <a:pt x="462915" y="925703"/>
                </a:cubicBezTo>
                <a:cubicBezTo>
                  <a:pt x="207391" y="925703"/>
                  <a:pt x="0" y="718439"/>
                  <a:pt x="0" y="462915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4" name="Google Shape;474;p13"/>
          <p:cNvGrpSpPr/>
          <p:nvPr/>
        </p:nvGrpSpPr>
        <p:grpSpPr>
          <a:xfrm>
            <a:off x="2082850" y="4028332"/>
            <a:ext cx="3439269" cy="871538"/>
            <a:chOff x="0" y="-19050"/>
            <a:chExt cx="4585692" cy="1162050"/>
          </a:xfrm>
        </p:grpSpPr>
        <p:sp>
          <p:nvSpPr>
            <p:cNvPr id="475" name="Google Shape;475;p13"/>
            <p:cNvSpPr/>
            <p:nvPr/>
          </p:nvSpPr>
          <p:spPr>
            <a:xfrm>
              <a:off x="0" y="0"/>
              <a:ext cx="4585692" cy="1143000"/>
            </a:xfrm>
            <a:custGeom>
              <a:rect b="b" l="l" r="r" t="t"/>
              <a:pathLst>
                <a:path extrusionOk="0" h="1143000" w="4585692">
                  <a:moveTo>
                    <a:pt x="0" y="0"/>
                  </a:moveTo>
                  <a:lnTo>
                    <a:pt x="4585692" y="0"/>
                  </a:lnTo>
                  <a:lnTo>
                    <a:pt x="4585692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6" name="Google Shape;476;p13"/>
            <p:cNvSpPr txBox="1"/>
            <p:nvPr/>
          </p:nvSpPr>
          <p:spPr>
            <a:xfrm>
              <a:off x="0" y="-19050"/>
              <a:ext cx="458569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Integridad y Transparencia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7" name="Google Shape;477;p13"/>
          <p:cNvGrpSpPr/>
          <p:nvPr/>
        </p:nvGrpSpPr>
        <p:grpSpPr>
          <a:xfrm>
            <a:off x="2082850" y="5006429"/>
            <a:ext cx="3439269" cy="2053828"/>
            <a:chOff x="0" y="-104775"/>
            <a:chExt cx="4585692" cy="2738438"/>
          </a:xfrm>
        </p:grpSpPr>
        <p:sp>
          <p:nvSpPr>
            <p:cNvPr id="478" name="Google Shape;478;p13"/>
            <p:cNvSpPr/>
            <p:nvPr/>
          </p:nvSpPr>
          <p:spPr>
            <a:xfrm>
              <a:off x="0" y="0"/>
              <a:ext cx="4585692" cy="2633663"/>
            </a:xfrm>
            <a:custGeom>
              <a:rect b="b" l="l" r="r" t="t"/>
              <a:pathLst>
                <a:path extrusionOk="0" h="2633663" w="4585692">
                  <a:moveTo>
                    <a:pt x="0" y="0"/>
                  </a:moveTo>
                  <a:lnTo>
                    <a:pt x="4585692" y="0"/>
                  </a:lnTo>
                  <a:lnTo>
                    <a:pt x="4585692" y="2633663"/>
                  </a:lnTo>
                  <a:lnTo>
                    <a:pt x="0" y="26336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9" name="Google Shape;479;p13"/>
            <p:cNvSpPr txBox="1"/>
            <p:nvPr/>
          </p:nvSpPr>
          <p:spPr>
            <a:xfrm>
              <a:off x="0" y="-104775"/>
              <a:ext cx="4585692" cy="2738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Son ejes fundamentales para una transformación digital ética.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0" name="Google Shape;480;p13"/>
          <p:cNvSpPr/>
          <p:nvPr/>
        </p:nvSpPr>
        <p:spPr>
          <a:xfrm>
            <a:off x="5907881" y="3936652"/>
            <a:ext cx="694277" cy="694277"/>
          </a:xfrm>
          <a:custGeom>
            <a:rect b="b" l="l" r="r" t="t"/>
            <a:pathLst>
              <a:path extrusionOk="0" h="925703" w="925703">
                <a:moveTo>
                  <a:pt x="0" y="462915"/>
                </a:moveTo>
                <a:cubicBezTo>
                  <a:pt x="0" y="207264"/>
                  <a:pt x="207264" y="0"/>
                  <a:pt x="462915" y="0"/>
                </a:cubicBezTo>
                <a:cubicBezTo>
                  <a:pt x="718566" y="0"/>
                  <a:pt x="925703" y="207264"/>
                  <a:pt x="925703" y="462915"/>
                </a:cubicBezTo>
                <a:cubicBezTo>
                  <a:pt x="925703" y="718566"/>
                  <a:pt x="718439" y="925703"/>
                  <a:pt x="462915" y="925703"/>
                </a:cubicBezTo>
                <a:cubicBezTo>
                  <a:pt x="207391" y="925703"/>
                  <a:pt x="0" y="718439"/>
                  <a:pt x="0" y="462915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1" name="Google Shape;481;p13"/>
          <p:cNvGrpSpPr/>
          <p:nvPr/>
        </p:nvGrpSpPr>
        <p:grpSpPr>
          <a:xfrm>
            <a:off x="6910685" y="4028332"/>
            <a:ext cx="3439269" cy="871538"/>
            <a:chOff x="0" y="-19050"/>
            <a:chExt cx="4585692" cy="1162050"/>
          </a:xfrm>
        </p:grpSpPr>
        <p:sp>
          <p:nvSpPr>
            <p:cNvPr id="482" name="Google Shape;482;p13"/>
            <p:cNvSpPr/>
            <p:nvPr/>
          </p:nvSpPr>
          <p:spPr>
            <a:xfrm>
              <a:off x="0" y="0"/>
              <a:ext cx="4585692" cy="1143000"/>
            </a:xfrm>
            <a:custGeom>
              <a:rect b="b" l="l" r="r" t="t"/>
              <a:pathLst>
                <a:path extrusionOk="0" h="1143000" w="4585692">
                  <a:moveTo>
                    <a:pt x="0" y="0"/>
                  </a:moveTo>
                  <a:lnTo>
                    <a:pt x="4585692" y="0"/>
                  </a:lnTo>
                  <a:lnTo>
                    <a:pt x="4585692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3" name="Google Shape;483;p13"/>
            <p:cNvSpPr txBox="1"/>
            <p:nvPr/>
          </p:nvSpPr>
          <p:spPr>
            <a:xfrm>
              <a:off x="0" y="-19050"/>
              <a:ext cx="458569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Evolución Constante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4" name="Google Shape;484;p13"/>
          <p:cNvGrpSpPr/>
          <p:nvPr/>
        </p:nvGrpSpPr>
        <p:grpSpPr>
          <a:xfrm>
            <a:off x="6910685" y="5006429"/>
            <a:ext cx="3439269" cy="1560016"/>
            <a:chOff x="0" y="-104775"/>
            <a:chExt cx="4585692" cy="2080022"/>
          </a:xfrm>
        </p:grpSpPr>
        <p:sp>
          <p:nvSpPr>
            <p:cNvPr id="485" name="Google Shape;485;p13"/>
            <p:cNvSpPr/>
            <p:nvPr/>
          </p:nvSpPr>
          <p:spPr>
            <a:xfrm>
              <a:off x="0" y="0"/>
              <a:ext cx="4585692" cy="1975247"/>
            </a:xfrm>
            <a:custGeom>
              <a:rect b="b" l="l" r="r" t="t"/>
              <a:pathLst>
                <a:path extrusionOk="0" h="1975247" w="4585692">
                  <a:moveTo>
                    <a:pt x="0" y="0"/>
                  </a:moveTo>
                  <a:lnTo>
                    <a:pt x="4585692" y="0"/>
                  </a:lnTo>
                  <a:lnTo>
                    <a:pt x="4585692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6" name="Google Shape;486;p13"/>
            <p:cNvSpPr txBox="1"/>
            <p:nvPr/>
          </p:nvSpPr>
          <p:spPr>
            <a:xfrm>
              <a:off x="0" y="-104775"/>
              <a:ext cx="4585692" cy="2080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Requiere actualización continua en ética y tecnología.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7" name="Google Shape;487;p13"/>
          <p:cNvSpPr/>
          <p:nvPr/>
        </p:nvSpPr>
        <p:spPr>
          <a:xfrm>
            <a:off x="1080046" y="7677447"/>
            <a:ext cx="694277" cy="694277"/>
          </a:xfrm>
          <a:custGeom>
            <a:rect b="b" l="l" r="r" t="t"/>
            <a:pathLst>
              <a:path extrusionOk="0" h="925703" w="925703">
                <a:moveTo>
                  <a:pt x="0" y="462915"/>
                </a:moveTo>
                <a:cubicBezTo>
                  <a:pt x="0" y="207264"/>
                  <a:pt x="207264" y="0"/>
                  <a:pt x="462915" y="0"/>
                </a:cubicBezTo>
                <a:cubicBezTo>
                  <a:pt x="718566" y="0"/>
                  <a:pt x="925703" y="207264"/>
                  <a:pt x="925703" y="462915"/>
                </a:cubicBezTo>
                <a:cubicBezTo>
                  <a:pt x="925703" y="718566"/>
                  <a:pt x="718439" y="925703"/>
                  <a:pt x="462915" y="925703"/>
                </a:cubicBezTo>
                <a:cubicBezTo>
                  <a:pt x="207391" y="925703"/>
                  <a:pt x="0" y="718439"/>
                  <a:pt x="0" y="462915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8" name="Google Shape;488;p13"/>
          <p:cNvGrpSpPr/>
          <p:nvPr/>
        </p:nvGrpSpPr>
        <p:grpSpPr>
          <a:xfrm>
            <a:off x="2082850" y="7769127"/>
            <a:ext cx="3429000" cy="442913"/>
            <a:chOff x="0" y="-19050"/>
            <a:chExt cx="4572000" cy="590550"/>
          </a:xfrm>
        </p:grpSpPr>
        <p:sp>
          <p:nvSpPr>
            <p:cNvPr id="489" name="Google Shape;489;p13"/>
            <p:cNvSpPr/>
            <p:nvPr/>
          </p:nvSpPr>
          <p:spPr>
            <a:xfrm>
              <a:off x="0" y="0"/>
              <a:ext cx="4572000" cy="571500"/>
            </a:xfrm>
            <a:custGeom>
              <a:rect b="b" l="l" r="r" t="t"/>
              <a:pathLst>
                <a:path extrusionOk="0"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0" name="Google Shape;490;p13"/>
            <p:cNvSpPr txBox="1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1" i="0" lang="en-US" sz="2687" u="none" cap="none" strike="noStrike">
                  <a:solidFill>
                    <a:srgbClr val="D7D4CC"/>
                  </a:solidFill>
                  <a:latin typeface="Comfortaa"/>
                  <a:ea typeface="Comfortaa"/>
                  <a:cs typeface="Comfortaa"/>
                  <a:sym typeface="Comfortaa"/>
                </a:rPr>
                <a:t>Desafío Principal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1" name="Google Shape;491;p13"/>
          <p:cNvGrpSpPr/>
          <p:nvPr/>
        </p:nvGrpSpPr>
        <p:grpSpPr>
          <a:xfrm>
            <a:off x="2082850" y="8318599"/>
            <a:ext cx="8267105" cy="1066205"/>
            <a:chOff x="0" y="-104775"/>
            <a:chExt cx="11022807" cy="1421607"/>
          </a:xfrm>
        </p:grpSpPr>
        <p:sp>
          <p:nvSpPr>
            <p:cNvPr id="492" name="Google Shape;492;p13"/>
            <p:cNvSpPr/>
            <p:nvPr/>
          </p:nvSpPr>
          <p:spPr>
            <a:xfrm>
              <a:off x="0" y="0"/>
              <a:ext cx="11022807" cy="1316832"/>
            </a:xfrm>
            <a:custGeom>
              <a:rect b="b" l="l" r="r" t="t"/>
              <a:pathLst>
                <a:path extrusionOk="0" h="1316832" w="11022807">
                  <a:moveTo>
                    <a:pt x="0" y="0"/>
                  </a:moveTo>
                  <a:lnTo>
                    <a:pt x="11022807" y="0"/>
                  </a:lnTo>
                  <a:lnTo>
                    <a:pt x="11022807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3" name="Google Shape;493;p13"/>
            <p:cNvSpPr txBox="1"/>
            <p:nvPr/>
          </p:nvSpPr>
          <p:spPr>
            <a:xfrm>
              <a:off x="0" y="-104775"/>
              <a:ext cx="11022807" cy="1421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1" i="0" lang="en-US" sz="2375" u="none" cap="none" strike="noStrik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Alinear innovación con eficiencia y respeto a derechos humanos.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7D4CC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4"/>
          <p:cNvSpPr txBox="1"/>
          <p:nvPr/>
        </p:nvSpPr>
        <p:spPr>
          <a:xfrm>
            <a:off x="2390641" y="4752661"/>
            <a:ext cx="13506718" cy="3853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Ética en TIC: Implica el uso responsable de la tecnología y los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Problemas comunes: Privacidad, vigilancia, manipulación de información y sesgos algorítmicos.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Impacto social: Cambios en el empleo, brechas digitales y dependencia tecnológica.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7D4CC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INTEGRIADAD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7D4CC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6"/>
          <p:cNvSpPr txBox="1"/>
          <p:nvPr/>
        </p:nvSpPr>
        <p:spPr>
          <a:xfrm>
            <a:off x="3416041" y="4788175"/>
            <a:ext cx="11455919" cy="1101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https://www.docusign.com/es-mx/blog/conflictos-eticos-en-el-uso-de-la-tecnologia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7D4CC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