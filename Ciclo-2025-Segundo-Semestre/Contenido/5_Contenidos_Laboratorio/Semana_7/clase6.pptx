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10287000" cx="18288000"/>
  <p:notesSz cx="6858000" cy="9144000"/>
  <p:embeddedFontLst>
    <p:embeddedFont>
      <p:font typeface="Play"/>
      <p:regular r:id="rId25"/>
      <p:bold r:id="rId26"/>
    </p:embeddedFont>
    <p:embeddedFont>
      <p:font typeface="Libre Baskerville"/>
      <p:regular r:id="rId27"/>
      <p:bold r:id="rId28"/>
      <p:italic r:id="rId29"/>
    </p:embeddedFont>
    <p:embeddedFont>
      <p:font typeface="Open Sans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iXoSsH5aVqqBILOYvvZ6X6vsse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4E1CF1E-2B93-4FE3-B70B-726CE6242377}">
  <a:tblStyle styleId="{64E1CF1E-2B93-4FE3-B70B-726CE624237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ay-bold.fntdata"/><Relationship Id="rId25" Type="http://schemas.openxmlformats.org/officeDocument/2006/relationships/font" Target="fonts/Play-regular.fntdata"/><Relationship Id="rId28" Type="http://schemas.openxmlformats.org/officeDocument/2006/relationships/font" Target="fonts/LibreBaskerville-bold.fntdata"/><Relationship Id="rId27" Type="http://schemas.openxmlformats.org/officeDocument/2006/relationships/font" Target="fonts/LibreBaskerville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ibreBaskerville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0b9ec484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a0b9ec48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4" name="Google Shape;154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5" name="Google Shape;155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157" name="Google Shape;157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8" name="Google Shape;158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7" name="Google Shape;177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8" name="Google Shape;178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80" name="Google Shape;180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1" name="Google Shape;181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5" name="Google Shape;205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6" name="Google Shape;206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208" name="Google Shape;208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9" name="Google Shape;209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2" name="Google Shape;242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3" name="Google Shape;243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245" name="Google Shape;245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6" name="Google Shape;246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3" name="Google Shape;273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4" name="Google Shape;274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276" name="Google Shape;276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7" name="Google Shape;277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5" name="Google Shape;315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16" name="Google Shape;316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318" name="Google Shape;318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9" name="Google Shape;319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8" name="Google Shape;368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69" name="Google Shape;369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371" name="Google Shape;371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72" name="Google Shape;372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10" name="Google Shape;410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11" name="Google Shape;411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413" name="Google Shape;413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14" name="Google Shape;414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52" name="Google Shape;452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53" name="Google Shape;453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455" name="Google Shape;455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56" name="Google Shape;456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11" name="Google Shape;511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12" name="Google Shape;512;p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</a:t>
            </a:r>
            <a:endParaRPr/>
          </a:p>
        </p:txBody>
      </p:sp>
      <p:sp>
        <p:nvSpPr>
          <p:cNvPr id="514" name="Google Shape;514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15" name="Google Shape;515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5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0b9ec4849_0_8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g3a0b9ec4849_0_86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g3a0b9ec4849_0_8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hyperlink" Target="https://youtu.be/zZ_Ac3JBlGU" TargetMode="External"/><Relationship Id="rId6" Type="http://schemas.openxmlformats.org/officeDocument/2006/relationships/hyperlink" Target="https://youtu.be/zZ_Ac3JBlGU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26.png"/><Relationship Id="rId7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5" Type="http://schemas.openxmlformats.org/officeDocument/2006/relationships/image" Target="../media/image23.png"/><Relationship Id="rId6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a0b9ec4849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3" y="1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" name="Google Shape;93;g3a0b9ec4849_0_0"/>
          <p:cNvGraphicFramePr/>
          <p:nvPr/>
        </p:nvGraphicFramePr>
        <p:xfrm>
          <a:off x="10656401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{64E1CF1E-2B93-4FE3-B70B-726CE6242377}</a:tableStyleId>
              </a:tblPr>
              <a:tblGrid>
                <a:gridCol w="3036400"/>
                <a:gridCol w="4344750"/>
              </a:tblGrid>
              <a:tr h="9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/>
                        <a:t>00</a:t>
                      </a:r>
                      <a:r>
                        <a:rPr lang="en-US" sz="3600" u="none" cap="none" strike="noStrike"/>
                        <a:t>/0</a:t>
                      </a:r>
                      <a:r>
                        <a:rPr lang="en-US" sz="3600"/>
                        <a:t>0</a:t>
                      </a:r>
                      <a:r>
                        <a:rPr lang="en-US" sz="3600" u="none" cap="none" strike="noStrike"/>
                        <a:t>/202</a:t>
                      </a:r>
                      <a:r>
                        <a:rPr lang="en-US" sz="3600"/>
                        <a:t>6</a:t>
                      </a:r>
                      <a:endParaRPr sz="3600" u="none" cap="none" strike="noStrike"/>
                    </a:p>
                  </a:txBody>
                  <a:tcPr marT="182850" marB="182850" marR="182850" marL="182850"/>
                </a:tc>
              </a:tr>
              <a:tr h="9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cap="none" strike="noStrike"/>
                        <a:t>7:00 pm</a:t>
                      </a:r>
                      <a:endParaRPr sz="3600" u="none" cap="none" strike="noStrike"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94" name="Google Shape;94;g3a0b9ec4849_0_0"/>
          <p:cNvSpPr txBox="1"/>
          <p:nvPr/>
        </p:nvSpPr>
        <p:spPr>
          <a:xfrm>
            <a:off x="2880350" y="4516600"/>
            <a:ext cx="147087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Organizacionales y Gerenciales 1 [A]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a0b9ec4849_0_0"/>
          <p:cNvSpPr txBox="1"/>
          <p:nvPr/>
        </p:nvSpPr>
        <p:spPr>
          <a:xfrm>
            <a:off x="3557400" y="5801500"/>
            <a:ext cx="11173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Tutor Academico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8F3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/>
        </p:nvSpPr>
        <p:spPr>
          <a:xfrm>
            <a:off x="269140" y="7832650"/>
            <a:ext cx="1460544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Sistemas Organizacionales y Gerenciales 1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0" y="3141906"/>
            <a:ext cx="18288000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Sistemas de Información en Negocios Globales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1028700" y="9210675"/>
            <a:ext cx="3525292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  <p:pic>
        <p:nvPicPr>
          <p:cNvPr id="105" name="Google Shape;105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3175" y="0"/>
            <a:ext cx="11214823" cy="116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0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2"/>
          <p:cNvGrpSpPr/>
          <p:nvPr/>
        </p:nvGrpSpPr>
        <p:grpSpPr>
          <a:xfrm>
            <a:off x="176619" y="4520484"/>
            <a:ext cx="4613551" cy="845385"/>
            <a:chOff x="0" y="-76200"/>
            <a:chExt cx="1964221" cy="359923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2" name="Google Shape;112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1</a:t>
              </a:r>
              <a:endParaRPr/>
            </a:p>
          </p:txBody>
        </p:sp>
      </p:grpSp>
      <p:sp>
        <p:nvSpPr>
          <p:cNvPr id="113" name="Google Shape;113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4" name="Google Shape;114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6" name="Google Shape;116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117" name="Google Shape;117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8" name="Google Shape;118;p2"/>
          <p:cNvGrpSpPr/>
          <p:nvPr/>
        </p:nvGrpSpPr>
        <p:grpSpPr>
          <a:xfrm>
            <a:off x="651754" y="-320617"/>
            <a:ext cx="6140237" cy="3052280"/>
            <a:chOff x="0" y="-95250"/>
            <a:chExt cx="8186982" cy="4069708"/>
          </a:xfrm>
        </p:grpSpPr>
        <p:sp>
          <p:nvSpPr>
            <p:cNvPr id="119" name="Google Shape;119;p2"/>
            <p:cNvSpPr txBox="1"/>
            <p:nvPr/>
          </p:nvSpPr>
          <p:spPr>
            <a:xfrm>
              <a:off x="0" y="986783"/>
              <a:ext cx="8186982" cy="298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/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11131715" y="97566"/>
            <a:ext cx="8416862" cy="2901857"/>
            <a:chOff x="0" y="-76200"/>
            <a:chExt cx="11222483" cy="3869143"/>
          </a:xfrm>
        </p:grpSpPr>
        <p:sp>
          <p:nvSpPr>
            <p:cNvPr id="122" name="Google Shape;122;p2"/>
            <p:cNvSpPr txBox="1"/>
            <p:nvPr/>
          </p:nvSpPr>
          <p:spPr>
            <a:xfrm>
              <a:off x="0" y="805268"/>
              <a:ext cx="11222483" cy="298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Recursos</a:t>
              </a: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0" y="-76200"/>
              <a:ext cx="11222483" cy="747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5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25" name="Google Shape;125;p2">
              <a:hlinkClick r:id="rId5"/>
            </p:cNvPr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6" name="Google Shape;126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99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Link del Video</a:t>
              </a:r>
              <a:endParaRPr/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9" name="Google Shape;129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/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176619" y="5444302"/>
            <a:ext cx="4613551" cy="845385"/>
            <a:chOff x="0" y="-76200"/>
            <a:chExt cx="1964221" cy="359923"/>
          </a:xfrm>
        </p:grpSpPr>
        <p:sp>
          <p:nvSpPr>
            <p:cNvPr id="131" name="Google Shape;13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2" name="Google Shape;132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2</a:t>
              </a:r>
              <a:endParaRPr/>
            </a:p>
          </p:txBody>
        </p:sp>
      </p:grpSp>
      <p:grpSp>
        <p:nvGrpSpPr>
          <p:cNvPr id="133" name="Google Shape;133;p2"/>
          <p:cNvGrpSpPr/>
          <p:nvPr/>
        </p:nvGrpSpPr>
        <p:grpSpPr>
          <a:xfrm>
            <a:off x="176619" y="6425875"/>
            <a:ext cx="4613551" cy="845385"/>
            <a:chOff x="0" y="-76200"/>
            <a:chExt cx="1964221" cy="359923"/>
          </a:xfrm>
        </p:grpSpPr>
        <p:sp>
          <p:nvSpPr>
            <p:cNvPr id="134" name="Google Shape;13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5" name="Google Shape;135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3</a:t>
              </a:r>
              <a:endParaRPr/>
            </a:p>
          </p:txBody>
        </p:sp>
      </p:grpSp>
      <p:grpSp>
        <p:nvGrpSpPr>
          <p:cNvPr id="136" name="Google Shape;136;p2"/>
          <p:cNvGrpSpPr/>
          <p:nvPr/>
        </p:nvGrpSpPr>
        <p:grpSpPr>
          <a:xfrm>
            <a:off x="176619" y="7349457"/>
            <a:ext cx="4613551" cy="845385"/>
            <a:chOff x="0" y="-76200"/>
            <a:chExt cx="1964221" cy="359923"/>
          </a:xfrm>
        </p:grpSpPr>
        <p:sp>
          <p:nvSpPr>
            <p:cNvPr id="137" name="Google Shape;13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8" name="Google Shape;138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4</a:t>
              </a:r>
              <a:endParaRPr/>
            </a:p>
          </p:txBody>
        </p:sp>
      </p:grpSp>
      <p:grpSp>
        <p:nvGrpSpPr>
          <p:cNvPr id="139" name="Google Shape;139;p2"/>
          <p:cNvGrpSpPr/>
          <p:nvPr/>
        </p:nvGrpSpPr>
        <p:grpSpPr>
          <a:xfrm>
            <a:off x="176619" y="8412915"/>
            <a:ext cx="4613551" cy="845385"/>
            <a:chOff x="0" y="-76200"/>
            <a:chExt cx="1964221" cy="359923"/>
          </a:xfrm>
        </p:grpSpPr>
        <p:sp>
          <p:nvSpPr>
            <p:cNvPr id="140" name="Google Shape;14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1" name="Google Shape;141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5</a:t>
              </a:r>
              <a:endParaRPr/>
            </a:p>
          </p:txBody>
        </p:sp>
      </p:grpSp>
      <p:sp>
        <p:nvSpPr>
          <p:cNvPr id="142" name="Google Shape;142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0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/>
          <p:nvPr/>
        </p:nvSpPr>
        <p:spPr>
          <a:xfrm>
            <a:off x="1374889" y="654364"/>
            <a:ext cx="13991174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/>
          </a:p>
        </p:txBody>
      </p:sp>
      <p:sp>
        <p:nvSpPr>
          <p:cNvPr id="151" name="Google Shape;151;p3"/>
          <p:cNvSpPr txBox="1"/>
          <p:nvPr/>
        </p:nvSpPr>
        <p:spPr>
          <a:xfrm>
            <a:off x="0" y="4661852"/>
            <a:ext cx="18288000" cy="3879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− Capacidad para implementar sistemas de información en la empresa (ERP, SCM, CRM).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− Habilidad para incorporar TIC de acuerdo con necesidades de cambio organizativo.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4F0FF"/>
          </a:solidFill>
          <a:ln>
            <a:noFill/>
          </a:ln>
        </p:spPr>
      </p:sp>
      <p:sp>
        <p:nvSpPr>
          <p:cNvPr id="161" name="Google Shape;161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BFAFF"/>
          </a:solidFill>
          <a:ln>
            <a:noFill/>
          </a:ln>
        </p:spPr>
      </p:sp>
      <p:sp>
        <p:nvSpPr>
          <p:cNvPr descr="preencoded.png" id="162" name="Google Shape;162;p4"/>
          <p:cNvSpPr/>
          <p:nvPr/>
        </p:nvSpPr>
        <p:spPr>
          <a:xfrm>
            <a:off x="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3" name="Google Shape;163;p4"/>
          <p:cNvGrpSpPr/>
          <p:nvPr/>
        </p:nvGrpSpPr>
        <p:grpSpPr>
          <a:xfrm>
            <a:off x="7850237" y="2797225"/>
            <a:ext cx="9445526" cy="1910239"/>
            <a:chOff x="0" y="-28575"/>
            <a:chExt cx="12594035" cy="2546985"/>
          </a:xfrm>
        </p:grpSpPr>
        <p:sp>
          <p:nvSpPr>
            <p:cNvPr id="164" name="Google Shape;164;p4"/>
            <p:cNvSpPr/>
            <p:nvPr/>
          </p:nvSpPr>
          <p:spPr>
            <a:xfrm>
              <a:off x="0" y="0"/>
              <a:ext cx="12594035" cy="2518410"/>
            </a:xfrm>
            <a:custGeom>
              <a:rect b="b" l="l" r="r" t="t"/>
              <a:pathLst>
                <a:path extrusionOk="0" h="2518410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518410"/>
                  </a:lnTo>
                  <a:lnTo>
                    <a:pt x="0" y="25184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5" name="Google Shape;165;p4"/>
            <p:cNvSpPr txBox="1"/>
            <p:nvPr/>
          </p:nvSpPr>
          <p:spPr>
            <a:xfrm>
              <a:off x="0" y="-28575"/>
              <a:ext cx="12594035" cy="2546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62" u="none" cap="none" strike="noStrike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Sistemas de Información en Negocios Globales</a:t>
              </a:r>
              <a:endParaRPr/>
            </a:p>
          </p:txBody>
        </p:sp>
      </p:grpSp>
      <p:grpSp>
        <p:nvGrpSpPr>
          <p:cNvPr id="166" name="Google Shape;166;p4"/>
          <p:cNvGrpSpPr/>
          <p:nvPr/>
        </p:nvGrpSpPr>
        <p:grpSpPr>
          <a:xfrm>
            <a:off x="7850237" y="4951511"/>
            <a:ext cx="9445526" cy="517923"/>
            <a:chOff x="0" y="-85725"/>
            <a:chExt cx="12594035" cy="690563"/>
          </a:xfrm>
        </p:grpSpPr>
        <p:sp>
          <p:nvSpPr>
            <p:cNvPr id="167" name="Google Shape;167;p4"/>
            <p:cNvSpPr/>
            <p:nvPr/>
          </p:nvSpPr>
          <p:spPr>
            <a:xfrm>
              <a:off x="0" y="0"/>
              <a:ext cx="12594035" cy="604838"/>
            </a:xfrm>
            <a:custGeom>
              <a:rect b="b" l="l" r="r" t="t"/>
              <a:pathLst>
                <a:path extrusionOk="0" h="604838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8" name="Google Shape;168;p4"/>
            <p:cNvSpPr txBox="1"/>
            <p:nvPr/>
          </p:nvSpPr>
          <p:spPr>
            <a:xfrm>
              <a:off x="0" y="-85725"/>
              <a:ext cx="12594035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La transformación digital revoluciona mercados internacionales.</a:t>
              </a:r>
              <a:endParaRPr/>
            </a:p>
          </p:txBody>
        </p:sp>
      </p:grpSp>
      <p:grpSp>
        <p:nvGrpSpPr>
          <p:cNvPr id="169" name="Google Shape;169;p4"/>
          <p:cNvGrpSpPr/>
          <p:nvPr/>
        </p:nvGrpSpPr>
        <p:grpSpPr>
          <a:xfrm>
            <a:off x="7850237" y="5724078"/>
            <a:ext cx="9445526" cy="971550"/>
            <a:chOff x="0" y="-85725"/>
            <a:chExt cx="12594035" cy="1295400"/>
          </a:xfrm>
        </p:grpSpPr>
        <p:sp>
          <p:nvSpPr>
            <p:cNvPr id="170" name="Google Shape;170;p4"/>
            <p:cNvSpPr/>
            <p:nvPr/>
          </p:nvSpPr>
          <p:spPr>
            <a:xfrm>
              <a:off x="0" y="0"/>
              <a:ext cx="12594035" cy="1209675"/>
            </a:xfrm>
            <a:custGeom>
              <a:rect b="b" l="l" r="r" t="t"/>
              <a:pathLst>
                <a:path extrusionOk="0" h="1209675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71" name="Google Shape;171;p4"/>
            <p:cNvSpPr txBox="1"/>
            <p:nvPr/>
          </p:nvSpPr>
          <p:spPr>
            <a:xfrm>
              <a:off x="0" y="-85725"/>
              <a:ext cx="12594035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El intercambio de información impulsa la globalización y las operaciones transfronterizas.</a:t>
              </a:r>
              <a:endParaRPr/>
            </a:p>
          </p:txBody>
        </p:sp>
      </p:grpSp>
      <p:grpSp>
        <p:nvGrpSpPr>
          <p:cNvPr id="172" name="Google Shape;172;p4"/>
          <p:cNvGrpSpPr/>
          <p:nvPr/>
        </p:nvGrpSpPr>
        <p:grpSpPr>
          <a:xfrm>
            <a:off x="7850237" y="6950274"/>
            <a:ext cx="9445526" cy="517923"/>
            <a:chOff x="0" y="-85725"/>
            <a:chExt cx="12594035" cy="690563"/>
          </a:xfrm>
        </p:grpSpPr>
        <p:sp>
          <p:nvSpPr>
            <p:cNvPr id="173" name="Google Shape;173;p4"/>
            <p:cNvSpPr/>
            <p:nvPr/>
          </p:nvSpPr>
          <p:spPr>
            <a:xfrm>
              <a:off x="0" y="0"/>
              <a:ext cx="12594035" cy="604838"/>
            </a:xfrm>
            <a:custGeom>
              <a:rect b="b" l="l" r="r" t="t"/>
              <a:pathLst>
                <a:path extrusionOk="0" h="604838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74" name="Google Shape;174;p4"/>
            <p:cNvSpPr txBox="1"/>
            <p:nvPr/>
          </p:nvSpPr>
          <p:spPr>
            <a:xfrm>
              <a:off x="0" y="-85725"/>
              <a:ext cx="12594035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Tecnologías emergentes marcarán el futuro global hacia 2025.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4F0FF"/>
          </a:solidFill>
          <a:ln>
            <a:noFill/>
          </a:ln>
        </p:spPr>
      </p:sp>
      <p:sp>
        <p:nvSpPr>
          <p:cNvPr id="184" name="Google Shape;184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BFAFF"/>
          </a:solidFill>
          <a:ln>
            <a:noFill/>
          </a:ln>
        </p:spPr>
      </p:sp>
      <p:sp>
        <p:nvSpPr>
          <p:cNvPr descr="preencoded.png" id="185" name="Google Shape;185;p5"/>
          <p:cNvSpPr/>
          <p:nvPr/>
        </p:nvSpPr>
        <p:spPr>
          <a:xfrm>
            <a:off x="0" y="0"/>
            <a:ext cx="18288000" cy="3544044"/>
          </a:xfrm>
          <a:custGeom>
            <a:rect b="b" l="l" r="r" t="t"/>
            <a:pathLst>
              <a:path extrusionOk="0" h="3544044" w="18288000">
                <a:moveTo>
                  <a:pt x="0" y="0"/>
                </a:moveTo>
                <a:lnTo>
                  <a:pt x="18288000" y="0"/>
                </a:lnTo>
                <a:lnTo>
                  <a:pt x="18288000" y="3544044"/>
                </a:lnTo>
                <a:lnTo>
                  <a:pt x="0" y="3544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9" r="-8" t="0"/>
            </a:stretch>
          </a:blipFill>
          <a:ln>
            <a:noFill/>
          </a:ln>
        </p:spPr>
      </p:sp>
      <p:grpSp>
        <p:nvGrpSpPr>
          <p:cNvPr id="186" name="Google Shape;186;p5"/>
          <p:cNvGrpSpPr/>
          <p:nvPr/>
        </p:nvGrpSpPr>
        <p:grpSpPr>
          <a:xfrm>
            <a:off x="992238" y="5429696"/>
            <a:ext cx="10158859" cy="907405"/>
            <a:chOff x="0" y="-28575"/>
            <a:chExt cx="13545145" cy="1209873"/>
          </a:xfrm>
        </p:grpSpPr>
        <p:sp>
          <p:nvSpPr>
            <p:cNvPr id="187" name="Google Shape;187;p5"/>
            <p:cNvSpPr/>
            <p:nvPr/>
          </p:nvSpPr>
          <p:spPr>
            <a:xfrm>
              <a:off x="0" y="0"/>
              <a:ext cx="13545145" cy="1181298"/>
            </a:xfrm>
            <a:custGeom>
              <a:rect b="b" l="l" r="r" t="t"/>
              <a:pathLst>
                <a:path extrusionOk="0" h="1181298" w="13545145">
                  <a:moveTo>
                    <a:pt x="0" y="0"/>
                  </a:moveTo>
                  <a:lnTo>
                    <a:pt x="13545145" y="0"/>
                  </a:lnTo>
                  <a:lnTo>
                    <a:pt x="13545145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8" name="Google Shape;188;p5"/>
            <p:cNvSpPr txBox="1"/>
            <p:nvPr/>
          </p:nvSpPr>
          <p:spPr>
            <a:xfrm>
              <a:off x="0" y="-28575"/>
              <a:ext cx="13545145" cy="12098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62" u="none" cap="none" strike="noStrike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Impacto en la Globalización</a:t>
              </a:r>
              <a:endParaRPr/>
            </a:p>
          </p:txBody>
        </p:sp>
      </p:grpSp>
      <p:sp>
        <p:nvSpPr>
          <p:cNvPr id="189" name="Google Shape;189;p5"/>
          <p:cNvSpPr/>
          <p:nvPr/>
        </p:nvSpPr>
        <p:spPr>
          <a:xfrm>
            <a:off x="992238" y="6762304"/>
            <a:ext cx="637795" cy="637889"/>
          </a:xfrm>
          <a:custGeom>
            <a:rect b="b" l="l" r="r" t="t"/>
            <a:pathLst>
              <a:path extrusionOk="0" h="850519" w="850392">
                <a:moveTo>
                  <a:pt x="0" y="56642"/>
                </a:moveTo>
                <a:cubicBezTo>
                  <a:pt x="0" y="25400"/>
                  <a:pt x="25400" y="0"/>
                  <a:pt x="56642" y="0"/>
                </a:cubicBezTo>
                <a:lnTo>
                  <a:pt x="793750" y="0"/>
                </a:lnTo>
                <a:cubicBezTo>
                  <a:pt x="825119" y="0"/>
                  <a:pt x="850392" y="25400"/>
                  <a:pt x="850392" y="56642"/>
                </a:cubicBezTo>
                <a:lnTo>
                  <a:pt x="850392" y="793750"/>
                </a:lnTo>
                <a:cubicBezTo>
                  <a:pt x="850392" y="825119"/>
                  <a:pt x="824992" y="850392"/>
                  <a:pt x="793750" y="850392"/>
                </a:cubicBezTo>
                <a:lnTo>
                  <a:pt x="56642" y="850392"/>
                </a:lnTo>
                <a:cubicBezTo>
                  <a:pt x="25400" y="850519"/>
                  <a:pt x="0" y="825119"/>
                  <a:pt x="0" y="793750"/>
                </a:cubicBezTo>
                <a:close/>
              </a:path>
            </a:pathLst>
          </a:cu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0" name="Google Shape;190;p5"/>
          <p:cNvGrpSpPr/>
          <p:nvPr/>
        </p:nvGrpSpPr>
        <p:grpSpPr>
          <a:xfrm>
            <a:off x="1913632" y="6845351"/>
            <a:ext cx="4664274" cy="457199"/>
            <a:chOff x="0" y="-19050"/>
            <a:chExt cx="6219032" cy="609600"/>
          </a:xfrm>
        </p:grpSpPr>
        <p:sp>
          <p:nvSpPr>
            <p:cNvPr id="191" name="Google Shape;191;p5"/>
            <p:cNvSpPr/>
            <p:nvPr/>
          </p:nvSpPr>
          <p:spPr>
            <a:xfrm>
              <a:off x="0" y="0"/>
              <a:ext cx="6219032" cy="590550"/>
            </a:xfrm>
            <a:custGeom>
              <a:rect b="b" l="l" r="r" t="t"/>
              <a:pathLst>
                <a:path extrusionOk="0" h="590550" w="6219032">
                  <a:moveTo>
                    <a:pt x="0" y="0"/>
                  </a:moveTo>
                  <a:lnTo>
                    <a:pt x="6219032" y="0"/>
                  </a:lnTo>
                  <a:lnTo>
                    <a:pt x="621903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2" name="Google Shape;192;p5"/>
            <p:cNvSpPr txBox="1"/>
            <p:nvPr/>
          </p:nvSpPr>
          <p:spPr>
            <a:xfrm>
              <a:off x="0" y="-19050"/>
              <a:ext cx="621903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Infraestructura financiera</a:t>
              </a:r>
              <a:endParaRPr/>
            </a:p>
          </p:txBody>
        </p:sp>
      </p:grpSp>
      <p:grpSp>
        <p:nvGrpSpPr>
          <p:cNvPr id="193" name="Google Shape;193;p5"/>
          <p:cNvGrpSpPr/>
          <p:nvPr/>
        </p:nvGrpSpPr>
        <p:grpSpPr>
          <a:xfrm>
            <a:off x="1913632" y="7408366"/>
            <a:ext cx="7053262" cy="971550"/>
            <a:chOff x="0" y="-85725"/>
            <a:chExt cx="9404350" cy="1295400"/>
          </a:xfrm>
        </p:grpSpPr>
        <p:sp>
          <p:nvSpPr>
            <p:cNvPr id="194" name="Google Shape;194;p5"/>
            <p:cNvSpPr/>
            <p:nvPr/>
          </p:nvSpPr>
          <p:spPr>
            <a:xfrm>
              <a:off x="0" y="0"/>
              <a:ext cx="9404350" cy="1209675"/>
            </a:xfrm>
            <a:custGeom>
              <a:rect b="b" l="l" r="r" t="t"/>
              <a:pathLst>
                <a:path extrusionOk="0" h="1209675" w="9404350">
                  <a:moveTo>
                    <a:pt x="0" y="0"/>
                  </a:moveTo>
                  <a:lnTo>
                    <a:pt x="9404350" y="0"/>
                  </a:lnTo>
                  <a:lnTo>
                    <a:pt x="9404350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5" name="Google Shape;195;p5"/>
            <p:cNvSpPr txBox="1"/>
            <p:nvPr/>
          </p:nvSpPr>
          <p:spPr>
            <a:xfrm>
              <a:off x="0" y="-85725"/>
              <a:ext cx="9404350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Sistemas interconectados que soportan capital y recursos globales</a:t>
              </a:r>
              <a:endParaRPr/>
            </a:p>
          </p:txBody>
        </p:sp>
      </p:grpSp>
      <p:sp>
        <p:nvSpPr>
          <p:cNvPr id="196" name="Google Shape;196;p5"/>
          <p:cNvSpPr/>
          <p:nvPr/>
        </p:nvSpPr>
        <p:spPr>
          <a:xfrm>
            <a:off x="9321254" y="6762304"/>
            <a:ext cx="637794" cy="637889"/>
          </a:xfrm>
          <a:custGeom>
            <a:rect b="b" l="l" r="r" t="t"/>
            <a:pathLst>
              <a:path extrusionOk="0" h="850519" w="850392">
                <a:moveTo>
                  <a:pt x="0" y="56642"/>
                </a:moveTo>
                <a:cubicBezTo>
                  <a:pt x="0" y="25400"/>
                  <a:pt x="25400" y="0"/>
                  <a:pt x="56642" y="0"/>
                </a:cubicBezTo>
                <a:lnTo>
                  <a:pt x="793750" y="0"/>
                </a:lnTo>
                <a:cubicBezTo>
                  <a:pt x="825119" y="0"/>
                  <a:pt x="850392" y="25400"/>
                  <a:pt x="850392" y="56642"/>
                </a:cubicBezTo>
                <a:lnTo>
                  <a:pt x="850392" y="793750"/>
                </a:lnTo>
                <a:cubicBezTo>
                  <a:pt x="850392" y="825119"/>
                  <a:pt x="824992" y="850392"/>
                  <a:pt x="793750" y="850392"/>
                </a:cubicBezTo>
                <a:lnTo>
                  <a:pt x="56642" y="850392"/>
                </a:lnTo>
                <a:cubicBezTo>
                  <a:pt x="25400" y="850519"/>
                  <a:pt x="0" y="825119"/>
                  <a:pt x="0" y="793750"/>
                </a:cubicBezTo>
                <a:close/>
              </a:path>
            </a:pathLst>
          </a:cu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5"/>
          <p:cNvGrpSpPr/>
          <p:nvPr/>
        </p:nvGrpSpPr>
        <p:grpSpPr>
          <a:xfrm>
            <a:off x="10242649" y="6845351"/>
            <a:ext cx="4945559" cy="457199"/>
            <a:chOff x="0" y="-19050"/>
            <a:chExt cx="6594078" cy="609600"/>
          </a:xfrm>
        </p:grpSpPr>
        <p:sp>
          <p:nvSpPr>
            <p:cNvPr id="198" name="Google Shape;198;p5"/>
            <p:cNvSpPr/>
            <p:nvPr/>
          </p:nvSpPr>
          <p:spPr>
            <a:xfrm>
              <a:off x="0" y="0"/>
              <a:ext cx="6594078" cy="590550"/>
            </a:xfrm>
            <a:custGeom>
              <a:rect b="b" l="l" r="r" t="t"/>
              <a:pathLst>
                <a:path extrusionOk="0" h="590550" w="6594078">
                  <a:moveTo>
                    <a:pt x="0" y="0"/>
                  </a:moveTo>
                  <a:lnTo>
                    <a:pt x="6594078" y="0"/>
                  </a:lnTo>
                  <a:lnTo>
                    <a:pt x="6594078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9" name="Google Shape;199;p5"/>
            <p:cNvSpPr txBox="1"/>
            <p:nvPr/>
          </p:nvSpPr>
          <p:spPr>
            <a:xfrm>
              <a:off x="0" y="-19050"/>
              <a:ext cx="6594078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Turbulencia y competencia</a:t>
              </a:r>
              <a:endParaRPr/>
            </a:p>
          </p:txBody>
        </p:sp>
      </p:grpSp>
      <p:grpSp>
        <p:nvGrpSpPr>
          <p:cNvPr id="200" name="Google Shape;200;p5"/>
          <p:cNvGrpSpPr/>
          <p:nvPr/>
        </p:nvGrpSpPr>
        <p:grpSpPr>
          <a:xfrm>
            <a:off x="10242649" y="7408366"/>
            <a:ext cx="7053262" cy="971550"/>
            <a:chOff x="0" y="-85725"/>
            <a:chExt cx="9404350" cy="1295400"/>
          </a:xfrm>
        </p:grpSpPr>
        <p:sp>
          <p:nvSpPr>
            <p:cNvPr id="201" name="Google Shape;201;p5"/>
            <p:cNvSpPr/>
            <p:nvPr/>
          </p:nvSpPr>
          <p:spPr>
            <a:xfrm>
              <a:off x="0" y="0"/>
              <a:ext cx="9404350" cy="1209675"/>
            </a:xfrm>
            <a:custGeom>
              <a:rect b="b" l="l" r="r" t="t"/>
              <a:pathLst>
                <a:path extrusionOk="0" h="1209675" w="9404350">
                  <a:moveTo>
                    <a:pt x="0" y="0"/>
                  </a:moveTo>
                  <a:lnTo>
                    <a:pt x="9404350" y="0"/>
                  </a:lnTo>
                  <a:lnTo>
                    <a:pt x="9404350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2" name="Google Shape;202;p5"/>
            <p:cNvSpPr txBox="1"/>
            <p:nvPr/>
          </p:nvSpPr>
          <p:spPr>
            <a:xfrm>
              <a:off x="0" y="-85725"/>
              <a:ext cx="9404350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Mercados más complejos y altamente interdependientes entre países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4F0FF"/>
          </a:solidFill>
          <a:ln>
            <a:noFill/>
          </a:ln>
        </p:spPr>
      </p:sp>
      <p:sp>
        <p:nvSpPr>
          <p:cNvPr id="212" name="Google Shape;212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BFAFF"/>
          </a:solidFill>
          <a:ln>
            <a:noFill/>
          </a:ln>
        </p:spPr>
      </p:sp>
      <p:sp>
        <p:nvSpPr>
          <p:cNvPr descr="preencoded.png" id="213" name="Google Shape;213;p6"/>
          <p:cNvSpPr/>
          <p:nvPr/>
        </p:nvSpPr>
        <p:spPr>
          <a:xfrm>
            <a:off x="8795994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6"/>
          <p:cNvSpPr/>
          <p:nvPr/>
        </p:nvSpPr>
        <p:spPr>
          <a:xfrm>
            <a:off x="11430000" y="44202"/>
            <a:ext cx="6858000" cy="10287000"/>
          </a:xfrm>
          <a:custGeom>
            <a:rect b="b" l="l" r="r" t="t"/>
            <a:pathLst>
              <a:path extrusionOk="0" h="13716000" w="9144000">
                <a:moveTo>
                  <a:pt x="0" y="0"/>
                </a:moveTo>
                <a:lnTo>
                  <a:pt x="9144000" y="0"/>
                </a:lnTo>
                <a:lnTo>
                  <a:pt x="914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E6E6E7"/>
          </a:solidFill>
          <a:ln>
            <a:noFill/>
          </a:ln>
        </p:spPr>
      </p:sp>
      <p:sp>
        <p:nvSpPr>
          <p:cNvPr id="215" name="Google Shape;215;p6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83324" r="-83321" t="0"/>
            </a:stretch>
          </a:blipFill>
          <a:ln>
            <a:noFill/>
          </a:ln>
        </p:spPr>
      </p:sp>
      <p:grpSp>
        <p:nvGrpSpPr>
          <p:cNvPr id="216" name="Google Shape;216;p6"/>
          <p:cNvGrpSpPr/>
          <p:nvPr/>
        </p:nvGrpSpPr>
        <p:grpSpPr>
          <a:xfrm>
            <a:off x="992238" y="1799779"/>
            <a:ext cx="9445526" cy="1793378"/>
            <a:chOff x="0" y="-28575"/>
            <a:chExt cx="12594035" cy="2391172"/>
          </a:xfrm>
        </p:grpSpPr>
        <p:sp>
          <p:nvSpPr>
            <p:cNvPr id="217" name="Google Shape;217;p6"/>
            <p:cNvSpPr/>
            <p:nvPr/>
          </p:nvSpPr>
          <p:spPr>
            <a:xfrm>
              <a:off x="0" y="0"/>
              <a:ext cx="12594035" cy="2362597"/>
            </a:xfrm>
            <a:custGeom>
              <a:rect b="b" l="l" r="r" t="t"/>
              <a:pathLst>
                <a:path extrusionOk="0" h="2362597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18" name="Google Shape;218;p6"/>
            <p:cNvSpPr txBox="1"/>
            <p:nvPr/>
          </p:nvSpPr>
          <p:spPr>
            <a:xfrm>
              <a:off x="0" y="-28575"/>
              <a:ext cx="12594035" cy="239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62" u="none" cap="none" strike="noStrike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Ejemplos de Implementación</a:t>
              </a:r>
              <a:endParaRPr/>
            </a:p>
          </p:txBody>
        </p:sp>
      </p:grpSp>
      <p:sp>
        <p:nvSpPr>
          <p:cNvPr id="219" name="Google Shape;219;p6"/>
          <p:cNvSpPr/>
          <p:nvPr/>
        </p:nvSpPr>
        <p:spPr>
          <a:xfrm>
            <a:off x="992238" y="4018360"/>
            <a:ext cx="4581144" cy="2530317"/>
          </a:xfrm>
          <a:custGeom>
            <a:rect b="b" l="l" r="r" t="t"/>
            <a:pathLst>
              <a:path extrusionOk="0" h="3373755" w="6108192">
                <a:moveTo>
                  <a:pt x="0" y="56769"/>
                </a:moveTo>
                <a:cubicBezTo>
                  <a:pt x="0" y="25400"/>
                  <a:pt x="25400" y="0"/>
                  <a:pt x="56769" y="0"/>
                </a:cubicBezTo>
                <a:lnTo>
                  <a:pt x="6051423" y="0"/>
                </a:lnTo>
                <a:cubicBezTo>
                  <a:pt x="6082792" y="0"/>
                  <a:pt x="6108192" y="25400"/>
                  <a:pt x="6108192" y="56769"/>
                </a:cubicBezTo>
                <a:lnTo>
                  <a:pt x="6108192" y="3316986"/>
                </a:lnTo>
                <a:cubicBezTo>
                  <a:pt x="6108192" y="3348355"/>
                  <a:pt x="6082792" y="3373755"/>
                  <a:pt x="6051423" y="3373755"/>
                </a:cubicBezTo>
                <a:lnTo>
                  <a:pt x="56769" y="3373755"/>
                </a:lnTo>
                <a:cubicBezTo>
                  <a:pt x="25400" y="3373755"/>
                  <a:pt x="0" y="3348355"/>
                  <a:pt x="0" y="3316986"/>
                </a:cubicBezTo>
                <a:close/>
              </a:path>
            </a:pathLst>
          </a:cu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0" name="Google Shape;220;p6"/>
          <p:cNvGrpSpPr/>
          <p:nvPr/>
        </p:nvGrpSpPr>
        <p:grpSpPr>
          <a:xfrm>
            <a:off x="1275755" y="4287590"/>
            <a:ext cx="3759697" cy="457199"/>
            <a:chOff x="0" y="-19050"/>
            <a:chExt cx="5012929" cy="609600"/>
          </a:xfrm>
        </p:grpSpPr>
        <p:sp>
          <p:nvSpPr>
            <p:cNvPr id="221" name="Google Shape;221;p6"/>
            <p:cNvSpPr/>
            <p:nvPr/>
          </p:nvSpPr>
          <p:spPr>
            <a:xfrm>
              <a:off x="0" y="0"/>
              <a:ext cx="5012929" cy="590550"/>
            </a:xfrm>
            <a:custGeom>
              <a:rect b="b" l="l" r="r" t="t"/>
              <a:pathLst>
                <a:path extrusionOk="0" h="590550" w="5012929">
                  <a:moveTo>
                    <a:pt x="0" y="0"/>
                  </a:moveTo>
                  <a:lnTo>
                    <a:pt x="5012929" y="0"/>
                  </a:lnTo>
                  <a:lnTo>
                    <a:pt x="5012929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2" name="Google Shape;222;p6"/>
            <p:cNvSpPr txBox="1"/>
            <p:nvPr/>
          </p:nvSpPr>
          <p:spPr>
            <a:xfrm>
              <a:off x="0" y="-19050"/>
              <a:ext cx="5012928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ERP multinacionales</a:t>
              </a:r>
              <a:endParaRPr/>
            </a:p>
          </p:txBody>
        </p:sp>
      </p:grpSp>
      <p:grpSp>
        <p:nvGrpSpPr>
          <p:cNvPr id="223" name="Google Shape;223;p6"/>
          <p:cNvGrpSpPr/>
          <p:nvPr/>
        </p:nvGrpSpPr>
        <p:grpSpPr>
          <a:xfrm>
            <a:off x="1275755" y="4850606"/>
            <a:ext cx="4014044" cy="971550"/>
            <a:chOff x="0" y="-85725"/>
            <a:chExt cx="5352058" cy="1295400"/>
          </a:xfrm>
        </p:grpSpPr>
        <p:sp>
          <p:nvSpPr>
            <p:cNvPr id="224" name="Google Shape;224;p6"/>
            <p:cNvSpPr/>
            <p:nvPr/>
          </p:nvSpPr>
          <p:spPr>
            <a:xfrm>
              <a:off x="0" y="0"/>
              <a:ext cx="5352058" cy="1209675"/>
            </a:xfrm>
            <a:custGeom>
              <a:rect b="b" l="l" r="r" t="t"/>
              <a:pathLst>
                <a:path extrusionOk="0" h="1209675" w="5352058">
                  <a:moveTo>
                    <a:pt x="0" y="0"/>
                  </a:moveTo>
                  <a:lnTo>
                    <a:pt x="5352058" y="0"/>
                  </a:lnTo>
                  <a:lnTo>
                    <a:pt x="5352058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5" name="Google Shape;225;p6"/>
            <p:cNvSpPr txBox="1"/>
            <p:nvPr/>
          </p:nvSpPr>
          <p:spPr>
            <a:xfrm>
              <a:off x="0" y="-85725"/>
              <a:ext cx="5352058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Sincronización de operaciones en distintas regiones</a:t>
              </a:r>
              <a:endParaRPr/>
            </a:p>
          </p:txBody>
        </p:sp>
      </p:grpSp>
      <p:sp>
        <p:nvSpPr>
          <p:cNvPr id="226" name="Google Shape;226;p6"/>
          <p:cNvSpPr/>
          <p:nvPr/>
        </p:nvSpPr>
        <p:spPr>
          <a:xfrm>
            <a:off x="5856834" y="4018360"/>
            <a:ext cx="4581144" cy="2530317"/>
          </a:xfrm>
          <a:custGeom>
            <a:rect b="b" l="l" r="r" t="t"/>
            <a:pathLst>
              <a:path extrusionOk="0" h="3373755" w="6108192">
                <a:moveTo>
                  <a:pt x="0" y="56769"/>
                </a:moveTo>
                <a:cubicBezTo>
                  <a:pt x="0" y="25400"/>
                  <a:pt x="25400" y="0"/>
                  <a:pt x="56769" y="0"/>
                </a:cubicBezTo>
                <a:lnTo>
                  <a:pt x="6051423" y="0"/>
                </a:lnTo>
                <a:cubicBezTo>
                  <a:pt x="6082792" y="0"/>
                  <a:pt x="6108192" y="25400"/>
                  <a:pt x="6108192" y="56769"/>
                </a:cubicBezTo>
                <a:lnTo>
                  <a:pt x="6108192" y="3316986"/>
                </a:lnTo>
                <a:cubicBezTo>
                  <a:pt x="6108192" y="3348355"/>
                  <a:pt x="6082792" y="3373755"/>
                  <a:pt x="6051423" y="3373755"/>
                </a:cubicBezTo>
                <a:lnTo>
                  <a:pt x="56769" y="3373755"/>
                </a:lnTo>
                <a:cubicBezTo>
                  <a:pt x="25400" y="3373755"/>
                  <a:pt x="0" y="3348355"/>
                  <a:pt x="0" y="3316986"/>
                </a:cubicBezTo>
                <a:close/>
              </a:path>
            </a:pathLst>
          </a:cu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7" name="Google Shape;227;p6"/>
          <p:cNvGrpSpPr/>
          <p:nvPr/>
        </p:nvGrpSpPr>
        <p:grpSpPr>
          <a:xfrm>
            <a:off x="6140351" y="4287590"/>
            <a:ext cx="4014044" cy="900113"/>
            <a:chOff x="0" y="-19050"/>
            <a:chExt cx="5352058" cy="1200150"/>
          </a:xfrm>
        </p:grpSpPr>
        <p:sp>
          <p:nvSpPr>
            <p:cNvPr id="228" name="Google Shape;228;p6"/>
            <p:cNvSpPr/>
            <p:nvPr/>
          </p:nvSpPr>
          <p:spPr>
            <a:xfrm>
              <a:off x="0" y="0"/>
              <a:ext cx="5352058" cy="1181100"/>
            </a:xfrm>
            <a:custGeom>
              <a:rect b="b" l="l" r="r" t="t"/>
              <a:pathLst>
                <a:path extrusionOk="0" h="1181100" w="5352058">
                  <a:moveTo>
                    <a:pt x="0" y="0"/>
                  </a:moveTo>
                  <a:lnTo>
                    <a:pt x="5352058" y="0"/>
                  </a:lnTo>
                  <a:lnTo>
                    <a:pt x="5352058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9" name="Google Shape;229;p6"/>
            <p:cNvSpPr txBox="1"/>
            <p:nvPr/>
          </p:nvSpPr>
          <p:spPr>
            <a:xfrm>
              <a:off x="0" y="-19050"/>
              <a:ext cx="5352058" cy="1200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Comercio electrónico global</a:t>
              </a:r>
              <a:endParaRPr/>
            </a:p>
          </p:txBody>
        </p:sp>
      </p:grpSp>
      <p:grpSp>
        <p:nvGrpSpPr>
          <p:cNvPr id="230" name="Google Shape;230;p6"/>
          <p:cNvGrpSpPr/>
          <p:nvPr/>
        </p:nvGrpSpPr>
        <p:grpSpPr>
          <a:xfrm>
            <a:off x="6140351" y="5293518"/>
            <a:ext cx="4014044" cy="971550"/>
            <a:chOff x="0" y="-85725"/>
            <a:chExt cx="5352058" cy="1295400"/>
          </a:xfrm>
        </p:grpSpPr>
        <p:sp>
          <p:nvSpPr>
            <p:cNvPr id="231" name="Google Shape;231;p6"/>
            <p:cNvSpPr/>
            <p:nvPr/>
          </p:nvSpPr>
          <p:spPr>
            <a:xfrm>
              <a:off x="0" y="0"/>
              <a:ext cx="5352058" cy="1209675"/>
            </a:xfrm>
            <a:custGeom>
              <a:rect b="b" l="l" r="r" t="t"/>
              <a:pathLst>
                <a:path extrusionOk="0" h="1209675" w="5352058">
                  <a:moveTo>
                    <a:pt x="0" y="0"/>
                  </a:moveTo>
                  <a:lnTo>
                    <a:pt x="5352058" y="0"/>
                  </a:lnTo>
                  <a:lnTo>
                    <a:pt x="5352058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2" name="Google Shape;232;p6"/>
            <p:cNvSpPr txBox="1"/>
            <p:nvPr/>
          </p:nvSpPr>
          <p:spPr>
            <a:xfrm>
              <a:off x="0" y="-85725"/>
              <a:ext cx="5352058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Plataformas con presencia y logística internacional</a:t>
              </a:r>
              <a:endParaRPr/>
            </a:p>
          </p:txBody>
        </p:sp>
      </p:grpSp>
      <p:sp>
        <p:nvSpPr>
          <p:cNvPr id="233" name="Google Shape;233;p6"/>
          <p:cNvSpPr/>
          <p:nvPr/>
        </p:nvSpPr>
        <p:spPr>
          <a:xfrm>
            <a:off x="992238" y="6832104"/>
            <a:ext cx="9445466" cy="1633633"/>
          </a:xfrm>
          <a:custGeom>
            <a:rect b="b" l="l" r="r" t="t"/>
            <a:pathLst>
              <a:path extrusionOk="0" h="2178177" w="12593955">
                <a:moveTo>
                  <a:pt x="0" y="56642"/>
                </a:moveTo>
                <a:cubicBezTo>
                  <a:pt x="0" y="25400"/>
                  <a:pt x="25400" y="0"/>
                  <a:pt x="56642" y="0"/>
                </a:cubicBezTo>
                <a:lnTo>
                  <a:pt x="12537313" y="0"/>
                </a:lnTo>
                <a:cubicBezTo>
                  <a:pt x="12568682" y="0"/>
                  <a:pt x="12593955" y="25400"/>
                  <a:pt x="12593955" y="56642"/>
                </a:cubicBezTo>
                <a:lnTo>
                  <a:pt x="12593955" y="2121535"/>
                </a:lnTo>
                <a:cubicBezTo>
                  <a:pt x="12593955" y="2152904"/>
                  <a:pt x="12568555" y="2178177"/>
                  <a:pt x="12537313" y="2178177"/>
                </a:cubicBezTo>
                <a:lnTo>
                  <a:pt x="56642" y="2178177"/>
                </a:lnTo>
                <a:cubicBezTo>
                  <a:pt x="25273" y="2178177"/>
                  <a:pt x="0" y="2152777"/>
                  <a:pt x="0" y="2121535"/>
                </a:cubicBezTo>
                <a:close/>
              </a:path>
            </a:pathLst>
          </a:cu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4" name="Google Shape;234;p6"/>
          <p:cNvGrpSpPr/>
          <p:nvPr/>
        </p:nvGrpSpPr>
        <p:grpSpPr>
          <a:xfrm>
            <a:off x="1275755" y="7101334"/>
            <a:ext cx="5199161" cy="457199"/>
            <a:chOff x="0" y="-19050"/>
            <a:chExt cx="6932215" cy="609600"/>
          </a:xfrm>
        </p:grpSpPr>
        <p:sp>
          <p:nvSpPr>
            <p:cNvPr id="235" name="Google Shape;235;p6"/>
            <p:cNvSpPr/>
            <p:nvPr/>
          </p:nvSpPr>
          <p:spPr>
            <a:xfrm>
              <a:off x="0" y="0"/>
              <a:ext cx="6932215" cy="590550"/>
            </a:xfrm>
            <a:custGeom>
              <a:rect b="b" l="l" r="r" t="t"/>
              <a:pathLst>
                <a:path extrusionOk="0" h="590550" w="6932215">
                  <a:moveTo>
                    <a:pt x="0" y="0"/>
                  </a:moveTo>
                  <a:lnTo>
                    <a:pt x="6932215" y="0"/>
                  </a:lnTo>
                  <a:lnTo>
                    <a:pt x="6932215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6" name="Google Shape;236;p6"/>
            <p:cNvSpPr txBox="1"/>
            <p:nvPr/>
          </p:nvSpPr>
          <p:spPr>
            <a:xfrm>
              <a:off x="0" y="-19050"/>
              <a:ext cx="6932215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Cadena de suministro digital</a:t>
              </a:r>
              <a:endParaRPr/>
            </a:p>
          </p:txBody>
        </p:sp>
      </p:grpSp>
      <p:grpSp>
        <p:nvGrpSpPr>
          <p:cNvPr id="237" name="Google Shape;237;p6"/>
          <p:cNvGrpSpPr/>
          <p:nvPr/>
        </p:nvGrpSpPr>
        <p:grpSpPr>
          <a:xfrm>
            <a:off x="1275755" y="7664351"/>
            <a:ext cx="8878491" cy="517923"/>
            <a:chOff x="0" y="-85725"/>
            <a:chExt cx="11837988" cy="690563"/>
          </a:xfrm>
        </p:grpSpPr>
        <p:sp>
          <p:nvSpPr>
            <p:cNvPr id="238" name="Google Shape;238;p6"/>
            <p:cNvSpPr/>
            <p:nvPr/>
          </p:nvSpPr>
          <p:spPr>
            <a:xfrm>
              <a:off x="0" y="0"/>
              <a:ext cx="11837988" cy="604838"/>
            </a:xfrm>
            <a:custGeom>
              <a:rect b="b" l="l" r="r" t="t"/>
              <a:pathLst>
                <a:path extrusionOk="0" h="604838" w="11837988">
                  <a:moveTo>
                    <a:pt x="0" y="0"/>
                  </a:moveTo>
                  <a:lnTo>
                    <a:pt x="11837988" y="0"/>
                  </a:lnTo>
                  <a:lnTo>
                    <a:pt x="1183798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9" name="Google Shape;239;p6"/>
            <p:cNvSpPr txBox="1"/>
            <p:nvPr/>
          </p:nvSpPr>
          <p:spPr>
            <a:xfrm>
              <a:off x="0" y="-85725"/>
              <a:ext cx="1183798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Control extremo a extremo con analítica avanzada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4F0FF"/>
          </a:solidFill>
          <a:ln>
            <a:noFill/>
          </a:ln>
        </p:spPr>
      </p:sp>
      <p:sp>
        <p:nvSpPr>
          <p:cNvPr id="249" name="Google Shape;249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BFAFF"/>
          </a:solidFill>
          <a:ln>
            <a:noFill/>
          </a:ln>
        </p:spPr>
      </p:sp>
      <p:grpSp>
        <p:nvGrpSpPr>
          <p:cNvPr id="250" name="Google Shape;250;p7"/>
          <p:cNvGrpSpPr/>
          <p:nvPr/>
        </p:nvGrpSpPr>
        <p:grpSpPr>
          <a:xfrm>
            <a:off x="992238" y="3380334"/>
            <a:ext cx="9371410" cy="907405"/>
            <a:chOff x="0" y="-28575"/>
            <a:chExt cx="12495213" cy="1209873"/>
          </a:xfrm>
        </p:grpSpPr>
        <p:sp>
          <p:nvSpPr>
            <p:cNvPr id="251" name="Google Shape;251;p7"/>
            <p:cNvSpPr/>
            <p:nvPr/>
          </p:nvSpPr>
          <p:spPr>
            <a:xfrm>
              <a:off x="0" y="0"/>
              <a:ext cx="12495213" cy="1181298"/>
            </a:xfrm>
            <a:custGeom>
              <a:rect b="b" l="l" r="r" t="t"/>
              <a:pathLst>
                <a:path extrusionOk="0" h="1181298" w="12495213">
                  <a:moveTo>
                    <a:pt x="0" y="0"/>
                  </a:moveTo>
                  <a:lnTo>
                    <a:pt x="12495213" y="0"/>
                  </a:lnTo>
                  <a:lnTo>
                    <a:pt x="12495213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52" name="Google Shape;252;p7"/>
            <p:cNvSpPr txBox="1"/>
            <p:nvPr/>
          </p:nvSpPr>
          <p:spPr>
            <a:xfrm>
              <a:off x="0" y="-28575"/>
              <a:ext cx="12495213" cy="12098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62" u="none" cap="none" strike="noStrike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Desafíos en la Integración</a:t>
              </a:r>
              <a:endParaRPr/>
            </a:p>
          </p:txBody>
        </p:sp>
      </p:grpSp>
      <p:grpSp>
        <p:nvGrpSpPr>
          <p:cNvPr id="253" name="Google Shape;253;p7"/>
          <p:cNvGrpSpPr/>
          <p:nvPr/>
        </p:nvGrpSpPr>
        <p:grpSpPr>
          <a:xfrm>
            <a:off x="992238" y="4982171"/>
            <a:ext cx="3544044" cy="457199"/>
            <a:chOff x="0" y="-19050"/>
            <a:chExt cx="4725392" cy="609600"/>
          </a:xfrm>
        </p:grpSpPr>
        <p:sp>
          <p:nvSpPr>
            <p:cNvPr id="254" name="Google Shape;254;p7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55" name="Google Shape;255;p7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Barreras culturales</a:t>
              </a:r>
              <a:endParaRPr/>
            </a:p>
          </p:txBody>
        </p:sp>
      </p:grpSp>
      <p:grpSp>
        <p:nvGrpSpPr>
          <p:cNvPr id="256" name="Google Shape;256;p7"/>
          <p:cNvGrpSpPr/>
          <p:nvPr/>
        </p:nvGrpSpPr>
        <p:grpSpPr>
          <a:xfrm>
            <a:off x="992238" y="5658594"/>
            <a:ext cx="4972645" cy="971550"/>
            <a:chOff x="0" y="-85725"/>
            <a:chExt cx="6630193" cy="1295400"/>
          </a:xfrm>
        </p:grpSpPr>
        <p:sp>
          <p:nvSpPr>
            <p:cNvPr id="257" name="Google Shape;257;p7"/>
            <p:cNvSpPr/>
            <p:nvPr/>
          </p:nvSpPr>
          <p:spPr>
            <a:xfrm>
              <a:off x="0" y="0"/>
              <a:ext cx="6630193" cy="1209675"/>
            </a:xfrm>
            <a:custGeom>
              <a:rect b="b" l="l" r="r" t="t"/>
              <a:pathLst>
                <a:path extrusionOk="0" h="1209675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58" name="Google Shape;258;p7"/>
            <p:cNvSpPr txBox="1"/>
            <p:nvPr/>
          </p:nvSpPr>
          <p:spPr>
            <a:xfrm>
              <a:off x="0" y="-85725"/>
              <a:ext cx="6630193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Idioma y diferencias en interfaces de usuario</a:t>
              </a:r>
              <a:endParaRPr/>
            </a:p>
          </p:txBody>
        </p:sp>
      </p:grpSp>
      <p:grpSp>
        <p:nvGrpSpPr>
          <p:cNvPr id="259" name="Google Shape;259;p7"/>
          <p:cNvGrpSpPr/>
          <p:nvPr/>
        </p:nvGrpSpPr>
        <p:grpSpPr>
          <a:xfrm>
            <a:off x="6666160" y="4982171"/>
            <a:ext cx="4293840" cy="457199"/>
            <a:chOff x="0" y="-19050"/>
            <a:chExt cx="5725120" cy="609600"/>
          </a:xfrm>
        </p:grpSpPr>
        <p:sp>
          <p:nvSpPr>
            <p:cNvPr id="260" name="Google Shape;260;p7"/>
            <p:cNvSpPr/>
            <p:nvPr/>
          </p:nvSpPr>
          <p:spPr>
            <a:xfrm>
              <a:off x="0" y="0"/>
              <a:ext cx="5725120" cy="590550"/>
            </a:xfrm>
            <a:custGeom>
              <a:rect b="b" l="l" r="r" t="t"/>
              <a:pathLst>
                <a:path extrusionOk="0" h="590550" w="5725120">
                  <a:moveTo>
                    <a:pt x="0" y="0"/>
                  </a:moveTo>
                  <a:lnTo>
                    <a:pt x="5725120" y="0"/>
                  </a:lnTo>
                  <a:lnTo>
                    <a:pt x="5725120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1" name="Google Shape;261;p7"/>
            <p:cNvSpPr txBox="1"/>
            <p:nvPr/>
          </p:nvSpPr>
          <p:spPr>
            <a:xfrm>
              <a:off x="0" y="-19050"/>
              <a:ext cx="572512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Normativas y seguridad</a:t>
              </a:r>
              <a:endParaRPr/>
            </a:p>
          </p:txBody>
        </p:sp>
      </p:grpSp>
      <p:grpSp>
        <p:nvGrpSpPr>
          <p:cNvPr id="262" name="Google Shape;262;p7"/>
          <p:cNvGrpSpPr/>
          <p:nvPr/>
        </p:nvGrpSpPr>
        <p:grpSpPr>
          <a:xfrm>
            <a:off x="6666160" y="5658594"/>
            <a:ext cx="4972645" cy="971550"/>
            <a:chOff x="0" y="-85725"/>
            <a:chExt cx="6630193" cy="1295400"/>
          </a:xfrm>
        </p:grpSpPr>
        <p:sp>
          <p:nvSpPr>
            <p:cNvPr id="263" name="Google Shape;263;p7"/>
            <p:cNvSpPr/>
            <p:nvPr/>
          </p:nvSpPr>
          <p:spPr>
            <a:xfrm>
              <a:off x="0" y="0"/>
              <a:ext cx="6630193" cy="1209675"/>
            </a:xfrm>
            <a:custGeom>
              <a:rect b="b" l="l" r="r" t="t"/>
              <a:pathLst>
                <a:path extrusionOk="0" h="1209675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4" name="Google Shape;264;p7"/>
            <p:cNvSpPr txBox="1"/>
            <p:nvPr/>
          </p:nvSpPr>
          <p:spPr>
            <a:xfrm>
              <a:off x="0" y="-85725"/>
              <a:ext cx="6630193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Privacidad y cumplimiento en múltiples jurisdicciones</a:t>
              </a:r>
              <a:endParaRPr/>
            </a:p>
          </p:txBody>
        </p:sp>
      </p:grpSp>
      <p:grpSp>
        <p:nvGrpSpPr>
          <p:cNvPr id="265" name="Google Shape;265;p7"/>
          <p:cNvGrpSpPr/>
          <p:nvPr/>
        </p:nvGrpSpPr>
        <p:grpSpPr>
          <a:xfrm>
            <a:off x="12340084" y="4982171"/>
            <a:ext cx="3544044" cy="457199"/>
            <a:chOff x="0" y="-19050"/>
            <a:chExt cx="4725392" cy="609600"/>
          </a:xfrm>
        </p:grpSpPr>
        <p:sp>
          <p:nvSpPr>
            <p:cNvPr id="266" name="Google Shape;266;p7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7" name="Google Shape;267;p7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Conectividad</a:t>
              </a:r>
              <a:endParaRPr/>
            </a:p>
          </p:txBody>
        </p:sp>
      </p:grpSp>
      <p:grpSp>
        <p:nvGrpSpPr>
          <p:cNvPr id="268" name="Google Shape;268;p7"/>
          <p:cNvGrpSpPr/>
          <p:nvPr/>
        </p:nvGrpSpPr>
        <p:grpSpPr>
          <a:xfrm>
            <a:off x="12340084" y="5658594"/>
            <a:ext cx="4972645" cy="971550"/>
            <a:chOff x="0" y="-85725"/>
            <a:chExt cx="6630193" cy="1295400"/>
          </a:xfrm>
        </p:grpSpPr>
        <p:sp>
          <p:nvSpPr>
            <p:cNvPr id="269" name="Google Shape;269;p7"/>
            <p:cNvSpPr/>
            <p:nvPr/>
          </p:nvSpPr>
          <p:spPr>
            <a:xfrm>
              <a:off x="0" y="0"/>
              <a:ext cx="6630193" cy="1209675"/>
            </a:xfrm>
            <a:custGeom>
              <a:rect b="b" l="l" r="r" t="t"/>
              <a:pathLst>
                <a:path extrusionOk="0" h="1209675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0" name="Google Shape;270;p7"/>
            <p:cNvSpPr txBox="1"/>
            <p:nvPr/>
          </p:nvSpPr>
          <p:spPr>
            <a:xfrm>
              <a:off x="0" y="-85725"/>
              <a:ext cx="6630193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Infraestructura variable afecta integración regional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4F0FF"/>
          </a:solidFill>
          <a:ln>
            <a:noFill/>
          </a:ln>
        </p:spPr>
      </p:sp>
      <p:sp>
        <p:nvSpPr>
          <p:cNvPr id="280" name="Google Shape;280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BFAFF"/>
          </a:solidFill>
          <a:ln>
            <a:noFill/>
          </a:ln>
        </p:spPr>
      </p:sp>
      <p:sp>
        <p:nvSpPr>
          <p:cNvPr descr="preencoded.png" id="281" name="Google Shape;281;p8"/>
          <p:cNvSpPr/>
          <p:nvPr/>
        </p:nvSpPr>
        <p:spPr>
          <a:xfrm>
            <a:off x="0" y="0"/>
            <a:ext cx="18288000" cy="3544044"/>
          </a:xfrm>
          <a:custGeom>
            <a:rect b="b" l="l" r="r" t="t"/>
            <a:pathLst>
              <a:path extrusionOk="0" h="3544044" w="18288000">
                <a:moveTo>
                  <a:pt x="0" y="0"/>
                </a:moveTo>
                <a:lnTo>
                  <a:pt x="18288000" y="0"/>
                </a:lnTo>
                <a:lnTo>
                  <a:pt x="18288000" y="3544044"/>
                </a:lnTo>
                <a:lnTo>
                  <a:pt x="0" y="3544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9" r="-8" t="0"/>
            </a:stretch>
          </a:blipFill>
          <a:ln>
            <a:noFill/>
          </a:ln>
        </p:spPr>
      </p:sp>
      <p:grpSp>
        <p:nvGrpSpPr>
          <p:cNvPr id="282" name="Google Shape;282;p8"/>
          <p:cNvGrpSpPr/>
          <p:nvPr/>
        </p:nvGrpSpPr>
        <p:grpSpPr>
          <a:xfrm>
            <a:off x="992238" y="4719043"/>
            <a:ext cx="9858375" cy="907405"/>
            <a:chOff x="0" y="-28575"/>
            <a:chExt cx="13144500" cy="1209873"/>
          </a:xfrm>
        </p:grpSpPr>
        <p:sp>
          <p:nvSpPr>
            <p:cNvPr id="283" name="Google Shape;283;p8"/>
            <p:cNvSpPr/>
            <p:nvPr/>
          </p:nvSpPr>
          <p:spPr>
            <a:xfrm>
              <a:off x="0" y="0"/>
              <a:ext cx="13144500" cy="1181298"/>
            </a:xfrm>
            <a:custGeom>
              <a:rect b="b" l="l" r="r" t="t"/>
              <a:pathLst>
                <a:path extrusionOk="0" h="1181298" w="13144500">
                  <a:moveTo>
                    <a:pt x="0" y="0"/>
                  </a:moveTo>
                  <a:lnTo>
                    <a:pt x="13144500" y="0"/>
                  </a:lnTo>
                  <a:lnTo>
                    <a:pt x="13144500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84" name="Google Shape;284;p8"/>
            <p:cNvSpPr txBox="1"/>
            <p:nvPr/>
          </p:nvSpPr>
          <p:spPr>
            <a:xfrm>
              <a:off x="0" y="-28575"/>
              <a:ext cx="13144500" cy="12098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62" u="none" cap="none" strike="noStrike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Herramientas Tecnológicas</a:t>
              </a:r>
              <a:endParaRPr/>
            </a:p>
          </p:txBody>
        </p:sp>
      </p:grpSp>
      <p:sp>
        <p:nvSpPr>
          <p:cNvPr descr="preencoded.png" id="285" name="Google Shape;285;p8"/>
          <p:cNvSpPr/>
          <p:nvPr/>
        </p:nvSpPr>
        <p:spPr>
          <a:xfrm>
            <a:off x="992238" y="6101209"/>
            <a:ext cx="708720" cy="708720"/>
          </a:xfrm>
          <a:custGeom>
            <a:rect b="b" l="l" r="r" t="t"/>
            <a:pathLst>
              <a:path extrusionOk="0" h="708720" w="708720">
                <a:moveTo>
                  <a:pt x="0" y="0"/>
                </a:moveTo>
                <a:lnTo>
                  <a:pt x="708719" y="0"/>
                </a:lnTo>
                <a:lnTo>
                  <a:pt x="708719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6" name="Google Shape;286;p8"/>
          <p:cNvGrpSpPr/>
          <p:nvPr/>
        </p:nvGrpSpPr>
        <p:grpSpPr>
          <a:xfrm>
            <a:off x="1984474" y="6205686"/>
            <a:ext cx="2817763" cy="900112"/>
            <a:chOff x="0" y="-19050"/>
            <a:chExt cx="3757017" cy="1200150"/>
          </a:xfrm>
        </p:grpSpPr>
        <p:sp>
          <p:nvSpPr>
            <p:cNvPr id="287" name="Google Shape;287;p8"/>
            <p:cNvSpPr/>
            <p:nvPr/>
          </p:nvSpPr>
          <p:spPr>
            <a:xfrm>
              <a:off x="0" y="0"/>
              <a:ext cx="3757017" cy="1181100"/>
            </a:xfrm>
            <a:custGeom>
              <a:rect b="b" l="l" r="r" t="t"/>
              <a:pathLst>
                <a:path extrusionOk="0" h="1181100" w="3757017">
                  <a:moveTo>
                    <a:pt x="0" y="0"/>
                  </a:moveTo>
                  <a:lnTo>
                    <a:pt x="3757017" y="0"/>
                  </a:lnTo>
                  <a:lnTo>
                    <a:pt x="3757017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88" name="Google Shape;288;p8"/>
            <p:cNvSpPr txBox="1"/>
            <p:nvPr/>
          </p:nvSpPr>
          <p:spPr>
            <a:xfrm>
              <a:off x="0" y="-19050"/>
              <a:ext cx="3757017" cy="1200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Inteligencia artificial</a:t>
              </a:r>
              <a:endParaRPr/>
            </a:p>
          </p:txBody>
        </p:sp>
      </p:grpSp>
      <p:grpSp>
        <p:nvGrpSpPr>
          <p:cNvPr id="289" name="Google Shape;289;p8"/>
          <p:cNvGrpSpPr/>
          <p:nvPr/>
        </p:nvGrpSpPr>
        <p:grpSpPr>
          <a:xfrm>
            <a:off x="1984474" y="7211616"/>
            <a:ext cx="2817763" cy="1425179"/>
            <a:chOff x="0" y="-85725"/>
            <a:chExt cx="3757017" cy="1900238"/>
          </a:xfrm>
        </p:grpSpPr>
        <p:sp>
          <p:nvSpPr>
            <p:cNvPr id="290" name="Google Shape;290;p8"/>
            <p:cNvSpPr/>
            <p:nvPr/>
          </p:nvSpPr>
          <p:spPr>
            <a:xfrm>
              <a:off x="0" y="0"/>
              <a:ext cx="3757017" cy="1814513"/>
            </a:xfrm>
            <a:custGeom>
              <a:rect b="b" l="l" r="r" t="t"/>
              <a:pathLst>
                <a:path extrusionOk="0" h="1814513" w="3757017">
                  <a:moveTo>
                    <a:pt x="0" y="0"/>
                  </a:moveTo>
                  <a:lnTo>
                    <a:pt x="3757017" y="0"/>
                  </a:lnTo>
                  <a:lnTo>
                    <a:pt x="3757017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1" name="Google Shape;291;p8"/>
            <p:cNvSpPr txBox="1"/>
            <p:nvPr/>
          </p:nvSpPr>
          <p:spPr>
            <a:xfrm>
              <a:off x="0" y="-85725"/>
              <a:ext cx="3757017" cy="19002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Automatización inteligente en gestión global</a:t>
              </a:r>
              <a:endParaRPr/>
            </a:p>
          </p:txBody>
        </p:sp>
      </p:grpSp>
      <p:sp>
        <p:nvSpPr>
          <p:cNvPr descr="preencoded.png" id="292" name="Google Shape;292;p8"/>
          <p:cNvSpPr/>
          <p:nvPr/>
        </p:nvSpPr>
        <p:spPr>
          <a:xfrm>
            <a:off x="5156598" y="6101209"/>
            <a:ext cx="708720" cy="708720"/>
          </a:xfrm>
          <a:custGeom>
            <a:rect b="b" l="l" r="r" t="t"/>
            <a:pathLst>
              <a:path extrusionOk="0" h="708720" w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3" name="Google Shape;293;p8"/>
          <p:cNvGrpSpPr/>
          <p:nvPr/>
        </p:nvGrpSpPr>
        <p:grpSpPr>
          <a:xfrm>
            <a:off x="6148834" y="6205686"/>
            <a:ext cx="2817911" cy="900112"/>
            <a:chOff x="0" y="-19050"/>
            <a:chExt cx="3757215" cy="1200150"/>
          </a:xfrm>
        </p:grpSpPr>
        <p:sp>
          <p:nvSpPr>
            <p:cNvPr id="294" name="Google Shape;294;p8"/>
            <p:cNvSpPr/>
            <p:nvPr/>
          </p:nvSpPr>
          <p:spPr>
            <a:xfrm>
              <a:off x="0" y="0"/>
              <a:ext cx="3757215" cy="1181100"/>
            </a:xfrm>
            <a:custGeom>
              <a:rect b="b" l="l" r="r" t="t"/>
              <a:pathLst>
                <a:path extrusionOk="0" h="1181100" w="3757215">
                  <a:moveTo>
                    <a:pt x="0" y="0"/>
                  </a:moveTo>
                  <a:lnTo>
                    <a:pt x="3757215" y="0"/>
                  </a:lnTo>
                  <a:lnTo>
                    <a:pt x="3757215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5" name="Google Shape;295;p8"/>
            <p:cNvSpPr txBox="1"/>
            <p:nvPr/>
          </p:nvSpPr>
          <p:spPr>
            <a:xfrm>
              <a:off x="0" y="-19050"/>
              <a:ext cx="3757215" cy="1200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Internet de las cosas</a:t>
              </a:r>
              <a:endParaRPr/>
            </a:p>
          </p:txBody>
        </p:sp>
      </p:grpSp>
      <p:grpSp>
        <p:nvGrpSpPr>
          <p:cNvPr id="296" name="Google Shape;296;p8"/>
          <p:cNvGrpSpPr/>
          <p:nvPr/>
        </p:nvGrpSpPr>
        <p:grpSpPr>
          <a:xfrm>
            <a:off x="6148834" y="7211616"/>
            <a:ext cx="2817911" cy="1878806"/>
            <a:chOff x="0" y="-85725"/>
            <a:chExt cx="3757215" cy="2505075"/>
          </a:xfrm>
        </p:grpSpPr>
        <p:sp>
          <p:nvSpPr>
            <p:cNvPr id="297" name="Google Shape;297;p8"/>
            <p:cNvSpPr/>
            <p:nvPr/>
          </p:nvSpPr>
          <p:spPr>
            <a:xfrm>
              <a:off x="0" y="0"/>
              <a:ext cx="3757215" cy="2419350"/>
            </a:xfrm>
            <a:custGeom>
              <a:rect b="b" l="l" r="r" t="t"/>
              <a:pathLst>
                <a:path extrusionOk="0" h="2419350" w="3757215">
                  <a:moveTo>
                    <a:pt x="0" y="0"/>
                  </a:moveTo>
                  <a:lnTo>
                    <a:pt x="3757215" y="0"/>
                  </a:lnTo>
                  <a:lnTo>
                    <a:pt x="3757215" y="2419350"/>
                  </a:lnTo>
                  <a:lnTo>
                    <a:pt x="0" y="2419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8" name="Google Shape;298;p8"/>
            <p:cNvSpPr txBox="1"/>
            <p:nvPr/>
          </p:nvSpPr>
          <p:spPr>
            <a:xfrm>
              <a:off x="0" y="-85725"/>
              <a:ext cx="3757215" cy="2505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Optimización de cadenas de suministro conectadas</a:t>
              </a:r>
              <a:endParaRPr/>
            </a:p>
          </p:txBody>
        </p:sp>
      </p:grpSp>
      <p:sp>
        <p:nvSpPr>
          <p:cNvPr descr="preencoded.png" id="299" name="Google Shape;299;p8"/>
          <p:cNvSpPr/>
          <p:nvPr/>
        </p:nvSpPr>
        <p:spPr>
          <a:xfrm>
            <a:off x="9321105" y="6101209"/>
            <a:ext cx="708720" cy="708720"/>
          </a:xfrm>
          <a:custGeom>
            <a:rect b="b" l="l" r="r" t="t"/>
            <a:pathLst>
              <a:path extrusionOk="0" h="708720" w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0" name="Google Shape;300;p8"/>
          <p:cNvGrpSpPr/>
          <p:nvPr/>
        </p:nvGrpSpPr>
        <p:grpSpPr>
          <a:xfrm>
            <a:off x="10313342" y="6205687"/>
            <a:ext cx="2817911" cy="457199"/>
            <a:chOff x="0" y="-19050"/>
            <a:chExt cx="3757215" cy="609600"/>
          </a:xfrm>
        </p:grpSpPr>
        <p:sp>
          <p:nvSpPr>
            <p:cNvPr id="301" name="Google Shape;301;p8"/>
            <p:cNvSpPr/>
            <p:nvPr/>
          </p:nvSpPr>
          <p:spPr>
            <a:xfrm>
              <a:off x="0" y="0"/>
              <a:ext cx="3757215" cy="590550"/>
            </a:xfrm>
            <a:custGeom>
              <a:rect b="b" l="l" r="r" t="t"/>
              <a:pathLst>
                <a:path extrusionOk="0" h="590550" w="3757215">
                  <a:moveTo>
                    <a:pt x="0" y="0"/>
                  </a:moveTo>
                  <a:lnTo>
                    <a:pt x="3757215" y="0"/>
                  </a:lnTo>
                  <a:lnTo>
                    <a:pt x="3757215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2" name="Google Shape;302;p8"/>
            <p:cNvSpPr txBox="1"/>
            <p:nvPr/>
          </p:nvSpPr>
          <p:spPr>
            <a:xfrm>
              <a:off x="0" y="-19050"/>
              <a:ext cx="3757215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Blockchain</a:t>
              </a:r>
              <a:endParaRPr/>
            </a:p>
          </p:txBody>
        </p:sp>
      </p:grpSp>
      <p:grpSp>
        <p:nvGrpSpPr>
          <p:cNvPr id="303" name="Google Shape;303;p8"/>
          <p:cNvGrpSpPr/>
          <p:nvPr/>
        </p:nvGrpSpPr>
        <p:grpSpPr>
          <a:xfrm>
            <a:off x="10313342" y="6768704"/>
            <a:ext cx="2817911" cy="1425179"/>
            <a:chOff x="0" y="-85725"/>
            <a:chExt cx="3757215" cy="1900238"/>
          </a:xfrm>
        </p:grpSpPr>
        <p:sp>
          <p:nvSpPr>
            <p:cNvPr id="304" name="Google Shape;304;p8"/>
            <p:cNvSpPr/>
            <p:nvPr/>
          </p:nvSpPr>
          <p:spPr>
            <a:xfrm>
              <a:off x="0" y="0"/>
              <a:ext cx="3757215" cy="1814513"/>
            </a:xfrm>
            <a:custGeom>
              <a:rect b="b" l="l" r="r" t="t"/>
              <a:pathLst>
                <a:path extrusionOk="0" h="1814513" w="3757215">
                  <a:moveTo>
                    <a:pt x="0" y="0"/>
                  </a:moveTo>
                  <a:lnTo>
                    <a:pt x="3757215" y="0"/>
                  </a:lnTo>
                  <a:lnTo>
                    <a:pt x="3757215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5" name="Google Shape;305;p8"/>
            <p:cNvSpPr txBox="1"/>
            <p:nvPr/>
          </p:nvSpPr>
          <p:spPr>
            <a:xfrm>
              <a:off x="0" y="-85725"/>
              <a:ext cx="3757215" cy="19002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Seguridad en transacciones internacionales</a:t>
              </a:r>
              <a:endParaRPr/>
            </a:p>
          </p:txBody>
        </p:sp>
      </p:grpSp>
      <p:sp>
        <p:nvSpPr>
          <p:cNvPr descr="preencoded.png" id="306" name="Google Shape;306;p8"/>
          <p:cNvSpPr/>
          <p:nvPr/>
        </p:nvSpPr>
        <p:spPr>
          <a:xfrm>
            <a:off x="13485614" y="6101209"/>
            <a:ext cx="708720" cy="708720"/>
          </a:xfrm>
          <a:custGeom>
            <a:rect b="b" l="l" r="r" t="t"/>
            <a:pathLst>
              <a:path extrusionOk="0" h="708720" w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7" name="Google Shape;307;p8"/>
          <p:cNvGrpSpPr/>
          <p:nvPr/>
        </p:nvGrpSpPr>
        <p:grpSpPr>
          <a:xfrm>
            <a:off x="14477851" y="6205686"/>
            <a:ext cx="2817911" cy="900112"/>
            <a:chOff x="0" y="-19050"/>
            <a:chExt cx="3757215" cy="1200150"/>
          </a:xfrm>
        </p:grpSpPr>
        <p:sp>
          <p:nvSpPr>
            <p:cNvPr id="308" name="Google Shape;308;p8"/>
            <p:cNvSpPr/>
            <p:nvPr/>
          </p:nvSpPr>
          <p:spPr>
            <a:xfrm>
              <a:off x="0" y="0"/>
              <a:ext cx="3757215" cy="1181100"/>
            </a:xfrm>
            <a:custGeom>
              <a:rect b="b" l="l" r="r" t="t"/>
              <a:pathLst>
                <a:path extrusionOk="0" h="1181100" w="3757215">
                  <a:moveTo>
                    <a:pt x="0" y="0"/>
                  </a:moveTo>
                  <a:lnTo>
                    <a:pt x="3757215" y="0"/>
                  </a:lnTo>
                  <a:lnTo>
                    <a:pt x="3757215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9" name="Google Shape;309;p8"/>
            <p:cNvSpPr txBox="1"/>
            <p:nvPr/>
          </p:nvSpPr>
          <p:spPr>
            <a:xfrm>
              <a:off x="0" y="-19050"/>
              <a:ext cx="3757215" cy="1200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Plataformas cloud</a:t>
              </a:r>
              <a:endParaRPr/>
            </a:p>
          </p:txBody>
        </p:sp>
      </p:grpSp>
      <p:grpSp>
        <p:nvGrpSpPr>
          <p:cNvPr id="310" name="Google Shape;310;p8"/>
          <p:cNvGrpSpPr/>
          <p:nvPr/>
        </p:nvGrpSpPr>
        <p:grpSpPr>
          <a:xfrm>
            <a:off x="14477851" y="7211616"/>
            <a:ext cx="2817911" cy="1425179"/>
            <a:chOff x="0" y="-85725"/>
            <a:chExt cx="3757215" cy="1900238"/>
          </a:xfrm>
        </p:grpSpPr>
        <p:sp>
          <p:nvSpPr>
            <p:cNvPr id="311" name="Google Shape;311;p8"/>
            <p:cNvSpPr/>
            <p:nvPr/>
          </p:nvSpPr>
          <p:spPr>
            <a:xfrm>
              <a:off x="0" y="0"/>
              <a:ext cx="3757215" cy="1814513"/>
            </a:xfrm>
            <a:custGeom>
              <a:rect b="b" l="l" r="r" t="t"/>
              <a:pathLst>
                <a:path extrusionOk="0" h="1814513" w="3757215">
                  <a:moveTo>
                    <a:pt x="0" y="0"/>
                  </a:moveTo>
                  <a:lnTo>
                    <a:pt x="3757215" y="0"/>
                  </a:lnTo>
                  <a:lnTo>
                    <a:pt x="3757215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2" name="Google Shape;312;p8"/>
            <p:cNvSpPr txBox="1"/>
            <p:nvPr/>
          </p:nvSpPr>
          <p:spPr>
            <a:xfrm>
              <a:off x="0" y="-85725"/>
              <a:ext cx="3757215" cy="19002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Colaboración eficiente entre equipos dispersos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4F0FF"/>
          </a:solidFill>
          <a:ln>
            <a:noFill/>
          </a:ln>
        </p:spPr>
      </p:sp>
      <p:sp>
        <p:nvSpPr>
          <p:cNvPr id="322" name="Google Shape;322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BFAFF"/>
          </a:solidFill>
          <a:ln>
            <a:noFill/>
          </a:ln>
        </p:spPr>
      </p:sp>
      <p:grpSp>
        <p:nvGrpSpPr>
          <p:cNvPr id="323" name="Google Shape;323;p9"/>
          <p:cNvGrpSpPr/>
          <p:nvPr/>
        </p:nvGrpSpPr>
        <p:grpSpPr>
          <a:xfrm>
            <a:off x="992238" y="1542455"/>
            <a:ext cx="12511831" cy="907405"/>
            <a:chOff x="0" y="-28575"/>
            <a:chExt cx="16682442" cy="1209873"/>
          </a:xfrm>
        </p:grpSpPr>
        <p:sp>
          <p:nvSpPr>
            <p:cNvPr id="324" name="Google Shape;324;p9"/>
            <p:cNvSpPr/>
            <p:nvPr/>
          </p:nvSpPr>
          <p:spPr>
            <a:xfrm>
              <a:off x="0" y="0"/>
              <a:ext cx="16682442" cy="1181298"/>
            </a:xfrm>
            <a:custGeom>
              <a:rect b="b" l="l" r="r" t="t"/>
              <a:pathLst>
                <a:path extrusionOk="0" h="1181298" w="16682442">
                  <a:moveTo>
                    <a:pt x="0" y="0"/>
                  </a:moveTo>
                  <a:lnTo>
                    <a:pt x="16682442" y="0"/>
                  </a:lnTo>
                  <a:lnTo>
                    <a:pt x="16682442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25" name="Google Shape;325;p9"/>
            <p:cNvSpPr txBox="1"/>
            <p:nvPr/>
          </p:nvSpPr>
          <p:spPr>
            <a:xfrm>
              <a:off x="0" y="-28575"/>
              <a:ext cx="16682442" cy="12098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62" u="none" cap="none" strike="noStrike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Impacto en la Cultura Empresarial</a:t>
              </a:r>
              <a:endParaRPr/>
            </a:p>
          </p:txBody>
        </p:sp>
      </p:grpSp>
      <p:grpSp>
        <p:nvGrpSpPr>
          <p:cNvPr id="326" name="Google Shape;326;p9"/>
          <p:cNvGrpSpPr/>
          <p:nvPr/>
        </p:nvGrpSpPr>
        <p:grpSpPr>
          <a:xfrm>
            <a:off x="2321570" y="3562648"/>
            <a:ext cx="3544044" cy="457199"/>
            <a:chOff x="0" y="-19050"/>
            <a:chExt cx="4725392" cy="609600"/>
          </a:xfrm>
        </p:grpSpPr>
        <p:sp>
          <p:nvSpPr>
            <p:cNvPr id="327" name="Google Shape;327;p9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28" name="Google Shape;328;p9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Digitalización</a:t>
              </a:r>
              <a:endParaRPr/>
            </a:p>
          </p:txBody>
        </p:sp>
      </p:grpSp>
      <p:grpSp>
        <p:nvGrpSpPr>
          <p:cNvPr id="329" name="Google Shape;329;p9"/>
          <p:cNvGrpSpPr/>
          <p:nvPr/>
        </p:nvGrpSpPr>
        <p:grpSpPr>
          <a:xfrm>
            <a:off x="992238" y="4125665"/>
            <a:ext cx="4873378" cy="971550"/>
            <a:chOff x="0" y="-85725"/>
            <a:chExt cx="6497837" cy="1295400"/>
          </a:xfrm>
        </p:grpSpPr>
        <p:sp>
          <p:nvSpPr>
            <p:cNvPr id="330" name="Google Shape;330;p9"/>
            <p:cNvSpPr/>
            <p:nvPr/>
          </p:nvSpPr>
          <p:spPr>
            <a:xfrm>
              <a:off x="0" y="0"/>
              <a:ext cx="6497837" cy="1209675"/>
            </a:xfrm>
            <a:custGeom>
              <a:rect b="b" l="l" r="r" t="t"/>
              <a:pathLst>
                <a:path extrusionOk="0" h="1209675" w="6497837">
                  <a:moveTo>
                    <a:pt x="0" y="0"/>
                  </a:moveTo>
                  <a:lnTo>
                    <a:pt x="6497837" y="0"/>
                  </a:lnTo>
                  <a:lnTo>
                    <a:pt x="6497837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1" name="Google Shape;331;p9"/>
            <p:cNvSpPr txBox="1"/>
            <p:nvPr/>
          </p:nvSpPr>
          <p:spPr>
            <a:xfrm>
              <a:off x="0" y="-85725"/>
              <a:ext cx="6497837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Madurez tecnológica en organizaciones</a:t>
              </a:r>
              <a:endParaRPr/>
            </a:p>
          </p:txBody>
        </p:sp>
      </p:grpSp>
      <p:sp>
        <p:nvSpPr>
          <p:cNvPr descr="preencoded.png" id="332" name="Google Shape;332;p9"/>
          <p:cNvSpPr/>
          <p:nvPr/>
        </p:nvSpPr>
        <p:spPr>
          <a:xfrm>
            <a:off x="6290816" y="3016895"/>
            <a:ext cx="5706219" cy="5706219"/>
          </a:xfrm>
          <a:custGeom>
            <a:rect b="b" l="l" r="r" t="t"/>
            <a:pathLst>
              <a:path extrusionOk="0" h="5706219" w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3" name="Google Shape;333;p9"/>
          <p:cNvGrpSpPr/>
          <p:nvPr/>
        </p:nvGrpSpPr>
        <p:grpSpPr>
          <a:xfrm>
            <a:off x="7783414" y="3870722"/>
            <a:ext cx="424160" cy="630288"/>
            <a:chOff x="0" y="-133350"/>
            <a:chExt cx="565547" cy="840383"/>
          </a:xfrm>
        </p:grpSpPr>
        <p:sp>
          <p:nvSpPr>
            <p:cNvPr id="334" name="Google Shape;334;p9"/>
            <p:cNvSpPr/>
            <p:nvPr/>
          </p:nvSpPr>
          <p:spPr>
            <a:xfrm>
              <a:off x="0" y="0"/>
              <a:ext cx="565547" cy="707033"/>
            </a:xfrm>
            <a:custGeom>
              <a:rect b="b" l="l" r="r" t="t"/>
              <a:pathLst>
                <a:path extrusionOk="0" h="707033" w="565547">
                  <a:moveTo>
                    <a:pt x="0" y="0"/>
                  </a:moveTo>
                  <a:lnTo>
                    <a:pt x="565547" y="0"/>
                  </a:lnTo>
                  <a:lnTo>
                    <a:pt x="565547" y="707033"/>
                  </a:lnTo>
                  <a:lnTo>
                    <a:pt x="0" y="707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5" name="Google Shape;335;p9"/>
            <p:cNvSpPr txBox="1"/>
            <p:nvPr/>
          </p:nvSpPr>
          <p:spPr>
            <a:xfrm>
              <a:off x="0" y="-133350"/>
              <a:ext cx="565547" cy="840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3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12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1</a:t>
              </a:r>
              <a:endParaRPr/>
            </a:p>
          </p:txBody>
        </p:sp>
      </p:grpSp>
      <p:grpSp>
        <p:nvGrpSpPr>
          <p:cNvPr id="336" name="Google Shape;336;p9"/>
          <p:cNvGrpSpPr/>
          <p:nvPr/>
        </p:nvGrpSpPr>
        <p:grpSpPr>
          <a:xfrm>
            <a:off x="12422237" y="3562648"/>
            <a:ext cx="3544044" cy="457199"/>
            <a:chOff x="0" y="-19050"/>
            <a:chExt cx="4725392" cy="609600"/>
          </a:xfrm>
        </p:grpSpPr>
        <p:sp>
          <p:nvSpPr>
            <p:cNvPr id="337" name="Google Shape;337;p9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8" name="Google Shape;338;p9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Liderazgo remoto</a:t>
              </a:r>
              <a:endParaRPr/>
            </a:p>
          </p:txBody>
        </p:sp>
      </p:grpSp>
      <p:grpSp>
        <p:nvGrpSpPr>
          <p:cNvPr id="339" name="Google Shape;339;p9"/>
          <p:cNvGrpSpPr/>
          <p:nvPr/>
        </p:nvGrpSpPr>
        <p:grpSpPr>
          <a:xfrm>
            <a:off x="12422237" y="4125665"/>
            <a:ext cx="4873526" cy="971550"/>
            <a:chOff x="0" y="-85725"/>
            <a:chExt cx="6498035" cy="1295400"/>
          </a:xfrm>
        </p:grpSpPr>
        <p:sp>
          <p:nvSpPr>
            <p:cNvPr id="340" name="Google Shape;340;p9"/>
            <p:cNvSpPr/>
            <p:nvPr/>
          </p:nvSpPr>
          <p:spPr>
            <a:xfrm>
              <a:off x="0" y="0"/>
              <a:ext cx="6498035" cy="1209675"/>
            </a:xfrm>
            <a:custGeom>
              <a:rect b="b" l="l" r="r" t="t"/>
              <a:pathLst>
                <a:path extrusionOk="0" h="1209675" w="6498035">
                  <a:moveTo>
                    <a:pt x="0" y="0"/>
                  </a:moveTo>
                  <a:lnTo>
                    <a:pt x="6498035" y="0"/>
                  </a:lnTo>
                  <a:lnTo>
                    <a:pt x="6498035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1" name="Google Shape;341;p9"/>
            <p:cNvSpPr txBox="1"/>
            <p:nvPr/>
          </p:nvSpPr>
          <p:spPr>
            <a:xfrm>
              <a:off x="0" y="-85725"/>
              <a:ext cx="6498035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Nuevos modelos para gestionar equipos a distancia</a:t>
              </a:r>
              <a:endParaRPr/>
            </a:p>
          </p:txBody>
        </p:sp>
      </p:grpSp>
      <p:sp>
        <p:nvSpPr>
          <p:cNvPr descr="preencoded.png" id="342" name="Google Shape;342;p9"/>
          <p:cNvSpPr/>
          <p:nvPr/>
        </p:nvSpPr>
        <p:spPr>
          <a:xfrm>
            <a:off x="6290816" y="3016895"/>
            <a:ext cx="5706219" cy="5706219"/>
          </a:xfrm>
          <a:custGeom>
            <a:rect b="b" l="l" r="r" t="t"/>
            <a:pathLst>
              <a:path extrusionOk="0" h="5706219" w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43" name="Google Shape;343;p9"/>
          <p:cNvGrpSpPr/>
          <p:nvPr/>
        </p:nvGrpSpPr>
        <p:grpSpPr>
          <a:xfrm>
            <a:off x="10565755" y="4356347"/>
            <a:ext cx="424160" cy="630288"/>
            <a:chOff x="0" y="-133350"/>
            <a:chExt cx="565547" cy="840383"/>
          </a:xfrm>
        </p:grpSpPr>
        <p:sp>
          <p:nvSpPr>
            <p:cNvPr id="344" name="Google Shape;344;p9"/>
            <p:cNvSpPr/>
            <p:nvPr/>
          </p:nvSpPr>
          <p:spPr>
            <a:xfrm>
              <a:off x="0" y="0"/>
              <a:ext cx="565547" cy="707033"/>
            </a:xfrm>
            <a:custGeom>
              <a:rect b="b" l="l" r="r" t="t"/>
              <a:pathLst>
                <a:path extrusionOk="0" h="707033" w="565547">
                  <a:moveTo>
                    <a:pt x="0" y="0"/>
                  </a:moveTo>
                  <a:lnTo>
                    <a:pt x="565547" y="0"/>
                  </a:lnTo>
                  <a:lnTo>
                    <a:pt x="565547" y="707033"/>
                  </a:lnTo>
                  <a:lnTo>
                    <a:pt x="0" y="707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5" name="Google Shape;345;p9"/>
            <p:cNvSpPr txBox="1"/>
            <p:nvPr/>
          </p:nvSpPr>
          <p:spPr>
            <a:xfrm>
              <a:off x="0" y="-133350"/>
              <a:ext cx="565547" cy="840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3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12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2</a:t>
              </a:r>
              <a:endParaRPr/>
            </a:p>
          </p:txBody>
        </p:sp>
      </p:grpSp>
      <p:grpSp>
        <p:nvGrpSpPr>
          <p:cNvPr id="346" name="Google Shape;346;p9"/>
          <p:cNvGrpSpPr/>
          <p:nvPr/>
        </p:nvGrpSpPr>
        <p:grpSpPr>
          <a:xfrm>
            <a:off x="12422237" y="6633716"/>
            <a:ext cx="4873526" cy="900113"/>
            <a:chOff x="0" y="-19050"/>
            <a:chExt cx="6498035" cy="1200150"/>
          </a:xfrm>
        </p:grpSpPr>
        <p:sp>
          <p:nvSpPr>
            <p:cNvPr id="347" name="Google Shape;347;p9"/>
            <p:cNvSpPr/>
            <p:nvPr/>
          </p:nvSpPr>
          <p:spPr>
            <a:xfrm>
              <a:off x="0" y="0"/>
              <a:ext cx="6498035" cy="1181100"/>
            </a:xfrm>
            <a:custGeom>
              <a:rect b="b" l="l" r="r" t="t"/>
              <a:pathLst>
                <a:path extrusionOk="0" h="1181100" w="6498035">
                  <a:moveTo>
                    <a:pt x="0" y="0"/>
                  </a:moveTo>
                  <a:lnTo>
                    <a:pt x="6498035" y="0"/>
                  </a:lnTo>
                  <a:lnTo>
                    <a:pt x="6498035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8" name="Google Shape;348;p9"/>
            <p:cNvSpPr txBox="1"/>
            <p:nvPr/>
          </p:nvSpPr>
          <p:spPr>
            <a:xfrm>
              <a:off x="0" y="-19050"/>
              <a:ext cx="6498035" cy="1200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Colaboración multicultural</a:t>
              </a:r>
              <a:endParaRPr/>
            </a:p>
          </p:txBody>
        </p:sp>
      </p:grpSp>
      <p:grpSp>
        <p:nvGrpSpPr>
          <p:cNvPr id="349" name="Google Shape;349;p9"/>
          <p:cNvGrpSpPr/>
          <p:nvPr/>
        </p:nvGrpSpPr>
        <p:grpSpPr>
          <a:xfrm>
            <a:off x="12422237" y="7639645"/>
            <a:ext cx="4873526" cy="517923"/>
            <a:chOff x="0" y="-85725"/>
            <a:chExt cx="6498035" cy="690563"/>
          </a:xfrm>
        </p:grpSpPr>
        <p:sp>
          <p:nvSpPr>
            <p:cNvPr id="350" name="Google Shape;350;p9"/>
            <p:cNvSpPr/>
            <p:nvPr/>
          </p:nvSpPr>
          <p:spPr>
            <a:xfrm>
              <a:off x="0" y="0"/>
              <a:ext cx="6498035" cy="604838"/>
            </a:xfrm>
            <a:custGeom>
              <a:rect b="b" l="l" r="r" t="t"/>
              <a:pathLst>
                <a:path extrusionOk="0" h="604838" w="6498035">
                  <a:moveTo>
                    <a:pt x="0" y="0"/>
                  </a:moveTo>
                  <a:lnTo>
                    <a:pt x="6498035" y="0"/>
                  </a:lnTo>
                  <a:lnTo>
                    <a:pt x="6498035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1" name="Google Shape;351;p9"/>
            <p:cNvSpPr txBox="1"/>
            <p:nvPr/>
          </p:nvSpPr>
          <p:spPr>
            <a:xfrm>
              <a:off x="0" y="-85725"/>
              <a:ext cx="6498035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Facilitada por tecnologías globales</a:t>
              </a:r>
              <a:endParaRPr/>
            </a:p>
          </p:txBody>
        </p:sp>
      </p:grpSp>
      <p:sp>
        <p:nvSpPr>
          <p:cNvPr descr="preencoded.png" id="352" name="Google Shape;352;p9"/>
          <p:cNvSpPr/>
          <p:nvPr/>
        </p:nvSpPr>
        <p:spPr>
          <a:xfrm>
            <a:off x="6290816" y="3016895"/>
            <a:ext cx="5706219" cy="5706219"/>
          </a:xfrm>
          <a:custGeom>
            <a:rect b="b" l="l" r="r" t="t"/>
            <a:pathLst>
              <a:path extrusionOk="0" h="5706219" w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3" name="Google Shape;353;p9"/>
          <p:cNvGrpSpPr/>
          <p:nvPr/>
        </p:nvGrpSpPr>
        <p:grpSpPr>
          <a:xfrm>
            <a:off x="10080129" y="7138689"/>
            <a:ext cx="424160" cy="630288"/>
            <a:chOff x="0" y="-133350"/>
            <a:chExt cx="565547" cy="840383"/>
          </a:xfrm>
        </p:grpSpPr>
        <p:sp>
          <p:nvSpPr>
            <p:cNvPr id="354" name="Google Shape;354;p9"/>
            <p:cNvSpPr/>
            <p:nvPr/>
          </p:nvSpPr>
          <p:spPr>
            <a:xfrm>
              <a:off x="0" y="0"/>
              <a:ext cx="565547" cy="707033"/>
            </a:xfrm>
            <a:custGeom>
              <a:rect b="b" l="l" r="r" t="t"/>
              <a:pathLst>
                <a:path extrusionOk="0" h="707033" w="565547">
                  <a:moveTo>
                    <a:pt x="0" y="0"/>
                  </a:moveTo>
                  <a:lnTo>
                    <a:pt x="565547" y="0"/>
                  </a:lnTo>
                  <a:lnTo>
                    <a:pt x="565547" y="707033"/>
                  </a:lnTo>
                  <a:lnTo>
                    <a:pt x="0" y="707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5" name="Google Shape;355;p9"/>
            <p:cNvSpPr txBox="1"/>
            <p:nvPr/>
          </p:nvSpPr>
          <p:spPr>
            <a:xfrm>
              <a:off x="0" y="-133350"/>
              <a:ext cx="565547" cy="840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3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12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3</a:t>
              </a:r>
              <a:endParaRPr/>
            </a:p>
          </p:txBody>
        </p:sp>
      </p:grpSp>
      <p:grpSp>
        <p:nvGrpSpPr>
          <p:cNvPr id="356" name="Google Shape;356;p9"/>
          <p:cNvGrpSpPr/>
          <p:nvPr/>
        </p:nvGrpSpPr>
        <p:grpSpPr>
          <a:xfrm>
            <a:off x="2321570" y="6628359"/>
            <a:ext cx="3544044" cy="457199"/>
            <a:chOff x="0" y="-19050"/>
            <a:chExt cx="4725392" cy="609600"/>
          </a:xfrm>
        </p:grpSpPr>
        <p:sp>
          <p:nvSpPr>
            <p:cNvPr id="357" name="Google Shape;357;p9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8" name="Google Shape;358;p9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Adaptación VUCA</a:t>
              </a:r>
              <a:endParaRPr/>
            </a:p>
          </p:txBody>
        </p:sp>
      </p:grpSp>
      <p:grpSp>
        <p:nvGrpSpPr>
          <p:cNvPr id="359" name="Google Shape;359;p9"/>
          <p:cNvGrpSpPr/>
          <p:nvPr/>
        </p:nvGrpSpPr>
        <p:grpSpPr>
          <a:xfrm>
            <a:off x="992238" y="7191375"/>
            <a:ext cx="4873378" cy="971550"/>
            <a:chOff x="0" y="-85725"/>
            <a:chExt cx="6497837" cy="1295400"/>
          </a:xfrm>
        </p:grpSpPr>
        <p:sp>
          <p:nvSpPr>
            <p:cNvPr id="360" name="Google Shape;360;p9"/>
            <p:cNvSpPr/>
            <p:nvPr/>
          </p:nvSpPr>
          <p:spPr>
            <a:xfrm>
              <a:off x="0" y="0"/>
              <a:ext cx="6497837" cy="1209675"/>
            </a:xfrm>
            <a:custGeom>
              <a:rect b="b" l="l" r="r" t="t"/>
              <a:pathLst>
                <a:path extrusionOk="0" h="1209675" w="6497837">
                  <a:moveTo>
                    <a:pt x="0" y="0"/>
                  </a:moveTo>
                  <a:lnTo>
                    <a:pt x="6497837" y="0"/>
                  </a:lnTo>
                  <a:lnTo>
                    <a:pt x="6497837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1" name="Google Shape;361;p9"/>
            <p:cNvSpPr txBox="1"/>
            <p:nvPr/>
          </p:nvSpPr>
          <p:spPr>
            <a:xfrm>
              <a:off x="0" y="-85725"/>
              <a:ext cx="6497837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Resiliencia ante entornos volátiles e inciertos</a:t>
              </a:r>
              <a:endParaRPr/>
            </a:p>
          </p:txBody>
        </p:sp>
      </p:grpSp>
      <p:sp>
        <p:nvSpPr>
          <p:cNvPr descr="preencoded.png" id="362" name="Google Shape;362;p9"/>
          <p:cNvSpPr/>
          <p:nvPr/>
        </p:nvSpPr>
        <p:spPr>
          <a:xfrm>
            <a:off x="6290816" y="3016895"/>
            <a:ext cx="5706219" cy="5706219"/>
          </a:xfrm>
          <a:custGeom>
            <a:rect b="b" l="l" r="r" t="t"/>
            <a:pathLst>
              <a:path extrusionOk="0" h="5706219" w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3" name="Google Shape;363;p9"/>
          <p:cNvGrpSpPr/>
          <p:nvPr/>
        </p:nvGrpSpPr>
        <p:grpSpPr>
          <a:xfrm>
            <a:off x="7297788" y="6653063"/>
            <a:ext cx="424160" cy="630288"/>
            <a:chOff x="0" y="-133350"/>
            <a:chExt cx="565547" cy="840383"/>
          </a:xfrm>
        </p:grpSpPr>
        <p:sp>
          <p:nvSpPr>
            <p:cNvPr id="364" name="Google Shape;364;p9"/>
            <p:cNvSpPr/>
            <p:nvPr/>
          </p:nvSpPr>
          <p:spPr>
            <a:xfrm>
              <a:off x="0" y="0"/>
              <a:ext cx="565547" cy="707033"/>
            </a:xfrm>
            <a:custGeom>
              <a:rect b="b" l="l" r="r" t="t"/>
              <a:pathLst>
                <a:path extrusionOk="0" h="707033" w="565547">
                  <a:moveTo>
                    <a:pt x="0" y="0"/>
                  </a:moveTo>
                  <a:lnTo>
                    <a:pt x="565547" y="0"/>
                  </a:lnTo>
                  <a:lnTo>
                    <a:pt x="565547" y="707033"/>
                  </a:lnTo>
                  <a:lnTo>
                    <a:pt x="0" y="707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5" name="Google Shape;365;p9"/>
            <p:cNvSpPr txBox="1"/>
            <p:nvPr/>
          </p:nvSpPr>
          <p:spPr>
            <a:xfrm>
              <a:off x="0" y="-133350"/>
              <a:ext cx="565547" cy="840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3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12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4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4F0FF"/>
          </a:solidFill>
          <a:ln>
            <a:noFill/>
          </a:ln>
        </p:spPr>
      </p:sp>
      <p:sp>
        <p:nvSpPr>
          <p:cNvPr id="375" name="Google Shape;375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BFAFF"/>
          </a:solidFill>
          <a:ln>
            <a:noFill/>
          </a:ln>
        </p:spPr>
      </p:sp>
      <p:sp>
        <p:nvSpPr>
          <p:cNvPr descr="preencoded.png" id="376" name="Google Shape;376;p10"/>
          <p:cNvSpPr/>
          <p:nvPr/>
        </p:nvSpPr>
        <p:spPr>
          <a:xfrm>
            <a:off x="0" y="0"/>
            <a:ext cx="18288000" cy="2756892"/>
          </a:xfrm>
          <a:custGeom>
            <a:rect b="b" l="l" r="r" t="t"/>
            <a:pathLst>
              <a:path extrusionOk="0" h="2756892" w="18288000">
                <a:moveTo>
                  <a:pt x="0" y="0"/>
                </a:moveTo>
                <a:lnTo>
                  <a:pt x="18288000" y="0"/>
                </a:lnTo>
                <a:lnTo>
                  <a:pt x="18288000" y="2756892"/>
                </a:lnTo>
                <a:lnTo>
                  <a:pt x="0" y="27568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74" r="-73" t="0"/>
            </a:stretch>
          </a:blipFill>
          <a:ln>
            <a:noFill/>
          </a:ln>
        </p:spPr>
      </p:sp>
      <p:grpSp>
        <p:nvGrpSpPr>
          <p:cNvPr id="377" name="Google Shape;377;p10"/>
          <p:cNvGrpSpPr/>
          <p:nvPr/>
        </p:nvGrpSpPr>
        <p:grpSpPr>
          <a:xfrm>
            <a:off x="771822" y="3351163"/>
            <a:ext cx="9054554" cy="703509"/>
            <a:chOff x="0" y="-19050"/>
            <a:chExt cx="12072738" cy="938013"/>
          </a:xfrm>
        </p:grpSpPr>
        <p:sp>
          <p:nvSpPr>
            <p:cNvPr id="378" name="Google Shape;378;p10"/>
            <p:cNvSpPr/>
            <p:nvPr/>
          </p:nvSpPr>
          <p:spPr>
            <a:xfrm>
              <a:off x="0" y="0"/>
              <a:ext cx="12072738" cy="918963"/>
            </a:xfrm>
            <a:custGeom>
              <a:rect b="b" l="l" r="r" t="t"/>
              <a:pathLst>
                <a:path extrusionOk="0" h="918963" w="12072738">
                  <a:moveTo>
                    <a:pt x="0" y="0"/>
                  </a:moveTo>
                  <a:lnTo>
                    <a:pt x="12072738" y="0"/>
                  </a:lnTo>
                  <a:lnTo>
                    <a:pt x="12072738" y="918963"/>
                  </a:lnTo>
                  <a:lnTo>
                    <a:pt x="0" y="918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79" name="Google Shape;379;p10"/>
            <p:cNvSpPr txBox="1"/>
            <p:nvPr/>
          </p:nvSpPr>
          <p:spPr>
            <a:xfrm>
              <a:off x="0" y="-19050"/>
              <a:ext cx="12072738" cy="9380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6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312" u="none" cap="none" strike="noStrike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Futuro de los Negocios Globales</a:t>
              </a:r>
              <a:endParaRPr/>
            </a:p>
          </p:txBody>
        </p:sp>
      </p:grpSp>
      <p:sp>
        <p:nvSpPr>
          <p:cNvPr descr="preencoded.png" id="380" name="Google Shape;380;p10"/>
          <p:cNvSpPr/>
          <p:nvPr/>
        </p:nvSpPr>
        <p:spPr>
          <a:xfrm>
            <a:off x="771822" y="4385370"/>
            <a:ext cx="1102668" cy="1323231"/>
          </a:xfrm>
          <a:custGeom>
            <a:rect b="b" l="l" r="r" t="t"/>
            <a:pathLst>
              <a:path extrusionOk="0" h="1323231" w="1102668">
                <a:moveTo>
                  <a:pt x="0" y="0"/>
                </a:moveTo>
                <a:lnTo>
                  <a:pt x="1102668" y="0"/>
                </a:lnTo>
                <a:lnTo>
                  <a:pt x="1102668" y="1323231"/>
                </a:lnTo>
                <a:lnTo>
                  <a:pt x="0" y="13232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72" r="-71" t="0"/>
            </a:stretch>
          </a:blipFill>
          <a:ln>
            <a:noFill/>
          </a:ln>
        </p:spPr>
      </p:sp>
      <p:grpSp>
        <p:nvGrpSpPr>
          <p:cNvPr id="381" name="Google Shape;381;p10"/>
          <p:cNvGrpSpPr/>
          <p:nvPr/>
        </p:nvGrpSpPr>
        <p:grpSpPr>
          <a:xfrm>
            <a:off x="2205186" y="4598640"/>
            <a:ext cx="2756892" cy="351681"/>
            <a:chOff x="0" y="-9525"/>
            <a:chExt cx="3675857" cy="468908"/>
          </a:xfrm>
        </p:grpSpPr>
        <p:sp>
          <p:nvSpPr>
            <p:cNvPr id="382" name="Google Shape;382;p10"/>
            <p:cNvSpPr/>
            <p:nvPr/>
          </p:nvSpPr>
          <p:spPr>
            <a:xfrm>
              <a:off x="0" y="0"/>
              <a:ext cx="3675857" cy="459383"/>
            </a:xfrm>
            <a:custGeom>
              <a:rect b="b" l="l" r="r" t="t"/>
              <a:pathLst>
                <a:path extrusionOk="0" h="459383" w="3675857">
                  <a:moveTo>
                    <a:pt x="0" y="0"/>
                  </a:moveTo>
                  <a:lnTo>
                    <a:pt x="3675857" y="0"/>
                  </a:lnTo>
                  <a:lnTo>
                    <a:pt x="3675857" y="459383"/>
                  </a:lnTo>
                  <a:lnTo>
                    <a:pt x="0" y="4593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3" name="Google Shape;383;p10"/>
            <p:cNvSpPr txBox="1"/>
            <p:nvPr/>
          </p:nvSpPr>
          <p:spPr>
            <a:xfrm>
              <a:off x="0" y="-9525"/>
              <a:ext cx="3675857" cy="468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44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5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Tecnología decisiva</a:t>
              </a:r>
              <a:endParaRPr/>
            </a:p>
          </p:txBody>
        </p:sp>
      </p:grpSp>
      <p:grpSp>
        <p:nvGrpSpPr>
          <p:cNvPr id="384" name="Google Shape;384;p10"/>
          <p:cNvGrpSpPr/>
          <p:nvPr/>
        </p:nvGrpSpPr>
        <p:grpSpPr>
          <a:xfrm>
            <a:off x="2205186" y="5032623"/>
            <a:ext cx="15310991" cy="402877"/>
            <a:chOff x="0" y="-66675"/>
            <a:chExt cx="20414655" cy="537170"/>
          </a:xfrm>
        </p:grpSpPr>
        <p:sp>
          <p:nvSpPr>
            <p:cNvPr id="385" name="Google Shape;385;p10"/>
            <p:cNvSpPr/>
            <p:nvPr/>
          </p:nvSpPr>
          <p:spPr>
            <a:xfrm>
              <a:off x="0" y="0"/>
              <a:ext cx="20414655" cy="470495"/>
            </a:xfrm>
            <a:custGeom>
              <a:rect b="b" l="l" r="r" t="t"/>
              <a:pathLst>
                <a:path extrusionOk="0" h="470495" w="20414655">
                  <a:moveTo>
                    <a:pt x="0" y="0"/>
                  </a:moveTo>
                  <a:lnTo>
                    <a:pt x="20414655" y="0"/>
                  </a:lnTo>
                  <a:lnTo>
                    <a:pt x="20414655" y="470495"/>
                  </a:lnTo>
                  <a:lnTo>
                    <a:pt x="0" y="4704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6" name="Google Shape;386;p10"/>
            <p:cNvSpPr txBox="1"/>
            <p:nvPr/>
          </p:nvSpPr>
          <p:spPr>
            <a:xfrm>
              <a:off x="0" y="-66675"/>
              <a:ext cx="20414655" cy="537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95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Impulsará nuevas configuraciones globales</a:t>
              </a:r>
              <a:endParaRPr/>
            </a:p>
          </p:txBody>
        </p:sp>
      </p:grpSp>
      <p:sp>
        <p:nvSpPr>
          <p:cNvPr descr="preencoded.png" id="387" name="Google Shape;387;p10"/>
          <p:cNvSpPr/>
          <p:nvPr/>
        </p:nvSpPr>
        <p:spPr>
          <a:xfrm>
            <a:off x="771822" y="5708600"/>
            <a:ext cx="1102668" cy="1323231"/>
          </a:xfrm>
          <a:custGeom>
            <a:rect b="b" l="l" r="r" t="t"/>
            <a:pathLst>
              <a:path extrusionOk="0" h="1323231" w="1102668">
                <a:moveTo>
                  <a:pt x="0" y="0"/>
                </a:moveTo>
                <a:lnTo>
                  <a:pt x="1102668" y="0"/>
                </a:lnTo>
                <a:lnTo>
                  <a:pt x="1102668" y="1323231"/>
                </a:lnTo>
                <a:lnTo>
                  <a:pt x="0" y="13232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72" r="-71" t="0"/>
            </a:stretch>
          </a:blipFill>
          <a:ln>
            <a:noFill/>
          </a:ln>
        </p:spPr>
      </p:sp>
      <p:grpSp>
        <p:nvGrpSpPr>
          <p:cNvPr id="388" name="Google Shape;388;p10"/>
          <p:cNvGrpSpPr/>
          <p:nvPr/>
        </p:nvGrpSpPr>
        <p:grpSpPr>
          <a:xfrm>
            <a:off x="2205186" y="5921871"/>
            <a:ext cx="2899173" cy="351681"/>
            <a:chOff x="0" y="-9525"/>
            <a:chExt cx="3865563" cy="468908"/>
          </a:xfrm>
        </p:grpSpPr>
        <p:sp>
          <p:nvSpPr>
            <p:cNvPr id="389" name="Google Shape;389;p10"/>
            <p:cNvSpPr/>
            <p:nvPr/>
          </p:nvSpPr>
          <p:spPr>
            <a:xfrm>
              <a:off x="0" y="0"/>
              <a:ext cx="3865563" cy="459383"/>
            </a:xfrm>
            <a:custGeom>
              <a:rect b="b" l="l" r="r" t="t"/>
              <a:pathLst>
                <a:path extrusionOk="0" h="459383" w="3865563">
                  <a:moveTo>
                    <a:pt x="0" y="0"/>
                  </a:moveTo>
                  <a:lnTo>
                    <a:pt x="3865563" y="0"/>
                  </a:lnTo>
                  <a:lnTo>
                    <a:pt x="3865563" y="459383"/>
                  </a:lnTo>
                  <a:lnTo>
                    <a:pt x="0" y="4593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0" name="Google Shape;390;p10"/>
            <p:cNvSpPr txBox="1"/>
            <p:nvPr/>
          </p:nvSpPr>
          <p:spPr>
            <a:xfrm>
              <a:off x="0" y="-9525"/>
              <a:ext cx="3865563" cy="468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44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5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Mayor digitalización</a:t>
              </a:r>
              <a:endParaRPr/>
            </a:p>
          </p:txBody>
        </p:sp>
      </p:grpSp>
      <p:grpSp>
        <p:nvGrpSpPr>
          <p:cNvPr id="391" name="Google Shape;391;p10"/>
          <p:cNvGrpSpPr/>
          <p:nvPr/>
        </p:nvGrpSpPr>
        <p:grpSpPr>
          <a:xfrm>
            <a:off x="2205186" y="6355854"/>
            <a:ext cx="15310991" cy="402877"/>
            <a:chOff x="0" y="-66675"/>
            <a:chExt cx="20414655" cy="537170"/>
          </a:xfrm>
        </p:grpSpPr>
        <p:sp>
          <p:nvSpPr>
            <p:cNvPr id="392" name="Google Shape;392;p10"/>
            <p:cNvSpPr/>
            <p:nvPr/>
          </p:nvSpPr>
          <p:spPr>
            <a:xfrm>
              <a:off x="0" y="0"/>
              <a:ext cx="20414655" cy="470495"/>
            </a:xfrm>
            <a:custGeom>
              <a:rect b="b" l="l" r="r" t="t"/>
              <a:pathLst>
                <a:path extrusionOk="0" h="470495" w="20414655">
                  <a:moveTo>
                    <a:pt x="0" y="0"/>
                  </a:moveTo>
                  <a:lnTo>
                    <a:pt x="20414655" y="0"/>
                  </a:lnTo>
                  <a:lnTo>
                    <a:pt x="20414655" y="470495"/>
                  </a:lnTo>
                  <a:lnTo>
                    <a:pt x="0" y="4704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3" name="Google Shape;393;p10"/>
            <p:cNvSpPr txBox="1"/>
            <p:nvPr/>
          </p:nvSpPr>
          <p:spPr>
            <a:xfrm>
              <a:off x="0" y="-66675"/>
              <a:ext cx="20414655" cy="537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95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Eficiencia y adaptabilidad en evolución continua</a:t>
              </a:r>
              <a:endParaRPr/>
            </a:p>
          </p:txBody>
        </p:sp>
      </p:grpSp>
      <p:sp>
        <p:nvSpPr>
          <p:cNvPr descr="preencoded.png" id="394" name="Google Shape;394;p10"/>
          <p:cNvSpPr/>
          <p:nvPr/>
        </p:nvSpPr>
        <p:spPr>
          <a:xfrm>
            <a:off x="771822" y="7031831"/>
            <a:ext cx="1102668" cy="1323231"/>
          </a:xfrm>
          <a:custGeom>
            <a:rect b="b" l="l" r="r" t="t"/>
            <a:pathLst>
              <a:path extrusionOk="0" h="1323231" w="1102668">
                <a:moveTo>
                  <a:pt x="0" y="0"/>
                </a:moveTo>
                <a:lnTo>
                  <a:pt x="1102668" y="0"/>
                </a:lnTo>
                <a:lnTo>
                  <a:pt x="1102668" y="1323231"/>
                </a:lnTo>
                <a:lnTo>
                  <a:pt x="0" y="13232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72" r="-71" t="0"/>
            </a:stretch>
          </a:blipFill>
          <a:ln>
            <a:noFill/>
          </a:ln>
        </p:spPr>
      </p:sp>
      <p:grpSp>
        <p:nvGrpSpPr>
          <p:cNvPr id="395" name="Google Shape;395;p10"/>
          <p:cNvGrpSpPr/>
          <p:nvPr/>
        </p:nvGrpSpPr>
        <p:grpSpPr>
          <a:xfrm>
            <a:off x="2205186" y="7245102"/>
            <a:ext cx="2756892" cy="351681"/>
            <a:chOff x="0" y="-9525"/>
            <a:chExt cx="3675857" cy="468908"/>
          </a:xfrm>
        </p:grpSpPr>
        <p:sp>
          <p:nvSpPr>
            <p:cNvPr id="396" name="Google Shape;396;p10"/>
            <p:cNvSpPr/>
            <p:nvPr/>
          </p:nvSpPr>
          <p:spPr>
            <a:xfrm>
              <a:off x="0" y="0"/>
              <a:ext cx="3675857" cy="459383"/>
            </a:xfrm>
            <a:custGeom>
              <a:rect b="b" l="l" r="r" t="t"/>
              <a:pathLst>
                <a:path extrusionOk="0" h="459383" w="3675857">
                  <a:moveTo>
                    <a:pt x="0" y="0"/>
                  </a:moveTo>
                  <a:lnTo>
                    <a:pt x="3675857" y="0"/>
                  </a:lnTo>
                  <a:lnTo>
                    <a:pt x="3675857" y="459383"/>
                  </a:lnTo>
                  <a:lnTo>
                    <a:pt x="0" y="4593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7" name="Google Shape;397;p10"/>
            <p:cNvSpPr txBox="1"/>
            <p:nvPr/>
          </p:nvSpPr>
          <p:spPr>
            <a:xfrm>
              <a:off x="0" y="-9525"/>
              <a:ext cx="3675857" cy="468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44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5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Sostenibilidad</a:t>
              </a:r>
              <a:endParaRPr/>
            </a:p>
          </p:txBody>
        </p:sp>
      </p:grpSp>
      <p:grpSp>
        <p:nvGrpSpPr>
          <p:cNvPr id="398" name="Google Shape;398;p10"/>
          <p:cNvGrpSpPr/>
          <p:nvPr/>
        </p:nvGrpSpPr>
        <p:grpSpPr>
          <a:xfrm>
            <a:off x="2205186" y="7679085"/>
            <a:ext cx="15310991" cy="402877"/>
            <a:chOff x="0" y="-66675"/>
            <a:chExt cx="20414655" cy="537170"/>
          </a:xfrm>
        </p:grpSpPr>
        <p:sp>
          <p:nvSpPr>
            <p:cNvPr id="399" name="Google Shape;399;p10"/>
            <p:cNvSpPr/>
            <p:nvPr/>
          </p:nvSpPr>
          <p:spPr>
            <a:xfrm>
              <a:off x="0" y="0"/>
              <a:ext cx="20414655" cy="470495"/>
            </a:xfrm>
            <a:custGeom>
              <a:rect b="b" l="l" r="r" t="t"/>
              <a:pathLst>
                <a:path extrusionOk="0" h="470495" w="20414655">
                  <a:moveTo>
                    <a:pt x="0" y="0"/>
                  </a:moveTo>
                  <a:lnTo>
                    <a:pt x="20414655" y="0"/>
                  </a:lnTo>
                  <a:lnTo>
                    <a:pt x="20414655" y="470495"/>
                  </a:lnTo>
                  <a:lnTo>
                    <a:pt x="0" y="4704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0" name="Google Shape;400;p10"/>
            <p:cNvSpPr txBox="1"/>
            <p:nvPr/>
          </p:nvSpPr>
          <p:spPr>
            <a:xfrm>
              <a:off x="0" y="-66675"/>
              <a:ext cx="20414655" cy="537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95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Prioridad estratégica central en negocios</a:t>
              </a:r>
              <a:endParaRPr/>
            </a:p>
          </p:txBody>
        </p:sp>
      </p:grpSp>
      <p:sp>
        <p:nvSpPr>
          <p:cNvPr descr="preencoded.png" id="401" name="Google Shape;401;p10"/>
          <p:cNvSpPr/>
          <p:nvPr/>
        </p:nvSpPr>
        <p:spPr>
          <a:xfrm>
            <a:off x="771822" y="8355062"/>
            <a:ext cx="1102668" cy="1323231"/>
          </a:xfrm>
          <a:custGeom>
            <a:rect b="b" l="l" r="r" t="t"/>
            <a:pathLst>
              <a:path extrusionOk="0" h="1323231" w="1102668">
                <a:moveTo>
                  <a:pt x="0" y="0"/>
                </a:moveTo>
                <a:lnTo>
                  <a:pt x="1102668" y="0"/>
                </a:lnTo>
                <a:lnTo>
                  <a:pt x="1102668" y="1323232"/>
                </a:lnTo>
                <a:lnTo>
                  <a:pt x="0" y="13232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72" r="-71" t="0"/>
            </a:stretch>
          </a:blipFill>
          <a:ln>
            <a:noFill/>
          </a:ln>
        </p:spPr>
      </p:sp>
      <p:grpSp>
        <p:nvGrpSpPr>
          <p:cNvPr id="402" name="Google Shape;402;p10"/>
          <p:cNvGrpSpPr/>
          <p:nvPr/>
        </p:nvGrpSpPr>
        <p:grpSpPr>
          <a:xfrm>
            <a:off x="2205186" y="8568332"/>
            <a:ext cx="3091011" cy="351681"/>
            <a:chOff x="0" y="-9525"/>
            <a:chExt cx="4121348" cy="468908"/>
          </a:xfrm>
        </p:grpSpPr>
        <p:sp>
          <p:nvSpPr>
            <p:cNvPr id="403" name="Google Shape;403;p10"/>
            <p:cNvSpPr/>
            <p:nvPr/>
          </p:nvSpPr>
          <p:spPr>
            <a:xfrm>
              <a:off x="0" y="0"/>
              <a:ext cx="4121348" cy="459383"/>
            </a:xfrm>
            <a:custGeom>
              <a:rect b="b" l="l" r="r" t="t"/>
              <a:pathLst>
                <a:path extrusionOk="0" h="459383" w="4121348">
                  <a:moveTo>
                    <a:pt x="0" y="0"/>
                  </a:moveTo>
                  <a:lnTo>
                    <a:pt x="4121348" y="0"/>
                  </a:lnTo>
                  <a:lnTo>
                    <a:pt x="4121348" y="459383"/>
                  </a:lnTo>
                  <a:lnTo>
                    <a:pt x="0" y="4593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4" name="Google Shape;404;p10"/>
            <p:cNvSpPr txBox="1"/>
            <p:nvPr/>
          </p:nvSpPr>
          <p:spPr>
            <a:xfrm>
              <a:off x="0" y="-9525"/>
              <a:ext cx="4121348" cy="468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44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5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Modelos responsables</a:t>
              </a:r>
              <a:endParaRPr/>
            </a:p>
          </p:txBody>
        </p:sp>
      </p:grpSp>
      <p:grpSp>
        <p:nvGrpSpPr>
          <p:cNvPr id="405" name="Google Shape;405;p10"/>
          <p:cNvGrpSpPr/>
          <p:nvPr/>
        </p:nvGrpSpPr>
        <p:grpSpPr>
          <a:xfrm>
            <a:off x="2205186" y="9002316"/>
            <a:ext cx="15310991" cy="402877"/>
            <a:chOff x="0" y="-66675"/>
            <a:chExt cx="20414655" cy="537170"/>
          </a:xfrm>
        </p:grpSpPr>
        <p:sp>
          <p:nvSpPr>
            <p:cNvPr id="406" name="Google Shape;406;p10"/>
            <p:cNvSpPr/>
            <p:nvPr/>
          </p:nvSpPr>
          <p:spPr>
            <a:xfrm>
              <a:off x="0" y="0"/>
              <a:ext cx="20414655" cy="470495"/>
            </a:xfrm>
            <a:custGeom>
              <a:rect b="b" l="l" r="r" t="t"/>
              <a:pathLst>
                <a:path extrusionOk="0" h="470495" w="20414655">
                  <a:moveTo>
                    <a:pt x="0" y="0"/>
                  </a:moveTo>
                  <a:lnTo>
                    <a:pt x="20414655" y="0"/>
                  </a:lnTo>
                  <a:lnTo>
                    <a:pt x="20414655" y="470495"/>
                  </a:lnTo>
                  <a:lnTo>
                    <a:pt x="0" y="4704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7" name="Google Shape;407;p10"/>
            <p:cNvSpPr txBox="1"/>
            <p:nvPr/>
          </p:nvSpPr>
          <p:spPr>
            <a:xfrm>
              <a:off x="0" y="-66675"/>
              <a:ext cx="20414655" cy="537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95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Presión creciente para prácticas éticas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4F0FF"/>
          </a:solidFill>
          <a:ln>
            <a:noFill/>
          </a:ln>
        </p:spPr>
      </p:sp>
      <p:sp>
        <p:nvSpPr>
          <p:cNvPr id="417" name="Google Shape;417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BFAFF"/>
          </a:solidFill>
          <a:ln>
            <a:noFill/>
          </a:ln>
        </p:spPr>
      </p:sp>
      <p:sp>
        <p:nvSpPr>
          <p:cNvPr descr="preencoded.png" id="418" name="Google Shape;418;p11"/>
          <p:cNvSpPr/>
          <p:nvPr/>
        </p:nvSpPr>
        <p:spPr>
          <a:xfrm>
            <a:off x="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19" name="Google Shape;419;p11"/>
          <p:cNvGrpSpPr/>
          <p:nvPr/>
        </p:nvGrpSpPr>
        <p:grpSpPr>
          <a:xfrm>
            <a:off x="7850237" y="1323083"/>
            <a:ext cx="9445526" cy="1793378"/>
            <a:chOff x="0" y="-28575"/>
            <a:chExt cx="12594035" cy="2391172"/>
          </a:xfrm>
        </p:grpSpPr>
        <p:sp>
          <p:nvSpPr>
            <p:cNvPr id="420" name="Google Shape;420;p11"/>
            <p:cNvSpPr/>
            <p:nvPr/>
          </p:nvSpPr>
          <p:spPr>
            <a:xfrm>
              <a:off x="0" y="0"/>
              <a:ext cx="12594035" cy="2362597"/>
            </a:xfrm>
            <a:custGeom>
              <a:rect b="b" l="l" r="r" t="t"/>
              <a:pathLst>
                <a:path extrusionOk="0" h="2362597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21" name="Google Shape;421;p11"/>
            <p:cNvSpPr txBox="1"/>
            <p:nvPr/>
          </p:nvSpPr>
          <p:spPr>
            <a:xfrm>
              <a:off x="0" y="-28575"/>
              <a:ext cx="12594035" cy="239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62" u="none" cap="none" strike="noStrike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Global E-business: Definición</a:t>
              </a:r>
              <a:endParaRPr/>
            </a:p>
          </p:txBody>
        </p:sp>
      </p:grpSp>
      <p:sp>
        <p:nvSpPr>
          <p:cNvPr id="422" name="Google Shape;422;p11"/>
          <p:cNvSpPr/>
          <p:nvPr/>
        </p:nvSpPr>
        <p:spPr>
          <a:xfrm>
            <a:off x="7850237" y="3541662"/>
            <a:ext cx="212598" cy="1066704"/>
          </a:xfrm>
          <a:custGeom>
            <a:rect b="b" l="l" r="r" t="t"/>
            <a:pathLst>
              <a:path extrusionOk="0" h="1422273" w="283464">
                <a:moveTo>
                  <a:pt x="0" y="56769"/>
                </a:moveTo>
                <a:cubicBezTo>
                  <a:pt x="0" y="25400"/>
                  <a:pt x="25400" y="0"/>
                  <a:pt x="56769" y="0"/>
                </a:cubicBezTo>
                <a:lnTo>
                  <a:pt x="226695" y="0"/>
                </a:lnTo>
                <a:cubicBezTo>
                  <a:pt x="258064" y="0"/>
                  <a:pt x="283464" y="25400"/>
                  <a:pt x="283464" y="56769"/>
                </a:cubicBezTo>
                <a:lnTo>
                  <a:pt x="283464" y="1365504"/>
                </a:lnTo>
                <a:cubicBezTo>
                  <a:pt x="283464" y="1396873"/>
                  <a:pt x="258064" y="1422273"/>
                  <a:pt x="226695" y="1422273"/>
                </a:cubicBezTo>
                <a:lnTo>
                  <a:pt x="56769" y="1422273"/>
                </a:lnTo>
                <a:cubicBezTo>
                  <a:pt x="25400" y="1422273"/>
                  <a:pt x="0" y="1396873"/>
                  <a:pt x="0" y="1365504"/>
                </a:cubicBezTo>
                <a:close/>
              </a:path>
            </a:pathLst>
          </a:cu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3" name="Google Shape;423;p11"/>
          <p:cNvGrpSpPr/>
          <p:nvPr/>
        </p:nvGrpSpPr>
        <p:grpSpPr>
          <a:xfrm>
            <a:off x="8487966" y="3527375"/>
            <a:ext cx="4173736" cy="457199"/>
            <a:chOff x="0" y="-19050"/>
            <a:chExt cx="5564982" cy="609600"/>
          </a:xfrm>
        </p:grpSpPr>
        <p:sp>
          <p:nvSpPr>
            <p:cNvPr id="424" name="Google Shape;424;p11"/>
            <p:cNvSpPr/>
            <p:nvPr/>
          </p:nvSpPr>
          <p:spPr>
            <a:xfrm>
              <a:off x="0" y="0"/>
              <a:ext cx="5564982" cy="590550"/>
            </a:xfrm>
            <a:custGeom>
              <a:rect b="b" l="l" r="r" t="t"/>
              <a:pathLst>
                <a:path extrusionOk="0" h="590550" w="5564982">
                  <a:moveTo>
                    <a:pt x="0" y="0"/>
                  </a:moveTo>
                  <a:lnTo>
                    <a:pt x="5564982" y="0"/>
                  </a:lnTo>
                  <a:lnTo>
                    <a:pt x="556498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25" name="Google Shape;425;p11"/>
            <p:cNvSpPr txBox="1"/>
            <p:nvPr/>
          </p:nvSpPr>
          <p:spPr>
            <a:xfrm>
              <a:off x="0" y="-19050"/>
              <a:ext cx="556498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Transformación digital</a:t>
              </a:r>
              <a:endParaRPr/>
            </a:p>
          </p:txBody>
        </p:sp>
      </p:grpSp>
      <p:grpSp>
        <p:nvGrpSpPr>
          <p:cNvPr id="426" name="Google Shape;426;p11"/>
          <p:cNvGrpSpPr/>
          <p:nvPr/>
        </p:nvGrpSpPr>
        <p:grpSpPr>
          <a:xfrm>
            <a:off x="8487966" y="4090392"/>
            <a:ext cx="8807797" cy="517923"/>
            <a:chOff x="0" y="-85725"/>
            <a:chExt cx="11743730" cy="690563"/>
          </a:xfrm>
        </p:grpSpPr>
        <p:sp>
          <p:nvSpPr>
            <p:cNvPr id="427" name="Google Shape;427;p11"/>
            <p:cNvSpPr/>
            <p:nvPr/>
          </p:nvSpPr>
          <p:spPr>
            <a:xfrm>
              <a:off x="0" y="0"/>
              <a:ext cx="11743730" cy="604838"/>
            </a:xfrm>
            <a:custGeom>
              <a:rect b="b" l="l" r="r" t="t"/>
              <a:pathLst>
                <a:path extrusionOk="0" h="604838" w="11743730">
                  <a:moveTo>
                    <a:pt x="0" y="0"/>
                  </a:moveTo>
                  <a:lnTo>
                    <a:pt x="11743730" y="0"/>
                  </a:lnTo>
                  <a:lnTo>
                    <a:pt x="1174373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28" name="Google Shape;428;p11"/>
            <p:cNvSpPr txBox="1"/>
            <p:nvPr/>
          </p:nvSpPr>
          <p:spPr>
            <a:xfrm>
              <a:off x="0" y="-85725"/>
              <a:ext cx="11743730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Procesos empresariales integrados con tecnologías digitales</a:t>
              </a:r>
              <a:endParaRPr/>
            </a:p>
          </p:txBody>
        </p:sp>
      </p:grpSp>
      <p:sp>
        <p:nvSpPr>
          <p:cNvPr id="429" name="Google Shape;429;p11"/>
          <p:cNvSpPr/>
          <p:nvPr/>
        </p:nvSpPr>
        <p:spPr>
          <a:xfrm>
            <a:off x="8275439" y="4891831"/>
            <a:ext cx="212598" cy="1066704"/>
          </a:xfrm>
          <a:custGeom>
            <a:rect b="b" l="l" r="r" t="t"/>
            <a:pathLst>
              <a:path extrusionOk="0" h="1422273" w="283464">
                <a:moveTo>
                  <a:pt x="0" y="56769"/>
                </a:moveTo>
                <a:cubicBezTo>
                  <a:pt x="0" y="25400"/>
                  <a:pt x="25400" y="0"/>
                  <a:pt x="56769" y="0"/>
                </a:cubicBezTo>
                <a:lnTo>
                  <a:pt x="226695" y="0"/>
                </a:lnTo>
                <a:cubicBezTo>
                  <a:pt x="258064" y="0"/>
                  <a:pt x="283464" y="25400"/>
                  <a:pt x="283464" y="56769"/>
                </a:cubicBezTo>
                <a:lnTo>
                  <a:pt x="283464" y="1365504"/>
                </a:lnTo>
                <a:cubicBezTo>
                  <a:pt x="283464" y="1396873"/>
                  <a:pt x="258064" y="1422273"/>
                  <a:pt x="226695" y="1422273"/>
                </a:cubicBezTo>
                <a:lnTo>
                  <a:pt x="56769" y="1422273"/>
                </a:lnTo>
                <a:cubicBezTo>
                  <a:pt x="25400" y="1422273"/>
                  <a:pt x="0" y="1396873"/>
                  <a:pt x="0" y="1365504"/>
                </a:cubicBezTo>
                <a:close/>
              </a:path>
            </a:pathLst>
          </a:cu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0" name="Google Shape;430;p11"/>
          <p:cNvGrpSpPr/>
          <p:nvPr/>
        </p:nvGrpSpPr>
        <p:grpSpPr>
          <a:xfrm>
            <a:off x="8913167" y="4877544"/>
            <a:ext cx="3544044" cy="457199"/>
            <a:chOff x="0" y="-19050"/>
            <a:chExt cx="4725392" cy="609600"/>
          </a:xfrm>
        </p:grpSpPr>
        <p:sp>
          <p:nvSpPr>
            <p:cNvPr id="431" name="Google Shape;431;p11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2" name="Google Shape;432;p11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Modelo global</a:t>
              </a:r>
              <a:endParaRPr/>
            </a:p>
          </p:txBody>
        </p:sp>
      </p:grpSp>
      <p:grpSp>
        <p:nvGrpSpPr>
          <p:cNvPr id="433" name="Google Shape;433;p11"/>
          <p:cNvGrpSpPr/>
          <p:nvPr/>
        </p:nvGrpSpPr>
        <p:grpSpPr>
          <a:xfrm>
            <a:off x="8913167" y="5440561"/>
            <a:ext cx="8382595" cy="517923"/>
            <a:chOff x="0" y="-85725"/>
            <a:chExt cx="11176793" cy="690563"/>
          </a:xfrm>
        </p:grpSpPr>
        <p:sp>
          <p:nvSpPr>
            <p:cNvPr id="434" name="Google Shape;434;p11"/>
            <p:cNvSpPr/>
            <p:nvPr/>
          </p:nvSpPr>
          <p:spPr>
            <a:xfrm>
              <a:off x="0" y="0"/>
              <a:ext cx="11176793" cy="604838"/>
            </a:xfrm>
            <a:custGeom>
              <a:rect b="b" l="l" r="r" t="t"/>
              <a:pathLst>
                <a:path extrusionOk="0" h="604838" w="11176793">
                  <a:moveTo>
                    <a:pt x="0" y="0"/>
                  </a:moveTo>
                  <a:lnTo>
                    <a:pt x="11176793" y="0"/>
                  </a:lnTo>
                  <a:lnTo>
                    <a:pt x="11176793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5" name="Google Shape;435;p11"/>
            <p:cNvSpPr txBox="1"/>
            <p:nvPr/>
          </p:nvSpPr>
          <p:spPr>
            <a:xfrm>
              <a:off x="0" y="-85725"/>
              <a:ext cx="11176793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Negocios que trascienden fronteras geográficas</a:t>
              </a:r>
              <a:endParaRPr/>
            </a:p>
          </p:txBody>
        </p:sp>
      </p:grpSp>
      <p:sp>
        <p:nvSpPr>
          <p:cNvPr id="436" name="Google Shape;436;p11"/>
          <p:cNvSpPr/>
          <p:nvPr/>
        </p:nvSpPr>
        <p:spPr>
          <a:xfrm>
            <a:off x="8700790" y="6242000"/>
            <a:ext cx="212598" cy="1066704"/>
          </a:xfrm>
          <a:custGeom>
            <a:rect b="b" l="l" r="r" t="t"/>
            <a:pathLst>
              <a:path extrusionOk="0" h="1422273" w="283464">
                <a:moveTo>
                  <a:pt x="0" y="56769"/>
                </a:moveTo>
                <a:cubicBezTo>
                  <a:pt x="0" y="25400"/>
                  <a:pt x="25400" y="0"/>
                  <a:pt x="56769" y="0"/>
                </a:cubicBezTo>
                <a:lnTo>
                  <a:pt x="226695" y="0"/>
                </a:lnTo>
                <a:cubicBezTo>
                  <a:pt x="258064" y="0"/>
                  <a:pt x="283464" y="25400"/>
                  <a:pt x="283464" y="56769"/>
                </a:cubicBezTo>
                <a:lnTo>
                  <a:pt x="283464" y="1365504"/>
                </a:lnTo>
                <a:cubicBezTo>
                  <a:pt x="283464" y="1396873"/>
                  <a:pt x="258064" y="1422273"/>
                  <a:pt x="226695" y="1422273"/>
                </a:cubicBezTo>
                <a:lnTo>
                  <a:pt x="56769" y="1422273"/>
                </a:lnTo>
                <a:cubicBezTo>
                  <a:pt x="25400" y="1422273"/>
                  <a:pt x="0" y="1396873"/>
                  <a:pt x="0" y="1365504"/>
                </a:cubicBezTo>
                <a:close/>
              </a:path>
            </a:pathLst>
          </a:cu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7" name="Google Shape;437;p11"/>
          <p:cNvGrpSpPr/>
          <p:nvPr/>
        </p:nvGrpSpPr>
        <p:grpSpPr>
          <a:xfrm>
            <a:off x="9338519" y="6227713"/>
            <a:ext cx="3544044" cy="457199"/>
            <a:chOff x="0" y="-19050"/>
            <a:chExt cx="4725392" cy="609600"/>
          </a:xfrm>
        </p:grpSpPr>
        <p:sp>
          <p:nvSpPr>
            <p:cNvPr id="438" name="Google Shape;438;p11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9" name="Google Shape;439;p11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Cadenas de valor</a:t>
              </a:r>
              <a:endParaRPr/>
            </a:p>
          </p:txBody>
        </p:sp>
      </p:grpSp>
      <p:grpSp>
        <p:nvGrpSpPr>
          <p:cNvPr id="440" name="Google Shape;440;p11"/>
          <p:cNvGrpSpPr/>
          <p:nvPr/>
        </p:nvGrpSpPr>
        <p:grpSpPr>
          <a:xfrm>
            <a:off x="9338519" y="6790730"/>
            <a:ext cx="7957245" cy="517923"/>
            <a:chOff x="0" y="-85725"/>
            <a:chExt cx="10609660" cy="690563"/>
          </a:xfrm>
        </p:grpSpPr>
        <p:sp>
          <p:nvSpPr>
            <p:cNvPr id="441" name="Google Shape;441;p11"/>
            <p:cNvSpPr/>
            <p:nvPr/>
          </p:nvSpPr>
          <p:spPr>
            <a:xfrm>
              <a:off x="0" y="0"/>
              <a:ext cx="10609660" cy="604838"/>
            </a:xfrm>
            <a:custGeom>
              <a:rect b="b" l="l" r="r" t="t"/>
              <a:pathLst>
                <a:path extrusionOk="0" h="604838" w="10609660">
                  <a:moveTo>
                    <a:pt x="0" y="0"/>
                  </a:moveTo>
                  <a:lnTo>
                    <a:pt x="10609660" y="0"/>
                  </a:lnTo>
                  <a:lnTo>
                    <a:pt x="1060966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2" name="Google Shape;442;p11"/>
            <p:cNvSpPr txBox="1"/>
            <p:nvPr/>
          </p:nvSpPr>
          <p:spPr>
            <a:xfrm>
              <a:off x="0" y="-85725"/>
              <a:ext cx="10609660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Integración digital y globalizada</a:t>
              </a:r>
              <a:endParaRPr/>
            </a:p>
          </p:txBody>
        </p:sp>
      </p:grpSp>
      <p:sp>
        <p:nvSpPr>
          <p:cNvPr id="443" name="Google Shape;443;p11"/>
          <p:cNvSpPr/>
          <p:nvPr/>
        </p:nvSpPr>
        <p:spPr>
          <a:xfrm>
            <a:off x="9126141" y="7592169"/>
            <a:ext cx="212598" cy="1066704"/>
          </a:xfrm>
          <a:custGeom>
            <a:rect b="b" l="l" r="r" t="t"/>
            <a:pathLst>
              <a:path extrusionOk="0" h="1422273" w="283464">
                <a:moveTo>
                  <a:pt x="0" y="56769"/>
                </a:moveTo>
                <a:cubicBezTo>
                  <a:pt x="0" y="25400"/>
                  <a:pt x="25400" y="0"/>
                  <a:pt x="56769" y="0"/>
                </a:cubicBezTo>
                <a:lnTo>
                  <a:pt x="226695" y="0"/>
                </a:lnTo>
                <a:cubicBezTo>
                  <a:pt x="258064" y="0"/>
                  <a:pt x="283464" y="25400"/>
                  <a:pt x="283464" y="56769"/>
                </a:cubicBezTo>
                <a:lnTo>
                  <a:pt x="283464" y="1365504"/>
                </a:lnTo>
                <a:cubicBezTo>
                  <a:pt x="283464" y="1396873"/>
                  <a:pt x="258064" y="1422273"/>
                  <a:pt x="226695" y="1422273"/>
                </a:cubicBezTo>
                <a:lnTo>
                  <a:pt x="56769" y="1422273"/>
                </a:lnTo>
                <a:cubicBezTo>
                  <a:pt x="25400" y="1422273"/>
                  <a:pt x="0" y="1396873"/>
                  <a:pt x="0" y="1365504"/>
                </a:cubicBezTo>
                <a:close/>
              </a:path>
            </a:pathLst>
          </a:cu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4" name="Google Shape;444;p11"/>
          <p:cNvGrpSpPr/>
          <p:nvPr/>
        </p:nvGrpSpPr>
        <p:grpSpPr>
          <a:xfrm>
            <a:off x="9763869" y="7577882"/>
            <a:ext cx="3544044" cy="457199"/>
            <a:chOff x="0" y="-19050"/>
            <a:chExt cx="4725392" cy="609600"/>
          </a:xfrm>
        </p:grpSpPr>
        <p:sp>
          <p:nvSpPr>
            <p:cNvPr id="445" name="Google Shape;445;p11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6" name="Google Shape;446;p11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Ecosistema</a:t>
              </a:r>
              <a:endParaRPr/>
            </a:p>
          </p:txBody>
        </p:sp>
      </p:grpSp>
      <p:grpSp>
        <p:nvGrpSpPr>
          <p:cNvPr id="447" name="Google Shape;447;p11"/>
          <p:cNvGrpSpPr/>
          <p:nvPr/>
        </p:nvGrpSpPr>
        <p:grpSpPr>
          <a:xfrm>
            <a:off x="9763869" y="8140898"/>
            <a:ext cx="7531894" cy="517923"/>
            <a:chOff x="0" y="-85725"/>
            <a:chExt cx="10042525" cy="690563"/>
          </a:xfrm>
        </p:grpSpPr>
        <p:sp>
          <p:nvSpPr>
            <p:cNvPr id="448" name="Google Shape;448;p11"/>
            <p:cNvSpPr/>
            <p:nvPr/>
          </p:nvSpPr>
          <p:spPr>
            <a:xfrm>
              <a:off x="0" y="0"/>
              <a:ext cx="10042525" cy="604838"/>
            </a:xfrm>
            <a:custGeom>
              <a:rect b="b" l="l" r="r" t="t"/>
              <a:pathLst>
                <a:path extrusionOk="0" h="604838" w="10042525">
                  <a:moveTo>
                    <a:pt x="0" y="0"/>
                  </a:moveTo>
                  <a:lnTo>
                    <a:pt x="10042525" y="0"/>
                  </a:lnTo>
                  <a:lnTo>
                    <a:pt x="10042525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9" name="Google Shape;449;p11"/>
            <p:cNvSpPr txBox="1"/>
            <p:nvPr/>
          </p:nvSpPr>
          <p:spPr>
            <a:xfrm>
              <a:off x="0" y="-85725"/>
              <a:ext cx="10042525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Relaciones comerciales mediadas por plataformas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4F0FF"/>
          </a:solidFill>
          <a:ln>
            <a:noFill/>
          </a:ln>
        </p:spPr>
      </p:sp>
      <p:sp>
        <p:nvSpPr>
          <p:cNvPr id="459" name="Google Shape;459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BFAFF"/>
          </a:solidFill>
          <a:ln>
            <a:noFill/>
          </a:ln>
        </p:spPr>
      </p:sp>
      <p:sp>
        <p:nvSpPr>
          <p:cNvPr descr="preencoded.png" id="460" name="Google Shape;460;p12"/>
          <p:cNvSpPr/>
          <p:nvPr/>
        </p:nvSpPr>
        <p:spPr>
          <a:xfrm>
            <a:off x="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61" name="Google Shape;461;p12"/>
          <p:cNvGrpSpPr/>
          <p:nvPr/>
        </p:nvGrpSpPr>
        <p:grpSpPr>
          <a:xfrm>
            <a:off x="7824341" y="957114"/>
            <a:ext cx="9497317" cy="1746945"/>
            <a:chOff x="0" y="-28575"/>
            <a:chExt cx="12663090" cy="2329260"/>
          </a:xfrm>
        </p:grpSpPr>
        <p:sp>
          <p:nvSpPr>
            <p:cNvPr id="462" name="Google Shape;462;p12"/>
            <p:cNvSpPr/>
            <p:nvPr/>
          </p:nvSpPr>
          <p:spPr>
            <a:xfrm>
              <a:off x="0" y="0"/>
              <a:ext cx="12663090" cy="2300685"/>
            </a:xfrm>
            <a:custGeom>
              <a:rect b="b" l="l" r="r" t="t"/>
              <a:pathLst>
                <a:path extrusionOk="0" h="2300685" w="12663090">
                  <a:moveTo>
                    <a:pt x="0" y="0"/>
                  </a:moveTo>
                  <a:lnTo>
                    <a:pt x="12663090" y="0"/>
                  </a:lnTo>
                  <a:lnTo>
                    <a:pt x="12663090" y="2300685"/>
                  </a:lnTo>
                  <a:lnTo>
                    <a:pt x="0" y="23006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63" name="Google Shape;463;p12"/>
            <p:cNvSpPr txBox="1"/>
            <p:nvPr/>
          </p:nvSpPr>
          <p:spPr>
            <a:xfrm>
              <a:off x="0" y="-28575"/>
              <a:ext cx="12663090" cy="2329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374" u="none" cap="none" strike="noStrike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Colaboración en E-business Global</a:t>
              </a:r>
              <a:endParaRPr/>
            </a:p>
          </p:txBody>
        </p:sp>
      </p:grpSp>
      <p:sp>
        <p:nvSpPr>
          <p:cNvPr id="464" name="Google Shape;464;p12"/>
          <p:cNvSpPr/>
          <p:nvPr/>
        </p:nvSpPr>
        <p:spPr>
          <a:xfrm>
            <a:off x="8134945" y="3118098"/>
            <a:ext cx="38100" cy="6190393"/>
          </a:xfrm>
          <a:custGeom>
            <a:rect b="b" l="l" r="r" t="t"/>
            <a:pathLst>
              <a:path extrusionOk="0" h="8253857" w="50800">
                <a:moveTo>
                  <a:pt x="0" y="25400"/>
                </a:moveTo>
                <a:cubicBezTo>
                  <a:pt x="0" y="11430"/>
                  <a:pt x="11430" y="0"/>
                  <a:pt x="25400" y="0"/>
                </a:cubicBezTo>
                <a:cubicBezTo>
                  <a:pt x="39370" y="0"/>
                  <a:pt x="50800" y="11430"/>
                  <a:pt x="50800" y="25400"/>
                </a:cubicBezTo>
                <a:lnTo>
                  <a:pt x="50800" y="8228457"/>
                </a:lnTo>
                <a:cubicBezTo>
                  <a:pt x="50800" y="8242426"/>
                  <a:pt x="39370" y="8253857"/>
                  <a:pt x="25400" y="8253857"/>
                </a:cubicBezTo>
                <a:cubicBezTo>
                  <a:pt x="11430" y="8253857"/>
                  <a:pt x="0" y="8242426"/>
                  <a:pt x="0" y="8228457"/>
                </a:cubicBezTo>
                <a:close/>
              </a:path>
            </a:pathLst>
          </a:custGeom>
          <a:solidFill>
            <a:srgbClr val="D0C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2"/>
          <p:cNvSpPr/>
          <p:nvPr/>
        </p:nvSpPr>
        <p:spPr>
          <a:xfrm>
            <a:off x="8407450" y="3409652"/>
            <a:ext cx="828199" cy="38100"/>
          </a:xfrm>
          <a:custGeom>
            <a:rect b="b" l="l" r="r" t="t"/>
            <a:pathLst>
              <a:path extrusionOk="0" h="50800" w="1104265">
                <a:moveTo>
                  <a:pt x="0" y="25400"/>
                </a:moveTo>
                <a:cubicBezTo>
                  <a:pt x="0" y="11430"/>
                  <a:pt x="11430" y="0"/>
                  <a:pt x="25400" y="0"/>
                </a:cubicBezTo>
                <a:lnTo>
                  <a:pt x="1078865" y="0"/>
                </a:lnTo>
                <a:cubicBezTo>
                  <a:pt x="1092835" y="0"/>
                  <a:pt x="1104265" y="11430"/>
                  <a:pt x="1104265" y="25400"/>
                </a:cubicBezTo>
                <a:cubicBezTo>
                  <a:pt x="1104265" y="39370"/>
                  <a:pt x="1092835" y="50800"/>
                  <a:pt x="1078865" y="50800"/>
                </a:cubicBezTo>
                <a:lnTo>
                  <a:pt x="25400" y="50800"/>
                </a:lnTo>
                <a:cubicBezTo>
                  <a:pt x="11430" y="50800"/>
                  <a:pt x="0" y="39370"/>
                  <a:pt x="0" y="25400"/>
                </a:cubicBezTo>
                <a:close/>
              </a:path>
            </a:pathLst>
          </a:custGeom>
          <a:solidFill>
            <a:srgbClr val="D0C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2"/>
          <p:cNvSpPr/>
          <p:nvPr/>
        </p:nvSpPr>
        <p:spPr>
          <a:xfrm>
            <a:off x="7824341" y="3118098"/>
            <a:ext cx="621221" cy="621221"/>
          </a:xfrm>
          <a:custGeom>
            <a:rect b="b" l="l" r="r" t="t"/>
            <a:pathLst>
              <a:path extrusionOk="0" h="828294" w="828294">
                <a:moveTo>
                  <a:pt x="0" y="55245"/>
                </a:moveTo>
                <a:cubicBezTo>
                  <a:pt x="0" y="24765"/>
                  <a:pt x="24765" y="0"/>
                  <a:pt x="55245" y="0"/>
                </a:cubicBezTo>
                <a:lnTo>
                  <a:pt x="773049" y="0"/>
                </a:lnTo>
                <a:cubicBezTo>
                  <a:pt x="803529" y="0"/>
                  <a:pt x="828294" y="24765"/>
                  <a:pt x="828294" y="55245"/>
                </a:cubicBezTo>
                <a:lnTo>
                  <a:pt x="828294" y="773049"/>
                </a:lnTo>
                <a:cubicBezTo>
                  <a:pt x="828294" y="803529"/>
                  <a:pt x="803529" y="828294"/>
                  <a:pt x="773049" y="828294"/>
                </a:cubicBezTo>
                <a:lnTo>
                  <a:pt x="55245" y="828294"/>
                </a:lnTo>
                <a:cubicBezTo>
                  <a:pt x="24765" y="828294"/>
                  <a:pt x="0" y="803529"/>
                  <a:pt x="0" y="773049"/>
                </a:cubicBezTo>
                <a:close/>
              </a:path>
            </a:pathLst>
          </a:cu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7" name="Google Shape;467;p12"/>
          <p:cNvGrpSpPr/>
          <p:nvPr/>
        </p:nvGrpSpPr>
        <p:grpSpPr>
          <a:xfrm>
            <a:off x="7927925" y="3169890"/>
            <a:ext cx="414040" cy="517624"/>
            <a:chOff x="0" y="0"/>
            <a:chExt cx="552053" cy="690165"/>
          </a:xfrm>
        </p:grpSpPr>
        <p:sp>
          <p:nvSpPr>
            <p:cNvPr id="468" name="Google Shape;468;p12"/>
            <p:cNvSpPr/>
            <p:nvPr/>
          </p:nvSpPr>
          <p:spPr>
            <a:xfrm>
              <a:off x="0" y="0"/>
              <a:ext cx="552053" cy="690165"/>
            </a:xfrm>
            <a:custGeom>
              <a:rect b="b" l="l" r="r" t="t"/>
              <a:pathLst>
                <a:path extrusionOk="0" h="690165" w="552053">
                  <a:moveTo>
                    <a:pt x="0" y="0"/>
                  </a:moveTo>
                  <a:lnTo>
                    <a:pt x="552053" y="0"/>
                  </a:lnTo>
                  <a:lnTo>
                    <a:pt x="552053" y="690165"/>
                  </a:lnTo>
                  <a:lnTo>
                    <a:pt x="0" y="6901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69" name="Google Shape;469;p12"/>
            <p:cNvSpPr txBox="1"/>
            <p:nvPr/>
          </p:nvSpPr>
          <p:spPr>
            <a:xfrm>
              <a:off x="0" y="57150"/>
              <a:ext cx="552053" cy="6330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50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1</a:t>
              </a:r>
              <a:endParaRPr/>
            </a:p>
          </p:txBody>
        </p:sp>
      </p:grpSp>
      <p:grpSp>
        <p:nvGrpSpPr>
          <p:cNvPr id="470" name="Google Shape;470;p12"/>
          <p:cNvGrpSpPr/>
          <p:nvPr/>
        </p:nvGrpSpPr>
        <p:grpSpPr>
          <a:xfrm>
            <a:off x="9515475" y="3205757"/>
            <a:ext cx="4850458" cy="438448"/>
            <a:chOff x="0" y="-9525"/>
            <a:chExt cx="6467277" cy="584597"/>
          </a:xfrm>
        </p:grpSpPr>
        <p:sp>
          <p:nvSpPr>
            <p:cNvPr id="471" name="Google Shape;471;p12"/>
            <p:cNvSpPr/>
            <p:nvPr/>
          </p:nvSpPr>
          <p:spPr>
            <a:xfrm>
              <a:off x="0" y="0"/>
              <a:ext cx="6467277" cy="575072"/>
            </a:xfrm>
            <a:custGeom>
              <a:rect b="b" l="l" r="r" t="t"/>
              <a:pathLst>
                <a:path extrusionOk="0" h="575072" w="6467277">
                  <a:moveTo>
                    <a:pt x="0" y="0"/>
                  </a:moveTo>
                  <a:lnTo>
                    <a:pt x="6467277" y="0"/>
                  </a:lnTo>
                  <a:lnTo>
                    <a:pt x="6467277" y="575072"/>
                  </a:lnTo>
                  <a:lnTo>
                    <a:pt x="0" y="5750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72" name="Google Shape;472;p12"/>
            <p:cNvSpPr txBox="1"/>
            <p:nvPr/>
          </p:nvSpPr>
          <p:spPr>
            <a:xfrm>
              <a:off x="0" y="-9525"/>
              <a:ext cx="6467277" cy="584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87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Herramientas colaborativas</a:t>
              </a:r>
              <a:endParaRPr/>
            </a:p>
          </p:txBody>
        </p:sp>
      </p:grpSp>
      <p:grpSp>
        <p:nvGrpSpPr>
          <p:cNvPr id="473" name="Google Shape;473;p12"/>
          <p:cNvGrpSpPr/>
          <p:nvPr/>
        </p:nvGrpSpPr>
        <p:grpSpPr>
          <a:xfrm>
            <a:off x="9515475" y="3745557"/>
            <a:ext cx="7806184" cy="506016"/>
            <a:chOff x="0" y="-85725"/>
            <a:chExt cx="10408245" cy="674688"/>
          </a:xfrm>
        </p:grpSpPr>
        <p:sp>
          <p:nvSpPr>
            <p:cNvPr id="474" name="Google Shape;474;p12"/>
            <p:cNvSpPr/>
            <p:nvPr/>
          </p:nvSpPr>
          <p:spPr>
            <a:xfrm>
              <a:off x="0" y="0"/>
              <a:ext cx="10408245" cy="588963"/>
            </a:xfrm>
            <a:custGeom>
              <a:rect b="b" l="l" r="r" t="t"/>
              <a:pathLst>
                <a:path extrusionOk="0" h="588963" w="10408245">
                  <a:moveTo>
                    <a:pt x="0" y="0"/>
                  </a:moveTo>
                  <a:lnTo>
                    <a:pt x="10408245" y="0"/>
                  </a:lnTo>
                  <a:lnTo>
                    <a:pt x="10408245" y="588963"/>
                  </a:lnTo>
                  <a:lnTo>
                    <a:pt x="0" y="588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75" name="Google Shape;475;p12"/>
            <p:cNvSpPr txBox="1"/>
            <p:nvPr/>
          </p:nvSpPr>
          <p:spPr>
            <a:xfrm>
              <a:off x="0" y="-85725"/>
              <a:ext cx="10408245" cy="6746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17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5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Soporte para equipos distribuidos y comunicación eficiente</a:t>
              </a:r>
              <a:endParaRPr/>
            </a:p>
          </p:txBody>
        </p:sp>
      </p:grpSp>
      <p:sp>
        <p:nvSpPr>
          <p:cNvPr id="476" name="Google Shape;476;p12"/>
          <p:cNvSpPr/>
          <p:nvPr/>
        </p:nvSpPr>
        <p:spPr>
          <a:xfrm>
            <a:off x="8407450" y="5095280"/>
            <a:ext cx="828199" cy="38100"/>
          </a:xfrm>
          <a:custGeom>
            <a:rect b="b" l="l" r="r" t="t"/>
            <a:pathLst>
              <a:path extrusionOk="0" h="50800" w="1104265">
                <a:moveTo>
                  <a:pt x="0" y="25400"/>
                </a:moveTo>
                <a:cubicBezTo>
                  <a:pt x="0" y="11430"/>
                  <a:pt x="11430" y="0"/>
                  <a:pt x="25400" y="0"/>
                </a:cubicBezTo>
                <a:lnTo>
                  <a:pt x="1078865" y="0"/>
                </a:lnTo>
                <a:cubicBezTo>
                  <a:pt x="1092835" y="0"/>
                  <a:pt x="1104265" y="11430"/>
                  <a:pt x="1104265" y="25400"/>
                </a:cubicBezTo>
                <a:cubicBezTo>
                  <a:pt x="1104265" y="39370"/>
                  <a:pt x="1092835" y="50800"/>
                  <a:pt x="1078865" y="50800"/>
                </a:cubicBezTo>
                <a:lnTo>
                  <a:pt x="25400" y="50800"/>
                </a:lnTo>
                <a:cubicBezTo>
                  <a:pt x="11430" y="50800"/>
                  <a:pt x="0" y="39370"/>
                  <a:pt x="0" y="25400"/>
                </a:cubicBezTo>
                <a:close/>
              </a:path>
            </a:pathLst>
          </a:custGeom>
          <a:solidFill>
            <a:srgbClr val="D0C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2"/>
          <p:cNvSpPr/>
          <p:nvPr/>
        </p:nvSpPr>
        <p:spPr>
          <a:xfrm>
            <a:off x="7824341" y="4803725"/>
            <a:ext cx="621221" cy="621221"/>
          </a:xfrm>
          <a:custGeom>
            <a:rect b="b" l="l" r="r" t="t"/>
            <a:pathLst>
              <a:path extrusionOk="0" h="828294" w="828294">
                <a:moveTo>
                  <a:pt x="0" y="55245"/>
                </a:moveTo>
                <a:cubicBezTo>
                  <a:pt x="0" y="24765"/>
                  <a:pt x="24765" y="0"/>
                  <a:pt x="55245" y="0"/>
                </a:cubicBezTo>
                <a:lnTo>
                  <a:pt x="773049" y="0"/>
                </a:lnTo>
                <a:cubicBezTo>
                  <a:pt x="803529" y="0"/>
                  <a:pt x="828294" y="24765"/>
                  <a:pt x="828294" y="55245"/>
                </a:cubicBezTo>
                <a:lnTo>
                  <a:pt x="828294" y="773049"/>
                </a:lnTo>
                <a:cubicBezTo>
                  <a:pt x="828294" y="803529"/>
                  <a:pt x="803529" y="828294"/>
                  <a:pt x="773049" y="828294"/>
                </a:cubicBezTo>
                <a:lnTo>
                  <a:pt x="55245" y="828294"/>
                </a:lnTo>
                <a:cubicBezTo>
                  <a:pt x="24765" y="828294"/>
                  <a:pt x="0" y="803529"/>
                  <a:pt x="0" y="773049"/>
                </a:cubicBezTo>
                <a:close/>
              </a:path>
            </a:pathLst>
          </a:cu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8" name="Google Shape;478;p12"/>
          <p:cNvGrpSpPr/>
          <p:nvPr/>
        </p:nvGrpSpPr>
        <p:grpSpPr>
          <a:xfrm>
            <a:off x="7927925" y="4855517"/>
            <a:ext cx="414040" cy="517624"/>
            <a:chOff x="0" y="0"/>
            <a:chExt cx="552053" cy="690165"/>
          </a:xfrm>
        </p:grpSpPr>
        <p:sp>
          <p:nvSpPr>
            <p:cNvPr id="479" name="Google Shape;479;p12"/>
            <p:cNvSpPr/>
            <p:nvPr/>
          </p:nvSpPr>
          <p:spPr>
            <a:xfrm>
              <a:off x="0" y="0"/>
              <a:ext cx="552053" cy="690165"/>
            </a:xfrm>
            <a:custGeom>
              <a:rect b="b" l="l" r="r" t="t"/>
              <a:pathLst>
                <a:path extrusionOk="0" h="690165" w="552053">
                  <a:moveTo>
                    <a:pt x="0" y="0"/>
                  </a:moveTo>
                  <a:lnTo>
                    <a:pt x="552053" y="0"/>
                  </a:lnTo>
                  <a:lnTo>
                    <a:pt x="552053" y="690165"/>
                  </a:lnTo>
                  <a:lnTo>
                    <a:pt x="0" y="6901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0" name="Google Shape;480;p12"/>
            <p:cNvSpPr txBox="1"/>
            <p:nvPr/>
          </p:nvSpPr>
          <p:spPr>
            <a:xfrm>
              <a:off x="0" y="57150"/>
              <a:ext cx="552053" cy="6330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50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2</a:t>
              </a:r>
              <a:endParaRPr/>
            </a:p>
          </p:txBody>
        </p:sp>
      </p:grpSp>
      <p:grpSp>
        <p:nvGrpSpPr>
          <p:cNvPr id="481" name="Google Shape;481;p12"/>
          <p:cNvGrpSpPr/>
          <p:nvPr/>
        </p:nvGrpSpPr>
        <p:grpSpPr>
          <a:xfrm>
            <a:off x="9515475" y="4891385"/>
            <a:ext cx="4562179" cy="438448"/>
            <a:chOff x="0" y="-9525"/>
            <a:chExt cx="6082904" cy="584597"/>
          </a:xfrm>
        </p:grpSpPr>
        <p:sp>
          <p:nvSpPr>
            <p:cNvPr id="482" name="Google Shape;482;p12"/>
            <p:cNvSpPr/>
            <p:nvPr/>
          </p:nvSpPr>
          <p:spPr>
            <a:xfrm>
              <a:off x="0" y="0"/>
              <a:ext cx="6082904" cy="575072"/>
            </a:xfrm>
            <a:custGeom>
              <a:rect b="b" l="l" r="r" t="t"/>
              <a:pathLst>
                <a:path extrusionOk="0" h="575072" w="6082904">
                  <a:moveTo>
                    <a:pt x="0" y="0"/>
                  </a:moveTo>
                  <a:lnTo>
                    <a:pt x="6082904" y="0"/>
                  </a:lnTo>
                  <a:lnTo>
                    <a:pt x="6082904" y="575072"/>
                  </a:lnTo>
                  <a:lnTo>
                    <a:pt x="0" y="5750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3" name="Google Shape;483;p12"/>
            <p:cNvSpPr txBox="1"/>
            <p:nvPr/>
          </p:nvSpPr>
          <p:spPr>
            <a:xfrm>
              <a:off x="0" y="-9525"/>
              <a:ext cx="6082903" cy="584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87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Gestión del conocimiento</a:t>
              </a:r>
              <a:endParaRPr/>
            </a:p>
          </p:txBody>
        </p:sp>
      </p:grpSp>
      <p:grpSp>
        <p:nvGrpSpPr>
          <p:cNvPr id="484" name="Google Shape;484;p12"/>
          <p:cNvGrpSpPr/>
          <p:nvPr/>
        </p:nvGrpSpPr>
        <p:grpSpPr>
          <a:xfrm>
            <a:off x="9515475" y="5431185"/>
            <a:ext cx="7806184" cy="506016"/>
            <a:chOff x="0" y="-85725"/>
            <a:chExt cx="10408245" cy="674688"/>
          </a:xfrm>
        </p:grpSpPr>
        <p:sp>
          <p:nvSpPr>
            <p:cNvPr id="485" name="Google Shape;485;p12"/>
            <p:cNvSpPr/>
            <p:nvPr/>
          </p:nvSpPr>
          <p:spPr>
            <a:xfrm>
              <a:off x="0" y="0"/>
              <a:ext cx="10408245" cy="588963"/>
            </a:xfrm>
            <a:custGeom>
              <a:rect b="b" l="l" r="r" t="t"/>
              <a:pathLst>
                <a:path extrusionOk="0" h="588963" w="10408245">
                  <a:moveTo>
                    <a:pt x="0" y="0"/>
                  </a:moveTo>
                  <a:lnTo>
                    <a:pt x="10408245" y="0"/>
                  </a:lnTo>
                  <a:lnTo>
                    <a:pt x="10408245" y="588963"/>
                  </a:lnTo>
                  <a:lnTo>
                    <a:pt x="0" y="588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6" name="Google Shape;486;p12"/>
            <p:cNvSpPr txBox="1"/>
            <p:nvPr/>
          </p:nvSpPr>
          <p:spPr>
            <a:xfrm>
              <a:off x="0" y="-85725"/>
              <a:ext cx="10408245" cy="6746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17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5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Escala internacional para compartir información</a:t>
              </a:r>
              <a:endParaRPr/>
            </a:p>
          </p:txBody>
        </p:sp>
      </p:grpSp>
      <p:sp>
        <p:nvSpPr>
          <p:cNvPr id="487" name="Google Shape;487;p12"/>
          <p:cNvSpPr/>
          <p:nvPr/>
        </p:nvSpPr>
        <p:spPr>
          <a:xfrm>
            <a:off x="8407450" y="6780908"/>
            <a:ext cx="828199" cy="38100"/>
          </a:xfrm>
          <a:custGeom>
            <a:rect b="b" l="l" r="r" t="t"/>
            <a:pathLst>
              <a:path extrusionOk="0" h="50800" w="1104265">
                <a:moveTo>
                  <a:pt x="0" y="25400"/>
                </a:moveTo>
                <a:cubicBezTo>
                  <a:pt x="0" y="11430"/>
                  <a:pt x="11430" y="0"/>
                  <a:pt x="25400" y="0"/>
                </a:cubicBezTo>
                <a:lnTo>
                  <a:pt x="1078865" y="0"/>
                </a:lnTo>
                <a:cubicBezTo>
                  <a:pt x="1092835" y="0"/>
                  <a:pt x="1104265" y="11430"/>
                  <a:pt x="1104265" y="25400"/>
                </a:cubicBezTo>
                <a:cubicBezTo>
                  <a:pt x="1104265" y="39370"/>
                  <a:pt x="1092835" y="50800"/>
                  <a:pt x="1078865" y="50800"/>
                </a:cubicBezTo>
                <a:lnTo>
                  <a:pt x="25400" y="50800"/>
                </a:lnTo>
                <a:cubicBezTo>
                  <a:pt x="11430" y="50800"/>
                  <a:pt x="0" y="39370"/>
                  <a:pt x="0" y="25400"/>
                </a:cubicBezTo>
                <a:close/>
              </a:path>
            </a:pathLst>
          </a:custGeom>
          <a:solidFill>
            <a:srgbClr val="D0C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2"/>
          <p:cNvSpPr/>
          <p:nvPr/>
        </p:nvSpPr>
        <p:spPr>
          <a:xfrm>
            <a:off x="7824341" y="6489352"/>
            <a:ext cx="621221" cy="621221"/>
          </a:xfrm>
          <a:custGeom>
            <a:rect b="b" l="l" r="r" t="t"/>
            <a:pathLst>
              <a:path extrusionOk="0" h="828294" w="828294">
                <a:moveTo>
                  <a:pt x="0" y="55245"/>
                </a:moveTo>
                <a:cubicBezTo>
                  <a:pt x="0" y="24765"/>
                  <a:pt x="24765" y="0"/>
                  <a:pt x="55245" y="0"/>
                </a:cubicBezTo>
                <a:lnTo>
                  <a:pt x="773049" y="0"/>
                </a:lnTo>
                <a:cubicBezTo>
                  <a:pt x="803529" y="0"/>
                  <a:pt x="828294" y="24765"/>
                  <a:pt x="828294" y="55245"/>
                </a:cubicBezTo>
                <a:lnTo>
                  <a:pt x="828294" y="773049"/>
                </a:lnTo>
                <a:cubicBezTo>
                  <a:pt x="828294" y="803529"/>
                  <a:pt x="803529" y="828294"/>
                  <a:pt x="773049" y="828294"/>
                </a:cubicBezTo>
                <a:lnTo>
                  <a:pt x="55245" y="828294"/>
                </a:lnTo>
                <a:cubicBezTo>
                  <a:pt x="24765" y="828294"/>
                  <a:pt x="0" y="803529"/>
                  <a:pt x="0" y="773049"/>
                </a:cubicBezTo>
                <a:close/>
              </a:path>
            </a:pathLst>
          </a:cu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9" name="Google Shape;489;p12"/>
          <p:cNvGrpSpPr/>
          <p:nvPr/>
        </p:nvGrpSpPr>
        <p:grpSpPr>
          <a:xfrm>
            <a:off x="7927925" y="6541145"/>
            <a:ext cx="414040" cy="517624"/>
            <a:chOff x="0" y="0"/>
            <a:chExt cx="552053" cy="690165"/>
          </a:xfrm>
        </p:grpSpPr>
        <p:sp>
          <p:nvSpPr>
            <p:cNvPr id="490" name="Google Shape;490;p12"/>
            <p:cNvSpPr/>
            <p:nvPr/>
          </p:nvSpPr>
          <p:spPr>
            <a:xfrm>
              <a:off x="0" y="0"/>
              <a:ext cx="552053" cy="690165"/>
            </a:xfrm>
            <a:custGeom>
              <a:rect b="b" l="l" r="r" t="t"/>
              <a:pathLst>
                <a:path extrusionOk="0" h="690165" w="552053">
                  <a:moveTo>
                    <a:pt x="0" y="0"/>
                  </a:moveTo>
                  <a:lnTo>
                    <a:pt x="552053" y="0"/>
                  </a:lnTo>
                  <a:lnTo>
                    <a:pt x="552053" y="690165"/>
                  </a:lnTo>
                  <a:lnTo>
                    <a:pt x="0" y="6901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91" name="Google Shape;491;p12"/>
            <p:cNvSpPr txBox="1"/>
            <p:nvPr/>
          </p:nvSpPr>
          <p:spPr>
            <a:xfrm>
              <a:off x="0" y="57150"/>
              <a:ext cx="552053" cy="6330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50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3</a:t>
              </a:r>
              <a:endParaRPr/>
            </a:p>
          </p:txBody>
        </p:sp>
      </p:grpSp>
      <p:grpSp>
        <p:nvGrpSpPr>
          <p:cNvPr id="492" name="Google Shape;492;p12"/>
          <p:cNvGrpSpPr/>
          <p:nvPr/>
        </p:nvGrpSpPr>
        <p:grpSpPr>
          <a:xfrm>
            <a:off x="9515475" y="6577012"/>
            <a:ext cx="3581697" cy="438448"/>
            <a:chOff x="0" y="-9525"/>
            <a:chExt cx="4775597" cy="584597"/>
          </a:xfrm>
        </p:grpSpPr>
        <p:sp>
          <p:nvSpPr>
            <p:cNvPr id="493" name="Google Shape;493;p12"/>
            <p:cNvSpPr/>
            <p:nvPr/>
          </p:nvSpPr>
          <p:spPr>
            <a:xfrm>
              <a:off x="0" y="0"/>
              <a:ext cx="4775597" cy="575072"/>
            </a:xfrm>
            <a:custGeom>
              <a:rect b="b" l="l" r="r" t="t"/>
              <a:pathLst>
                <a:path extrusionOk="0" h="575072" w="4775597">
                  <a:moveTo>
                    <a:pt x="0" y="0"/>
                  </a:moveTo>
                  <a:lnTo>
                    <a:pt x="4775597" y="0"/>
                  </a:lnTo>
                  <a:lnTo>
                    <a:pt x="4775597" y="575072"/>
                  </a:lnTo>
                  <a:lnTo>
                    <a:pt x="0" y="5750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94" name="Google Shape;494;p12"/>
            <p:cNvSpPr txBox="1"/>
            <p:nvPr/>
          </p:nvSpPr>
          <p:spPr>
            <a:xfrm>
              <a:off x="0" y="-9525"/>
              <a:ext cx="4775597" cy="584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87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Plataformas abiertas</a:t>
              </a:r>
              <a:endParaRPr/>
            </a:p>
          </p:txBody>
        </p:sp>
      </p:grpSp>
      <p:grpSp>
        <p:nvGrpSpPr>
          <p:cNvPr id="495" name="Google Shape;495;p12"/>
          <p:cNvGrpSpPr/>
          <p:nvPr/>
        </p:nvGrpSpPr>
        <p:grpSpPr>
          <a:xfrm>
            <a:off x="9515475" y="7116812"/>
            <a:ext cx="7806184" cy="506016"/>
            <a:chOff x="0" y="-85725"/>
            <a:chExt cx="10408245" cy="674688"/>
          </a:xfrm>
        </p:grpSpPr>
        <p:sp>
          <p:nvSpPr>
            <p:cNvPr id="496" name="Google Shape;496;p12"/>
            <p:cNvSpPr/>
            <p:nvPr/>
          </p:nvSpPr>
          <p:spPr>
            <a:xfrm>
              <a:off x="0" y="0"/>
              <a:ext cx="10408245" cy="588963"/>
            </a:xfrm>
            <a:custGeom>
              <a:rect b="b" l="l" r="r" t="t"/>
              <a:pathLst>
                <a:path extrusionOk="0" h="588963" w="10408245">
                  <a:moveTo>
                    <a:pt x="0" y="0"/>
                  </a:moveTo>
                  <a:lnTo>
                    <a:pt x="10408245" y="0"/>
                  </a:lnTo>
                  <a:lnTo>
                    <a:pt x="10408245" y="588963"/>
                  </a:lnTo>
                  <a:lnTo>
                    <a:pt x="0" y="588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97" name="Google Shape;497;p12"/>
            <p:cNvSpPr txBox="1"/>
            <p:nvPr/>
          </p:nvSpPr>
          <p:spPr>
            <a:xfrm>
              <a:off x="0" y="-85725"/>
              <a:ext cx="10408245" cy="6746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17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5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Innovación y marketplace global</a:t>
              </a:r>
              <a:endParaRPr/>
            </a:p>
          </p:txBody>
        </p:sp>
      </p:grpSp>
      <p:sp>
        <p:nvSpPr>
          <p:cNvPr id="498" name="Google Shape;498;p12"/>
          <p:cNvSpPr/>
          <p:nvPr/>
        </p:nvSpPr>
        <p:spPr>
          <a:xfrm>
            <a:off x="8407450" y="8466535"/>
            <a:ext cx="828199" cy="38100"/>
          </a:xfrm>
          <a:custGeom>
            <a:rect b="b" l="l" r="r" t="t"/>
            <a:pathLst>
              <a:path extrusionOk="0" h="50800" w="1104265">
                <a:moveTo>
                  <a:pt x="0" y="25400"/>
                </a:moveTo>
                <a:cubicBezTo>
                  <a:pt x="0" y="11430"/>
                  <a:pt x="11430" y="0"/>
                  <a:pt x="25400" y="0"/>
                </a:cubicBezTo>
                <a:lnTo>
                  <a:pt x="1078865" y="0"/>
                </a:lnTo>
                <a:cubicBezTo>
                  <a:pt x="1092835" y="0"/>
                  <a:pt x="1104265" y="11430"/>
                  <a:pt x="1104265" y="25400"/>
                </a:cubicBezTo>
                <a:cubicBezTo>
                  <a:pt x="1104265" y="39370"/>
                  <a:pt x="1092835" y="50800"/>
                  <a:pt x="1078865" y="50800"/>
                </a:cubicBezTo>
                <a:lnTo>
                  <a:pt x="25400" y="50800"/>
                </a:lnTo>
                <a:cubicBezTo>
                  <a:pt x="11430" y="50800"/>
                  <a:pt x="0" y="39370"/>
                  <a:pt x="0" y="25400"/>
                </a:cubicBezTo>
                <a:close/>
              </a:path>
            </a:pathLst>
          </a:custGeom>
          <a:solidFill>
            <a:srgbClr val="D0C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2"/>
          <p:cNvSpPr/>
          <p:nvPr/>
        </p:nvSpPr>
        <p:spPr>
          <a:xfrm>
            <a:off x="7824341" y="8174980"/>
            <a:ext cx="621221" cy="621221"/>
          </a:xfrm>
          <a:custGeom>
            <a:rect b="b" l="l" r="r" t="t"/>
            <a:pathLst>
              <a:path extrusionOk="0" h="828294" w="828294">
                <a:moveTo>
                  <a:pt x="0" y="55245"/>
                </a:moveTo>
                <a:cubicBezTo>
                  <a:pt x="0" y="24765"/>
                  <a:pt x="24765" y="0"/>
                  <a:pt x="55245" y="0"/>
                </a:cubicBezTo>
                <a:lnTo>
                  <a:pt x="773049" y="0"/>
                </a:lnTo>
                <a:cubicBezTo>
                  <a:pt x="803529" y="0"/>
                  <a:pt x="828294" y="24765"/>
                  <a:pt x="828294" y="55245"/>
                </a:cubicBezTo>
                <a:lnTo>
                  <a:pt x="828294" y="773049"/>
                </a:lnTo>
                <a:cubicBezTo>
                  <a:pt x="828294" y="803529"/>
                  <a:pt x="803529" y="828294"/>
                  <a:pt x="773049" y="828294"/>
                </a:cubicBezTo>
                <a:lnTo>
                  <a:pt x="55245" y="828294"/>
                </a:lnTo>
                <a:cubicBezTo>
                  <a:pt x="24765" y="828294"/>
                  <a:pt x="0" y="803529"/>
                  <a:pt x="0" y="773049"/>
                </a:cubicBezTo>
                <a:close/>
              </a:path>
            </a:pathLst>
          </a:cu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0" name="Google Shape;500;p12"/>
          <p:cNvGrpSpPr/>
          <p:nvPr/>
        </p:nvGrpSpPr>
        <p:grpSpPr>
          <a:xfrm>
            <a:off x="7927925" y="8226772"/>
            <a:ext cx="414040" cy="517624"/>
            <a:chOff x="0" y="0"/>
            <a:chExt cx="552053" cy="690165"/>
          </a:xfrm>
        </p:grpSpPr>
        <p:sp>
          <p:nvSpPr>
            <p:cNvPr id="501" name="Google Shape;501;p12"/>
            <p:cNvSpPr/>
            <p:nvPr/>
          </p:nvSpPr>
          <p:spPr>
            <a:xfrm>
              <a:off x="0" y="0"/>
              <a:ext cx="552053" cy="690165"/>
            </a:xfrm>
            <a:custGeom>
              <a:rect b="b" l="l" r="r" t="t"/>
              <a:pathLst>
                <a:path extrusionOk="0" h="690165" w="552053">
                  <a:moveTo>
                    <a:pt x="0" y="0"/>
                  </a:moveTo>
                  <a:lnTo>
                    <a:pt x="552053" y="0"/>
                  </a:lnTo>
                  <a:lnTo>
                    <a:pt x="552053" y="690165"/>
                  </a:lnTo>
                  <a:lnTo>
                    <a:pt x="0" y="6901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02" name="Google Shape;502;p12"/>
            <p:cNvSpPr txBox="1"/>
            <p:nvPr/>
          </p:nvSpPr>
          <p:spPr>
            <a:xfrm>
              <a:off x="0" y="57150"/>
              <a:ext cx="552053" cy="6330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50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4</a:t>
              </a:r>
              <a:endParaRPr/>
            </a:p>
          </p:txBody>
        </p:sp>
      </p:grpSp>
      <p:grpSp>
        <p:nvGrpSpPr>
          <p:cNvPr id="503" name="Google Shape;503;p12"/>
          <p:cNvGrpSpPr/>
          <p:nvPr/>
        </p:nvGrpSpPr>
        <p:grpSpPr>
          <a:xfrm>
            <a:off x="9515475" y="8262640"/>
            <a:ext cx="4323755" cy="438448"/>
            <a:chOff x="0" y="-9525"/>
            <a:chExt cx="5765007" cy="584597"/>
          </a:xfrm>
        </p:grpSpPr>
        <p:sp>
          <p:nvSpPr>
            <p:cNvPr id="504" name="Google Shape;504;p12"/>
            <p:cNvSpPr/>
            <p:nvPr/>
          </p:nvSpPr>
          <p:spPr>
            <a:xfrm>
              <a:off x="0" y="0"/>
              <a:ext cx="5765007" cy="575072"/>
            </a:xfrm>
            <a:custGeom>
              <a:rect b="b" l="l" r="r" t="t"/>
              <a:pathLst>
                <a:path extrusionOk="0" h="575072" w="5765007">
                  <a:moveTo>
                    <a:pt x="0" y="0"/>
                  </a:moveTo>
                  <a:lnTo>
                    <a:pt x="5765007" y="0"/>
                  </a:lnTo>
                  <a:lnTo>
                    <a:pt x="5765007" y="575072"/>
                  </a:lnTo>
                  <a:lnTo>
                    <a:pt x="0" y="5750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05" name="Google Shape;505;p12"/>
            <p:cNvSpPr txBox="1"/>
            <p:nvPr/>
          </p:nvSpPr>
          <p:spPr>
            <a:xfrm>
              <a:off x="0" y="-9525"/>
              <a:ext cx="5765007" cy="584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87" u="none" cap="none" strike="noStrike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Comunidades de talento</a:t>
              </a:r>
              <a:endParaRPr/>
            </a:p>
          </p:txBody>
        </p:sp>
      </p:grpSp>
      <p:grpSp>
        <p:nvGrpSpPr>
          <p:cNvPr id="506" name="Google Shape;506;p12"/>
          <p:cNvGrpSpPr/>
          <p:nvPr/>
        </p:nvGrpSpPr>
        <p:grpSpPr>
          <a:xfrm>
            <a:off x="9515475" y="8802440"/>
            <a:ext cx="7806184" cy="506016"/>
            <a:chOff x="0" y="-85725"/>
            <a:chExt cx="10408245" cy="674688"/>
          </a:xfrm>
        </p:grpSpPr>
        <p:sp>
          <p:nvSpPr>
            <p:cNvPr id="507" name="Google Shape;507;p12"/>
            <p:cNvSpPr/>
            <p:nvPr/>
          </p:nvSpPr>
          <p:spPr>
            <a:xfrm>
              <a:off x="0" y="0"/>
              <a:ext cx="10408245" cy="588963"/>
            </a:xfrm>
            <a:custGeom>
              <a:rect b="b" l="l" r="r" t="t"/>
              <a:pathLst>
                <a:path extrusionOk="0" h="588963" w="10408245">
                  <a:moveTo>
                    <a:pt x="0" y="0"/>
                  </a:moveTo>
                  <a:lnTo>
                    <a:pt x="10408245" y="0"/>
                  </a:lnTo>
                  <a:lnTo>
                    <a:pt x="10408245" y="588963"/>
                  </a:lnTo>
                  <a:lnTo>
                    <a:pt x="0" y="588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08" name="Google Shape;508;p12"/>
            <p:cNvSpPr txBox="1"/>
            <p:nvPr/>
          </p:nvSpPr>
          <p:spPr>
            <a:xfrm>
              <a:off x="0" y="-85725"/>
              <a:ext cx="10408245" cy="6746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17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5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Desarrollo colaborativo con expertos del mundo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4F0FF"/>
          </a:solidFill>
          <a:ln>
            <a:noFill/>
          </a:ln>
        </p:spPr>
      </p:sp>
      <p:sp>
        <p:nvSpPr>
          <p:cNvPr id="518" name="Google Shape;518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BFAFF"/>
          </a:solidFill>
          <a:ln>
            <a:noFill/>
          </a:ln>
        </p:spPr>
      </p:sp>
      <p:grpSp>
        <p:nvGrpSpPr>
          <p:cNvPr id="519" name="Google Shape;519;p13"/>
          <p:cNvGrpSpPr/>
          <p:nvPr/>
        </p:nvGrpSpPr>
        <p:grpSpPr>
          <a:xfrm>
            <a:off x="992237" y="3477817"/>
            <a:ext cx="13830361" cy="1033938"/>
            <a:chOff x="0" y="-28575"/>
            <a:chExt cx="18440481" cy="1378585"/>
          </a:xfrm>
        </p:grpSpPr>
        <p:sp>
          <p:nvSpPr>
            <p:cNvPr id="520" name="Google Shape;520;p13"/>
            <p:cNvSpPr/>
            <p:nvPr/>
          </p:nvSpPr>
          <p:spPr>
            <a:xfrm>
              <a:off x="0" y="0"/>
              <a:ext cx="18440481" cy="1350010"/>
            </a:xfrm>
            <a:custGeom>
              <a:rect b="b" l="l" r="r" t="t"/>
              <a:pathLst>
                <a:path extrusionOk="0" h="1350010" w="18440481">
                  <a:moveTo>
                    <a:pt x="0" y="0"/>
                  </a:moveTo>
                  <a:lnTo>
                    <a:pt x="18440481" y="0"/>
                  </a:lnTo>
                  <a:lnTo>
                    <a:pt x="18440481" y="1350010"/>
                  </a:lnTo>
                  <a:lnTo>
                    <a:pt x="0" y="13500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21" name="Google Shape;521;p13"/>
            <p:cNvSpPr txBox="1"/>
            <p:nvPr/>
          </p:nvSpPr>
          <p:spPr>
            <a:xfrm>
              <a:off x="0" y="-28575"/>
              <a:ext cx="18440480" cy="13785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62" u="none" cap="none" strike="noStrike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Conclusiones y Recomendaciones</a:t>
              </a:r>
              <a:endParaRPr/>
            </a:p>
          </p:txBody>
        </p:sp>
      </p:grpSp>
      <p:grpSp>
        <p:nvGrpSpPr>
          <p:cNvPr id="522" name="Google Shape;522;p13"/>
          <p:cNvGrpSpPr/>
          <p:nvPr/>
        </p:nvGrpSpPr>
        <p:grpSpPr>
          <a:xfrm>
            <a:off x="992238" y="4845248"/>
            <a:ext cx="7805886" cy="517923"/>
            <a:chOff x="0" y="-85725"/>
            <a:chExt cx="10407848" cy="690563"/>
          </a:xfrm>
        </p:grpSpPr>
        <p:sp>
          <p:nvSpPr>
            <p:cNvPr id="523" name="Google Shape;523;p13"/>
            <p:cNvSpPr/>
            <p:nvPr/>
          </p:nvSpPr>
          <p:spPr>
            <a:xfrm>
              <a:off x="0" y="0"/>
              <a:ext cx="10407848" cy="604838"/>
            </a:xfrm>
            <a:custGeom>
              <a:rect b="b" l="l" r="r" t="t"/>
              <a:pathLst>
                <a:path extrusionOk="0"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24" name="Google Shape;524;p13"/>
            <p:cNvSpPr txBox="1"/>
            <p:nvPr/>
          </p:nvSpPr>
          <p:spPr>
            <a:xfrm>
              <a:off x="0" y="-85725"/>
              <a:ext cx="1040784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95A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Invertir estratégicamente en transformación digital</a:t>
              </a:r>
              <a:endParaRPr/>
            </a:p>
          </p:txBody>
        </p:sp>
      </p:grpSp>
      <p:grpSp>
        <p:nvGrpSpPr>
          <p:cNvPr id="525" name="Google Shape;525;p13"/>
          <p:cNvGrpSpPr/>
          <p:nvPr/>
        </p:nvGrpSpPr>
        <p:grpSpPr>
          <a:xfrm>
            <a:off x="992238" y="5397996"/>
            <a:ext cx="7805886" cy="517923"/>
            <a:chOff x="0" y="-85725"/>
            <a:chExt cx="10407848" cy="690563"/>
          </a:xfrm>
        </p:grpSpPr>
        <p:sp>
          <p:nvSpPr>
            <p:cNvPr id="526" name="Google Shape;526;p13"/>
            <p:cNvSpPr/>
            <p:nvPr/>
          </p:nvSpPr>
          <p:spPr>
            <a:xfrm>
              <a:off x="0" y="0"/>
              <a:ext cx="10407848" cy="604838"/>
            </a:xfrm>
            <a:custGeom>
              <a:rect b="b" l="l" r="r" t="t"/>
              <a:pathLst>
                <a:path extrusionOk="0"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27" name="Google Shape;527;p13"/>
            <p:cNvSpPr txBox="1"/>
            <p:nvPr/>
          </p:nvSpPr>
          <p:spPr>
            <a:xfrm>
              <a:off x="0" y="-85725"/>
              <a:ext cx="1040784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95A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Formar continuamente en competencias tecnológicas</a:t>
              </a:r>
              <a:endParaRPr/>
            </a:p>
          </p:txBody>
        </p:sp>
      </p:grpSp>
      <p:grpSp>
        <p:nvGrpSpPr>
          <p:cNvPr id="528" name="Google Shape;528;p13"/>
          <p:cNvGrpSpPr/>
          <p:nvPr/>
        </p:nvGrpSpPr>
        <p:grpSpPr>
          <a:xfrm>
            <a:off x="9499401" y="4845248"/>
            <a:ext cx="7805886" cy="517923"/>
            <a:chOff x="0" y="-85725"/>
            <a:chExt cx="10407848" cy="690563"/>
          </a:xfrm>
        </p:grpSpPr>
        <p:sp>
          <p:nvSpPr>
            <p:cNvPr id="529" name="Google Shape;529;p13"/>
            <p:cNvSpPr/>
            <p:nvPr/>
          </p:nvSpPr>
          <p:spPr>
            <a:xfrm>
              <a:off x="0" y="0"/>
              <a:ext cx="10407848" cy="604838"/>
            </a:xfrm>
            <a:custGeom>
              <a:rect b="b" l="l" r="r" t="t"/>
              <a:pathLst>
                <a:path extrusionOk="0"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30" name="Google Shape;530;p13"/>
            <p:cNvSpPr txBox="1"/>
            <p:nvPr/>
          </p:nvSpPr>
          <p:spPr>
            <a:xfrm>
              <a:off x="0" y="-85725"/>
              <a:ext cx="1040784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95A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Adaptarse ágilmente a cambios internacionales</a:t>
              </a:r>
              <a:endParaRPr/>
            </a:p>
          </p:txBody>
        </p:sp>
      </p:grpSp>
      <p:grpSp>
        <p:nvGrpSpPr>
          <p:cNvPr id="531" name="Google Shape;531;p13"/>
          <p:cNvGrpSpPr/>
          <p:nvPr/>
        </p:nvGrpSpPr>
        <p:grpSpPr>
          <a:xfrm>
            <a:off x="9499401" y="5397996"/>
            <a:ext cx="7805886" cy="517923"/>
            <a:chOff x="0" y="-85725"/>
            <a:chExt cx="10407848" cy="690563"/>
          </a:xfrm>
        </p:grpSpPr>
        <p:sp>
          <p:nvSpPr>
            <p:cNvPr id="532" name="Google Shape;532;p13"/>
            <p:cNvSpPr/>
            <p:nvPr/>
          </p:nvSpPr>
          <p:spPr>
            <a:xfrm>
              <a:off x="0" y="0"/>
              <a:ext cx="10407848" cy="604838"/>
            </a:xfrm>
            <a:custGeom>
              <a:rect b="b" l="l" r="r" t="t"/>
              <a:pathLst>
                <a:path extrusionOk="0"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33" name="Google Shape;533;p13"/>
            <p:cNvSpPr txBox="1"/>
            <p:nvPr/>
          </p:nvSpPr>
          <p:spPr>
            <a:xfrm>
              <a:off x="0" y="-85725"/>
              <a:ext cx="1040784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95A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Balancear estandarización y adaptación local</a:t>
              </a:r>
              <a:endParaRPr/>
            </a:p>
          </p:txBody>
        </p:sp>
      </p:grpSp>
      <p:grpSp>
        <p:nvGrpSpPr>
          <p:cNvPr id="534" name="Google Shape;534;p13"/>
          <p:cNvGrpSpPr/>
          <p:nvPr/>
        </p:nvGrpSpPr>
        <p:grpSpPr>
          <a:xfrm>
            <a:off x="992238" y="6269682"/>
            <a:ext cx="16303526" cy="517923"/>
            <a:chOff x="0" y="-85725"/>
            <a:chExt cx="21738035" cy="690563"/>
          </a:xfrm>
        </p:grpSpPr>
        <p:sp>
          <p:nvSpPr>
            <p:cNvPr id="535" name="Google Shape;535;p13"/>
            <p:cNvSpPr/>
            <p:nvPr/>
          </p:nvSpPr>
          <p:spPr>
            <a:xfrm>
              <a:off x="0" y="0"/>
              <a:ext cx="21738034" cy="604838"/>
            </a:xfrm>
            <a:custGeom>
              <a:rect b="b" l="l" r="r" t="t"/>
              <a:pathLst>
                <a:path extrusionOk="0" h="604838" w="21738034">
                  <a:moveTo>
                    <a:pt x="0" y="0"/>
                  </a:moveTo>
                  <a:lnTo>
                    <a:pt x="21738034" y="0"/>
                  </a:lnTo>
                  <a:lnTo>
                    <a:pt x="21738034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36" name="Google Shape;536;p13"/>
            <p:cNvSpPr txBox="1"/>
            <p:nvPr/>
          </p:nvSpPr>
          <p:spPr>
            <a:xfrm>
              <a:off x="0" y="-85725"/>
              <a:ext cx="21738035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Estos pasos aseguran competitividad y crecimiento sostenible global.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0FF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4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/>
          </a:p>
        </p:txBody>
      </p:sp>
      <p:sp>
        <p:nvSpPr>
          <p:cNvPr id="542" name="Google Shape;542;p14"/>
          <p:cNvSpPr txBox="1"/>
          <p:nvPr/>
        </p:nvSpPr>
        <p:spPr>
          <a:xfrm>
            <a:off x="1960694" y="3860833"/>
            <a:ext cx="13506718" cy="3853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Globalización y SI: Los sistemas permiten operar y competir a escala mundial.</a:t>
            </a:r>
            <a:endParaRPr/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Herramientas clave: ERP, CRM, plataformas colaborativas y sistemas en la nube.</a:t>
            </a:r>
            <a:endParaRPr/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Desafíos de integración: Diferencias legales, culturales y tecnológicas entre países.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8F3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5"/>
          <p:cNvSpPr txBox="1"/>
          <p:nvPr/>
        </p:nvSpPr>
        <p:spPr>
          <a:xfrm>
            <a:off x="2401868" y="4593717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INNOVACIÓN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0FF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6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/>
          </a:p>
        </p:txBody>
      </p:sp>
      <p:sp>
        <p:nvSpPr>
          <p:cNvPr id="553" name="Google Shape;553;p16"/>
          <p:cNvSpPr txBox="1"/>
          <p:nvPr/>
        </p:nvSpPr>
        <p:spPr>
          <a:xfrm>
            <a:off x="3425566" y="5076825"/>
            <a:ext cx="11455919" cy="1101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https://blog.hubspot.es/marketing/sistema-informacion</a:t>
            </a:r>
            <a:endParaRPr/>
          </a:p>
        </p:txBody>
      </p:sp>
      <p:pic>
        <p:nvPicPr>
          <p:cNvPr id="554" name="Google Shape;55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25" y="81426"/>
            <a:ext cx="3556389" cy="2214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0FF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7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561" name="Google Shape;561;p17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2" name="Google Shape;562;p17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