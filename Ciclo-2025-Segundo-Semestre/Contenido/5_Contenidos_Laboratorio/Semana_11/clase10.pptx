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Bricolage Grotesque"/>
      <p:bold r:id="rId31"/>
    </p:embeddedFont>
    <p:embeddedFont>
      <p:font typeface="Open Sans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iS6aGe8tTbYhs4oMswW2rpGzo9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F1F9D0-E4EF-4C2D-A210-A3E68AA437F7}">
  <a:tblStyle styleId="{C6F1F9D0-E4EF-4C2D-A210-A3E68AA437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ricolageGrotesque-bold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9a3966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9a396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5" name="Google Shape;175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7" name="Google Shape;177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8" name="Google Shape;218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9" name="Google Shape;259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0" name="Google Shape;260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62" name="Google Shape;262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3" name="Google Shape;263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0" name="Google Shape;290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1" name="Google Shape;291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93" name="Google Shape;293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4" name="Google Shape;294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9" name="Google Shape;319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0" name="Google Shape;320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22" name="Google Shape;322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3" name="Google Shape;323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9" name="Google Shape;33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0" name="Google Shape;34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42" name="Google Shape;34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3" name="Google Shape;34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9" name="Google Shape;379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0" name="Google Shape;380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382" name="Google Shape;382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3" name="Google Shape;383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0" name="Google Shape;420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1" name="Google Shape;421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23" name="Google Shape;423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4" name="Google Shape;424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2" name="Google Shape;452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53" name="Google Shape;453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455" name="Google Shape;455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6" name="Google Shape;456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9a3966d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9a3966d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9a3966d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youtu.be/-GSPWJeV8qk" TargetMode="External"/><Relationship Id="rId6" Type="http://schemas.openxmlformats.org/officeDocument/2006/relationships/hyperlink" Target="https://youtu.be/-GSPWJeV8q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9a3966d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9a3966d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{C6F1F9D0-E4EF-4C2D-A210-A3E68AA437F7}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9a3966d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9a3966d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89881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0" y="3141906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 de sistemas y El ciclo de vida de un sistema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/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/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7850237" y="3410396"/>
            <a:ext cx="9445526" cy="1793378"/>
            <a:chOff x="0" y="-28575"/>
            <a:chExt cx="12594035" cy="2391172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Arquitectura de Sistemas: Conceptos Clave</a:t>
              </a:r>
              <a:endParaRPr/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7850237" y="5564683"/>
            <a:ext cx="9445526" cy="517923"/>
            <a:chOff x="0" y="-85725"/>
            <a:chExt cx="12594035" cy="690563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594035" cy="604838"/>
            </a:xfrm>
            <a:custGeom>
              <a:rect b="b" l="l" r="r" t="t"/>
              <a:pathLst>
                <a:path extrusionOk="0" h="60483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85725"/>
              <a:ext cx="12594035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La arquitectura define la estructura y el comportamiento de sistemas.</a:t>
              </a:r>
              <a:endParaRPr/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7850237" y="6337250"/>
            <a:ext cx="9445526" cy="517923"/>
            <a:chOff x="0" y="-85725"/>
            <a:chExt cx="12594035" cy="690563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12594035" cy="604838"/>
            </a:xfrm>
            <a:custGeom>
              <a:rect b="b" l="l" r="r" t="t"/>
              <a:pathLst>
                <a:path extrusionOk="0" h="60483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1" name="Google Shape;171;p4"/>
            <p:cNvSpPr txBox="1"/>
            <p:nvPr/>
          </p:nvSpPr>
          <p:spPr>
            <a:xfrm>
              <a:off x="0" y="-85725"/>
              <a:ext cx="12594035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Incluye hardware, software, redes y datos, con visión integral.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80" name="Google Shape;18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182" name="Google Shape;182;p5"/>
          <p:cNvSpPr/>
          <p:nvPr/>
        </p:nvSpPr>
        <p:spPr>
          <a:xfrm>
            <a:off x="11461850" y="-16669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3" name="Google Shape;183;p5"/>
          <p:cNvGrpSpPr/>
          <p:nvPr/>
        </p:nvGrpSpPr>
        <p:grpSpPr>
          <a:xfrm>
            <a:off x="992238" y="2002185"/>
            <a:ext cx="9445526" cy="1793378"/>
            <a:chOff x="0" y="-28575"/>
            <a:chExt cx="12594035" cy="2391172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Ejemplos de Arquitecturas de Sistemas</a:t>
              </a:r>
              <a:endParaRPr/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987475" y="4216004"/>
            <a:ext cx="4590574" cy="2115883"/>
            <a:chOff x="0" y="0"/>
            <a:chExt cx="6120765" cy="2821178"/>
          </a:xfrm>
        </p:grpSpPr>
        <p:sp>
          <p:nvSpPr>
            <p:cNvPr id="187" name="Google Shape;187;p5"/>
            <p:cNvSpPr/>
            <p:nvPr/>
          </p:nvSpPr>
          <p:spPr>
            <a:xfrm>
              <a:off x="6350" y="6350"/>
              <a:ext cx="6108065" cy="2808478"/>
            </a:xfrm>
            <a:custGeom>
              <a:rect b="b" l="l" r="r" t="t"/>
              <a:pathLst>
                <a:path extrusionOk="0" h="2808478" w="6108065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5948934" y="0"/>
                  </a:lnTo>
                  <a:cubicBezTo>
                    <a:pt x="6036818" y="0"/>
                    <a:pt x="6108065" y="71120"/>
                    <a:pt x="6108065" y="158750"/>
                  </a:cubicBezTo>
                  <a:lnTo>
                    <a:pt x="6108065" y="2649728"/>
                  </a:lnTo>
                  <a:cubicBezTo>
                    <a:pt x="6108065" y="2737485"/>
                    <a:pt x="6036818" y="2808478"/>
                    <a:pt x="5948934" y="2808478"/>
                  </a:cubicBezTo>
                  <a:lnTo>
                    <a:pt x="159131" y="2808478"/>
                  </a:lnTo>
                  <a:cubicBezTo>
                    <a:pt x="71247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0" y="0"/>
              <a:ext cx="6120765" cy="2821178"/>
            </a:xfrm>
            <a:custGeom>
              <a:rect b="b" l="l" r="r" t="t"/>
              <a:pathLst>
                <a:path extrusionOk="0" h="2821178" w="6120765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5955284" y="0"/>
                  </a:lnTo>
                  <a:lnTo>
                    <a:pt x="5955284" y="6350"/>
                  </a:lnTo>
                  <a:lnTo>
                    <a:pt x="5955284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2656078"/>
                  </a:lnTo>
                  <a:lnTo>
                    <a:pt x="6114415" y="2656078"/>
                  </a:lnTo>
                  <a:lnTo>
                    <a:pt x="6120765" y="2656078"/>
                  </a:lnTo>
                  <a:cubicBezTo>
                    <a:pt x="6120765" y="2747264"/>
                    <a:pt x="6046597" y="2821178"/>
                    <a:pt x="5955284" y="2821178"/>
                  </a:cubicBezTo>
                  <a:lnTo>
                    <a:pt x="5955284" y="2814828"/>
                  </a:lnTo>
                  <a:lnTo>
                    <a:pt x="5955284" y="2821178"/>
                  </a:lnTo>
                  <a:lnTo>
                    <a:pt x="165481" y="2821178"/>
                  </a:lnTo>
                  <a:lnTo>
                    <a:pt x="165481" y="2814828"/>
                  </a:lnTo>
                  <a:lnTo>
                    <a:pt x="165481" y="2821178"/>
                  </a:lnTo>
                  <a:cubicBezTo>
                    <a:pt x="74041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481" y="2808478"/>
                  </a:cubicBezTo>
                  <a:lnTo>
                    <a:pt x="5955284" y="2808478"/>
                  </a:lnTo>
                  <a:cubicBezTo>
                    <a:pt x="6039739" y="2808478"/>
                    <a:pt x="6108065" y="2740152"/>
                    <a:pt x="6108065" y="2656078"/>
                  </a:cubicBezTo>
                  <a:lnTo>
                    <a:pt x="6108065" y="165100"/>
                  </a:lnTo>
                  <a:cubicBezTo>
                    <a:pt x="6108065" y="80899"/>
                    <a:pt x="6039612" y="12700"/>
                    <a:pt x="5955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1285280" y="4499522"/>
            <a:ext cx="3544044" cy="457199"/>
            <a:chOff x="0" y="-19050"/>
            <a:chExt cx="4725392" cy="609600"/>
          </a:xfrm>
        </p:grpSpPr>
        <p:sp>
          <p:nvSpPr>
            <p:cNvPr id="190" name="Google Shape;190;p5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1" name="Google Shape;191;p5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Cliente-servidor</a:t>
              </a:r>
              <a:endParaRPr/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1285280" y="5062537"/>
            <a:ext cx="3994994" cy="971550"/>
            <a:chOff x="0" y="-85725"/>
            <a:chExt cx="5326658" cy="1295400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5326658" cy="1209675"/>
            </a:xfrm>
            <a:custGeom>
              <a:rect b="b" l="l" r="r" t="t"/>
              <a:pathLst>
                <a:path extrusionOk="0" h="1209675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4" name="Google Shape;194;p5"/>
            <p:cNvSpPr txBox="1"/>
            <p:nvPr/>
          </p:nvSpPr>
          <p:spPr>
            <a:xfrm>
              <a:off x="0" y="-85725"/>
              <a:ext cx="532665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Sistemas web tradicionales con servidores dedicados</a:t>
              </a:r>
              <a:endParaRPr/>
            </a:p>
          </p:txBody>
        </p:sp>
      </p:grpSp>
      <p:grpSp>
        <p:nvGrpSpPr>
          <p:cNvPr id="195" name="Google Shape;195;p5"/>
          <p:cNvGrpSpPr/>
          <p:nvPr/>
        </p:nvGrpSpPr>
        <p:grpSpPr>
          <a:xfrm>
            <a:off x="5852071" y="4216004"/>
            <a:ext cx="4590574" cy="2115883"/>
            <a:chOff x="0" y="0"/>
            <a:chExt cx="6120765" cy="2821178"/>
          </a:xfrm>
        </p:grpSpPr>
        <p:sp>
          <p:nvSpPr>
            <p:cNvPr id="196" name="Google Shape;196;p5"/>
            <p:cNvSpPr/>
            <p:nvPr/>
          </p:nvSpPr>
          <p:spPr>
            <a:xfrm>
              <a:off x="6350" y="6350"/>
              <a:ext cx="6108065" cy="2808478"/>
            </a:xfrm>
            <a:custGeom>
              <a:rect b="b" l="l" r="r" t="t"/>
              <a:pathLst>
                <a:path extrusionOk="0" h="2808478" w="6108065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5948934" y="0"/>
                  </a:lnTo>
                  <a:cubicBezTo>
                    <a:pt x="6036818" y="0"/>
                    <a:pt x="6108065" y="71120"/>
                    <a:pt x="6108065" y="158750"/>
                  </a:cubicBezTo>
                  <a:lnTo>
                    <a:pt x="6108065" y="2649728"/>
                  </a:lnTo>
                  <a:cubicBezTo>
                    <a:pt x="6108065" y="2737485"/>
                    <a:pt x="6036818" y="2808478"/>
                    <a:pt x="5948934" y="2808478"/>
                  </a:cubicBezTo>
                  <a:lnTo>
                    <a:pt x="159131" y="2808478"/>
                  </a:lnTo>
                  <a:cubicBezTo>
                    <a:pt x="71247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0" y="0"/>
              <a:ext cx="6120765" cy="2821178"/>
            </a:xfrm>
            <a:custGeom>
              <a:rect b="b" l="l" r="r" t="t"/>
              <a:pathLst>
                <a:path extrusionOk="0" h="2821178" w="6120765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5955284" y="0"/>
                  </a:lnTo>
                  <a:lnTo>
                    <a:pt x="5955284" y="6350"/>
                  </a:lnTo>
                  <a:lnTo>
                    <a:pt x="5955284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2656078"/>
                  </a:lnTo>
                  <a:lnTo>
                    <a:pt x="6114415" y="2656078"/>
                  </a:lnTo>
                  <a:lnTo>
                    <a:pt x="6120765" y="2656078"/>
                  </a:lnTo>
                  <a:cubicBezTo>
                    <a:pt x="6120765" y="2747264"/>
                    <a:pt x="6046597" y="2821178"/>
                    <a:pt x="5955284" y="2821178"/>
                  </a:cubicBezTo>
                  <a:lnTo>
                    <a:pt x="5955284" y="2814828"/>
                  </a:lnTo>
                  <a:lnTo>
                    <a:pt x="5955284" y="2821178"/>
                  </a:lnTo>
                  <a:lnTo>
                    <a:pt x="165481" y="2821178"/>
                  </a:lnTo>
                  <a:lnTo>
                    <a:pt x="165481" y="2814828"/>
                  </a:lnTo>
                  <a:lnTo>
                    <a:pt x="165481" y="2821178"/>
                  </a:lnTo>
                  <a:cubicBezTo>
                    <a:pt x="74041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481" y="2808478"/>
                  </a:cubicBezTo>
                  <a:lnTo>
                    <a:pt x="5955284" y="2808478"/>
                  </a:lnTo>
                  <a:cubicBezTo>
                    <a:pt x="6039739" y="2808478"/>
                    <a:pt x="6108065" y="2740152"/>
                    <a:pt x="6108065" y="2656078"/>
                  </a:cubicBezTo>
                  <a:lnTo>
                    <a:pt x="6108065" y="165100"/>
                  </a:lnTo>
                  <a:cubicBezTo>
                    <a:pt x="6108065" y="80899"/>
                    <a:pt x="6039612" y="12700"/>
                    <a:pt x="5955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6149876" y="4499522"/>
            <a:ext cx="3782765" cy="457199"/>
            <a:chOff x="0" y="-19050"/>
            <a:chExt cx="5043687" cy="609600"/>
          </a:xfrm>
        </p:grpSpPr>
        <p:sp>
          <p:nvSpPr>
            <p:cNvPr id="199" name="Google Shape;199;p5"/>
            <p:cNvSpPr/>
            <p:nvPr/>
          </p:nvSpPr>
          <p:spPr>
            <a:xfrm>
              <a:off x="0" y="0"/>
              <a:ext cx="5043687" cy="590550"/>
            </a:xfrm>
            <a:custGeom>
              <a:rect b="b" l="l" r="r" t="t"/>
              <a:pathLst>
                <a:path extrusionOk="0" h="590550" w="5043687">
                  <a:moveTo>
                    <a:pt x="0" y="0"/>
                  </a:moveTo>
                  <a:lnTo>
                    <a:pt x="5043687" y="0"/>
                  </a:lnTo>
                  <a:lnTo>
                    <a:pt x="504368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0" name="Google Shape;200;p5"/>
            <p:cNvSpPr txBox="1"/>
            <p:nvPr/>
          </p:nvSpPr>
          <p:spPr>
            <a:xfrm>
              <a:off x="0" y="-19050"/>
              <a:ext cx="504368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Arquitectura en capas</a:t>
              </a:r>
              <a:endParaRPr/>
            </a:p>
          </p:txBody>
        </p:sp>
      </p:grpSp>
      <p:grpSp>
        <p:nvGrpSpPr>
          <p:cNvPr id="201" name="Google Shape;201;p5"/>
          <p:cNvGrpSpPr/>
          <p:nvPr/>
        </p:nvGrpSpPr>
        <p:grpSpPr>
          <a:xfrm>
            <a:off x="6149876" y="5062537"/>
            <a:ext cx="3994994" cy="971550"/>
            <a:chOff x="0" y="-85725"/>
            <a:chExt cx="5326658" cy="1295400"/>
          </a:xfrm>
        </p:grpSpPr>
        <p:sp>
          <p:nvSpPr>
            <p:cNvPr id="202" name="Google Shape;202;p5"/>
            <p:cNvSpPr/>
            <p:nvPr/>
          </p:nvSpPr>
          <p:spPr>
            <a:xfrm>
              <a:off x="0" y="0"/>
              <a:ext cx="5326658" cy="1209675"/>
            </a:xfrm>
            <a:custGeom>
              <a:rect b="b" l="l" r="r" t="t"/>
              <a:pathLst>
                <a:path extrusionOk="0" h="1209675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3" name="Google Shape;203;p5"/>
            <p:cNvSpPr txBox="1"/>
            <p:nvPr/>
          </p:nvSpPr>
          <p:spPr>
            <a:xfrm>
              <a:off x="0" y="-85725"/>
              <a:ext cx="532665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Separación clara entre presentación, lógica y datos</a:t>
              </a:r>
              <a:endParaRPr/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987475" y="6605885"/>
            <a:ext cx="9455086" cy="1662208"/>
            <a:chOff x="0" y="0"/>
            <a:chExt cx="12606782" cy="2216277"/>
          </a:xfrm>
        </p:grpSpPr>
        <p:sp>
          <p:nvSpPr>
            <p:cNvPr id="205" name="Google Shape;205;p5"/>
            <p:cNvSpPr/>
            <p:nvPr/>
          </p:nvSpPr>
          <p:spPr>
            <a:xfrm>
              <a:off x="6350" y="6350"/>
              <a:ext cx="12594082" cy="2203577"/>
            </a:xfrm>
            <a:custGeom>
              <a:rect b="b" l="l" r="r" t="t"/>
              <a:pathLst>
                <a:path extrusionOk="0"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0" y="0"/>
              <a:ext cx="12606782" cy="2216277"/>
            </a:xfrm>
            <a:custGeom>
              <a:rect b="b" l="l" r="r" t="t"/>
              <a:pathLst>
                <a:path extrusionOk="0"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5"/>
          <p:cNvGrpSpPr/>
          <p:nvPr/>
        </p:nvGrpSpPr>
        <p:grpSpPr>
          <a:xfrm>
            <a:off x="1285280" y="6889403"/>
            <a:ext cx="3544044" cy="457199"/>
            <a:chOff x="0" y="-19050"/>
            <a:chExt cx="4725392" cy="609600"/>
          </a:xfrm>
        </p:grpSpPr>
        <p:sp>
          <p:nvSpPr>
            <p:cNvPr id="208" name="Google Shape;208;p5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9" name="Google Shape;209;p5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Microservicios</a:t>
              </a:r>
              <a:endParaRPr/>
            </a:p>
          </p:txBody>
        </p:sp>
      </p:grpSp>
      <p:grpSp>
        <p:nvGrpSpPr>
          <p:cNvPr id="210" name="Google Shape;210;p5"/>
          <p:cNvGrpSpPr/>
          <p:nvPr/>
        </p:nvGrpSpPr>
        <p:grpSpPr>
          <a:xfrm>
            <a:off x="1285280" y="7452420"/>
            <a:ext cx="8859441" cy="517923"/>
            <a:chOff x="0" y="-85725"/>
            <a:chExt cx="11812588" cy="690563"/>
          </a:xfrm>
        </p:grpSpPr>
        <p:sp>
          <p:nvSpPr>
            <p:cNvPr id="211" name="Google Shape;211;p5"/>
            <p:cNvSpPr/>
            <p:nvPr/>
          </p:nvSpPr>
          <p:spPr>
            <a:xfrm>
              <a:off x="0" y="0"/>
              <a:ext cx="11812588" cy="604838"/>
            </a:xfrm>
            <a:custGeom>
              <a:rect b="b" l="l" r="r" t="t"/>
              <a:pathLst>
                <a:path extrusionOk="0" h="604838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2" name="Google Shape;212;p5"/>
            <p:cNvSpPr txBox="1"/>
            <p:nvPr/>
          </p:nvSpPr>
          <p:spPr>
            <a:xfrm>
              <a:off x="0" y="-85725"/>
              <a:ext cx="1181258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Servicios independientes, escalables y flexibles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21" name="Google Shape;221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223" name="Google Shape;223;p6"/>
          <p:cNvSpPr/>
          <p:nvPr/>
        </p:nvSpPr>
        <p:spPr>
          <a:xfrm>
            <a:off x="0" y="0"/>
            <a:ext cx="18288000" cy="3721150"/>
          </a:xfrm>
          <a:custGeom>
            <a:rect b="b" l="l" r="r" t="t"/>
            <a:pathLst>
              <a:path extrusionOk="0" h="3721150" w="18288000">
                <a:moveTo>
                  <a:pt x="0" y="0"/>
                </a:moveTo>
                <a:lnTo>
                  <a:pt x="18288000" y="0"/>
                </a:lnTo>
                <a:lnTo>
                  <a:pt x="18288000" y="3721150"/>
                </a:lnTo>
                <a:lnTo>
                  <a:pt x="0" y="3721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40"/>
            </a:stretch>
          </a:blipFill>
          <a:ln>
            <a:noFill/>
          </a:ln>
        </p:spPr>
      </p:sp>
      <p:grpSp>
        <p:nvGrpSpPr>
          <p:cNvPr id="224" name="Google Shape;224;p6"/>
          <p:cNvGrpSpPr/>
          <p:nvPr/>
        </p:nvGrpSpPr>
        <p:grpSpPr>
          <a:xfrm>
            <a:off x="992238" y="5202883"/>
            <a:ext cx="15589746" cy="907405"/>
            <a:chOff x="0" y="-28575"/>
            <a:chExt cx="20786328" cy="1209873"/>
          </a:xfrm>
        </p:grpSpPr>
        <p:sp>
          <p:nvSpPr>
            <p:cNvPr id="225" name="Google Shape;225;p6"/>
            <p:cNvSpPr/>
            <p:nvPr/>
          </p:nvSpPr>
          <p:spPr>
            <a:xfrm>
              <a:off x="0" y="0"/>
              <a:ext cx="20786328" cy="1181298"/>
            </a:xfrm>
            <a:custGeom>
              <a:rect b="b" l="l" r="r" t="t"/>
              <a:pathLst>
                <a:path extrusionOk="0" h="1181298" w="20786328">
                  <a:moveTo>
                    <a:pt x="0" y="0"/>
                  </a:moveTo>
                  <a:lnTo>
                    <a:pt x="20786328" y="0"/>
                  </a:lnTo>
                  <a:lnTo>
                    <a:pt x="2078632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6" name="Google Shape;226;p6"/>
            <p:cNvSpPr txBox="1"/>
            <p:nvPr/>
          </p:nvSpPr>
          <p:spPr>
            <a:xfrm>
              <a:off x="0" y="-28575"/>
              <a:ext cx="20786328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Herramientas para el Diseño de Arquitecturas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87475" y="6530727"/>
            <a:ext cx="647414" cy="647415"/>
            <a:chOff x="0" y="0"/>
            <a:chExt cx="863219" cy="863219"/>
          </a:xfrm>
        </p:grpSpPr>
        <p:sp>
          <p:nvSpPr>
            <p:cNvPr id="228" name="Google Shape;228;p6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preencoded.png" id="230" name="Google Shape;230;p6"/>
          <p:cNvSpPr/>
          <p:nvPr/>
        </p:nvSpPr>
        <p:spPr>
          <a:xfrm>
            <a:off x="1098575" y="6588621"/>
            <a:ext cx="425202" cy="531614"/>
          </a:xfrm>
          <a:custGeom>
            <a:rect b="b" l="l" r="r" t="t"/>
            <a:pathLst>
              <a:path extrusionOk="0" h="531614" w="425202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32" r="-231" t="0"/>
            </a:stretch>
          </a:blipFill>
          <a:ln>
            <a:noFill/>
          </a:ln>
        </p:spPr>
      </p:sp>
      <p:grpSp>
        <p:nvGrpSpPr>
          <p:cNvPr id="231" name="Google Shape;231;p6"/>
          <p:cNvGrpSpPr/>
          <p:nvPr/>
        </p:nvGrpSpPr>
        <p:grpSpPr>
          <a:xfrm>
            <a:off x="1913632" y="6618535"/>
            <a:ext cx="3544044" cy="457199"/>
            <a:chOff x="0" y="-19050"/>
            <a:chExt cx="4725392" cy="609600"/>
          </a:xfrm>
        </p:grpSpPr>
        <p:sp>
          <p:nvSpPr>
            <p:cNvPr id="232" name="Google Shape;232;p6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3" name="Google Shape;233;p6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UML</a:t>
              </a:r>
              <a:endParaRPr/>
            </a:p>
          </p:txBody>
        </p:sp>
      </p:grpSp>
      <p:grpSp>
        <p:nvGrpSpPr>
          <p:cNvPr id="234" name="Google Shape;234;p6"/>
          <p:cNvGrpSpPr/>
          <p:nvPr/>
        </p:nvGrpSpPr>
        <p:grpSpPr>
          <a:xfrm>
            <a:off x="1913632" y="7181552"/>
            <a:ext cx="4276874" cy="1425179"/>
            <a:chOff x="0" y="-85725"/>
            <a:chExt cx="5702498" cy="1900238"/>
          </a:xfrm>
        </p:grpSpPr>
        <p:sp>
          <p:nvSpPr>
            <p:cNvPr id="235" name="Google Shape;235;p6"/>
            <p:cNvSpPr/>
            <p:nvPr/>
          </p:nvSpPr>
          <p:spPr>
            <a:xfrm>
              <a:off x="0" y="0"/>
              <a:ext cx="5702498" cy="1814513"/>
            </a:xfrm>
            <a:custGeom>
              <a:rect b="b" l="l" r="r" t="t"/>
              <a:pathLst>
                <a:path extrusionOk="0" h="1814513" w="5702498">
                  <a:moveTo>
                    <a:pt x="0" y="0"/>
                  </a:moveTo>
                  <a:lnTo>
                    <a:pt x="5702498" y="0"/>
                  </a:lnTo>
                  <a:lnTo>
                    <a:pt x="5702498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6" name="Google Shape;236;p6"/>
            <p:cNvSpPr txBox="1"/>
            <p:nvPr/>
          </p:nvSpPr>
          <p:spPr>
            <a:xfrm>
              <a:off x="0" y="-85725"/>
              <a:ext cx="5702498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Modelado visual para representar sistemas y procesos</a:t>
              </a:r>
              <a:endParaRPr/>
            </a:p>
          </p:txBody>
        </p:sp>
      </p:grpSp>
      <p:grpSp>
        <p:nvGrpSpPr>
          <p:cNvPr id="237" name="Google Shape;237;p6"/>
          <p:cNvGrpSpPr/>
          <p:nvPr/>
        </p:nvGrpSpPr>
        <p:grpSpPr>
          <a:xfrm>
            <a:off x="6540104" y="6530727"/>
            <a:ext cx="647415" cy="647415"/>
            <a:chOff x="0" y="0"/>
            <a:chExt cx="863219" cy="863219"/>
          </a:xfrm>
        </p:grpSpPr>
        <p:sp>
          <p:nvSpPr>
            <p:cNvPr id="238" name="Google Shape;238;p6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preencoded.png" id="240" name="Google Shape;240;p6"/>
          <p:cNvSpPr/>
          <p:nvPr/>
        </p:nvSpPr>
        <p:spPr>
          <a:xfrm>
            <a:off x="6651204" y="6588621"/>
            <a:ext cx="425202" cy="531614"/>
          </a:xfrm>
          <a:custGeom>
            <a:rect b="b" l="l" r="r" t="t"/>
            <a:pathLst>
              <a:path extrusionOk="0" h="531614" w="425202">
                <a:moveTo>
                  <a:pt x="0" y="0"/>
                </a:moveTo>
                <a:lnTo>
                  <a:pt x="425202" y="0"/>
                </a:lnTo>
                <a:lnTo>
                  <a:pt x="425202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232" r="-231" t="0"/>
            </a:stretch>
          </a:blipFill>
          <a:ln>
            <a:noFill/>
          </a:ln>
        </p:spPr>
      </p:sp>
      <p:grpSp>
        <p:nvGrpSpPr>
          <p:cNvPr id="241" name="Google Shape;241;p6"/>
          <p:cNvGrpSpPr/>
          <p:nvPr/>
        </p:nvGrpSpPr>
        <p:grpSpPr>
          <a:xfrm>
            <a:off x="7466260" y="6618535"/>
            <a:ext cx="3544044" cy="457199"/>
            <a:chOff x="0" y="-19050"/>
            <a:chExt cx="4725392" cy="609600"/>
          </a:xfrm>
        </p:grpSpPr>
        <p:sp>
          <p:nvSpPr>
            <p:cNvPr id="242" name="Google Shape;242;p6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3" name="Google Shape;243;p6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Herramientas CASE</a:t>
              </a:r>
              <a:endParaRPr/>
            </a:p>
          </p:txBody>
        </p:sp>
      </p:grpSp>
      <p:grpSp>
        <p:nvGrpSpPr>
          <p:cNvPr id="244" name="Google Shape;244;p6"/>
          <p:cNvGrpSpPr/>
          <p:nvPr/>
        </p:nvGrpSpPr>
        <p:grpSpPr>
          <a:xfrm>
            <a:off x="7466260" y="7181552"/>
            <a:ext cx="4276874" cy="971550"/>
            <a:chOff x="0" y="-85725"/>
            <a:chExt cx="5702498" cy="1295400"/>
          </a:xfrm>
        </p:grpSpPr>
        <p:sp>
          <p:nvSpPr>
            <p:cNvPr id="245" name="Google Shape;245;p6"/>
            <p:cNvSpPr/>
            <p:nvPr/>
          </p:nvSpPr>
          <p:spPr>
            <a:xfrm>
              <a:off x="0" y="0"/>
              <a:ext cx="5702498" cy="1209675"/>
            </a:xfrm>
            <a:custGeom>
              <a:rect b="b" l="l" r="r" t="t"/>
              <a:pathLst>
                <a:path extrusionOk="0" h="1209675" w="5702498">
                  <a:moveTo>
                    <a:pt x="0" y="0"/>
                  </a:moveTo>
                  <a:lnTo>
                    <a:pt x="5702498" y="0"/>
                  </a:lnTo>
                  <a:lnTo>
                    <a:pt x="570249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6" name="Google Shape;246;p6"/>
            <p:cNvSpPr txBox="1"/>
            <p:nvPr/>
          </p:nvSpPr>
          <p:spPr>
            <a:xfrm>
              <a:off x="0" y="-85725"/>
              <a:ext cx="570249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Documentación y diseño estructurado de arquitecturas</a:t>
              </a:r>
              <a:endParaRPr/>
            </a:p>
          </p:txBody>
        </p:sp>
      </p:grpSp>
      <p:grpSp>
        <p:nvGrpSpPr>
          <p:cNvPr id="247" name="Google Shape;247;p6"/>
          <p:cNvGrpSpPr/>
          <p:nvPr/>
        </p:nvGrpSpPr>
        <p:grpSpPr>
          <a:xfrm>
            <a:off x="12092731" y="6530727"/>
            <a:ext cx="647414" cy="647415"/>
            <a:chOff x="0" y="0"/>
            <a:chExt cx="863219" cy="863219"/>
          </a:xfrm>
        </p:grpSpPr>
        <p:sp>
          <p:nvSpPr>
            <p:cNvPr id="248" name="Google Shape;248;p6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preencoded.png" id="250" name="Google Shape;250;p6"/>
          <p:cNvSpPr/>
          <p:nvPr/>
        </p:nvSpPr>
        <p:spPr>
          <a:xfrm>
            <a:off x="12203831" y="6588621"/>
            <a:ext cx="425202" cy="531614"/>
          </a:xfrm>
          <a:custGeom>
            <a:rect b="b" l="l" r="r" t="t"/>
            <a:pathLst>
              <a:path extrusionOk="0" h="531614" w="425202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32" r="-231" t="0"/>
            </a:stretch>
          </a:blipFill>
          <a:ln>
            <a:noFill/>
          </a:ln>
        </p:spPr>
      </p:sp>
      <p:grpSp>
        <p:nvGrpSpPr>
          <p:cNvPr id="251" name="Google Shape;251;p6"/>
          <p:cNvGrpSpPr/>
          <p:nvPr/>
        </p:nvGrpSpPr>
        <p:grpSpPr>
          <a:xfrm>
            <a:off x="13018889" y="6618535"/>
            <a:ext cx="3544044" cy="457199"/>
            <a:chOff x="0" y="-19050"/>
            <a:chExt cx="4725392" cy="609600"/>
          </a:xfrm>
        </p:grpSpPr>
        <p:sp>
          <p:nvSpPr>
            <p:cNvPr id="252" name="Google Shape;252;p6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3" name="Google Shape;253;p6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Plataformas Cloud</a:t>
              </a:r>
              <a:endParaRPr/>
            </a:p>
          </p:txBody>
        </p:sp>
      </p:grpSp>
      <p:grpSp>
        <p:nvGrpSpPr>
          <p:cNvPr id="254" name="Google Shape;254;p6"/>
          <p:cNvGrpSpPr/>
          <p:nvPr/>
        </p:nvGrpSpPr>
        <p:grpSpPr>
          <a:xfrm>
            <a:off x="13018889" y="7181552"/>
            <a:ext cx="4276874" cy="971550"/>
            <a:chOff x="0" y="-85725"/>
            <a:chExt cx="5702498" cy="1295400"/>
          </a:xfrm>
        </p:grpSpPr>
        <p:sp>
          <p:nvSpPr>
            <p:cNvPr id="255" name="Google Shape;255;p6"/>
            <p:cNvSpPr/>
            <p:nvPr/>
          </p:nvSpPr>
          <p:spPr>
            <a:xfrm>
              <a:off x="0" y="0"/>
              <a:ext cx="5702498" cy="1209675"/>
            </a:xfrm>
            <a:custGeom>
              <a:rect b="b" l="l" r="r" t="t"/>
              <a:pathLst>
                <a:path extrusionOk="0" h="1209675" w="5702498">
                  <a:moveTo>
                    <a:pt x="0" y="0"/>
                  </a:moveTo>
                  <a:lnTo>
                    <a:pt x="5702498" y="0"/>
                  </a:lnTo>
                  <a:lnTo>
                    <a:pt x="570249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6" name="Google Shape;256;p6"/>
            <p:cNvSpPr txBox="1"/>
            <p:nvPr/>
          </p:nvSpPr>
          <p:spPr>
            <a:xfrm>
              <a:off x="0" y="-85725"/>
              <a:ext cx="570249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AWS y Azure para definir y desplegar infraestructura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65" name="Google Shape;265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grpSp>
        <p:nvGrpSpPr>
          <p:cNvPr id="267" name="Google Shape;267;p7"/>
          <p:cNvGrpSpPr/>
          <p:nvPr/>
        </p:nvGrpSpPr>
        <p:grpSpPr>
          <a:xfrm>
            <a:off x="992238" y="2937271"/>
            <a:ext cx="16303526" cy="1793378"/>
            <a:chOff x="0" y="-28575"/>
            <a:chExt cx="21738035" cy="2391172"/>
          </a:xfrm>
        </p:grpSpPr>
        <p:sp>
          <p:nvSpPr>
            <p:cNvPr id="268" name="Google Shape;268;p7"/>
            <p:cNvSpPr/>
            <p:nvPr/>
          </p:nvSpPr>
          <p:spPr>
            <a:xfrm>
              <a:off x="0" y="0"/>
              <a:ext cx="21738034" cy="2362597"/>
            </a:xfrm>
            <a:custGeom>
              <a:rect b="b" l="l" r="r" t="t"/>
              <a:pathLst>
                <a:path extrusionOk="0" h="2362597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9" name="Google Shape;269;p7"/>
            <p:cNvSpPr txBox="1"/>
            <p:nvPr/>
          </p:nvSpPr>
          <p:spPr>
            <a:xfrm>
              <a:off x="0" y="-28575"/>
              <a:ext cx="21738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Impacto Organizacional de una Buena Arquitectura</a:t>
              </a:r>
              <a:endParaRPr/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992238" y="5425083"/>
            <a:ext cx="3544044" cy="457199"/>
            <a:chOff x="0" y="-19050"/>
            <a:chExt cx="4725392" cy="609600"/>
          </a:xfrm>
        </p:grpSpPr>
        <p:sp>
          <p:nvSpPr>
            <p:cNvPr id="271" name="Google Shape;271;p7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2" name="Google Shape;272;p7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Escalabilidad</a:t>
              </a:r>
              <a:endParaRPr/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992238" y="6101506"/>
            <a:ext cx="4972645" cy="971550"/>
            <a:chOff x="0" y="-85725"/>
            <a:chExt cx="6630193" cy="1295400"/>
          </a:xfrm>
        </p:grpSpPr>
        <p:sp>
          <p:nvSpPr>
            <p:cNvPr id="274" name="Google Shape;274;p7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5" name="Google Shape;275;p7"/>
            <p:cNvSpPr txBox="1"/>
            <p:nvPr/>
          </p:nvSpPr>
          <p:spPr>
            <a:xfrm>
              <a:off x="0" y="-85725"/>
              <a:ext cx="663019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Facilita crecimiento eficiente y adaptación del sistema</a:t>
              </a:r>
              <a:endParaRPr/>
            </a:p>
          </p:txBody>
        </p:sp>
      </p:grpSp>
      <p:grpSp>
        <p:nvGrpSpPr>
          <p:cNvPr id="276" name="Google Shape;276;p7"/>
          <p:cNvGrpSpPr/>
          <p:nvPr/>
        </p:nvGrpSpPr>
        <p:grpSpPr>
          <a:xfrm>
            <a:off x="6666160" y="5425083"/>
            <a:ext cx="4447580" cy="457199"/>
            <a:chOff x="0" y="-19050"/>
            <a:chExt cx="5930107" cy="609600"/>
          </a:xfrm>
        </p:grpSpPr>
        <p:sp>
          <p:nvSpPr>
            <p:cNvPr id="277" name="Google Shape;277;p7"/>
            <p:cNvSpPr/>
            <p:nvPr/>
          </p:nvSpPr>
          <p:spPr>
            <a:xfrm>
              <a:off x="0" y="0"/>
              <a:ext cx="5930107" cy="590550"/>
            </a:xfrm>
            <a:custGeom>
              <a:rect b="b" l="l" r="r" t="t"/>
              <a:pathLst>
                <a:path extrusionOk="0" h="590550" w="5930107">
                  <a:moveTo>
                    <a:pt x="0" y="0"/>
                  </a:moveTo>
                  <a:lnTo>
                    <a:pt x="5930107" y="0"/>
                  </a:lnTo>
                  <a:lnTo>
                    <a:pt x="593010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8" name="Google Shape;278;p7"/>
            <p:cNvSpPr txBox="1"/>
            <p:nvPr/>
          </p:nvSpPr>
          <p:spPr>
            <a:xfrm>
              <a:off x="0" y="-19050"/>
              <a:ext cx="593010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Optimización de Recursos</a:t>
              </a:r>
              <a:endParaRPr/>
            </a:p>
          </p:txBody>
        </p:sp>
      </p:grpSp>
      <p:grpSp>
        <p:nvGrpSpPr>
          <p:cNvPr id="279" name="Google Shape;279;p7"/>
          <p:cNvGrpSpPr/>
          <p:nvPr/>
        </p:nvGrpSpPr>
        <p:grpSpPr>
          <a:xfrm>
            <a:off x="6666160" y="6101506"/>
            <a:ext cx="4972645" cy="971550"/>
            <a:chOff x="0" y="-85725"/>
            <a:chExt cx="6630193" cy="1295400"/>
          </a:xfrm>
        </p:grpSpPr>
        <p:sp>
          <p:nvSpPr>
            <p:cNvPr id="280" name="Google Shape;280;p7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1" name="Google Shape;281;p7"/>
            <p:cNvSpPr txBox="1"/>
            <p:nvPr/>
          </p:nvSpPr>
          <p:spPr>
            <a:xfrm>
              <a:off x="0" y="-85725"/>
              <a:ext cx="663019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Reduce costos operativos mediante gestión eficiente</a:t>
              </a:r>
              <a:endParaRPr/>
            </a:p>
          </p:txBody>
        </p:sp>
      </p:grpSp>
      <p:grpSp>
        <p:nvGrpSpPr>
          <p:cNvPr id="282" name="Google Shape;282;p7"/>
          <p:cNvGrpSpPr/>
          <p:nvPr/>
        </p:nvGrpSpPr>
        <p:grpSpPr>
          <a:xfrm>
            <a:off x="12340084" y="5425083"/>
            <a:ext cx="3544044" cy="457199"/>
            <a:chOff x="0" y="-19050"/>
            <a:chExt cx="4725392" cy="609600"/>
          </a:xfrm>
        </p:grpSpPr>
        <p:sp>
          <p:nvSpPr>
            <p:cNvPr id="283" name="Google Shape;283;p7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4" name="Google Shape;284;p7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Innovación</a:t>
              </a:r>
              <a:endParaRPr/>
            </a:p>
          </p:txBody>
        </p:sp>
      </p:grpSp>
      <p:grpSp>
        <p:nvGrpSpPr>
          <p:cNvPr id="285" name="Google Shape;285;p7"/>
          <p:cNvGrpSpPr/>
          <p:nvPr/>
        </p:nvGrpSpPr>
        <p:grpSpPr>
          <a:xfrm>
            <a:off x="12340084" y="6101506"/>
            <a:ext cx="4972645" cy="971550"/>
            <a:chOff x="0" y="-85725"/>
            <a:chExt cx="6630193" cy="1295400"/>
          </a:xfrm>
        </p:grpSpPr>
        <p:sp>
          <p:nvSpPr>
            <p:cNvPr id="286" name="Google Shape;286;p7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7" name="Google Shape;287;p7"/>
            <p:cNvSpPr txBox="1"/>
            <p:nvPr/>
          </p:nvSpPr>
          <p:spPr>
            <a:xfrm>
              <a:off x="0" y="-85725"/>
              <a:ext cx="663019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Permite integrar nuevas tecnologías rápidamente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96" name="Google Shape;29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298" name="Google Shape;298;p8"/>
          <p:cNvSpPr/>
          <p:nvPr/>
        </p:nvSpPr>
        <p:spPr>
          <a:xfrm>
            <a:off x="11087100" y="-2679"/>
            <a:ext cx="7200900" cy="10289679"/>
          </a:xfrm>
          <a:custGeom>
            <a:rect b="b" l="l" r="r" t="t"/>
            <a:pathLst>
              <a:path extrusionOk="0" h="10289679" w="7200900">
                <a:moveTo>
                  <a:pt x="0" y="0"/>
                </a:moveTo>
                <a:lnTo>
                  <a:pt x="7200900" y="0"/>
                </a:lnTo>
                <a:lnTo>
                  <a:pt x="7200900" y="10289679"/>
                </a:lnTo>
                <a:lnTo>
                  <a:pt x="0" y="102896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2" r="-11" t="0"/>
            </a:stretch>
          </a:blipFill>
          <a:ln>
            <a:noFill/>
          </a:ln>
        </p:spPr>
      </p:sp>
      <p:grpSp>
        <p:nvGrpSpPr>
          <p:cNvPr id="299" name="Google Shape;299;p8"/>
          <p:cNvGrpSpPr/>
          <p:nvPr/>
        </p:nvGrpSpPr>
        <p:grpSpPr>
          <a:xfrm>
            <a:off x="970657" y="734169"/>
            <a:ext cx="9488686" cy="2628454"/>
            <a:chOff x="0" y="-38100"/>
            <a:chExt cx="12651582" cy="3504605"/>
          </a:xfrm>
        </p:grpSpPr>
        <p:sp>
          <p:nvSpPr>
            <p:cNvPr id="300" name="Google Shape;300;p8"/>
            <p:cNvSpPr/>
            <p:nvPr/>
          </p:nvSpPr>
          <p:spPr>
            <a:xfrm>
              <a:off x="0" y="0"/>
              <a:ext cx="12651582" cy="3466505"/>
            </a:xfrm>
            <a:custGeom>
              <a:rect b="b" l="l" r="r" t="t"/>
              <a:pathLst>
                <a:path extrusionOk="0" h="3466505" w="12651582">
                  <a:moveTo>
                    <a:pt x="0" y="0"/>
                  </a:moveTo>
                  <a:lnTo>
                    <a:pt x="12651582" y="0"/>
                  </a:lnTo>
                  <a:lnTo>
                    <a:pt x="12651582" y="3466505"/>
                  </a:lnTo>
                  <a:lnTo>
                    <a:pt x="0" y="34665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1" name="Google Shape;301;p8"/>
            <p:cNvSpPr txBox="1"/>
            <p:nvPr/>
          </p:nvSpPr>
          <p:spPr>
            <a:xfrm>
              <a:off x="0" y="-38100"/>
              <a:ext cx="12651582" cy="3504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2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37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Futuro y Conclusiones sobre Arquitectura de Sistemas</a:t>
              </a:r>
              <a:endParaRPr/>
            </a:p>
          </p:txBody>
        </p:sp>
      </p:grpSp>
      <p:sp>
        <p:nvSpPr>
          <p:cNvPr descr="preencoded.png" id="302" name="Google Shape;302;p8"/>
          <p:cNvSpPr/>
          <p:nvPr/>
        </p:nvSpPr>
        <p:spPr>
          <a:xfrm>
            <a:off x="970657" y="3778598"/>
            <a:ext cx="1386780" cy="1664196"/>
          </a:xfrm>
          <a:custGeom>
            <a:rect b="b" l="l" r="r" t="t"/>
            <a:pathLst>
              <a:path extrusionOk="0" h="1664196" w="1386780">
                <a:moveTo>
                  <a:pt x="0" y="0"/>
                </a:moveTo>
                <a:lnTo>
                  <a:pt x="1386781" y="0"/>
                </a:lnTo>
                <a:lnTo>
                  <a:pt x="1386781" y="1664196"/>
                </a:lnTo>
                <a:lnTo>
                  <a:pt x="0" y="1664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6" r="-57" t="0"/>
            </a:stretch>
          </a:blipFill>
          <a:ln>
            <a:noFill/>
          </a:ln>
        </p:spPr>
      </p:sp>
      <p:grpSp>
        <p:nvGrpSpPr>
          <p:cNvPr id="303" name="Google Shape;303;p8"/>
          <p:cNvGrpSpPr/>
          <p:nvPr/>
        </p:nvGrpSpPr>
        <p:grpSpPr>
          <a:xfrm>
            <a:off x="2773412" y="4041576"/>
            <a:ext cx="5328642" cy="447676"/>
            <a:chOff x="0" y="-19050"/>
            <a:chExt cx="7104857" cy="596900"/>
          </a:xfrm>
        </p:grpSpPr>
        <p:sp>
          <p:nvSpPr>
            <p:cNvPr id="304" name="Google Shape;304;p8"/>
            <p:cNvSpPr/>
            <p:nvPr/>
          </p:nvSpPr>
          <p:spPr>
            <a:xfrm>
              <a:off x="0" y="0"/>
              <a:ext cx="7104857" cy="577850"/>
            </a:xfrm>
            <a:custGeom>
              <a:rect b="b" l="l" r="r" t="t"/>
              <a:pathLst>
                <a:path extrusionOk="0" h="577850" w="7104857">
                  <a:moveTo>
                    <a:pt x="0" y="0"/>
                  </a:moveTo>
                  <a:lnTo>
                    <a:pt x="7104857" y="0"/>
                  </a:lnTo>
                  <a:lnTo>
                    <a:pt x="7104857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5" name="Google Shape;305;p8"/>
            <p:cNvSpPr txBox="1"/>
            <p:nvPr/>
          </p:nvSpPr>
          <p:spPr>
            <a:xfrm>
              <a:off x="0" y="-19050"/>
              <a:ext cx="7104857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87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Arquitectura Cloud y Serverless</a:t>
              </a:r>
              <a:endParaRPr/>
            </a:p>
          </p:txBody>
        </p:sp>
      </p:grpSp>
      <p:sp>
        <p:nvSpPr>
          <p:cNvPr descr="preencoded.png" id="306" name="Google Shape;306;p8"/>
          <p:cNvSpPr/>
          <p:nvPr/>
        </p:nvSpPr>
        <p:spPr>
          <a:xfrm>
            <a:off x="970657" y="5442794"/>
            <a:ext cx="1386780" cy="1664196"/>
          </a:xfrm>
          <a:custGeom>
            <a:rect b="b" l="l" r="r" t="t"/>
            <a:pathLst>
              <a:path extrusionOk="0" h="1664196" w="1386780">
                <a:moveTo>
                  <a:pt x="0" y="0"/>
                </a:moveTo>
                <a:lnTo>
                  <a:pt x="1386781" y="0"/>
                </a:lnTo>
                <a:lnTo>
                  <a:pt x="1386781" y="1664196"/>
                </a:lnTo>
                <a:lnTo>
                  <a:pt x="0" y="1664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6" r="-57" t="0"/>
            </a:stretch>
          </a:blipFill>
          <a:ln>
            <a:noFill/>
          </a:ln>
        </p:spPr>
      </p:sp>
      <p:grpSp>
        <p:nvGrpSpPr>
          <p:cNvPr id="307" name="Google Shape;307;p8"/>
          <p:cNvGrpSpPr/>
          <p:nvPr/>
        </p:nvGrpSpPr>
        <p:grpSpPr>
          <a:xfrm>
            <a:off x="2773412" y="5705772"/>
            <a:ext cx="6447532" cy="447676"/>
            <a:chOff x="0" y="-19050"/>
            <a:chExt cx="8596710" cy="596900"/>
          </a:xfrm>
        </p:grpSpPr>
        <p:sp>
          <p:nvSpPr>
            <p:cNvPr id="308" name="Google Shape;308;p8"/>
            <p:cNvSpPr/>
            <p:nvPr/>
          </p:nvSpPr>
          <p:spPr>
            <a:xfrm>
              <a:off x="0" y="0"/>
              <a:ext cx="8596710" cy="577850"/>
            </a:xfrm>
            <a:custGeom>
              <a:rect b="b" l="l" r="r" t="t"/>
              <a:pathLst>
                <a:path extrusionOk="0" h="577850" w="8596710">
                  <a:moveTo>
                    <a:pt x="0" y="0"/>
                  </a:moveTo>
                  <a:lnTo>
                    <a:pt x="8596710" y="0"/>
                  </a:lnTo>
                  <a:lnTo>
                    <a:pt x="8596710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9" name="Google Shape;309;p8"/>
            <p:cNvSpPr txBox="1"/>
            <p:nvPr/>
          </p:nvSpPr>
          <p:spPr>
            <a:xfrm>
              <a:off x="0" y="-19050"/>
              <a:ext cx="8596710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87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IA para Automatización Arquitectónica</a:t>
              </a:r>
              <a:endParaRPr/>
            </a:p>
          </p:txBody>
        </p:sp>
      </p:grpSp>
      <p:sp>
        <p:nvSpPr>
          <p:cNvPr descr="preencoded.png" id="310" name="Google Shape;310;p8"/>
          <p:cNvSpPr/>
          <p:nvPr/>
        </p:nvSpPr>
        <p:spPr>
          <a:xfrm>
            <a:off x="970657" y="7106990"/>
            <a:ext cx="1386780" cy="1664196"/>
          </a:xfrm>
          <a:custGeom>
            <a:rect b="b" l="l" r="r" t="t"/>
            <a:pathLst>
              <a:path extrusionOk="0" h="1664196" w="1386780">
                <a:moveTo>
                  <a:pt x="0" y="0"/>
                </a:moveTo>
                <a:lnTo>
                  <a:pt x="1386781" y="0"/>
                </a:lnTo>
                <a:lnTo>
                  <a:pt x="1386781" y="1664196"/>
                </a:lnTo>
                <a:lnTo>
                  <a:pt x="0" y="1664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56" r="-57" t="0"/>
            </a:stretch>
          </a:blipFill>
          <a:ln>
            <a:noFill/>
          </a:ln>
        </p:spPr>
      </p:sp>
      <p:grpSp>
        <p:nvGrpSpPr>
          <p:cNvPr id="311" name="Google Shape;311;p8"/>
          <p:cNvGrpSpPr/>
          <p:nvPr/>
        </p:nvGrpSpPr>
        <p:grpSpPr>
          <a:xfrm>
            <a:off x="2773412" y="7369968"/>
            <a:ext cx="4847928" cy="447676"/>
            <a:chOff x="0" y="-19050"/>
            <a:chExt cx="6463904" cy="596900"/>
          </a:xfrm>
        </p:grpSpPr>
        <p:sp>
          <p:nvSpPr>
            <p:cNvPr id="312" name="Google Shape;312;p8"/>
            <p:cNvSpPr/>
            <p:nvPr/>
          </p:nvSpPr>
          <p:spPr>
            <a:xfrm>
              <a:off x="0" y="0"/>
              <a:ext cx="6463904" cy="577850"/>
            </a:xfrm>
            <a:custGeom>
              <a:rect b="b" l="l" r="r" t="t"/>
              <a:pathLst>
                <a:path extrusionOk="0" h="577850" w="6463904">
                  <a:moveTo>
                    <a:pt x="0" y="0"/>
                  </a:moveTo>
                  <a:lnTo>
                    <a:pt x="6463904" y="0"/>
                  </a:lnTo>
                  <a:lnTo>
                    <a:pt x="6463904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3" name="Google Shape;313;p8"/>
            <p:cNvSpPr txBox="1"/>
            <p:nvPr/>
          </p:nvSpPr>
          <p:spPr>
            <a:xfrm>
              <a:off x="0" y="-19050"/>
              <a:ext cx="6463903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87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Competitividad y Adaptación</a:t>
              </a:r>
              <a:endParaRPr/>
            </a:p>
          </p:txBody>
        </p:sp>
      </p:grpSp>
      <p:grpSp>
        <p:nvGrpSpPr>
          <p:cNvPr id="314" name="Google Shape;314;p8"/>
          <p:cNvGrpSpPr/>
          <p:nvPr/>
        </p:nvGrpSpPr>
        <p:grpSpPr>
          <a:xfrm>
            <a:off x="970657" y="9011691"/>
            <a:ext cx="9488686" cy="515243"/>
            <a:chOff x="0" y="-95250"/>
            <a:chExt cx="12651582" cy="686990"/>
          </a:xfrm>
        </p:grpSpPr>
        <p:sp>
          <p:nvSpPr>
            <p:cNvPr id="315" name="Google Shape;315;p8"/>
            <p:cNvSpPr/>
            <p:nvPr/>
          </p:nvSpPr>
          <p:spPr>
            <a:xfrm>
              <a:off x="0" y="0"/>
              <a:ext cx="12651582" cy="591740"/>
            </a:xfrm>
            <a:custGeom>
              <a:rect b="b" l="l" r="r" t="t"/>
              <a:pathLst>
                <a:path extrusionOk="0" h="591740" w="12651582">
                  <a:moveTo>
                    <a:pt x="0" y="0"/>
                  </a:moveTo>
                  <a:lnTo>
                    <a:pt x="12651582" y="0"/>
                  </a:lnTo>
                  <a:lnTo>
                    <a:pt x="12651582" y="591740"/>
                  </a:lnTo>
                  <a:lnTo>
                    <a:pt x="0" y="59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6" name="Google Shape;316;p8"/>
            <p:cNvSpPr txBox="1"/>
            <p:nvPr/>
          </p:nvSpPr>
          <p:spPr>
            <a:xfrm>
              <a:off x="0" y="-95250"/>
              <a:ext cx="12651582" cy="686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La arquitectura impulsa innovación y sostenibilidad tecnológica.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25" name="Google Shape;32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327" name="Google Shape;327;p9"/>
          <p:cNvSpPr/>
          <p:nvPr/>
        </p:nvSpPr>
        <p:spPr>
          <a:xfrm>
            <a:off x="1108710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8" name="Google Shape;328;p9"/>
          <p:cNvGrpSpPr/>
          <p:nvPr/>
        </p:nvGrpSpPr>
        <p:grpSpPr>
          <a:xfrm>
            <a:off x="992238" y="3183583"/>
            <a:ext cx="9445526" cy="1793378"/>
            <a:chOff x="0" y="-28575"/>
            <a:chExt cx="12594035" cy="2391172"/>
          </a:xfrm>
        </p:grpSpPr>
        <p:sp>
          <p:nvSpPr>
            <p:cNvPr id="329" name="Google Shape;329;p9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0" name="Google Shape;330;p9"/>
            <p:cNvSpPr txBox="1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Ciclo de Vida de un Sistema: Definición</a:t>
              </a:r>
              <a:endParaRPr/>
            </a:p>
          </p:txBody>
        </p:sp>
      </p:grpSp>
      <p:grpSp>
        <p:nvGrpSpPr>
          <p:cNvPr id="331" name="Google Shape;331;p9"/>
          <p:cNvGrpSpPr/>
          <p:nvPr/>
        </p:nvGrpSpPr>
        <p:grpSpPr>
          <a:xfrm>
            <a:off x="992238" y="5337870"/>
            <a:ext cx="9445526" cy="971550"/>
            <a:chOff x="0" y="-85725"/>
            <a:chExt cx="12594035" cy="1295400"/>
          </a:xfrm>
        </p:grpSpPr>
        <p:sp>
          <p:nvSpPr>
            <p:cNvPr id="332" name="Google Shape;332;p9"/>
            <p:cNvSpPr/>
            <p:nvPr/>
          </p:nvSpPr>
          <p:spPr>
            <a:xfrm>
              <a:off x="0" y="0"/>
              <a:ext cx="12594035" cy="1209675"/>
            </a:xfrm>
            <a:custGeom>
              <a:rect b="b" l="l" r="r" t="t"/>
              <a:pathLst>
                <a:path extrusionOk="0" h="120967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3" name="Google Shape;333;p9"/>
            <p:cNvSpPr txBox="1"/>
            <p:nvPr/>
          </p:nvSpPr>
          <p:spPr>
            <a:xfrm>
              <a:off x="0" y="-85725"/>
              <a:ext cx="1259403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El ciclo de vida abarca desde la concepción hasta el retiro del sistema.</a:t>
              </a:r>
              <a:endParaRPr/>
            </a:p>
          </p:txBody>
        </p:sp>
      </p:grpSp>
      <p:grpSp>
        <p:nvGrpSpPr>
          <p:cNvPr id="334" name="Google Shape;334;p9"/>
          <p:cNvGrpSpPr/>
          <p:nvPr/>
        </p:nvGrpSpPr>
        <p:grpSpPr>
          <a:xfrm>
            <a:off x="992238" y="6564065"/>
            <a:ext cx="9445526" cy="517923"/>
            <a:chOff x="0" y="-85725"/>
            <a:chExt cx="12594035" cy="690563"/>
          </a:xfrm>
        </p:grpSpPr>
        <p:sp>
          <p:nvSpPr>
            <p:cNvPr id="335" name="Google Shape;335;p9"/>
            <p:cNvSpPr/>
            <p:nvPr/>
          </p:nvSpPr>
          <p:spPr>
            <a:xfrm>
              <a:off x="0" y="0"/>
              <a:ext cx="12594035" cy="604838"/>
            </a:xfrm>
            <a:custGeom>
              <a:rect b="b" l="l" r="r" t="t"/>
              <a:pathLst>
                <a:path extrusionOk="0" h="60483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6" name="Google Shape;336;p9"/>
            <p:cNvSpPr txBox="1"/>
            <p:nvPr/>
          </p:nvSpPr>
          <p:spPr>
            <a:xfrm>
              <a:off x="0" y="-85725"/>
              <a:ext cx="12594035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Regula procesos para gestión y evolución tecnológica continua.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45" name="Google Shape;34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grpSp>
        <p:nvGrpSpPr>
          <p:cNvPr id="347" name="Google Shape;347;p10"/>
          <p:cNvGrpSpPr/>
          <p:nvPr/>
        </p:nvGrpSpPr>
        <p:grpSpPr>
          <a:xfrm>
            <a:off x="992238" y="2412950"/>
            <a:ext cx="16303526" cy="1793378"/>
            <a:chOff x="0" y="-28575"/>
            <a:chExt cx="21738035" cy="2391172"/>
          </a:xfrm>
        </p:grpSpPr>
        <p:sp>
          <p:nvSpPr>
            <p:cNvPr id="348" name="Google Shape;348;p10"/>
            <p:cNvSpPr/>
            <p:nvPr/>
          </p:nvSpPr>
          <p:spPr>
            <a:xfrm>
              <a:off x="0" y="0"/>
              <a:ext cx="21738034" cy="2362597"/>
            </a:xfrm>
            <a:custGeom>
              <a:rect b="b" l="l" r="r" t="t"/>
              <a:pathLst>
                <a:path extrusionOk="0" h="2362597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9" name="Google Shape;349;p10"/>
            <p:cNvSpPr txBox="1"/>
            <p:nvPr/>
          </p:nvSpPr>
          <p:spPr>
            <a:xfrm>
              <a:off x="0" y="-28575"/>
              <a:ext cx="21738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Etapas del Ciclo de Vida y Herramientas Asociadas</a:t>
              </a:r>
              <a:endParaRPr/>
            </a:p>
          </p:txBody>
        </p:sp>
      </p:grpSp>
      <p:grpSp>
        <p:nvGrpSpPr>
          <p:cNvPr id="350" name="Google Shape;350;p10"/>
          <p:cNvGrpSpPr/>
          <p:nvPr/>
        </p:nvGrpSpPr>
        <p:grpSpPr>
          <a:xfrm>
            <a:off x="992238" y="4900762"/>
            <a:ext cx="3544044" cy="457199"/>
            <a:chOff x="0" y="-19050"/>
            <a:chExt cx="4725392" cy="609600"/>
          </a:xfrm>
        </p:grpSpPr>
        <p:sp>
          <p:nvSpPr>
            <p:cNvPr id="351" name="Google Shape;351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2" name="Google Shape;352;p10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Etapas Principales</a:t>
              </a:r>
              <a:endParaRPr/>
            </a:p>
          </p:txBody>
        </p:sp>
      </p:grpSp>
      <p:grpSp>
        <p:nvGrpSpPr>
          <p:cNvPr id="353" name="Google Shape;353;p10"/>
          <p:cNvGrpSpPr/>
          <p:nvPr/>
        </p:nvGrpSpPr>
        <p:grpSpPr>
          <a:xfrm>
            <a:off x="992238" y="5577185"/>
            <a:ext cx="7805886" cy="517923"/>
            <a:chOff x="0" y="-85725"/>
            <a:chExt cx="10407848" cy="690563"/>
          </a:xfrm>
        </p:grpSpPr>
        <p:sp>
          <p:nvSpPr>
            <p:cNvPr id="354" name="Google Shape;354;p10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5" name="Google Shape;355;p10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C2926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Análisis y diseño</a:t>
              </a:r>
              <a:endParaRPr/>
            </a:p>
          </p:txBody>
        </p:sp>
      </p:grpSp>
      <p:grpSp>
        <p:nvGrpSpPr>
          <p:cNvPr id="356" name="Google Shape;356;p10"/>
          <p:cNvGrpSpPr/>
          <p:nvPr/>
        </p:nvGrpSpPr>
        <p:grpSpPr>
          <a:xfrm>
            <a:off x="992238" y="6129932"/>
            <a:ext cx="7805886" cy="517923"/>
            <a:chOff x="0" y="-85725"/>
            <a:chExt cx="10407848" cy="690563"/>
          </a:xfrm>
        </p:grpSpPr>
        <p:sp>
          <p:nvSpPr>
            <p:cNvPr id="357" name="Google Shape;357;p10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8" name="Google Shape;358;p10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C2926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Implementación y pruebas</a:t>
              </a:r>
              <a:endParaRPr/>
            </a:p>
          </p:txBody>
        </p:sp>
      </p:grpSp>
      <p:grpSp>
        <p:nvGrpSpPr>
          <p:cNvPr id="359" name="Google Shape;359;p10"/>
          <p:cNvGrpSpPr/>
          <p:nvPr/>
        </p:nvGrpSpPr>
        <p:grpSpPr>
          <a:xfrm>
            <a:off x="992238" y="6682680"/>
            <a:ext cx="7805886" cy="517923"/>
            <a:chOff x="0" y="-85725"/>
            <a:chExt cx="10407848" cy="690563"/>
          </a:xfrm>
        </p:grpSpPr>
        <p:sp>
          <p:nvSpPr>
            <p:cNvPr id="360" name="Google Shape;360;p10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1" name="Google Shape;361;p10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C2926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Despliegue y operación</a:t>
              </a:r>
              <a:endParaRPr/>
            </a:p>
          </p:txBody>
        </p:sp>
      </p:grpSp>
      <p:grpSp>
        <p:nvGrpSpPr>
          <p:cNvPr id="362" name="Google Shape;362;p10"/>
          <p:cNvGrpSpPr/>
          <p:nvPr/>
        </p:nvGrpSpPr>
        <p:grpSpPr>
          <a:xfrm>
            <a:off x="992238" y="7235429"/>
            <a:ext cx="7805886" cy="517923"/>
            <a:chOff x="0" y="-85725"/>
            <a:chExt cx="10407848" cy="690563"/>
          </a:xfrm>
        </p:grpSpPr>
        <p:sp>
          <p:nvSpPr>
            <p:cNvPr id="363" name="Google Shape;363;p10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4" name="Google Shape;364;p10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C2926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Retiro del sistema</a:t>
              </a:r>
              <a:endParaRPr/>
            </a:p>
          </p:txBody>
        </p:sp>
      </p:grpSp>
      <p:grpSp>
        <p:nvGrpSpPr>
          <p:cNvPr id="365" name="Google Shape;365;p10"/>
          <p:cNvGrpSpPr/>
          <p:nvPr/>
        </p:nvGrpSpPr>
        <p:grpSpPr>
          <a:xfrm>
            <a:off x="9499401" y="4900762"/>
            <a:ext cx="3544044" cy="457199"/>
            <a:chOff x="0" y="-19050"/>
            <a:chExt cx="4725392" cy="609600"/>
          </a:xfrm>
        </p:grpSpPr>
        <p:sp>
          <p:nvSpPr>
            <p:cNvPr id="366" name="Google Shape;366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7" name="Google Shape;367;p10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Herramientas</a:t>
              </a:r>
              <a:endParaRPr/>
            </a:p>
          </p:txBody>
        </p:sp>
      </p:grpSp>
      <p:grpSp>
        <p:nvGrpSpPr>
          <p:cNvPr id="368" name="Google Shape;368;p10"/>
          <p:cNvGrpSpPr/>
          <p:nvPr/>
        </p:nvGrpSpPr>
        <p:grpSpPr>
          <a:xfrm>
            <a:off x="9499401" y="5577185"/>
            <a:ext cx="7805886" cy="517923"/>
            <a:chOff x="0" y="-85725"/>
            <a:chExt cx="10407848" cy="690563"/>
          </a:xfrm>
        </p:grpSpPr>
        <p:sp>
          <p:nvSpPr>
            <p:cNvPr id="369" name="Google Shape;369;p10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0" name="Google Shape;370;p10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C2926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Metodologías ágiles: Scrum, Kanban</a:t>
              </a:r>
              <a:endParaRPr/>
            </a:p>
          </p:txBody>
        </p:sp>
      </p:grpSp>
      <p:grpSp>
        <p:nvGrpSpPr>
          <p:cNvPr id="371" name="Google Shape;371;p10"/>
          <p:cNvGrpSpPr/>
          <p:nvPr/>
        </p:nvGrpSpPr>
        <p:grpSpPr>
          <a:xfrm>
            <a:off x="9499401" y="6129932"/>
            <a:ext cx="7805886" cy="517923"/>
            <a:chOff x="0" y="-85725"/>
            <a:chExt cx="10407848" cy="690563"/>
          </a:xfrm>
        </p:grpSpPr>
        <p:sp>
          <p:nvSpPr>
            <p:cNvPr id="372" name="Google Shape;372;p10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3" name="Google Shape;373;p10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C2926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Software gestión de proyectos</a:t>
              </a:r>
              <a:endParaRPr/>
            </a:p>
          </p:txBody>
        </p:sp>
      </p:grpSp>
      <p:grpSp>
        <p:nvGrpSpPr>
          <p:cNvPr id="374" name="Google Shape;374;p10"/>
          <p:cNvGrpSpPr/>
          <p:nvPr/>
        </p:nvGrpSpPr>
        <p:grpSpPr>
          <a:xfrm>
            <a:off x="9499401" y="6682680"/>
            <a:ext cx="7805886" cy="517923"/>
            <a:chOff x="0" y="-85725"/>
            <a:chExt cx="10407848" cy="690563"/>
          </a:xfrm>
        </p:grpSpPr>
        <p:sp>
          <p:nvSpPr>
            <p:cNvPr id="375" name="Google Shape;375;p10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6" name="Google Shape;376;p10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C2926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Diagramas y documentación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85" name="Google Shape;385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6" name="Google Shape;386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387" name="Google Shape;387;p11"/>
          <p:cNvSpPr/>
          <p:nvPr/>
        </p:nvSpPr>
        <p:spPr>
          <a:xfrm>
            <a:off x="11096625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8" name="Google Shape;388;p11"/>
          <p:cNvGrpSpPr/>
          <p:nvPr/>
        </p:nvGrpSpPr>
        <p:grpSpPr>
          <a:xfrm>
            <a:off x="992238" y="2122289"/>
            <a:ext cx="9445526" cy="1793378"/>
            <a:chOff x="0" y="-28575"/>
            <a:chExt cx="12594035" cy="2391172"/>
          </a:xfrm>
        </p:grpSpPr>
        <p:sp>
          <p:nvSpPr>
            <p:cNvPr id="389" name="Google Shape;389;p11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0" name="Google Shape;390;p11"/>
            <p:cNvSpPr txBox="1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Importancia y Ejemplos de Aplicación del Ciclo de Vida</a:t>
              </a:r>
              <a:endParaRPr/>
            </a:p>
          </p:txBody>
        </p:sp>
      </p:grpSp>
      <p:grpSp>
        <p:nvGrpSpPr>
          <p:cNvPr id="391" name="Google Shape;391;p11"/>
          <p:cNvGrpSpPr/>
          <p:nvPr/>
        </p:nvGrpSpPr>
        <p:grpSpPr>
          <a:xfrm>
            <a:off x="987475" y="4336108"/>
            <a:ext cx="647414" cy="647414"/>
            <a:chOff x="0" y="0"/>
            <a:chExt cx="863219" cy="863219"/>
          </a:xfrm>
        </p:grpSpPr>
        <p:sp>
          <p:nvSpPr>
            <p:cNvPr id="392" name="Google Shape;392;p11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" name="Google Shape;394;p11"/>
          <p:cNvGrpSpPr/>
          <p:nvPr/>
        </p:nvGrpSpPr>
        <p:grpSpPr>
          <a:xfrm>
            <a:off x="1913632" y="4423917"/>
            <a:ext cx="3624263" cy="900113"/>
            <a:chOff x="0" y="-19050"/>
            <a:chExt cx="4832350" cy="1200150"/>
          </a:xfrm>
        </p:grpSpPr>
        <p:sp>
          <p:nvSpPr>
            <p:cNvPr id="395" name="Google Shape;395;p11"/>
            <p:cNvSpPr/>
            <p:nvPr/>
          </p:nvSpPr>
          <p:spPr>
            <a:xfrm>
              <a:off x="0" y="0"/>
              <a:ext cx="4832350" cy="1181100"/>
            </a:xfrm>
            <a:custGeom>
              <a:rect b="b" l="l" r="r" t="t"/>
              <a:pathLst>
                <a:path extrusionOk="0" h="1181100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6" name="Google Shape;396;p11"/>
            <p:cNvSpPr txBox="1"/>
            <p:nvPr/>
          </p:nvSpPr>
          <p:spPr>
            <a:xfrm>
              <a:off x="0" y="-19050"/>
              <a:ext cx="483235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Calidad y Previsibilidad</a:t>
              </a:r>
              <a:endParaRPr/>
            </a:p>
          </p:txBody>
        </p:sp>
      </p:grpSp>
      <p:grpSp>
        <p:nvGrpSpPr>
          <p:cNvPr id="397" name="Google Shape;397;p11"/>
          <p:cNvGrpSpPr/>
          <p:nvPr/>
        </p:nvGrpSpPr>
        <p:grpSpPr>
          <a:xfrm>
            <a:off x="1913632" y="5429845"/>
            <a:ext cx="3624263" cy="971550"/>
            <a:chOff x="0" y="-85725"/>
            <a:chExt cx="4832350" cy="1295400"/>
          </a:xfrm>
        </p:grpSpPr>
        <p:sp>
          <p:nvSpPr>
            <p:cNvPr id="398" name="Google Shape;398;p11"/>
            <p:cNvSpPr/>
            <p:nvPr/>
          </p:nvSpPr>
          <p:spPr>
            <a:xfrm>
              <a:off x="0" y="0"/>
              <a:ext cx="4832350" cy="1209675"/>
            </a:xfrm>
            <a:custGeom>
              <a:rect b="b" l="l" r="r" t="t"/>
              <a:pathLst>
                <a:path extrusionOk="0" h="1209675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9" name="Google Shape;399;p11"/>
            <p:cNvSpPr txBox="1"/>
            <p:nvPr/>
          </p:nvSpPr>
          <p:spPr>
            <a:xfrm>
              <a:off x="0" y="-85725"/>
              <a:ext cx="483235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Asegura cumplimiento efectivo de objetivos</a:t>
              </a:r>
              <a:endParaRPr/>
            </a:p>
          </p:txBody>
        </p:sp>
      </p:grpSp>
      <p:grpSp>
        <p:nvGrpSpPr>
          <p:cNvPr id="400" name="Google Shape;400;p11"/>
          <p:cNvGrpSpPr/>
          <p:nvPr/>
        </p:nvGrpSpPr>
        <p:grpSpPr>
          <a:xfrm>
            <a:off x="5887491" y="4336108"/>
            <a:ext cx="647415" cy="647414"/>
            <a:chOff x="0" y="0"/>
            <a:chExt cx="863219" cy="863219"/>
          </a:xfrm>
        </p:grpSpPr>
        <p:sp>
          <p:nvSpPr>
            <p:cNvPr id="401" name="Google Shape;401;p11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" name="Google Shape;403;p11"/>
          <p:cNvGrpSpPr/>
          <p:nvPr/>
        </p:nvGrpSpPr>
        <p:grpSpPr>
          <a:xfrm>
            <a:off x="6813649" y="4423917"/>
            <a:ext cx="3544044" cy="457199"/>
            <a:chOff x="0" y="-19050"/>
            <a:chExt cx="4725392" cy="609600"/>
          </a:xfrm>
        </p:grpSpPr>
        <p:sp>
          <p:nvSpPr>
            <p:cNvPr id="404" name="Google Shape;404;p11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5" name="Google Shape;405;p11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Ejemplo ERP</a:t>
              </a:r>
              <a:endParaRPr/>
            </a:p>
          </p:txBody>
        </p:sp>
      </p:grpSp>
      <p:grpSp>
        <p:nvGrpSpPr>
          <p:cNvPr id="406" name="Google Shape;406;p11"/>
          <p:cNvGrpSpPr/>
          <p:nvPr/>
        </p:nvGrpSpPr>
        <p:grpSpPr>
          <a:xfrm>
            <a:off x="6813649" y="4986932"/>
            <a:ext cx="3624262" cy="1425179"/>
            <a:chOff x="0" y="-85725"/>
            <a:chExt cx="4832350" cy="1900238"/>
          </a:xfrm>
        </p:grpSpPr>
        <p:sp>
          <p:nvSpPr>
            <p:cNvPr id="407" name="Google Shape;407;p11"/>
            <p:cNvSpPr/>
            <p:nvPr/>
          </p:nvSpPr>
          <p:spPr>
            <a:xfrm>
              <a:off x="0" y="0"/>
              <a:ext cx="4832350" cy="1814513"/>
            </a:xfrm>
            <a:custGeom>
              <a:rect b="b" l="l" r="r" t="t"/>
              <a:pathLst>
                <a:path extrusionOk="0" h="181451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8" name="Google Shape;408;p11"/>
            <p:cNvSpPr txBox="1"/>
            <p:nvPr/>
          </p:nvSpPr>
          <p:spPr>
            <a:xfrm>
              <a:off x="0" y="-85725"/>
              <a:ext cx="4832350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Desarrollo desde requisitos hasta mantenimiento constante</a:t>
              </a:r>
              <a:endParaRPr/>
            </a:p>
          </p:txBody>
        </p:sp>
      </p:grpSp>
      <p:grpSp>
        <p:nvGrpSpPr>
          <p:cNvPr id="409" name="Google Shape;409;p11"/>
          <p:cNvGrpSpPr/>
          <p:nvPr/>
        </p:nvGrpSpPr>
        <p:grpSpPr>
          <a:xfrm>
            <a:off x="987475" y="6974384"/>
            <a:ext cx="647414" cy="647414"/>
            <a:chOff x="0" y="0"/>
            <a:chExt cx="863219" cy="863219"/>
          </a:xfrm>
        </p:grpSpPr>
        <p:sp>
          <p:nvSpPr>
            <p:cNvPr id="410" name="Google Shape;410;p11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11"/>
          <p:cNvGrpSpPr/>
          <p:nvPr/>
        </p:nvGrpSpPr>
        <p:grpSpPr>
          <a:xfrm>
            <a:off x="1913632" y="7062193"/>
            <a:ext cx="3745855" cy="457199"/>
            <a:chOff x="0" y="-19050"/>
            <a:chExt cx="4994473" cy="609600"/>
          </a:xfrm>
        </p:grpSpPr>
        <p:sp>
          <p:nvSpPr>
            <p:cNvPr id="413" name="Google Shape;413;p11"/>
            <p:cNvSpPr/>
            <p:nvPr/>
          </p:nvSpPr>
          <p:spPr>
            <a:xfrm>
              <a:off x="0" y="0"/>
              <a:ext cx="4994473" cy="590550"/>
            </a:xfrm>
            <a:custGeom>
              <a:rect b="b" l="l" r="r" t="t"/>
              <a:pathLst>
                <a:path extrusionOk="0" h="590550" w="4994473">
                  <a:moveTo>
                    <a:pt x="0" y="0"/>
                  </a:moveTo>
                  <a:lnTo>
                    <a:pt x="4994473" y="0"/>
                  </a:lnTo>
                  <a:lnTo>
                    <a:pt x="499447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4" name="Google Shape;414;p11"/>
            <p:cNvSpPr txBox="1"/>
            <p:nvPr/>
          </p:nvSpPr>
          <p:spPr>
            <a:xfrm>
              <a:off x="0" y="-19050"/>
              <a:ext cx="49944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Reducción de Riesgos</a:t>
              </a:r>
              <a:endParaRPr/>
            </a:p>
          </p:txBody>
        </p:sp>
      </p:grpSp>
      <p:grpSp>
        <p:nvGrpSpPr>
          <p:cNvPr id="415" name="Google Shape;415;p11"/>
          <p:cNvGrpSpPr/>
          <p:nvPr/>
        </p:nvGrpSpPr>
        <p:grpSpPr>
          <a:xfrm>
            <a:off x="1913632" y="7625208"/>
            <a:ext cx="8524132" cy="517923"/>
            <a:chOff x="0" y="-85725"/>
            <a:chExt cx="11365509" cy="690563"/>
          </a:xfrm>
        </p:grpSpPr>
        <p:sp>
          <p:nvSpPr>
            <p:cNvPr id="416" name="Google Shape;416;p11"/>
            <p:cNvSpPr/>
            <p:nvPr/>
          </p:nvSpPr>
          <p:spPr>
            <a:xfrm>
              <a:off x="0" y="0"/>
              <a:ext cx="11365509" cy="604838"/>
            </a:xfrm>
            <a:custGeom>
              <a:rect b="b" l="l" r="r" t="t"/>
              <a:pathLst>
                <a:path extrusionOk="0"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7" name="Google Shape;417;p11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Mejora experiencia y satisfacción del usuario final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26" name="Google Shape;426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7" name="Google Shape;427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428" name="Google Shape;428;p12"/>
          <p:cNvSpPr/>
          <p:nvPr/>
        </p:nvSpPr>
        <p:spPr>
          <a:xfrm>
            <a:off x="0" y="0"/>
            <a:ext cx="18288000" cy="3721150"/>
          </a:xfrm>
          <a:custGeom>
            <a:rect b="b" l="l" r="r" t="t"/>
            <a:pathLst>
              <a:path extrusionOk="0" h="3721150" w="18288000">
                <a:moveTo>
                  <a:pt x="0" y="0"/>
                </a:moveTo>
                <a:lnTo>
                  <a:pt x="18288000" y="0"/>
                </a:lnTo>
                <a:lnTo>
                  <a:pt x="18288000" y="3721150"/>
                </a:lnTo>
                <a:lnTo>
                  <a:pt x="0" y="3721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40"/>
            </a:stretch>
          </a:blipFill>
          <a:ln>
            <a:noFill/>
          </a:ln>
        </p:spPr>
      </p:sp>
      <p:grpSp>
        <p:nvGrpSpPr>
          <p:cNvPr id="429" name="Google Shape;429;p12"/>
          <p:cNvGrpSpPr/>
          <p:nvPr/>
        </p:nvGrpSpPr>
        <p:grpSpPr>
          <a:xfrm>
            <a:off x="992238" y="4572893"/>
            <a:ext cx="16303526" cy="1793378"/>
            <a:chOff x="0" y="-28575"/>
            <a:chExt cx="21738035" cy="2391172"/>
          </a:xfrm>
        </p:grpSpPr>
        <p:sp>
          <p:nvSpPr>
            <p:cNvPr id="430" name="Google Shape;430;p12"/>
            <p:cNvSpPr/>
            <p:nvPr/>
          </p:nvSpPr>
          <p:spPr>
            <a:xfrm>
              <a:off x="0" y="0"/>
              <a:ext cx="21738034" cy="2362597"/>
            </a:xfrm>
            <a:custGeom>
              <a:rect b="b" l="l" r="r" t="t"/>
              <a:pathLst>
                <a:path extrusionOk="0" h="2362597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1" name="Google Shape;431;p12"/>
            <p:cNvSpPr txBox="1"/>
            <p:nvPr/>
          </p:nvSpPr>
          <p:spPr>
            <a:xfrm>
              <a:off x="0" y="-28575"/>
              <a:ext cx="21738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Desafíos y Futuro del Ciclo de Vida de un Sistema</a:t>
              </a:r>
              <a:endParaRPr/>
            </a:p>
          </p:txBody>
        </p:sp>
      </p:grpSp>
      <p:grpSp>
        <p:nvGrpSpPr>
          <p:cNvPr id="432" name="Google Shape;432;p12"/>
          <p:cNvGrpSpPr/>
          <p:nvPr/>
        </p:nvGrpSpPr>
        <p:grpSpPr>
          <a:xfrm>
            <a:off x="987475" y="7637264"/>
            <a:ext cx="5160454" cy="292990"/>
            <a:chOff x="0" y="0"/>
            <a:chExt cx="6880606" cy="390652"/>
          </a:xfrm>
        </p:grpSpPr>
        <p:sp>
          <p:nvSpPr>
            <p:cNvPr id="433" name="Google Shape;433;p12"/>
            <p:cNvSpPr/>
            <p:nvPr/>
          </p:nvSpPr>
          <p:spPr>
            <a:xfrm>
              <a:off x="6350" y="6350"/>
              <a:ext cx="6867906" cy="378079"/>
            </a:xfrm>
            <a:custGeom>
              <a:rect b="b" l="l" r="r" t="t"/>
              <a:pathLst>
                <a:path extrusionOk="0" h="378079" w="6867906">
                  <a:moveTo>
                    <a:pt x="0" y="158750"/>
                  </a:moveTo>
                  <a:cubicBezTo>
                    <a:pt x="0" y="71120"/>
                    <a:pt x="73279" y="0"/>
                    <a:pt x="163830" y="0"/>
                  </a:cubicBezTo>
                  <a:lnTo>
                    <a:pt x="6704076" y="0"/>
                  </a:lnTo>
                  <a:cubicBezTo>
                    <a:pt x="6794500" y="0"/>
                    <a:pt x="6867906" y="71120"/>
                    <a:pt x="6867906" y="158750"/>
                  </a:cubicBezTo>
                  <a:lnTo>
                    <a:pt x="6867906" y="219202"/>
                  </a:lnTo>
                  <a:cubicBezTo>
                    <a:pt x="6867906" y="306832"/>
                    <a:pt x="6794627" y="377952"/>
                    <a:pt x="6704076" y="377952"/>
                  </a:cubicBezTo>
                  <a:lnTo>
                    <a:pt x="163830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2"/>
            <p:cNvSpPr/>
            <p:nvPr/>
          </p:nvSpPr>
          <p:spPr>
            <a:xfrm>
              <a:off x="0" y="0"/>
              <a:ext cx="6880606" cy="390652"/>
            </a:xfrm>
            <a:custGeom>
              <a:rect b="b" l="l" r="r" t="t"/>
              <a:pathLst>
                <a:path extrusionOk="0" h="390652" w="6880606">
                  <a:moveTo>
                    <a:pt x="0" y="165100"/>
                  </a:moveTo>
                  <a:cubicBezTo>
                    <a:pt x="0" y="73787"/>
                    <a:pt x="76327" y="0"/>
                    <a:pt x="170180" y="0"/>
                  </a:cubicBezTo>
                  <a:lnTo>
                    <a:pt x="6710426" y="0"/>
                  </a:lnTo>
                  <a:lnTo>
                    <a:pt x="6710426" y="6350"/>
                  </a:lnTo>
                  <a:lnTo>
                    <a:pt x="6710426" y="0"/>
                  </a:lnTo>
                  <a:cubicBezTo>
                    <a:pt x="6804279" y="0"/>
                    <a:pt x="6880606" y="73787"/>
                    <a:pt x="6880606" y="165100"/>
                  </a:cubicBezTo>
                  <a:lnTo>
                    <a:pt x="6874256" y="165100"/>
                  </a:lnTo>
                  <a:lnTo>
                    <a:pt x="6880606" y="165100"/>
                  </a:lnTo>
                  <a:lnTo>
                    <a:pt x="6880606" y="225552"/>
                  </a:lnTo>
                  <a:lnTo>
                    <a:pt x="6874256" y="225552"/>
                  </a:lnTo>
                  <a:lnTo>
                    <a:pt x="6880606" y="225552"/>
                  </a:lnTo>
                  <a:cubicBezTo>
                    <a:pt x="6880606" y="316992"/>
                    <a:pt x="6804279" y="390652"/>
                    <a:pt x="6710426" y="390652"/>
                  </a:cubicBezTo>
                  <a:lnTo>
                    <a:pt x="6710426" y="384302"/>
                  </a:lnTo>
                  <a:lnTo>
                    <a:pt x="6710426" y="390652"/>
                  </a:lnTo>
                  <a:lnTo>
                    <a:pt x="170180" y="390652"/>
                  </a:lnTo>
                  <a:lnTo>
                    <a:pt x="170180" y="384302"/>
                  </a:lnTo>
                  <a:lnTo>
                    <a:pt x="170180" y="390652"/>
                  </a:lnTo>
                  <a:cubicBezTo>
                    <a:pt x="76327" y="390652"/>
                    <a:pt x="0" y="316865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3058" y="377952"/>
                    <a:pt x="170180" y="377952"/>
                  </a:cubicBezTo>
                  <a:lnTo>
                    <a:pt x="6710426" y="377952"/>
                  </a:lnTo>
                  <a:cubicBezTo>
                    <a:pt x="6797548" y="377952"/>
                    <a:pt x="6867906" y="309499"/>
                    <a:pt x="6867906" y="225552"/>
                  </a:cubicBezTo>
                  <a:lnTo>
                    <a:pt x="6867906" y="165100"/>
                  </a:lnTo>
                  <a:cubicBezTo>
                    <a:pt x="6867906" y="81153"/>
                    <a:pt x="6797548" y="12700"/>
                    <a:pt x="6710426" y="12700"/>
                  </a:cubicBezTo>
                  <a:lnTo>
                    <a:pt x="170180" y="12700"/>
                  </a:lnTo>
                  <a:lnTo>
                    <a:pt x="170180" y="6350"/>
                  </a:lnTo>
                  <a:lnTo>
                    <a:pt x="170180" y="12700"/>
                  </a:lnTo>
                  <a:cubicBezTo>
                    <a:pt x="83058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" name="Google Shape;435;p12"/>
          <p:cNvGrpSpPr/>
          <p:nvPr/>
        </p:nvGrpSpPr>
        <p:grpSpPr>
          <a:xfrm>
            <a:off x="992238" y="8336459"/>
            <a:ext cx="5150941" cy="900113"/>
            <a:chOff x="0" y="-19050"/>
            <a:chExt cx="6867922" cy="1200150"/>
          </a:xfrm>
        </p:grpSpPr>
        <p:sp>
          <p:nvSpPr>
            <p:cNvPr id="436" name="Google Shape;436;p12"/>
            <p:cNvSpPr/>
            <p:nvPr/>
          </p:nvSpPr>
          <p:spPr>
            <a:xfrm>
              <a:off x="0" y="0"/>
              <a:ext cx="6867922" cy="1181100"/>
            </a:xfrm>
            <a:custGeom>
              <a:rect b="b" l="l" r="r" t="t"/>
              <a:pathLst>
                <a:path extrusionOk="0" h="1181100" w="6867922">
                  <a:moveTo>
                    <a:pt x="0" y="0"/>
                  </a:moveTo>
                  <a:lnTo>
                    <a:pt x="6867922" y="0"/>
                  </a:lnTo>
                  <a:lnTo>
                    <a:pt x="6867922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7" name="Google Shape;437;p12"/>
            <p:cNvSpPr txBox="1"/>
            <p:nvPr/>
          </p:nvSpPr>
          <p:spPr>
            <a:xfrm>
              <a:off x="0" y="-19050"/>
              <a:ext cx="6867922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Adaptación tecnológica rápida</a:t>
              </a:r>
              <a:endParaRPr/>
            </a:p>
          </p:txBody>
        </p:sp>
      </p:grpSp>
      <p:grpSp>
        <p:nvGrpSpPr>
          <p:cNvPr id="438" name="Google Shape;438;p12"/>
          <p:cNvGrpSpPr/>
          <p:nvPr/>
        </p:nvGrpSpPr>
        <p:grpSpPr>
          <a:xfrm>
            <a:off x="6563617" y="7211914"/>
            <a:ext cx="5160645" cy="292990"/>
            <a:chOff x="0" y="0"/>
            <a:chExt cx="6880860" cy="390652"/>
          </a:xfrm>
        </p:grpSpPr>
        <p:sp>
          <p:nvSpPr>
            <p:cNvPr id="439" name="Google Shape;439;p12"/>
            <p:cNvSpPr/>
            <p:nvPr/>
          </p:nvSpPr>
          <p:spPr>
            <a:xfrm>
              <a:off x="6350" y="6350"/>
              <a:ext cx="6868160" cy="378079"/>
            </a:xfrm>
            <a:custGeom>
              <a:rect b="b" l="l" r="r" t="t"/>
              <a:pathLst>
                <a:path extrusionOk="0" h="378079" w="6868160">
                  <a:moveTo>
                    <a:pt x="0" y="158750"/>
                  </a:moveTo>
                  <a:cubicBezTo>
                    <a:pt x="0" y="71120"/>
                    <a:pt x="73279" y="0"/>
                    <a:pt x="163830" y="0"/>
                  </a:cubicBezTo>
                  <a:lnTo>
                    <a:pt x="6704330" y="0"/>
                  </a:lnTo>
                  <a:cubicBezTo>
                    <a:pt x="6794754" y="0"/>
                    <a:pt x="6868160" y="71120"/>
                    <a:pt x="6868160" y="158750"/>
                  </a:cubicBezTo>
                  <a:lnTo>
                    <a:pt x="6868160" y="219202"/>
                  </a:lnTo>
                  <a:cubicBezTo>
                    <a:pt x="6868160" y="306832"/>
                    <a:pt x="6794881" y="377952"/>
                    <a:pt x="6704330" y="377952"/>
                  </a:cubicBezTo>
                  <a:lnTo>
                    <a:pt x="163830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2"/>
            <p:cNvSpPr/>
            <p:nvPr/>
          </p:nvSpPr>
          <p:spPr>
            <a:xfrm>
              <a:off x="0" y="0"/>
              <a:ext cx="6880860" cy="390652"/>
            </a:xfrm>
            <a:custGeom>
              <a:rect b="b" l="l" r="r" t="t"/>
              <a:pathLst>
                <a:path extrusionOk="0" h="390652" w="6880860">
                  <a:moveTo>
                    <a:pt x="0" y="165100"/>
                  </a:moveTo>
                  <a:cubicBezTo>
                    <a:pt x="0" y="73787"/>
                    <a:pt x="76327" y="0"/>
                    <a:pt x="170180" y="0"/>
                  </a:cubicBezTo>
                  <a:lnTo>
                    <a:pt x="6710680" y="0"/>
                  </a:lnTo>
                  <a:lnTo>
                    <a:pt x="6710680" y="6350"/>
                  </a:lnTo>
                  <a:lnTo>
                    <a:pt x="6710680" y="0"/>
                  </a:lnTo>
                  <a:cubicBezTo>
                    <a:pt x="6804533" y="0"/>
                    <a:pt x="6880860" y="73787"/>
                    <a:pt x="6880860" y="165100"/>
                  </a:cubicBezTo>
                  <a:lnTo>
                    <a:pt x="6874510" y="165100"/>
                  </a:lnTo>
                  <a:lnTo>
                    <a:pt x="6880860" y="165100"/>
                  </a:lnTo>
                  <a:lnTo>
                    <a:pt x="6880860" y="225552"/>
                  </a:lnTo>
                  <a:lnTo>
                    <a:pt x="6874510" y="225552"/>
                  </a:lnTo>
                  <a:lnTo>
                    <a:pt x="6880860" y="225552"/>
                  </a:lnTo>
                  <a:cubicBezTo>
                    <a:pt x="6880860" y="316992"/>
                    <a:pt x="6804533" y="390652"/>
                    <a:pt x="6710680" y="390652"/>
                  </a:cubicBezTo>
                  <a:lnTo>
                    <a:pt x="6710680" y="384302"/>
                  </a:lnTo>
                  <a:lnTo>
                    <a:pt x="6710680" y="390652"/>
                  </a:lnTo>
                  <a:lnTo>
                    <a:pt x="170180" y="390652"/>
                  </a:lnTo>
                  <a:lnTo>
                    <a:pt x="170180" y="384302"/>
                  </a:lnTo>
                  <a:lnTo>
                    <a:pt x="170180" y="390652"/>
                  </a:lnTo>
                  <a:cubicBezTo>
                    <a:pt x="76327" y="390652"/>
                    <a:pt x="0" y="316865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3058" y="377952"/>
                    <a:pt x="170180" y="377952"/>
                  </a:cubicBezTo>
                  <a:lnTo>
                    <a:pt x="6710680" y="377952"/>
                  </a:lnTo>
                  <a:cubicBezTo>
                    <a:pt x="6797802" y="377952"/>
                    <a:pt x="6868160" y="309499"/>
                    <a:pt x="6868160" y="225552"/>
                  </a:cubicBezTo>
                  <a:lnTo>
                    <a:pt x="6868160" y="165100"/>
                  </a:lnTo>
                  <a:cubicBezTo>
                    <a:pt x="6868160" y="81153"/>
                    <a:pt x="6797802" y="12700"/>
                    <a:pt x="6710680" y="12700"/>
                  </a:cubicBezTo>
                  <a:lnTo>
                    <a:pt x="170180" y="12700"/>
                  </a:lnTo>
                  <a:lnTo>
                    <a:pt x="170180" y="6350"/>
                  </a:lnTo>
                  <a:lnTo>
                    <a:pt x="170180" y="12700"/>
                  </a:lnTo>
                  <a:cubicBezTo>
                    <a:pt x="83058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12"/>
          <p:cNvGrpSpPr/>
          <p:nvPr/>
        </p:nvGrpSpPr>
        <p:grpSpPr>
          <a:xfrm>
            <a:off x="6568380" y="7911108"/>
            <a:ext cx="4674245" cy="457199"/>
            <a:chOff x="0" y="-19050"/>
            <a:chExt cx="6232327" cy="609600"/>
          </a:xfrm>
        </p:grpSpPr>
        <p:sp>
          <p:nvSpPr>
            <p:cNvPr id="442" name="Google Shape;442;p12"/>
            <p:cNvSpPr/>
            <p:nvPr/>
          </p:nvSpPr>
          <p:spPr>
            <a:xfrm>
              <a:off x="0" y="0"/>
              <a:ext cx="6232327" cy="590550"/>
            </a:xfrm>
            <a:custGeom>
              <a:rect b="b" l="l" r="r" t="t"/>
              <a:pathLst>
                <a:path extrusionOk="0" h="590550" w="6232327">
                  <a:moveTo>
                    <a:pt x="0" y="0"/>
                  </a:moveTo>
                  <a:lnTo>
                    <a:pt x="6232327" y="0"/>
                  </a:lnTo>
                  <a:lnTo>
                    <a:pt x="623232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3" name="Google Shape;443;p12"/>
            <p:cNvSpPr txBox="1"/>
            <p:nvPr/>
          </p:nvSpPr>
          <p:spPr>
            <a:xfrm>
              <a:off x="0" y="-19050"/>
              <a:ext cx="623232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Integración DevOps y CI/CD</a:t>
              </a:r>
              <a:endParaRPr/>
            </a:p>
          </p:txBody>
        </p:sp>
      </p:grpSp>
      <p:grpSp>
        <p:nvGrpSpPr>
          <p:cNvPr id="444" name="Google Shape;444;p12"/>
          <p:cNvGrpSpPr/>
          <p:nvPr/>
        </p:nvGrpSpPr>
        <p:grpSpPr>
          <a:xfrm>
            <a:off x="12139910" y="6786711"/>
            <a:ext cx="5160645" cy="292990"/>
            <a:chOff x="0" y="0"/>
            <a:chExt cx="6880860" cy="390652"/>
          </a:xfrm>
        </p:grpSpPr>
        <p:sp>
          <p:nvSpPr>
            <p:cNvPr id="445" name="Google Shape;445;p12"/>
            <p:cNvSpPr/>
            <p:nvPr/>
          </p:nvSpPr>
          <p:spPr>
            <a:xfrm>
              <a:off x="6350" y="6350"/>
              <a:ext cx="6868160" cy="378079"/>
            </a:xfrm>
            <a:custGeom>
              <a:rect b="b" l="l" r="r" t="t"/>
              <a:pathLst>
                <a:path extrusionOk="0" h="378079" w="6868160">
                  <a:moveTo>
                    <a:pt x="0" y="158750"/>
                  </a:moveTo>
                  <a:cubicBezTo>
                    <a:pt x="0" y="71120"/>
                    <a:pt x="73279" y="0"/>
                    <a:pt x="163830" y="0"/>
                  </a:cubicBezTo>
                  <a:lnTo>
                    <a:pt x="6704330" y="0"/>
                  </a:lnTo>
                  <a:cubicBezTo>
                    <a:pt x="6794754" y="0"/>
                    <a:pt x="6868160" y="71120"/>
                    <a:pt x="6868160" y="158750"/>
                  </a:cubicBezTo>
                  <a:lnTo>
                    <a:pt x="6868160" y="219202"/>
                  </a:lnTo>
                  <a:cubicBezTo>
                    <a:pt x="6868160" y="306832"/>
                    <a:pt x="6794881" y="377952"/>
                    <a:pt x="6704330" y="377952"/>
                  </a:cubicBezTo>
                  <a:lnTo>
                    <a:pt x="163830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2"/>
            <p:cNvSpPr/>
            <p:nvPr/>
          </p:nvSpPr>
          <p:spPr>
            <a:xfrm>
              <a:off x="0" y="0"/>
              <a:ext cx="6880860" cy="390652"/>
            </a:xfrm>
            <a:custGeom>
              <a:rect b="b" l="l" r="r" t="t"/>
              <a:pathLst>
                <a:path extrusionOk="0" h="390652" w="6880860">
                  <a:moveTo>
                    <a:pt x="0" y="165100"/>
                  </a:moveTo>
                  <a:cubicBezTo>
                    <a:pt x="0" y="73787"/>
                    <a:pt x="76327" y="0"/>
                    <a:pt x="170180" y="0"/>
                  </a:cubicBezTo>
                  <a:lnTo>
                    <a:pt x="6710680" y="0"/>
                  </a:lnTo>
                  <a:lnTo>
                    <a:pt x="6710680" y="6350"/>
                  </a:lnTo>
                  <a:lnTo>
                    <a:pt x="6710680" y="0"/>
                  </a:lnTo>
                  <a:cubicBezTo>
                    <a:pt x="6804533" y="0"/>
                    <a:pt x="6880860" y="73787"/>
                    <a:pt x="6880860" y="165100"/>
                  </a:cubicBezTo>
                  <a:lnTo>
                    <a:pt x="6874510" y="165100"/>
                  </a:lnTo>
                  <a:lnTo>
                    <a:pt x="6880860" y="165100"/>
                  </a:lnTo>
                  <a:lnTo>
                    <a:pt x="6880860" y="225552"/>
                  </a:lnTo>
                  <a:lnTo>
                    <a:pt x="6874510" y="225552"/>
                  </a:lnTo>
                  <a:lnTo>
                    <a:pt x="6880860" y="225552"/>
                  </a:lnTo>
                  <a:cubicBezTo>
                    <a:pt x="6880860" y="316992"/>
                    <a:pt x="6804533" y="390652"/>
                    <a:pt x="6710680" y="390652"/>
                  </a:cubicBezTo>
                  <a:lnTo>
                    <a:pt x="6710680" y="384302"/>
                  </a:lnTo>
                  <a:lnTo>
                    <a:pt x="6710680" y="390652"/>
                  </a:lnTo>
                  <a:lnTo>
                    <a:pt x="170180" y="390652"/>
                  </a:lnTo>
                  <a:lnTo>
                    <a:pt x="170180" y="384302"/>
                  </a:lnTo>
                  <a:lnTo>
                    <a:pt x="170180" y="390652"/>
                  </a:lnTo>
                  <a:cubicBezTo>
                    <a:pt x="76327" y="390652"/>
                    <a:pt x="0" y="316865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3058" y="377952"/>
                    <a:pt x="170180" y="377952"/>
                  </a:cubicBezTo>
                  <a:lnTo>
                    <a:pt x="6710680" y="377952"/>
                  </a:lnTo>
                  <a:cubicBezTo>
                    <a:pt x="6797802" y="377952"/>
                    <a:pt x="6868160" y="309499"/>
                    <a:pt x="6868160" y="225552"/>
                  </a:cubicBezTo>
                  <a:lnTo>
                    <a:pt x="6868160" y="165100"/>
                  </a:lnTo>
                  <a:cubicBezTo>
                    <a:pt x="6868160" y="81153"/>
                    <a:pt x="6797802" y="12700"/>
                    <a:pt x="6710680" y="12700"/>
                  </a:cubicBezTo>
                  <a:lnTo>
                    <a:pt x="170180" y="12700"/>
                  </a:lnTo>
                  <a:lnTo>
                    <a:pt x="170180" y="6350"/>
                  </a:lnTo>
                  <a:lnTo>
                    <a:pt x="170180" y="12700"/>
                  </a:lnTo>
                  <a:cubicBezTo>
                    <a:pt x="83058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12"/>
          <p:cNvGrpSpPr/>
          <p:nvPr/>
        </p:nvGrpSpPr>
        <p:grpSpPr>
          <a:xfrm>
            <a:off x="12144672" y="7485907"/>
            <a:ext cx="4624239" cy="457199"/>
            <a:chOff x="0" y="-19050"/>
            <a:chExt cx="6165652" cy="609600"/>
          </a:xfrm>
        </p:grpSpPr>
        <p:sp>
          <p:nvSpPr>
            <p:cNvPr id="448" name="Google Shape;448;p12"/>
            <p:cNvSpPr/>
            <p:nvPr/>
          </p:nvSpPr>
          <p:spPr>
            <a:xfrm>
              <a:off x="0" y="0"/>
              <a:ext cx="6165652" cy="590550"/>
            </a:xfrm>
            <a:custGeom>
              <a:rect b="b" l="l" r="r" t="t"/>
              <a:pathLst>
                <a:path extrusionOk="0" h="590550" w="6165652">
                  <a:moveTo>
                    <a:pt x="0" y="0"/>
                  </a:moveTo>
                  <a:lnTo>
                    <a:pt x="6165652" y="0"/>
                  </a:lnTo>
                  <a:lnTo>
                    <a:pt x="616565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9" name="Google Shape;449;p12"/>
            <p:cNvSpPr txBox="1"/>
            <p:nvPr/>
          </p:nvSpPr>
          <p:spPr>
            <a:xfrm>
              <a:off x="0" y="-19050"/>
              <a:ext cx="616565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Automatización y uso de IA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58" name="Google Shape;458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9" name="Google Shape;459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grpSp>
        <p:nvGrpSpPr>
          <p:cNvPr id="460" name="Google Shape;460;p13"/>
          <p:cNvGrpSpPr/>
          <p:nvPr/>
        </p:nvGrpSpPr>
        <p:grpSpPr>
          <a:xfrm>
            <a:off x="992238" y="3630216"/>
            <a:ext cx="8215610" cy="907405"/>
            <a:chOff x="0" y="-28575"/>
            <a:chExt cx="10954147" cy="1209873"/>
          </a:xfrm>
        </p:grpSpPr>
        <p:sp>
          <p:nvSpPr>
            <p:cNvPr id="461" name="Google Shape;461;p13"/>
            <p:cNvSpPr/>
            <p:nvPr/>
          </p:nvSpPr>
          <p:spPr>
            <a:xfrm>
              <a:off x="0" y="0"/>
              <a:ext cx="10954147" cy="1181298"/>
            </a:xfrm>
            <a:custGeom>
              <a:rect b="b" l="l" r="r" t="t"/>
              <a:pathLst>
                <a:path extrusionOk="0" h="1181298" w="10954147">
                  <a:moveTo>
                    <a:pt x="0" y="0"/>
                  </a:moveTo>
                  <a:lnTo>
                    <a:pt x="10954147" y="0"/>
                  </a:lnTo>
                  <a:lnTo>
                    <a:pt x="10954147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2" name="Google Shape;462;p13"/>
            <p:cNvSpPr txBox="1"/>
            <p:nvPr/>
          </p:nvSpPr>
          <p:spPr>
            <a:xfrm>
              <a:off x="0" y="-28575"/>
              <a:ext cx="10954147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Conclusiones Generales</a:t>
              </a:r>
              <a:endParaRPr/>
            </a:p>
          </p:txBody>
        </p:sp>
      </p:grpSp>
      <p:grpSp>
        <p:nvGrpSpPr>
          <p:cNvPr id="463" name="Google Shape;463;p13"/>
          <p:cNvGrpSpPr/>
          <p:nvPr/>
        </p:nvGrpSpPr>
        <p:grpSpPr>
          <a:xfrm>
            <a:off x="992238" y="5153620"/>
            <a:ext cx="7805886" cy="517923"/>
            <a:chOff x="0" y="-85725"/>
            <a:chExt cx="10407848" cy="690563"/>
          </a:xfrm>
        </p:grpSpPr>
        <p:sp>
          <p:nvSpPr>
            <p:cNvPr id="464" name="Google Shape;464;p13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5" name="Google Shape;465;p13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Arquitectura y ciclo de vida optimizan sistemas eficientes.</a:t>
              </a:r>
              <a:endParaRPr/>
            </a:p>
          </p:txBody>
        </p:sp>
      </p:grpSp>
      <p:grpSp>
        <p:nvGrpSpPr>
          <p:cNvPr id="466" name="Google Shape;466;p13"/>
          <p:cNvGrpSpPr/>
          <p:nvPr/>
        </p:nvGrpSpPr>
        <p:grpSpPr>
          <a:xfrm>
            <a:off x="992238" y="5862340"/>
            <a:ext cx="7805886" cy="517923"/>
            <a:chOff x="0" y="-85725"/>
            <a:chExt cx="10407848" cy="690563"/>
          </a:xfrm>
        </p:grpSpPr>
        <p:sp>
          <p:nvSpPr>
            <p:cNvPr id="467" name="Google Shape;467;p13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8" name="Google Shape;468;p13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Su evolución impulsa innovación organizativa.</a:t>
              </a:r>
              <a:endParaRPr/>
            </a:p>
          </p:txBody>
        </p:sp>
      </p:grpSp>
      <p:grpSp>
        <p:nvGrpSpPr>
          <p:cNvPr id="469" name="Google Shape;469;p13"/>
          <p:cNvGrpSpPr/>
          <p:nvPr/>
        </p:nvGrpSpPr>
        <p:grpSpPr>
          <a:xfrm>
            <a:off x="9499401" y="5153620"/>
            <a:ext cx="7805886" cy="971550"/>
            <a:chOff x="0" y="-85725"/>
            <a:chExt cx="10407848" cy="1295400"/>
          </a:xfrm>
        </p:grpSpPr>
        <p:sp>
          <p:nvSpPr>
            <p:cNvPr id="470" name="Google Shape;470;p13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1" name="Google Shape;471;p13"/>
            <p:cNvSpPr txBox="1"/>
            <p:nvPr/>
          </p:nvSpPr>
          <p:spPr>
            <a:xfrm>
              <a:off x="0" y="-85725"/>
              <a:ext cx="1040784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C2926"/>
                  </a:solidFill>
                  <a:latin typeface="Inter"/>
                  <a:ea typeface="Inter"/>
                  <a:cs typeface="Inter"/>
                  <a:sym typeface="Inter"/>
                </a:rPr>
                <a:t>Herramientas modernas fomentan agilidad y competitividad.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477" name="Google Shape;477;p14"/>
          <p:cNvSpPr txBox="1"/>
          <p:nvPr/>
        </p:nvSpPr>
        <p:spPr>
          <a:xfrm>
            <a:off x="2504712" y="4299626"/>
            <a:ext cx="13278575" cy="4958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Arquitectura de sistemas: Estructura que define componentes, relaciones y tecnología usada.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Ejemplos comunes: Cliente-servidor, en la nube, microservicios.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Impacto organizacional: Mejora la escalabilidad, seguridad y mantenimiento.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Ciclo de vida del sistema: Conjunto de etapas desde el análisis hasta el mantenimiento.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488" name="Google Shape;488;p16"/>
          <p:cNvSpPr txBox="1"/>
          <p:nvPr/>
        </p:nvSpPr>
        <p:spPr>
          <a:xfrm>
            <a:off x="3416041" y="4435592"/>
            <a:ext cx="11455919" cy="2774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https://www.bbva.com/es/innovacion/arquitectura-de-software-o-sistemas-que-es-y-ejemplos/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https://www.euroinnova.com/blog/que-es-el-ciclo-de-vida-de-un-sistema</a:t>
            </a:r>
            <a:endParaRPr/>
          </a:p>
        </p:txBody>
      </p:sp>
      <p:pic>
        <p:nvPicPr>
          <p:cNvPr id="489" name="Google Shape;4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7" name="Google Shape;497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