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Arimo"/>
      <p:bold r:id="rId27"/>
      <p:boldItalic r:id="rId28"/>
    </p:embeddedFont>
    <p:embeddedFont>
      <p:font typeface="Open Sans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chweY8pWHh3RN67E7i3vPrt1Q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2C209A-96BD-48F3-9BE0-677348B880C1}">
  <a:tblStyle styleId="{F92C209A-96BD-48F3-9BE0-677348B880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41c99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41c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4" name="Google Shape;17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5" name="Google Shape;21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3" name="Google Shape;24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1" name="Google Shape;29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93" name="Google Shape;29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3" name="Google Shape;333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4" name="Google Shape;334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36" name="Google Shape;336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0" name="Google Shape;37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1" name="Google Shape;371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73" name="Google Shape;37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4" name="Google Shape;37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4" name="Google Shape;414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5" name="Google Shape;415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17" name="Google Shape;417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7" name="Google Shape;467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8" name="Google Shape;468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70" name="Google Shape;470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1" name="Google Shape;471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5" name="Google Shape;495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6" name="Google Shape;496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98" name="Google Shape;498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9" name="Google Shape;499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41c99e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41c99e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41c99e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hyperlink" Target="https://youtu.be/zq-SjIaR_wg" TargetMode="External"/><Relationship Id="rId6" Type="http://schemas.openxmlformats.org/officeDocument/2006/relationships/hyperlink" Target="https://youtu.be/zq-SjIaR_w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41c99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41c99e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{F92C209A-96BD-48F3-9BE0-677348B880C1}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41c99e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41c99e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E-learning y Gamificación en educación 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626C3B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626C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626C3B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7850237" y="2414290"/>
            <a:ext cx="9445526" cy="1814809"/>
            <a:chOff x="0" y="-57150"/>
            <a:chExt cx="12594035" cy="2419747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E-learning y Gamificación en Educación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7850237" y="4575721"/>
            <a:ext cx="9445526" cy="3253978"/>
            <a:chOff x="0" y="-104775"/>
            <a:chExt cx="12594035" cy="4338638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4233863"/>
            </a:xfrm>
            <a:custGeom>
              <a:rect b="b" l="l" r="r" t="t"/>
              <a:pathLst>
                <a:path extrusionOk="0" h="423386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4233863"/>
                  </a:lnTo>
                  <a:lnTo>
                    <a:pt x="0" y="4233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104775"/>
              <a:ext cx="12594035" cy="4338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La educación está atravesando una transformación profunda gracias al avance de tecnologías digitales. El e-learning y la gamificación se presentan como herramientas clave para transformar el aprendizaje, haciéndolo más accesible, flexible y motivador. Esta presentación explora las tendencias actuales hasta 2025, mostrando cómo estas soluciones innovadoras responden a los desafíos educativos modernos y preparan el camino para el futuro del aprendizaje.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sp>
        <p:nvSpPr>
          <p:cNvPr descr="preencoded.png" id="179" name="Google Shape;179;p5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0" name="Google Shape;180;p5"/>
          <p:cNvGrpSpPr/>
          <p:nvPr/>
        </p:nvGrpSpPr>
        <p:grpSpPr>
          <a:xfrm>
            <a:off x="7826127" y="725388"/>
            <a:ext cx="7164289" cy="900113"/>
            <a:chOff x="0" y="-47625"/>
            <a:chExt cx="9552385" cy="1200150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9552385" cy="1152525"/>
            </a:xfrm>
            <a:custGeom>
              <a:rect b="b" l="l" r="r" t="t"/>
              <a:pathLst>
                <a:path extrusionOk="0" h="1152525" w="9552385">
                  <a:moveTo>
                    <a:pt x="0" y="0"/>
                  </a:moveTo>
                  <a:lnTo>
                    <a:pt x="9552385" y="0"/>
                  </a:lnTo>
                  <a:lnTo>
                    <a:pt x="9552385" y="1152525"/>
                  </a:lnTo>
                  <a:lnTo>
                    <a:pt x="0" y="1152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47625"/>
              <a:ext cx="955238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3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¿Qué es el E-learning?</a:t>
              </a:r>
              <a:endParaRPr/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7821365" y="2035522"/>
            <a:ext cx="4618101" cy="4720495"/>
            <a:chOff x="0" y="0"/>
            <a:chExt cx="6157468" cy="6293993"/>
          </a:xfrm>
        </p:grpSpPr>
        <p:sp>
          <p:nvSpPr>
            <p:cNvPr id="184" name="Google Shape;184;p5"/>
            <p:cNvSpPr/>
            <p:nvPr/>
          </p:nvSpPr>
          <p:spPr>
            <a:xfrm>
              <a:off x="6350" y="6350"/>
              <a:ext cx="6144768" cy="6281293"/>
            </a:xfrm>
            <a:custGeom>
              <a:rect b="b" l="l" r="r" t="t"/>
              <a:pathLst>
                <a:path extrusionOk="0" h="6281293" w="6144768">
                  <a:moveTo>
                    <a:pt x="0" y="553212"/>
                  </a:moveTo>
                  <a:cubicBezTo>
                    <a:pt x="0" y="247650"/>
                    <a:pt x="247650" y="0"/>
                    <a:pt x="553212" y="0"/>
                  </a:cubicBezTo>
                  <a:lnTo>
                    <a:pt x="5591556" y="0"/>
                  </a:lnTo>
                  <a:cubicBezTo>
                    <a:pt x="5897118" y="0"/>
                    <a:pt x="6144768" y="247650"/>
                    <a:pt x="6144768" y="553212"/>
                  </a:cubicBezTo>
                  <a:lnTo>
                    <a:pt x="6144768" y="5728081"/>
                  </a:lnTo>
                  <a:cubicBezTo>
                    <a:pt x="6144768" y="6033643"/>
                    <a:pt x="5897118" y="6281293"/>
                    <a:pt x="5591556" y="6281293"/>
                  </a:cubicBezTo>
                  <a:lnTo>
                    <a:pt x="553212" y="6281293"/>
                  </a:lnTo>
                  <a:cubicBezTo>
                    <a:pt x="247650" y="6281293"/>
                    <a:pt x="0" y="6033643"/>
                    <a:pt x="0" y="5728081"/>
                  </a:cubicBezTo>
                  <a:close/>
                </a:path>
              </a:pathLst>
            </a:custGeom>
            <a:solidFill>
              <a:srgbClr val="626C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0" y="0"/>
              <a:ext cx="6157468" cy="6293993"/>
            </a:xfrm>
            <a:custGeom>
              <a:rect b="b" l="l" r="r" t="t"/>
              <a:pathLst>
                <a:path extrusionOk="0" h="6293993" w="6157468">
                  <a:moveTo>
                    <a:pt x="0" y="559562"/>
                  </a:moveTo>
                  <a:cubicBezTo>
                    <a:pt x="0" y="250571"/>
                    <a:pt x="250571" y="0"/>
                    <a:pt x="559562" y="0"/>
                  </a:cubicBezTo>
                  <a:lnTo>
                    <a:pt x="5597906" y="0"/>
                  </a:lnTo>
                  <a:lnTo>
                    <a:pt x="5597906" y="6350"/>
                  </a:lnTo>
                  <a:lnTo>
                    <a:pt x="5597906" y="0"/>
                  </a:lnTo>
                  <a:cubicBezTo>
                    <a:pt x="5906897" y="0"/>
                    <a:pt x="6157468" y="250571"/>
                    <a:pt x="6157468" y="559562"/>
                  </a:cubicBezTo>
                  <a:lnTo>
                    <a:pt x="6151118" y="559562"/>
                  </a:lnTo>
                  <a:lnTo>
                    <a:pt x="6157468" y="559562"/>
                  </a:lnTo>
                  <a:lnTo>
                    <a:pt x="6157468" y="5734431"/>
                  </a:lnTo>
                  <a:lnTo>
                    <a:pt x="6151118" y="5734431"/>
                  </a:lnTo>
                  <a:lnTo>
                    <a:pt x="6157468" y="5734431"/>
                  </a:lnTo>
                  <a:cubicBezTo>
                    <a:pt x="6157468" y="6043422"/>
                    <a:pt x="5906897" y="6293993"/>
                    <a:pt x="5597906" y="6293993"/>
                  </a:cubicBezTo>
                  <a:lnTo>
                    <a:pt x="5597906" y="6287643"/>
                  </a:lnTo>
                  <a:lnTo>
                    <a:pt x="5597906" y="6293993"/>
                  </a:lnTo>
                  <a:lnTo>
                    <a:pt x="559562" y="6293993"/>
                  </a:lnTo>
                  <a:lnTo>
                    <a:pt x="559562" y="6287643"/>
                  </a:lnTo>
                  <a:lnTo>
                    <a:pt x="559562" y="6293993"/>
                  </a:lnTo>
                  <a:cubicBezTo>
                    <a:pt x="250571" y="6293993"/>
                    <a:pt x="0" y="6043549"/>
                    <a:pt x="0" y="5734431"/>
                  </a:cubicBezTo>
                  <a:lnTo>
                    <a:pt x="0" y="559562"/>
                  </a:lnTo>
                  <a:lnTo>
                    <a:pt x="6350" y="559562"/>
                  </a:lnTo>
                  <a:lnTo>
                    <a:pt x="0" y="559562"/>
                  </a:lnTo>
                  <a:moveTo>
                    <a:pt x="12700" y="559562"/>
                  </a:moveTo>
                  <a:lnTo>
                    <a:pt x="12700" y="5734431"/>
                  </a:lnTo>
                  <a:lnTo>
                    <a:pt x="6350" y="5734431"/>
                  </a:lnTo>
                  <a:lnTo>
                    <a:pt x="12700" y="5734431"/>
                  </a:lnTo>
                  <a:cubicBezTo>
                    <a:pt x="12700" y="6036437"/>
                    <a:pt x="257556" y="6281293"/>
                    <a:pt x="559562" y="6281293"/>
                  </a:cubicBezTo>
                  <a:lnTo>
                    <a:pt x="5597906" y="6281293"/>
                  </a:lnTo>
                  <a:cubicBezTo>
                    <a:pt x="5899912" y="6281293"/>
                    <a:pt x="6144768" y="6036437"/>
                    <a:pt x="6144768" y="5734431"/>
                  </a:cubicBezTo>
                  <a:lnTo>
                    <a:pt x="6144768" y="559562"/>
                  </a:lnTo>
                  <a:cubicBezTo>
                    <a:pt x="6144768" y="257556"/>
                    <a:pt x="5899912" y="12700"/>
                    <a:pt x="5597906" y="12700"/>
                  </a:cubicBezTo>
                  <a:lnTo>
                    <a:pt x="559562" y="12700"/>
                  </a:lnTo>
                  <a:lnTo>
                    <a:pt x="559562" y="6350"/>
                  </a:lnTo>
                  <a:lnTo>
                    <a:pt x="559562" y="12700"/>
                  </a:lnTo>
                  <a:cubicBezTo>
                    <a:pt x="257556" y="12700"/>
                    <a:pt x="12700" y="257556"/>
                    <a:pt x="12700" y="559562"/>
                  </a:cubicBezTo>
                  <a:close/>
                </a:path>
              </a:pathLst>
            </a:custGeom>
            <a:solidFill>
              <a:srgbClr val="7B8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8112175" y="2304901"/>
            <a:ext cx="3457724" cy="453478"/>
            <a:chOff x="0" y="-28575"/>
            <a:chExt cx="4610298" cy="604638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4610298" cy="576063"/>
            </a:xfrm>
            <a:custGeom>
              <a:rect b="b" l="l" r="r" t="t"/>
              <a:pathLst>
                <a:path extrusionOk="0" h="576063" w="4610298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28575"/>
              <a:ext cx="4610298" cy="60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8112175" y="2852886"/>
            <a:ext cx="4036516" cy="3612357"/>
            <a:chOff x="0" y="-95250"/>
            <a:chExt cx="5382022" cy="4816475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5382022" cy="4721225"/>
            </a:xfrm>
            <a:custGeom>
              <a:rect b="b" l="l" r="r" t="t"/>
              <a:pathLst>
                <a:path extrusionOk="0" h="4721225" w="5382022">
                  <a:moveTo>
                    <a:pt x="0" y="0"/>
                  </a:moveTo>
                  <a:lnTo>
                    <a:pt x="5382022" y="0"/>
                  </a:lnTo>
                  <a:lnTo>
                    <a:pt x="5382022" y="4721225"/>
                  </a:lnTo>
                  <a:lnTo>
                    <a:pt x="0" y="47212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95250"/>
              <a:ext cx="5382022" cy="4816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Es el aprendizaje electrónico que utiliza recursos digitales para facilitar la educación sin necesidad de presencia física. Proporciona acceso a materiales y cursos en línea, permitiendo estudiar desde cualquier lugar.</a:t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2706499" y="2035522"/>
            <a:ext cx="4618101" cy="4720495"/>
            <a:chOff x="0" y="0"/>
            <a:chExt cx="6157468" cy="6293993"/>
          </a:xfrm>
        </p:grpSpPr>
        <p:sp>
          <p:nvSpPr>
            <p:cNvPr id="193" name="Google Shape;193;p5"/>
            <p:cNvSpPr/>
            <p:nvPr/>
          </p:nvSpPr>
          <p:spPr>
            <a:xfrm>
              <a:off x="6350" y="6350"/>
              <a:ext cx="6144768" cy="6281293"/>
            </a:xfrm>
            <a:custGeom>
              <a:rect b="b" l="l" r="r" t="t"/>
              <a:pathLst>
                <a:path extrusionOk="0" h="6281293" w="6144768">
                  <a:moveTo>
                    <a:pt x="0" y="553212"/>
                  </a:moveTo>
                  <a:cubicBezTo>
                    <a:pt x="0" y="247650"/>
                    <a:pt x="247650" y="0"/>
                    <a:pt x="553212" y="0"/>
                  </a:cubicBezTo>
                  <a:lnTo>
                    <a:pt x="5591556" y="0"/>
                  </a:lnTo>
                  <a:cubicBezTo>
                    <a:pt x="5897118" y="0"/>
                    <a:pt x="6144768" y="247650"/>
                    <a:pt x="6144768" y="553212"/>
                  </a:cubicBezTo>
                  <a:lnTo>
                    <a:pt x="6144768" y="5728081"/>
                  </a:lnTo>
                  <a:cubicBezTo>
                    <a:pt x="6144768" y="6033643"/>
                    <a:pt x="5897118" y="6281293"/>
                    <a:pt x="5591556" y="6281293"/>
                  </a:cubicBezTo>
                  <a:lnTo>
                    <a:pt x="553212" y="6281293"/>
                  </a:lnTo>
                  <a:cubicBezTo>
                    <a:pt x="247650" y="6281293"/>
                    <a:pt x="0" y="6033643"/>
                    <a:pt x="0" y="5728081"/>
                  </a:cubicBezTo>
                  <a:close/>
                </a:path>
              </a:pathLst>
            </a:custGeom>
            <a:solidFill>
              <a:srgbClr val="8379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0" y="0"/>
              <a:ext cx="6157468" cy="6293993"/>
            </a:xfrm>
            <a:custGeom>
              <a:rect b="b" l="l" r="r" t="t"/>
              <a:pathLst>
                <a:path extrusionOk="0" h="6293993" w="6157468">
                  <a:moveTo>
                    <a:pt x="0" y="559562"/>
                  </a:moveTo>
                  <a:cubicBezTo>
                    <a:pt x="0" y="250571"/>
                    <a:pt x="250571" y="0"/>
                    <a:pt x="559562" y="0"/>
                  </a:cubicBezTo>
                  <a:lnTo>
                    <a:pt x="5597906" y="0"/>
                  </a:lnTo>
                  <a:lnTo>
                    <a:pt x="5597906" y="6350"/>
                  </a:lnTo>
                  <a:lnTo>
                    <a:pt x="5597906" y="0"/>
                  </a:lnTo>
                  <a:cubicBezTo>
                    <a:pt x="5906897" y="0"/>
                    <a:pt x="6157468" y="250571"/>
                    <a:pt x="6157468" y="559562"/>
                  </a:cubicBezTo>
                  <a:lnTo>
                    <a:pt x="6151118" y="559562"/>
                  </a:lnTo>
                  <a:lnTo>
                    <a:pt x="6157468" y="559562"/>
                  </a:lnTo>
                  <a:lnTo>
                    <a:pt x="6157468" y="5734431"/>
                  </a:lnTo>
                  <a:lnTo>
                    <a:pt x="6151118" y="5734431"/>
                  </a:lnTo>
                  <a:lnTo>
                    <a:pt x="6157468" y="5734431"/>
                  </a:lnTo>
                  <a:cubicBezTo>
                    <a:pt x="6157468" y="6043422"/>
                    <a:pt x="5906897" y="6293993"/>
                    <a:pt x="5597906" y="6293993"/>
                  </a:cubicBezTo>
                  <a:lnTo>
                    <a:pt x="5597906" y="6287643"/>
                  </a:lnTo>
                  <a:lnTo>
                    <a:pt x="5597906" y="6293993"/>
                  </a:lnTo>
                  <a:lnTo>
                    <a:pt x="559562" y="6293993"/>
                  </a:lnTo>
                  <a:lnTo>
                    <a:pt x="559562" y="6287643"/>
                  </a:lnTo>
                  <a:lnTo>
                    <a:pt x="559562" y="6293993"/>
                  </a:lnTo>
                  <a:cubicBezTo>
                    <a:pt x="250571" y="6293993"/>
                    <a:pt x="0" y="6043549"/>
                    <a:pt x="0" y="5734431"/>
                  </a:cubicBezTo>
                  <a:lnTo>
                    <a:pt x="0" y="559562"/>
                  </a:lnTo>
                  <a:lnTo>
                    <a:pt x="6350" y="559562"/>
                  </a:lnTo>
                  <a:lnTo>
                    <a:pt x="0" y="559562"/>
                  </a:lnTo>
                  <a:moveTo>
                    <a:pt x="12700" y="559562"/>
                  </a:moveTo>
                  <a:lnTo>
                    <a:pt x="12700" y="5734431"/>
                  </a:lnTo>
                  <a:lnTo>
                    <a:pt x="6350" y="5734431"/>
                  </a:lnTo>
                  <a:lnTo>
                    <a:pt x="12700" y="5734431"/>
                  </a:lnTo>
                  <a:cubicBezTo>
                    <a:pt x="12700" y="6036437"/>
                    <a:pt x="257556" y="6281293"/>
                    <a:pt x="559562" y="6281293"/>
                  </a:cubicBezTo>
                  <a:lnTo>
                    <a:pt x="5597906" y="6281293"/>
                  </a:lnTo>
                  <a:cubicBezTo>
                    <a:pt x="5899912" y="6281293"/>
                    <a:pt x="6144768" y="6036437"/>
                    <a:pt x="6144768" y="5734431"/>
                  </a:cubicBezTo>
                  <a:lnTo>
                    <a:pt x="6144768" y="559562"/>
                  </a:lnTo>
                  <a:cubicBezTo>
                    <a:pt x="6144768" y="257556"/>
                    <a:pt x="5899912" y="12700"/>
                    <a:pt x="5597906" y="12700"/>
                  </a:cubicBezTo>
                  <a:lnTo>
                    <a:pt x="559562" y="12700"/>
                  </a:lnTo>
                  <a:lnTo>
                    <a:pt x="559562" y="6350"/>
                  </a:lnTo>
                  <a:lnTo>
                    <a:pt x="559562" y="12700"/>
                  </a:lnTo>
                  <a:cubicBezTo>
                    <a:pt x="257556" y="12700"/>
                    <a:pt x="12700" y="257556"/>
                    <a:pt x="12700" y="559562"/>
                  </a:cubicBezTo>
                  <a:close/>
                </a:path>
              </a:pathLst>
            </a:custGeom>
            <a:solidFill>
              <a:srgbClr val="9C92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12997309" y="2304901"/>
            <a:ext cx="3457724" cy="453478"/>
            <a:chOff x="0" y="-28575"/>
            <a:chExt cx="4610298" cy="604638"/>
          </a:xfrm>
        </p:grpSpPr>
        <p:sp>
          <p:nvSpPr>
            <p:cNvPr id="196" name="Google Shape;196;p5"/>
            <p:cNvSpPr/>
            <p:nvPr/>
          </p:nvSpPr>
          <p:spPr>
            <a:xfrm>
              <a:off x="0" y="0"/>
              <a:ext cx="4610298" cy="576063"/>
            </a:xfrm>
            <a:custGeom>
              <a:rect b="b" l="l" r="r" t="t"/>
              <a:pathLst>
                <a:path extrusionOk="0" h="576063" w="4610298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7" name="Google Shape;197;p5"/>
            <p:cNvSpPr txBox="1"/>
            <p:nvPr/>
          </p:nvSpPr>
          <p:spPr>
            <a:xfrm>
              <a:off x="0" y="-28575"/>
              <a:ext cx="4610298" cy="60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Evolución</a:t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12997309" y="2852887"/>
            <a:ext cx="4036516" cy="3169741"/>
            <a:chOff x="0" y="-95250"/>
            <a:chExt cx="5382022" cy="4226322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5382022" cy="4131072"/>
            </a:xfrm>
            <a:custGeom>
              <a:rect b="b" l="l" r="r" t="t"/>
              <a:pathLst>
                <a:path extrusionOk="0" h="4131072" w="5382022">
                  <a:moveTo>
                    <a:pt x="0" y="0"/>
                  </a:moveTo>
                  <a:lnTo>
                    <a:pt x="5382022" y="0"/>
                  </a:lnTo>
                  <a:lnTo>
                    <a:pt x="5382022" y="4131072"/>
                  </a:lnTo>
                  <a:lnTo>
                    <a:pt x="0" y="41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95250"/>
              <a:ext cx="5382022" cy="4226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 e-learning ha evolucionado desde simples sistemas de distribución de contenidos hasta plataformas interactivas y colaborativas, que incorporan multimedia y seguimiento en tiempo real.</a:t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7821365" y="7023050"/>
            <a:ext cx="9503188" cy="2507456"/>
            <a:chOff x="0" y="0"/>
            <a:chExt cx="12670917" cy="3343275"/>
          </a:xfrm>
        </p:grpSpPr>
        <p:sp>
          <p:nvSpPr>
            <p:cNvPr id="202" name="Google Shape;202;p5"/>
            <p:cNvSpPr/>
            <p:nvPr/>
          </p:nvSpPr>
          <p:spPr>
            <a:xfrm>
              <a:off x="6350" y="6350"/>
              <a:ext cx="12658217" cy="3330575"/>
            </a:xfrm>
            <a:custGeom>
              <a:rect b="b" l="l" r="r" t="t"/>
              <a:pathLst>
                <a:path extrusionOk="0" h="3330575" w="12658217">
                  <a:moveTo>
                    <a:pt x="0" y="553212"/>
                  </a:moveTo>
                  <a:cubicBezTo>
                    <a:pt x="0" y="247650"/>
                    <a:pt x="248412" y="0"/>
                    <a:pt x="554736" y="0"/>
                  </a:cubicBezTo>
                  <a:lnTo>
                    <a:pt x="12103481" y="0"/>
                  </a:lnTo>
                  <a:cubicBezTo>
                    <a:pt x="12409932" y="0"/>
                    <a:pt x="12658217" y="247650"/>
                    <a:pt x="12658217" y="553212"/>
                  </a:cubicBezTo>
                  <a:lnTo>
                    <a:pt x="12658217" y="2777363"/>
                  </a:lnTo>
                  <a:cubicBezTo>
                    <a:pt x="12658217" y="3082925"/>
                    <a:pt x="12409805" y="3330575"/>
                    <a:pt x="12103481" y="3330575"/>
                  </a:cubicBezTo>
                  <a:lnTo>
                    <a:pt x="554736" y="3330575"/>
                  </a:lnTo>
                  <a:cubicBezTo>
                    <a:pt x="248412" y="3330575"/>
                    <a:pt x="0" y="3082925"/>
                    <a:pt x="0" y="2777363"/>
                  </a:cubicBezTo>
                  <a:close/>
                </a:path>
              </a:pathLst>
            </a:custGeom>
            <a:solidFill>
              <a:srgbClr val="E8AF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0" y="0"/>
              <a:ext cx="12670917" cy="3343275"/>
            </a:xfrm>
            <a:custGeom>
              <a:rect b="b" l="l" r="r" t="t"/>
              <a:pathLst>
                <a:path extrusionOk="0" h="3343275" w="12670917">
                  <a:moveTo>
                    <a:pt x="0" y="559562"/>
                  </a:moveTo>
                  <a:cubicBezTo>
                    <a:pt x="0" y="250571"/>
                    <a:pt x="251206" y="0"/>
                    <a:pt x="561086" y="0"/>
                  </a:cubicBezTo>
                  <a:lnTo>
                    <a:pt x="12109831" y="0"/>
                  </a:lnTo>
                  <a:lnTo>
                    <a:pt x="12109831" y="6350"/>
                  </a:lnTo>
                  <a:lnTo>
                    <a:pt x="12109831" y="0"/>
                  </a:lnTo>
                  <a:cubicBezTo>
                    <a:pt x="12419712" y="0"/>
                    <a:pt x="12670917" y="250571"/>
                    <a:pt x="12670917" y="559562"/>
                  </a:cubicBezTo>
                  <a:lnTo>
                    <a:pt x="12664567" y="559562"/>
                  </a:lnTo>
                  <a:lnTo>
                    <a:pt x="12670917" y="559562"/>
                  </a:lnTo>
                  <a:lnTo>
                    <a:pt x="12670917" y="2783713"/>
                  </a:lnTo>
                  <a:lnTo>
                    <a:pt x="12664567" y="2783713"/>
                  </a:lnTo>
                  <a:lnTo>
                    <a:pt x="12670917" y="2783713"/>
                  </a:lnTo>
                  <a:cubicBezTo>
                    <a:pt x="12670917" y="3092831"/>
                    <a:pt x="12419712" y="3343275"/>
                    <a:pt x="12109831" y="3343275"/>
                  </a:cubicBezTo>
                  <a:lnTo>
                    <a:pt x="12109831" y="3336925"/>
                  </a:lnTo>
                  <a:lnTo>
                    <a:pt x="12109831" y="3343275"/>
                  </a:lnTo>
                  <a:lnTo>
                    <a:pt x="561086" y="3343275"/>
                  </a:lnTo>
                  <a:lnTo>
                    <a:pt x="561086" y="3336925"/>
                  </a:lnTo>
                  <a:lnTo>
                    <a:pt x="561086" y="3343275"/>
                  </a:lnTo>
                  <a:cubicBezTo>
                    <a:pt x="251206" y="3343275"/>
                    <a:pt x="0" y="3092704"/>
                    <a:pt x="0" y="2783713"/>
                  </a:cubicBezTo>
                  <a:lnTo>
                    <a:pt x="0" y="559562"/>
                  </a:lnTo>
                  <a:lnTo>
                    <a:pt x="6350" y="559562"/>
                  </a:lnTo>
                  <a:lnTo>
                    <a:pt x="0" y="559562"/>
                  </a:lnTo>
                  <a:moveTo>
                    <a:pt x="12700" y="559562"/>
                  </a:moveTo>
                  <a:lnTo>
                    <a:pt x="12700" y="2783713"/>
                  </a:lnTo>
                  <a:lnTo>
                    <a:pt x="6350" y="2783713"/>
                  </a:lnTo>
                  <a:lnTo>
                    <a:pt x="12700" y="2783713"/>
                  </a:lnTo>
                  <a:cubicBezTo>
                    <a:pt x="12700" y="3085719"/>
                    <a:pt x="258191" y="3330575"/>
                    <a:pt x="561086" y="3330575"/>
                  </a:cubicBezTo>
                  <a:lnTo>
                    <a:pt x="12109831" y="3330575"/>
                  </a:lnTo>
                  <a:cubicBezTo>
                    <a:pt x="12412726" y="3330575"/>
                    <a:pt x="12658217" y="3085719"/>
                    <a:pt x="12658217" y="2783713"/>
                  </a:cubicBezTo>
                  <a:lnTo>
                    <a:pt x="12658217" y="559562"/>
                  </a:lnTo>
                  <a:cubicBezTo>
                    <a:pt x="12658344" y="257556"/>
                    <a:pt x="12412853" y="12700"/>
                    <a:pt x="12109831" y="12700"/>
                  </a:cubicBezTo>
                  <a:lnTo>
                    <a:pt x="561086" y="12700"/>
                  </a:lnTo>
                  <a:lnTo>
                    <a:pt x="561086" y="6350"/>
                  </a:lnTo>
                  <a:lnTo>
                    <a:pt x="561086" y="12700"/>
                  </a:lnTo>
                  <a:cubicBezTo>
                    <a:pt x="258191" y="12700"/>
                    <a:pt x="12700" y="257556"/>
                    <a:pt x="12700" y="559562"/>
                  </a:cubicBezTo>
                  <a:close/>
                </a:path>
              </a:pathLst>
            </a:custGeom>
            <a:solidFill>
              <a:srgbClr val="CE95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8112175" y="7292429"/>
            <a:ext cx="3457724" cy="453478"/>
            <a:chOff x="0" y="-28575"/>
            <a:chExt cx="4610298" cy="604638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4610298" cy="576063"/>
            </a:xfrm>
            <a:custGeom>
              <a:rect b="b" l="l" r="r" t="t"/>
              <a:pathLst>
                <a:path extrusionOk="0" h="576063" w="4610298">
                  <a:moveTo>
                    <a:pt x="0" y="0"/>
                  </a:moveTo>
                  <a:lnTo>
                    <a:pt x="4610298" y="0"/>
                  </a:lnTo>
                  <a:lnTo>
                    <a:pt x="4610298" y="576063"/>
                  </a:lnTo>
                  <a:lnTo>
                    <a:pt x="0" y="576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28575"/>
              <a:ext cx="4610298" cy="60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5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Importancia</a:t>
              </a: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8112175" y="7840415"/>
            <a:ext cx="8921651" cy="1399282"/>
            <a:chOff x="0" y="-95250"/>
            <a:chExt cx="11895535" cy="1865710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11895535" cy="1770460"/>
            </a:xfrm>
            <a:custGeom>
              <a:rect b="b" l="l" r="r" t="t"/>
              <a:pathLst>
                <a:path extrusionOk="0" h="1770460" w="11895535">
                  <a:moveTo>
                    <a:pt x="0" y="0"/>
                  </a:moveTo>
                  <a:lnTo>
                    <a:pt x="11895535" y="0"/>
                  </a:lnTo>
                  <a:lnTo>
                    <a:pt x="11895535" y="1770460"/>
                  </a:lnTo>
                  <a:lnTo>
                    <a:pt x="0" y="1770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95250"/>
              <a:ext cx="11895535" cy="1865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Hoy es un componente central en la transformación educativa, promoviendo la democratización del conocimiento y adaptándose a las necesidades del mundo digital.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219" name="Google Shape;21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grpSp>
        <p:nvGrpSpPr>
          <p:cNvPr id="220" name="Google Shape;220;p6"/>
          <p:cNvGrpSpPr/>
          <p:nvPr/>
        </p:nvGrpSpPr>
        <p:grpSpPr>
          <a:xfrm>
            <a:off x="992238" y="3339553"/>
            <a:ext cx="7805886" cy="928837"/>
            <a:chOff x="0" y="-57150"/>
            <a:chExt cx="10407848" cy="1238448"/>
          </a:xfrm>
        </p:grpSpPr>
        <p:sp>
          <p:nvSpPr>
            <p:cNvPr id="221" name="Google Shape;221;p6"/>
            <p:cNvSpPr/>
            <p:nvPr/>
          </p:nvSpPr>
          <p:spPr>
            <a:xfrm>
              <a:off x="0" y="0"/>
              <a:ext cx="10407848" cy="1181298"/>
            </a:xfrm>
            <a:custGeom>
              <a:rect b="b" l="l" r="r" t="t"/>
              <a:pathLst>
                <a:path extrusionOk="0" h="118129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2" name="Google Shape;222;p6"/>
            <p:cNvSpPr txBox="1"/>
            <p:nvPr/>
          </p:nvSpPr>
          <p:spPr>
            <a:xfrm>
              <a:off x="0" y="-57150"/>
              <a:ext cx="10407848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Ventajas del E-learning</a:t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992238" y="4714131"/>
            <a:ext cx="7805886" cy="532210"/>
            <a:chOff x="0" y="-104775"/>
            <a:chExt cx="10407848" cy="709613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104775"/>
              <a:ext cx="1040784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Flexibilidad para aprender a ritmo y horario propio.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92238" y="5266879"/>
            <a:ext cx="7805886" cy="532210"/>
            <a:chOff x="0" y="-104775"/>
            <a:chExt cx="10407848" cy="709613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104775"/>
              <a:ext cx="1040784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Accesibilidad desde cualquier ubicación con conexión.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992238" y="5819627"/>
            <a:ext cx="7805886" cy="985837"/>
            <a:chOff x="0" y="-104775"/>
            <a:chExt cx="10407848" cy="1314450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Personalización del contenido según necesidades individuales.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9499401" y="4714131"/>
            <a:ext cx="7805886" cy="985837"/>
            <a:chOff x="0" y="-104775"/>
            <a:chExt cx="10407848" cy="1314450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Reducción significativa de costos en infraestructura y materiales.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9499401" y="5720506"/>
            <a:ext cx="7805886" cy="985837"/>
            <a:chOff x="0" y="-104775"/>
            <a:chExt cx="10407848" cy="1314450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Posibilidad de seguimiento detallado y análisis del progreso estudiantil.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247" name="Google Shape;247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sp>
        <p:nvSpPr>
          <p:cNvPr descr="preencoded.png" id="248" name="Google Shape;248;p7"/>
          <p:cNvSpPr/>
          <p:nvPr/>
        </p:nvSpPr>
        <p:spPr>
          <a:xfrm>
            <a:off x="11087100" y="-1935"/>
            <a:ext cx="7200900" cy="10288935"/>
          </a:xfrm>
          <a:custGeom>
            <a:rect b="b" l="l" r="r" t="t"/>
            <a:pathLst>
              <a:path extrusionOk="0" h="10288935" w="7200900">
                <a:moveTo>
                  <a:pt x="0" y="0"/>
                </a:moveTo>
                <a:lnTo>
                  <a:pt x="7200900" y="0"/>
                </a:lnTo>
                <a:lnTo>
                  <a:pt x="7200900" y="10288935"/>
                </a:lnTo>
                <a:lnTo>
                  <a:pt x="0" y="10288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" r="-7" t="0"/>
            </a:stretch>
          </a:blipFill>
          <a:ln>
            <a:noFill/>
          </a:ln>
        </p:spPr>
      </p:sp>
      <p:grpSp>
        <p:nvGrpSpPr>
          <p:cNvPr id="249" name="Google Shape;249;p7"/>
          <p:cNvGrpSpPr/>
          <p:nvPr/>
        </p:nvGrpSpPr>
        <p:grpSpPr>
          <a:xfrm>
            <a:off x="924669" y="676424"/>
            <a:ext cx="7228880" cy="875556"/>
            <a:chOff x="0" y="-66675"/>
            <a:chExt cx="9638507" cy="1167408"/>
          </a:xfrm>
        </p:grpSpPr>
        <p:sp>
          <p:nvSpPr>
            <p:cNvPr id="250" name="Google Shape;250;p7"/>
            <p:cNvSpPr/>
            <p:nvPr/>
          </p:nvSpPr>
          <p:spPr>
            <a:xfrm>
              <a:off x="0" y="0"/>
              <a:ext cx="9638507" cy="1100733"/>
            </a:xfrm>
            <a:custGeom>
              <a:rect b="b" l="l" r="r" t="t"/>
              <a:pathLst>
                <a:path extrusionOk="0" h="1100733" w="9638507">
                  <a:moveTo>
                    <a:pt x="0" y="0"/>
                  </a:moveTo>
                  <a:lnTo>
                    <a:pt x="9638507" y="0"/>
                  </a:lnTo>
                  <a:lnTo>
                    <a:pt x="9638507" y="1100733"/>
                  </a:lnTo>
                  <a:lnTo>
                    <a:pt x="0" y="1100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1" name="Google Shape;251;p7"/>
            <p:cNvSpPr txBox="1"/>
            <p:nvPr/>
          </p:nvSpPr>
          <p:spPr>
            <a:xfrm>
              <a:off x="0" y="-66675"/>
              <a:ext cx="9638507" cy="1167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3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Desafíos del E-learning</a:t>
              </a:r>
              <a:endParaRPr/>
            </a:p>
          </p:txBody>
        </p:sp>
      </p:grpSp>
      <p:grpSp>
        <p:nvGrpSpPr>
          <p:cNvPr id="252" name="Google Shape;252;p7"/>
          <p:cNvGrpSpPr/>
          <p:nvPr/>
        </p:nvGrpSpPr>
        <p:grpSpPr>
          <a:xfrm>
            <a:off x="919906" y="1943397"/>
            <a:ext cx="603885" cy="603980"/>
            <a:chOff x="0" y="0"/>
            <a:chExt cx="805180" cy="805307"/>
          </a:xfrm>
        </p:grpSpPr>
        <p:sp>
          <p:nvSpPr>
            <p:cNvPr id="253" name="Google Shape;253;p7"/>
            <p:cNvSpPr/>
            <p:nvPr/>
          </p:nvSpPr>
          <p:spPr>
            <a:xfrm>
              <a:off x="6350" y="6350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188"/>
                    <a:pt x="0" y="396240"/>
                  </a:cubicBezTo>
                  <a:close/>
                </a:path>
              </a:pathLst>
            </a:custGeom>
            <a:solidFill>
              <a:srgbClr val="626C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0" y="0"/>
              <a:ext cx="805180" cy="805307"/>
            </a:xfrm>
            <a:custGeom>
              <a:rect b="b" l="l" r="r" t="t"/>
              <a:pathLst>
                <a:path extrusionOk="0" h="805307" w="805180">
                  <a:moveTo>
                    <a:pt x="0" y="402590"/>
                  </a:moveTo>
                  <a:cubicBezTo>
                    <a:pt x="0" y="180213"/>
                    <a:pt x="180213" y="0"/>
                    <a:pt x="402590" y="0"/>
                  </a:cubicBezTo>
                  <a:cubicBezTo>
                    <a:pt x="403733" y="0"/>
                    <a:pt x="405003" y="381"/>
                    <a:pt x="406019" y="1016"/>
                  </a:cubicBezTo>
                  <a:lnTo>
                    <a:pt x="402590" y="6350"/>
                  </a:lnTo>
                  <a:lnTo>
                    <a:pt x="402590" y="0"/>
                  </a:lnTo>
                  <a:lnTo>
                    <a:pt x="402590" y="6350"/>
                  </a:lnTo>
                  <a:lnTo>
                    <a:pt x="402590" y="0"/>
                  </a:lnTo>
                  <a:cubicBezTo>
                    <a:pt x="624967" y="0"/>
                    <a:pt x="805180" y="180213"/>
                    <a:pt x="805180" y="402590"/>
                  </a:cubicBezTo>
                  <a:cubicBezTo>
                    <a:pt x="805180" y="404622"/>
                    <a:pt x="804291" y="406527"/>
                    <a:pt x="802640" y="407670"/>
                  </a:cubicBezTo>
                  <a:lnTo>
                    <a:pt x="798830" y="402590"/>
                  </a:lnTo>
                  <a:lnTo>
                    <a:pt x="805180" y="402590"/>
                  </a:lnTo>
                  <a:cubicBezTo>
                    <a:pt x="805180" y="624967"/>
                    <a:pt x="624967" y="805180"/>
                    <a:pt x="402590" y="805180"/>
                  </a:cubicBezTo>
                  <a:lnTo>
                    <a:pt x="402590" y="798830"/>
                  </a:lnTo>
                  <a:lnTo>
                    <a:pt x="402590" y="792480"/>
                  </a:lnTo>
                  <a:lnTo>
                    <a:pt x="402590" y="798830"/>
                  </a:lnTo>
                  <a:lnTo>
                    <a:pt x="402590" y="805180"/>
                  </a:lnTo>
                  <a:cubicBezTo>
                    <a:pt x="180213" y="805307"/>
                    <a:pt x="0" y="624967"/>
                    <a:pt x="0" y="402590"/>
                  </a:cubicBezTo>
                  <a:lnTo>
                    <a:pt x="6350" y="402590"/>
                  </a:lnTo>
                  <a:lnTo>
                    <a:pt x="0" y="402590"/>
                  </a:lnTo>
                  <a:moveTo>
                    <a:pt x="12700" y="402590"/>
                  </a:moveTo>
                  <a:lnTo>
                    <a:pt x="6350" y="402590"/>
                  </a:lnTo>
                  <a:lnTo>
                    <a:pt x="12700" y="402590"/>
                  </a:lnTo>
                  <a:cubicBezTo>
                    <a:pt x="12700" y="617982"/>
                    <a:pt x="187325" y="792480"/>
                    <a:pt x="402590" y="792480"/>
                  </a:cubicBezTo>
                  <a:cubicBezTo>
                    <a:pt x="406146" y="792480"/>
                    <a:pt x="408940" y="795274"/>
                    <a:pt x="408940" y="798830"/>
                  </a:cubicBezTo>
                  <a:cubicBezTo>
                    <a:pt x="408940" y="802386"/>
                    <a:pt x="406146" y="805180"/>
                    <a:pt x="402590" y="805180"/>
                  </a:cubicBezTo>
                  <a:cubicBezTo>
                    <a:pt x="399034" y="805180"/>
                    <a:pt x="396240" y="802386"/>
                    <a:pt x="396240" y="798830"/>
                  </a:cubicBezTo>
                  <a:cubicBezTo>
                    <a:pt x="396240" y="795274"/>
                    <a:pt x="399034" y="792480"/>
                    <a:pt x="402590" y="792480"/>
                  </a:cubicBezTo>
                  <a:cubicBezTo>
                    <a:pt x="617982" y="792480"/>
                    <a:pt x="792480" y="617855"/>
                    <a:pt x="792480" y="402590"/>
                  </a:cubicBezTo>
                  <a:cubicBezTo>
                    <a:pt x="792480" y="400558"/>
                    <a:pt x="793369" y="398653"/>
                    <a:pt x="795020" y="397510"/>
                  </a:cubicBezTo>
                  <a:lnTo>
                    <a:pt x="798830" y="402590"/>
                  </a:lnTo>
                  <a:lnTo>
                    <a:pt x="792480" y="402590"/>
                  </a:lnTo>
                  <a:cubicBezTo>
                    <a:pt x="792607" y="187325"/>
                    <a:pt x="617982" y="12700"/>
                    <a:pt x="402590" y="12700"/>
                  </a:cubicBezTo>
                  <a:cubicBezTo>
                    <a:pt x="401447" y="12700"/>
                    <a:pt x="400177" y="12319"/>
                    <a:pt x="399161" y="11684"/>
                  </a:cubicBezTo>
                  <a:lnTo>
                    <a:pt x="402590" y="6350"/>
                  </a:lnTo>
                  <a:lnTo>
                    <a:pt x="402590" y="12700"/>
                  </a:lnTo>
                  <a:cubicBezTo>
                    <a:pt x="187325" y="12700"/>
                    <a:pt x="12700" y="187325"/>
                    <a:pt x="12700" y="402590"/>
                  </a:cubicBezTo>
                  <a:close/>
                </a:path>
              </a:pathLst>
            </a:custGeom>
            <a:solidFill>
              <a:srgbClr val="7B8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7"/>
          <p:cNvGrpSpPr/>
          <p:nvPr/>
        </p:nvGrpSpPr>
        <p:grpSpPr>
          <a:xfrm>
            <a:off x="1783259" y="2017514"/>
            <a:ext cx="3302497" cy="434131"/>
            <a:chOff x="0" y="-28575"/>
            <a:chExt cx="4403329" cy="578842"/>
          </a:xfrm>
        </p:grpSpPr>
        <p:sp>
          <p:nvSpPr>
            <p:cNvPr id="256" name="Google Shape;256;p7"/>
            <p:cNvSpPr/>
            <p:nvPr/>
          </p:nvSpPr>
          <p:spPr>
            <a:xfrm>
              <a:off x="0" y="0"/>
              <a:ext cx="4403329" cy="550267"/>
            </a:xfrm>
            <a:custGeom>
              <a:rect b="b" l="l" r="r" t="t"/>
              <a:pathLst>
                <a:path extrusionOk="0" h="550267" w="4403329">
                  <a:moveTo>
                    <a:pt x="0" y="0"/>
                  </a:moveTo>
                  <a:lnTo>
                    <a:pt x="4403329" y="0"/>
                  </a:lnTo>
                  <a:lnTo>
                    <a:pt x="4403329" y="550267"/>
                  </a:lnTo>
                  <a:lnTo>
                    <a:pt x="0" y="5502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7" name="Google Shape;257;p7"/>
            <p:cNvSpPr txBox="1"/>
            <p:nvPr/>
          </p:nvSpPr>
          <p:spPr>
            <a:xfrm>
              <a:off x="0" y="-28575"/>
              <a:ext cx="4403328" cy="578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Personalización Real</a:t>
              </a:r>
              <a:endParaRPr/>
            </a:p>
          </p:txBody>
        </p:sp>
      </p:grpSp>
      <p:grpSp>
        <p:nvGrpSpPr>
          <p:cNvPr id="258" name="Google Shape;258;p7"/>
          <p:cNvGrpSpPr/>
          <p:nvPr/>
        </p:nvGrpSpPr>
        <p:grpSpPr>
          <a:xfrm>
            <a:off x="1783259" y="2538710"/>
            <a:ext cx="8722072" cy="916782"/>
            <a:chOff x="0" y="-95250"/>
            <a:chExt cx="11629430" cy="1222375"/>
          </a:xfrm>
        </p:grpSpPr>
        <p:sp>
          <p:nvSpPr>
            <p:cNvPr id="259" name="Google Shape;259;p7"/>
            <p:cNvSpPr/>
            <p:nvPr/>
          </p:nvSpPr>
          <p:spPr>
            <a:xfrm>
              <a:off x="0" y="0"/>
              <a:ext cx="11629430" cy="1127125"/>
            </a:xfrm>
            <a:custGeom>
              <a:rect b="b" l="l" r="r" t="t"/>
              <a:pathLst>
                <a:path extrusionOk="0" h="1127125" w="11629430">
                  <a:moveTo>
                    <a:pt x="0" y="0"/>
                  </a:moveTo>
                  <a:lnTo>
                    <a:pt x="11629430" y="0"/>
                  </a:lnTo>
                  <a:lnTo>
                    <a:pt x="11629430" y="1127125"/>
                  </a:lnTo>
                  <a:lnTo>
                    <a:pt x="0" y="1127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0" name="Google Shape;260;p7"/>
            <p:cNvSpPr txBox="1"/>
            <p:nvPr/>
          </p:nvSpPr>
          <p:spPr>
            <a:xfrm>
              <a:off x="0" y="-95250"/>
              <a:ext cx="11629430" cy="1222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Aún un reto lograr un aprendizaje completamente adaptado a cada estudiante para 2025.</a:t>
              </a:r>
              <a:endParaRPr/>
            </a:p>
          </p:txBody>
        </p:sp>
      </p:grpSp>
      <p:grpSp>
        <p:nvGrpSpPr>
          <p:cNvPr id="261" name="Google Shape;261;p7"/>
          <p:cNvGrpSpPr/>
          <p:nvPr/>
        </p:nvGrpSpPr>
        <p:grpSpPr>
          <a:xfrm>
            <a:off x="919906" y="3979069"/>
            <a:ext cx="603885" cy="603980"/>
            <a:chOff x="0" y="0"/>
            <a:chExt cx="805180" cy="805307"/>
          </a:xfrm>
        </p:grpSpPr>
        <p:sp>
          <p:nvSpPr>
            <p:cNvPr id="262" name="Google Shape;262;p7"/>
            <p:cNvSpPr/>
            <p:nvPr/>
          </p:nvSpPr>
          <p:spPr>
            <a:xfrm>
              <a:off x="6350" y="6350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188"/>
                    <a:pt x="0" y="396240"/>
                  </a:cubicBezTo>
                  <a:close/>
                </a:path>
              </a:pathLst>
            </a:custGeom>
            <a:solidFill>
              <a:srgbClr val="8379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0" y="0"/>
              <a:ext cx="805180" cy="805307"/>
            </a:xfrm>
            <a:custGeom>
              <a:rect b="b" l="l" r="r" t="t"/>
              <a:pathLst>
                <a:path extrusionOk="0" h="805307" w="805180">
                  <a:moveTo>
                    <a:pt x="0" y="402590"/>
                  </a:moveTo>
                  <a:cubicBezTo>
                    <a:pt x="0" y="180213"/>
                    <a:pt x="180213" y="0"/>
                    <a:pt x="402590" y="0"/>
                  </a:cubicBezTo>
                  <a:cubicBezTo>
                    <a:pt x="403733" y="0"/>
                    <a:pt x="405003" y="381"/>
                    <a:pt x="406019" y="1016"/>
                  </a:cubicBezTo>
                  <a:lnTo>
                    <a:pt x="402590" y="6350"/>
                  </a:lnTo>
                  <a:lnTo>
                    <a:pt x="402590" y="0"/>
                  </a:lnTo>
                  <a:lnTo>
                    <a:pt x="402590" y="6350"/>
                  </a:lnTo>
                  <a:lnTo>
                    <a:pt x="402590" y="0"/>
                  </a:lnTo>
                  <a:cubicBezTo>
                    <a:pt x="624967" y="0"/>
                    <a:pt x="805180" y="180213"/>
                    <a:pt x="805180" y="402590"/>
                  </a:cubicBezTo>
                  <a:cubicBezTo>
                    <a:pt x="805180" y="404622"/>
                    <a:pt x="804291" y="406527"/>
                    <a:pt x="802640" y="407670"/>
                  </a:cubicBezTo>
                  <a:lnTo>
                    <a:pt x="798830" y="402590"/>
                  </a:lnTo>
                  <a:lnTo>
                    <a:pt x="805180" y="402590"/>
                  </a:lnTo>
                  <a:cubicBezTo>
                    <a:pt x="805180" y="624967"/>
                    <a:pt x="624967" y="805180"/>
                    <a:pt x="402590" y="805180"/>
                  </a:cubicBezTo>
                  <a:lnTo>
                    <a:pt x="402590" y="798830"/>
                  </a:lnTo>
                  <a:lnTo>
                    <a:pt x="402590" y="792480"/>
                  </a:lnTo>
                  <a:lnTo>
                    <a:pt x="402590" y="798830"/>
                  </a:lnTo>
                  <a:lnTo>
                    <a:pt x="402590" y="805180"/>
                  </a:lnTo>
                  <a:cubicBezTo>
                    <a:pt x="180213" y="805307"/>
                    <a:pt x="0" y="624967"/>
                    <a:pt x="0" y="402590"/>
                  </a:cubicBezTo>
                  <a:lnTo>
                    <a:pt x="6350" y="402590"/>
                  </a:lnTo>
                  <a:lnTo>
                    <a:pt x="0" y="402590"/>
                  </a:lnTo>
                  <a:moveTo>
                    <a:pt x="12700" y="402590"/>
                  </a:moveTo>
                  <a:lnTo>
                    <a:pt x="6350" y="402590"/>
                  </a:lnTo>
                  <a:lnTo>
                    <a:pt x="12700" y="402590"/>
                  </a:lnTo>
                  <a:cubicBezTo>
                    <a:pt x="12700" y="617982"/>
                    <a:pt x="187325" y="792480"/>
                    <a:pt x="402590" y="792480"/>
                  </a:cubicBezTo>
                  <a:cubicBezTo>
                    <a:pt x="406146" y="792480"/>
                    <a:pt x="408940" y="795274"/>
                    <a:pt x="408940" y="798830"/>
                  </a:cubicBezTo>
                  <a:cubicBezTo>
                    <a:pt x="408940" y="802386"/>
                    <a:pt x="406146" y="805180"/>
                    <a:pt x="402590" y="805180"/>
                  </a:cubicBezTo>
                  <a:cubicBezTo>
                    <a:pt x="399034" y="805180"/>
                    <a:pt x="396240" y="802386"/>
                    <a:pt x="396240" y="798830"/>
                  </a:cubicBezTo>
                  <a:cubicBezTo>
                    <a:pt x="396240" y="795274"/>
                    <a:pt x="399034" y="792480"/>
                    <a:pt x="402590" y="792480"/>
                  </a:cubicBezTo>
                  <a:cubicBezTo>
                    <a:pt x="617982" y="792480"/>
                    <a:pt x="792480" y="617855"/>
                    <a:pt x="792480" y="402590"/>
                  </a:cubicBezTo>
                  <a:cubicBezTo>
                    <a:pt x="792480" y="400558"/>
                    <a:pt x="793369" y="398653"/>
                    <a:pt x="795020" y="397510"/>
                  </a:cubicBezTo>
                  <a:lnTo>
                    <a:pt x="798830" y="402590"/>
                  </a:lnTo>
                  <a:lnTo>
                    <a:pt x="792480" y="402590"/>
                  </a:lnTo>
                  <a:cubicBezTo>
                    <a:pt x="792607" y="187325"/>
                    <a:pt x="617982" y="12700"/>
                    <a:pt x="402590" y="12700"/>
                  </a:cubicBezTo>
                  <a:cubicBezTo>
                    <a:pt x="401447" y="12700"/>
                    <a:pt x="400177" y="12319"/>
                    <a:pt x="399161" y="11684"/>
                  </a:cubicBezTo>
                  <a:lnTo>
                    <a:pt x="402590" y="6350"/>
                  </a:lnTo>
                  <a:lnTo>
                    <a:pt x="402590" y="12700"/>
                  </a:lnTo>
                  <a:cubicBezTo>
                    <a:pt x="187325" y="12700"/>
                    <a:pt x="12700" y="187325"/>
                    <a:pt x="12700" y="402590"/>
                  </a:cubicBezTo>
                  <a:close/>
                </a:path>
              </a:pathLst>
            </a:custGeom>
            <a:solidFill>
              <a:srgbClr val="9C92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7"/>
          <p:cNvGrpSpPr/>
          <p:nvPr/>
        </p:nvGrpSpPr>
        <p:grpSpPr>
          <a:xfrm>
            <a:off x="1783259" y="4053185"/>
            <a:ext cx="3302497" cy="434131"/>
            <a:chOff x="0" y="-28575"/>
            <a:chExt cx="4403329" cy="578842"/>
          </a:xfrm>
        </p:grpSpPr>
        <p:sp>
          <p:nvSpPr>
            <p:cNvPr id="265" name="Google Shape;265;p7"/>
            <p:cNvSpPr/>
            <p:nvPr/>
          </p:nvSpPr>
          <p:spPr>
            <a:xfrm>
              <a:off x="0" y="0"/>
              <a:ext cx="4403329" cy="550267"/>
            </a:xfrm>
            <a:custGeom>
              <a:rect b="b" l="l" r="r" t="t"/>
              <a:pathLst>
                <a:path extrusionOk="0" h="550267" w="4403329">
                  <a:moveTo>
                    <a:pt x="0" y="0"/>
                  </a:moveTo>
                  <a:lnTo>
                    <a:pt x="4403329" y="0"/>
                  </a:lnTo>
                  <a:lnTo>
                    <a:pt x="4403329" y="550267"/>
                  </a:lnTo>
                  <a:lnTo>
                    <a:pt x="0" y="5502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6" name="Google Shape;266;p7"/>
            <p:cNvSpPr txBox="1"/>
            <p:nvPr/>
          </p:nvSpPr>
          <p:spPr>
            <a:xfrm>
              <a:off x="0" y="-28575"/>
              <a:ext cx="4403328" cy="578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Brecha Digital</a:t>
              </a:r>
              <a:endParaRPr/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1783259" y="4574381"/>
            <a:ext cx="8722072" cy="916782"/>
            <a:chOff x="0" y="-95250"/>
            <a:chExt cx="11629430" cy="1222375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11629430" cy="1127125"/>
            </a:xfrm>
            <a:custGeom>
              <a:rect b="b" l="l" r="r" t="t"/>
              <a:pathLst>
                <a:path extrusionOk="0" h="1127125" w="11629430">
                  <a:moveTo>
                    <a:pt x="0" y="0"/>
                  </a:moveTo>
                  <a:lnTo>
                    <a:pt x="11629430" y="0"/>
                  </a:lnTo>
                  <a:lnTo>
                    <a:pt x="11629430" y="1127125"/>
                  </a:lnTo>
                  <a:lnTo>
                    <a:pt x="0" y="1127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-95250"/>
              <a:ext cx="11629430" cy="1222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Desigualdad en acceso a tecnologías limita la llegada universal del e-learning.</a:t>
              </a:r>
              <a:endParaRPr/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919906" y="6014740"/>
            <a:ext cx="603885" cy="603980"/>
            <a:chOff x="0" y="0"/>
            <a:chExt cx="805180" cy="805307"/>
          </a:xfrm>
        </p:grpSpPr>
        <p:sp>
          <p:nvSpPr>
            <p:cNvPr id="271" name="Google Shape;271;p7"/>
            <p:cNvSpPr/>
            <p:nvPr/>
          </p:nvSpPr>
          <p:spPr>
            <a:xfrm>
              <a:off x="6350" y="6350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188"/>
                    <a:pt x="0" y="396240"/>
                  </a:cubicBezTo>
                  <a:close/>
                </a:path>
              </a:pathLst>
            </a:custGeom>
            <a:solidFill>
              <a:srgbClr val="E8AF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0" y="0"/>
              <a:ext cx="805180" cy="805307"/>
            </a:xfrm>
            <a:custGeom>
              <a:rect b="b" l="l" r="r" t="t"/>
              <a:pathLst>
                <a:path extrusionOk="0" h="805307" w="805180">
                  <a:moveTo>
                    <a:pt x="0" y="402590"/>
                  </a:moveTo>
                  <a:cubicBezTo>
                    <a:pt x="0" y="180213"/>
                    <a:pt x="180213" y="0"/>
                    <a:pt x="402590" y="0"/>
                  </a:cubicBezTo>
                  <a:cubicBezTo>
                    <a:pt x="403733" y="0"/>
                    <a:pt x="405003" y="381"/>
                    <a:pt x="406019" y="1016"/>
                  </a:cubicBezTo>
                  <a:lnTo>
                    <a:pt x="402590" y="6350"/>
                  </a:lnTo>
                  <a:lnTo>
                    <a:pt x="402590" y="0"/>
                  </a:lnTo>
                  <a:lnTo>
                    <a:pt x="402590" y="6350"/>
                  </a:lnTo>
                  <a:lnTo>
                    <a:pt x="402590" y="0"/>
                  </a:lnTo>
                  <a:cubicBezTo>
                    <a:pt x="624967" y="0"/>
                    <a:pt x="805180" y="180213"/>
                    <a:pt x="805180" y="402590"/>
                  </a:cubicBezTo>
                  <a:cubicBezTo>
                    <a:pt x="805180" y="404622"/>
                    <a:pt x="804291" y="406527"/>
                    <a:pt x="802640" y="407670"/>
                  </a:cubicBezTo>
                  <a:lnTo>
                    <a:pt x="798830" y="402590"/>
                  </a:lnTo>
                  <a:lnTo>
                    <a:pt x="805180" y="402590"/>
                  </a:lnTo>
                  <a:cubicBezTo>
                    <a:pt x="805180" y="624967"/>
                    <a:pt x="624967" y="805180"/>
                    <a:pt x="402590" y="805180"/>
                  </a:cubicBezTo>
                  <a:lnTo>
                    <a:pt x="402590" y="798830"/>
                  </a:lnTo>
                  <a:lnTo>
                    <a:pt x="402590" y="792480"/>
                  </a:lnTo>
                  <a:lnTo>
                    <a:pt x="402590" y="798830"/>
                  </a:lnTo>
                  <a:lnTo>
                    <a:pt x="402590" y="805180"/>
                  </a:lnTo>
                  <a:cubicBezTo>
                    <a:pt x="180213" y="805307"/>
                    <a:pt x="0" y="624967"/>
                    <a:pt x="0" y="402590"/>
                  </a:cubicBezTo>
                  <a:lnTo>
                    <a:pt x="6350" y="402590"/>
                  </a:lnTo>
                  <a:lnTo>
                    <a:pt x="0" y="402590"/>
                  </a:lnTo>
                  <a:moveTo>
                    <a:pt x="12700" y="402590"/>
                  </a:moveTo>
                  <a:lnTo>
                    <a:pt x="6350" y="402590"/>
                  </a:lnTo>
                  <a:lnTo>
                    <a:pt x="12700" y="402590"/>
                  </a:lnTo>
                  <a:cubicBezTo>
                    <a:pt x="12700" y="617982"/>
                    <a:pt x="187325" y="792480"/>
                    <a:pt x="402590" y="792480"/>
                  </a:cubicBezTo>
                  <a:cubicBezTo>
                    <a:pt x="406146" y="792480"/>
                    <a:pt x="408940" y="795274"/>
                    <a:pt x="408940" y="798830"/>
                  </a:cubicBezTo>
                  <a:cubicBezTo>
                    <a:pt x="408940" y="802386"/>
                    <a:pt x="406146" y="805180"/>
                    <a:pt x="402590" y="805180"/>
                  </a:cubicBezTo>
                  <a:cubicBezTo>
                    <a:pt x="399034" y="805180"/>
                    <a:pt x="396240" y="802386"/>
                    <a:pt x="396240" y="798830"/>
                  </a:cubicBezTo>
                  <a:cubicBezTo>
                    <a:pt x="396240" y="795274"/>
                    <a:pt x="399034" y="792480"/>
                    <a:pt x="402590" y="792480"/>
                  </a:cubicBezTo>
                  <a:cubicBezTo>
                    <a:pt x="617982" y="792480"/>
                    <a:pt x="792480" y="617855"/>
                    <a:pt x="792480" y="402590"/>
                  </a:cubicBezTo>
                  <a:cubicBezTo>
                    <a:pt x="792480" y="400558"/>
                    <a:pt x="793369" y="398653"/>
                    <a:pt x="795020" y="397510"/>
                  </a:cubicBezTo>
                  <a:lnTo>
                    <a:pt x="798830" y="402590"/>
                  </a:lnTo>
                  <a:lnTo>
                    <a:pt x="792480" y="402590"/>
                  </a:lnTo>
                  <a:cubicBezTo>
                    <a:pt x="792607" y="187325"/>
                    <a:pt x="617982" y="12700"/>
                    <a:pt x="402590" y="12700"/>
                  </a:cubicBezTo>
                  <a:cubicBezTo>
                    <a:pt x="401447" y="12700"/>
                    <a:pt x="400177" y="12319"/>
                    <a:pt x="399161" y="11684"/>
                  </a:cubicBezTo>
                  <a:lnTo>
                    <a:pt x="402590" y="6350"/>
                  </a:lnTo>
                  <a:lnTo>
                    <a:pt x="402590" y="12700"/>
                  </a:lnTo>
                  <a:cubicBezTo>
                    <a:pt x="187325" y="12700"/>
                    <a:pt x="12700" y="187325"/>
                    <a:pt x="12700" y="402590"/>
                  </a:cubicBezTo>
                  <a:close/>
                </a:path>
              </a:pathLst>
            </a:custGeom>
            <a:solidFill>
              <a:srgbClr val="CE95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1783259" y="6088856"/>
            <a:ext cx="4085035" cy="434131"/>
            <a:chOff x="0" y="-28575"/>
            <a:chExt cx="5446713" cy="578842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5446713" cy="550267"/>
            </a:xfrm>
            <a:custGeom>
              <a:rect b="b" l="l" r="r" t="t"/>
              <a:pathLst>
                <a:path extrusionOk="0" h="550267" w="5446713">
                  <a:moveTo>
                    <a:pt x="0" y="0"/>
                  </a:moveTo>
                  <a:lnTo>
                    <a:pt x="5446713" y="0"/>
                  </a:lnTo>
                  <a:lnTo>
                    <a:pt x="5446713" y="550267"/>
                  </a:lnTo>
                  <a:lnTo>
                    <a:pt x="0" y="5502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28575"/>
              <a:ext cx="5446713" cy="578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Motivación y Compromiso</a:t>
              </a: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1783259" y="6610052"/>
            <a:ext cx="8722072" cy="916782"/>
            <a:chOff x="0" y="-95250"/>
            <a:chExt cx="11629430" cy="1222375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11629430" cy="1127125"/>
            </a:xfrm>
            <a:custGeom>
              <a:rect b="b" l="l" r="r" t="t"/>
              <a:pathLst>
                <a:path extrusionOk="0" h="1127125" w="11629430">
                  <a:moveTo>
                    <a:pt x="0" y="0"/>
                  </a:moveTo>
                  <a:lnTo>
                    <a:pt x="11629430" y="0"/>
                  </a:lnTo>
                  <a:lnTo>
                    <a:pt x="11629430" y="1127125"/>
                  </a:lnTo>
                  <a:lnTo>
                    <a:pt x="0" y="1127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8" name="Google Shape;278;p7"/>
            <p:cNvSpPr txBox="1"/>
            <p:nvPr/>
          </p:nvSpPr>
          <p:spPr>
            <a:xfrm>
              <a:off x="0" y="-95250"/>
              <a:ext cx="11629430" cy="1222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Difícil mantener la atención y participación activa en entornos virtuales.</a:t>
              </a:r>
              <a:endParaRPr/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919906" y="8050411"/>
            <a:ext cx="603885" cy="603980"/>
            <a:chOff x="0" y="0"/>
            <a:chExt cx="805180" cy="805307"/>
          </a:xfrm>
        </p:grpSpPr>
        <p:sp>
          <p:nvSpPr>
            <p:cNvPr id="280" name="Google Shape;280;p7"/>
            <p:cNvSpPr/>
            <p:nvPr/>
          </p:nvSpPr>
          <p:spPr>
            <a:xfrm>
              <a:off x="6350" y="6350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188"/>
                    <a:pt x="0" y="396240"/>
                  </a:cubicBezTo>
                  <a:close/>
                </a:path>
              </a:pathLst>
            </a:custGeom>
            <a:solidFill>
              <a:srgbClr val="CC91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0" y="0"/>
              <a:ext cx="805180" cy="805307"/>
            </a:xfrm>
            <a:custGeom>
              <a:rect b="b" l="l" r="r" t="t"/>
              <a:pathLst>
                <a:path extrusionOk="0" h="805307" w="805180">
                  <a:moveTo>
                    <a:pt x="0" y="402590"/>
                  </a:moveTo>
                  <a:cubicBezTo>
                    <a:pt x="0" y="180213"/>
                    <a:pt x="180213" y="0"/>
                    <a:pt x="402590" y="0"/>
                  </a:cubicBezTo>
                  <a:cubicBezTo>
                    <a:pt x="403733" y="0"/>
                    <a:pt x="405003" y="381"/>
                    <a:pt x="406019" y="1016"/>
                  </a:cubicBezTo>
                  <a:lnTo>
                    <a:pt x="402590" y="6350"/>
                  </a:lnTo>
                  <a:lnTo>
                    <a:pt x="402590" y="0"/>
                  </a:lnTo>
                  <a:lnTo>
                    <a:pt x="402590" y="6350"/>
                  </a:lnTo>
                  <a:lnTo>
                    <a:pt x="402590" y="0"/>
                  </a:lnTo>
                  <a:cubicBezTo>
                    <a:pt x="624967" y="0"/>
                    <a:pt x="805180" y="180213"/>
                    <a:pt x="805180" y="402590"/>
                  </a:cubicBezTo>
                  <a:cubicBezTo>
                    <a:pt x="805180" y="404622"/>
                    <a:pt x="804291" y="406527"/>
                    <a:pt x="802640" y="407670"/>
                  </a:cubicBezTo>
                  <a:lnTo>
                    <a:pt x="798830" y="402590"/>
                  </a:lnTo>
                  <a:lnTo>
                    <a:pt x="805180" y="402590"/>
                  </a:lnTo>
                  <a:cubicBezTo>
                    <a:pt x="805180" y="624967"/>
                    <a:pt x="624967" y="805180"/>
                    <a:pt x="402590" y="805180"/>
                  </a:cubicBezTo>
                  <a:lnTo>
                    <a:pt x="402590" y="798830"/>
                  </a:lnTo>
                  <a:lnTo>
                    <a:pt x="402590" y="792480"/>
                  </a:lnTo>
                  <a:lnTo>
                    <a:pt x="402590" y="798830"/>
                  </a:lnTo>
                  <a:lnTo>
                    <a:pt x="402590" y="805180"/>
                  </a:lnTo>
                  <a:cubicBezTo>
                    <a:pt x="180213" y="805307"/>
                    <a:pt x="0" y="624967"/>
                    <a:pt x="0" y="402590"/>
                  </a:cubicBezTo>
                  <a:lnTo>
                    <a:pt x="6350" y="402590"/>
                  </a:lnTo>
                  <a:lnTo>
                    <a:pt x="0" y="402590"/>
                  </a:lnTo>
                  <a:moveTo>
                    <a:pt x="12700" y="402590"/>
                  </a:moveTo>
                  <a:lnTo>
                    <a:pt x="6350" y="402590"/>
                  </a:lnTo>
                  <a:lnTo>
                    <a:pt x="12700" y="402590"/>
                  </a:lnTo>
                  <a:cubicBezTo>
                    <a:pt x="12700" y="617982"/>
                    <a:pt x="187325" y="792480"/>
                    <a:pt x="402590" y="792480"/>
                  </a:cubicBezTo>
                  <a:cubicBezTo>
                    <a:pt x="406146" y="792480"/>
                    <a:pt x="408940" y="795274"/>
                    <a:pt x="408940" y="798830"/>
                  </a:cubicBezTo>
                  <a:cubicBezTo>
                    <a:pt x="408940" y="802386"/>
                    <a:pt x="406146" y="805180"/>
                    <a:pt x="402590" y="805180"/>
                  </a:cubicBezTo>
                  <a:cubicBezTo>
                    <a:pt x="399034" y="805180"/>
                    <a:pt x="396240" y="802386"/>
                    <a:pt x="396240" y="798830"/>
                  </a:cubicBezTo>
                  <a:cubicBezTo>
                    <a:pt x="396240" y="795274"/>
                    <a:pt x="399034" y="792480"/>
                    <a:pt x="402590" y="792480"/>
                  </a:cubicBezTo>
                  <a:cubicBezTo>
                    <a:pt x="617982" y="792480"/>
                    <a:pt x="792480" y="617855"/>
                    <a:pt x="792480" y="402590"/>
                  </a:cubicBezTo>
                  <a:cubicBezTo>
                    <a:pt x="792480" y="400558"/>
                    <a:pt x="793369" y="398653"/>
                    <a:pt x="795020" y="397510"/>
                  </a:cubicBezTo>
                  <a:lnTo>
                    <a:pt x="798830" y="402590"/>
                  </a:lnTo>
                  <a:lnTo>
                    <a:pt x="792480" y="402590"/>
                  </a:lnTo>
                  <a:cubicBezTo>
                    <a:pt x="792607" y="187325"/>
                    <a:pt x="617982" y="12700"/>
                    <a:pt x="402590" y="12700"/>
                  </a:cubicBezTo>
                  <a:cubicBezTo>
                    <a:pt x="401447" y="12700"/>
                    <a:pt x="400177" y="12319"/>
                    <a:pt x="399161" y="11684"/>
                  </a:cubicBezTo>
                  <a:lnTo>
                    <a:pt x="402590" y="6350"/>
                  </a:lnTo>
                  <a:lnTo>
                    <a:pt x="402590" y="12700"/>
                  </a:lnTo>
                  <a:cubicBezTo>
                    <a:pt x="187325" y="12700"/>
                    <a:pt x="12700" y="187325"/>
                    <a:pt x="12700" y="402590"/>
                  </a:cubicBezTo>
                  <a:close/>
                </a:path>
              </a:pathLst>
            </a:custGeom>
            <a:solidFill>
              <a:srgbClr val="B277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1783259" y="8124528"/>
            <a:ext cx="4157960" cy="434131"/>
            <a:chOff x="0" y="-28575"/>
            <a:chExt cx="5543947" cy="578842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5543947" cy="550267"/>
            </a:xfrm>
            <a:custGeom>
              <a:rect b="b" l="l" r="r" t="t"/>
              <a:pathLst>
                <a:path extrusionOk="0" h="550267" w="5543947">
                  <a:moveTo>
                    <a:pt x="0" y="0"/>
                  </a:moveTo>
                  <a:lnTo>
                    <a:pt x="5543947" y="0"/>
                  </a:lnTo>
                  <a:lnTo>
                    <a:pt x="5543947" y="550267"/>
                  </a:lnTo>
                  <a:lnTo>
                    <a:pt x="0" y="5502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28575"/>
              <a:ext cx="5543947" cy="578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8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Adaptación de Educadores</a:t>
              </a:r>
              <a:endParaRPr/>
            </a:p>
          </p:txBody>
        </p:sp>
      </p:grpSp>
      <p:grpSp>
        <p:nvGrpSpPr>
          <p:cNvPr id="285" name="Google Shape;285;p7"/>
          <p:cNvGrpSpPr/>
          <p:nvPr/>
        </p:nvGrpSpPr>
        <p:grpSpPr>
          <a:xfrm>
            <a:off x="1783259" y="8645723"/>
            <a:ext cx="8722072" cy="916782"/>
            <a:chOff x="0" y="-95250"/>
            <a:chExt cx="11629430" cy="1222375"/>
          </a:xfrm>
        </p:grpSpPr>
        <p:sp>
          <p:nvSpPr>
            <p:cNvPr id="286" name="Google Shape;286;p7"/>
            <p:cNvSpPr/>
            <p:nvPr/>
          </p:nvSpPr>
          <p:spPr>
            <a:xfrm>
              <a:off x="0" y="0"/>
              <a:ext cx="11629430" cy="1127125"/>
            </a:xfrm>
            <a:custGeom>
              <a:rect b="b" l="l" r="r" t="t"/>
              <a:pathLst>
                <a:path extrusionOk="0" h="1127125" w="11629430">
                  <a:moveTo>
                    <a:pt x="0" y="0"/>
                  </a:moveTo>
                  <a:lnTo>
                    <a:pt x="11629430" y="0"/>
                  </a:lnTo>
                  <a:lnTo>
                    <a:pt x="11629430" y="1127125"/>
                  </a:lnTo>
                  <a:lnTo>
                    <a:pt x="0" y="1127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7" name="Google Shape;287;p7"/>
            <p:cNvSpPr txBox="1"/>
            <p:nvPr/>
          </p:nvSpPr>
          <p:spPr>
            <a:xfrm>
              <a:off x="0" y="-95250"/>
              <a:ext cx="11629430" cy="1222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Profesores requieren capacitación para integrar metodologías digitales efectivamente.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297" name="Google Shape;29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grpSp>
        <p:nvGrpSpPr>
          <p:cNvPr id="298" name="Google Shape;298;p8"/>
          <p:cNvGrpSpPr/>
          <p:nvPr/>
        </p:nvGrpSpPr>
        <p:grpSpPr>
          <a:xfrm>
            <a:off x="992238" y="1521023"/>
            <a:ext cx="14473535" cy="928837"/>
            <a:chOff x="0" y="-57150"/>
            <a:chExt cx="19298047" cy="1238448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19298047" cy="1181298"/>
            </a:xfrm>
            <a:custGeom>
              <a:rect b="b" l="l" r="r" t="t"/>
              <a:pathLst>
                <a:path extrusionOk="0" h="1181298" w="19298047">
                  <a:moveTo>
                    <a:pt x="0" y="0"/>
                  </a:moveTo>
                  <a:lnTo>
                    <a:pt x="19298047" y="0"/>
                  </a:lnTo>
                  <a:lnTo>
                    <a:pt x="1929804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0" name="Google Shape;300;p8"/>
            <p:cNvSpPr txBox="1"/>
            <p:nvPr/>
          </p:nvSpPr>
          <p:spPr>
            <a:xfrm>
              <a:off x="0" y="-57150"/>
              <a:ext cx="19298047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Gamificación: Transformando la Educación</a:t>
              </a:r>
              <a:endParaRPr/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2179736" y="4854476"/>
            <a:ext cx="3544044" cy="471487"/>
            <a:chOff x="0" y="-38100"/>
            <a:chExt cx="4725392" cy="628650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3" name="Google Shape;303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992238" y="5417493"/>
            <a:ext cx="4731544" cy="1439466"/>
            <a:chOff x="0" y="-104775"/>
            <a:chExt cx="6308725" cy="1919288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6308725" cy="1814513"/>
            </a:xfrm>
            <a:custGeom>
              <a:rect b="b" l="l" r="r" t="t"/>
              <a:pathLst>
                <a:path extrusionOk="0" h="1814513" w="6308725">
                  <a:moveTo>
                    <a:pt x="0" y="0"/>
                  </a:moveTo>
                  <a:lnTo>
                    <a:pt x="6308725" y="0"/>
                  </a:lnTo>
                  <a:lnTo>
                    <a:pt x="630872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6" name="Google Shape;306;p8"/>
            <p:cNvSpPr txBox="1"/>
            <p:nvPr/>
          </p:nvSpPr>
          <p:spPr>
            <a:xfrm>
              <a:off x="0" y="-104775"/>
              <a:ext cx="6308725" cy="1919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Incorporación de elementos de juego para mejorar la experiencia educativa y fomentar la motivación.</a:t>
              </a:r>
              <a:endParaRPr/>
            </a:p>
          </p:txBody>
        </p:sp>
      </p:grpSp>
      <p:sp>
        <p:nvSpPr>
          <p:cNvPr descr="preencoded.png" id="307" name="Google Shape;307;p8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8" name="Google Shape;308;p8"/>
          <p:cNvGrpSpPr/>
          <p:nvPr/>
        </p:nvGrpSpPr>
        <p:grpSpPr>
          <a:xfrm>
            <a:off x="6964264" y="5147072"/>
            <a:ext cx="424160" cy="644575"/>
            <a:chOff x="0" y="-152400"/>
            <a:chExt cx="565547" cy="859433"/>
          </a:xfrm>
        </p:grpSpPr>
        <p:sp>
          <p:nvSpPr>
            <p:cNvPr id="309" name="Google Shape;309;p8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0" name="Google Shape;310;p8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12422237" y="3208139"/>
            <a:ext cx="3544044" cy="471487"/>
            <a:chOff x="0" y="-38100"/>
            <a:chExt cx="4725392" cy="628650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2422237" y="3771157"/>
            <a:ext cx="4873526" cy="1439466"/>
            <a:chOff x="0" y="-104775"/>
            <a:chExt cx="6498035" cy="1919288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6498035" cy="1814513"/>
            </a:xfrm>
            <a:custGeom>
              <a:rect b="b" l="l" r="r" t="t"/>
              <a:pathLst>
                <a:path extrusionOk="0" h="1814513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6" name="Google Shape;316;p8"/>
            <p:cNvSpPr txBox="1"/>
            <p:nvPr/>
          </p:nvSpPr>
          <p:spPr>
            <a:xfrm>
              <a:off x="0" y="-104775"/>
              <a:ext cx="6498035" cy="1919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Uso de puntos, insignias, niveles, rankings y narrativas que generan interacción y competencia saludable.</a:t>
              </a:r>
              <a:endParaRPr/>
            </a:p>
          </p:txBody>
        </p:sp>
      </p:grpSp>
      <p:sp>
        <p:nvSpPr>
          <p:cNvPr descr="preencoded.png" id="317" name="Google Shape;317;p8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p8"/>
          <p:cNvGrpSpPr/>
          <p:nvPr/>
        </p:nvGrpSpPr>
        <p:grpSpPr>
          <a:xfrm>
            <a:off x="10212884" y="3958232"/>
            <a:ext cx="424160" cy="644575"/>
            <a:chOff x="0" y="-152400"/>
            <a:chExt cx="565547" cy="859433"/>
          </a:xfrm>
        </p:grpSpPr>
        <p:sp>
          <p:nvSpPr>
            <p:cNvPr id="319" name="Google Shape;319;p8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0" name="Google Shape;320;p8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/>
            </a:p>
          </p:txBody>
        </p:sp>
      </p:grpSp>
      <p:grpSp>
        <p:nvGrpSpPr>
          <p:cNvPr id="321" name="Google Shape;321;p8"/>
          <p:cNvGrpSpPr/>
          <p:nvPr/>
        </p:nvGrpSpPr>
        <p:grpSpPr>
          <a:xfrm>
            <a:off x="12422237" y="6047035"/>
            <a:ext cx="3544044" cy="471487"/>
            <a:chOff x="0" y="-38100"/>
            <a:chExt cx="4725392" cy="628650"/>
          </a:xfrm>
        </p:grpSpPr>
        <p:sp>
          <p:nvSpPr>
            <p:cNvPr id="322" name="Google Shape;322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3" name="Google Shape;323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Diferencias</a:t>
              </a:r>
              <a:endParaRPr/>
            </a:p>
          </p:txBody>
        </p:sp>
      </p:grpSp>
      <p:grpSp>
        <p:nvGrpSpPr>
          <p:cNvPr id="324" name="Google Shape;324;p8"/>
          <p:cNvGrpSpPr/>
          <p:nvPr/>
        </p:nvGrpSpPr>
        <p:grpSpPr>
          <a:xfrm>
            <a:off x="12422237" y="6610053"/>
            <a:ext cx="4873526" cy="1893093"/>
            <a:chOff x="0" y="-104775"/>
            <a:chExt cx="6498035" cy="2524125"/>
          </a:xfrm>
        </p:grpSpPr>
        <p:sp>
          <p:nvSpPr>
            <p:cNvPr id="325" name="Google Shape;325;p8"/>
            <p:cNvSpPr/>
            <p:nvPr/>
          </p:nvSpPr>
          <p:spPr>
            <a:xfrm>
              <a:off x="0" y="0"/>
              <a:ext cx="6498035" cy="2419350"/>
            </a:xfrm>
            <a:custGeom>
              <a:rect b="b" l="l" r="r" t="t"/>
              <a:pathLst>
                <a:path extrusionOk="0" h="2419350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6" name="Google Shape;326;p8"/>
            <p:cNvSpPr txBox="1"/>
            <p:nvPr/>
          </p:nvSpPr>
          <p:spPr>
            <a:xfrm>
              <a:off x="0" y="-104775"/>
              <a:ext cx="6498035" cy="252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Va más allá de juegos educativos, integra mecánicas lúdicas para facilitar el aprendizaje continuo y activo.</a:t>
              </a:r>
              <a:endParaRPr/>
            </a:p>
          </p:txBody>
        </p:sp>
      </p:grpSp>
      <p:sp>
        <p:nvSpPr>
          <p:cNvPr descr="preencoded.png" id="327" name="Google Shape;327;p8"/>
          <p:cNvSpPr/>
          <p:nvPr/>
        </p:nvSpPr>
        <p:spPr>
          <a:xfrm>
            <a:off x="6290816" y="3016895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8"/>
          <p:cNvGrpSpPr/>
          <p:nvPr/>
        </p:nvGrpSpPr>
        <p:grpSpPr>
          <a:xfrm>
            <a:off x="9618166" y="7365950"/>
            <a:ext cx="424160" cy="644575"/>
            <a:chOff x="0" y="-152400"/>
            <a:chExt cx="565547" cy="859433"/>
          </a:xfrm>
        </p:grpSpPr>
        <p:sp>
          <p:nvSpPr>
            <p:cNvPr id="329" name="Google Shape;329;p8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0" name="Google Shape;330;p8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340" name="Google Shape;34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grpSp>
        <p:nvGrpSpPr>
          <p:cNvPr id="341" name="Google Shape;341;p9"/>
          <p:cNvGrpSpPr/>
          <p:nvPr/>
        </p:nvGrpSpPr>
        <p:grpSpPr>
          <a:xfrm>
            <a:off x="992238" y="2430512"/>
            <a:ext cx="12207776" cy="928837"/>
            <a:chOff x="0" y="-57150"/>
            <a:chExt cx="16277035" cy="1238448"/>
          </a:xfrm>
        </p:grpSpPr>
        <p:sp>
          <p:nvSpPr>
            <p:cNvPr id="342" name="Google Shape;342;p9"/>
            <p:cNvSpPr/>
            <p:nvPr/>
          </p:nvSpPr>
          <p:spPr>
            <a:xfrm>
              <a:off x="0" y="0"/>
              <a:ext cx="16277034" cy="1181298"/>
            </a:xfrm>
            <a:custGeom>
              <a:rect b="b" l="l" r="r" t="t"/>
              <a:pathLst>
                <a:path extrusionOk="0" h="1181298" w="16277034">
                  <a:moveTo>
                    <a:pt x="0" y="0"/>
                  </a:moveTo>
                  <a:lnTo>
                    <a:pt x="16277034" y="0"/>
                  </a:lnTo>
                  <a:lnTo>
                    <a:pt x="1627703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3" name="Google Shape;343;p9"/>
            <p:cNvSpPr txBox="1"/>
            <p:nvPr/>
          </p:nvSpPr>
          <p:spPr>
            <a:xfrm>
              <a:off x="0" y="-57150"/>
              <a:ext cx="16277035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Plataformas Educativas Gamificadas</a:t>
              </a:r>
              <a:endParaRPr/>
            </a:p>
          </p:txBody>
        </p:sp>
      </p:grpSp>
      <p:grpSp>
        <p:nvGrpSpPr>
          <p:cNvPr id="344" name="Google Shape;344;p9"/>
          <p:cNvGrpSpPr/>
          <p:nvPr/>
        </p:nvGrpSpPr>
        <p:grpSpPr>
          <a:xfrm>
            <a:off x="992238" y="4039492"/>
            <a:ext cx="3544044" cy="471487"/>
            <a:chOff x="0" y="-38100"/>
            <a:chExt cx="4725392" cy="628650"/>
          </a:xfrm>
        </p:grpSpPr>
        <p:sp>
          <p:nvSpPr>
            <p:cNvPr id="345" name="Google Shape;345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6" name="Google Shape;346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Características</a:t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992238" y="4715917"/>
            <a:ext cx="4972645" cy="1893093"/>
            <a:chOff x="0" y="-104775"/>
            <a:chExt cx="6630193" cy="2524125"/>
          </a:xfrm>
        </p:grpSpPr>
        <p:sp>
          <p:nvSpPr>
            <p:cNvPr id="348" name="Google Shape;348;p9"/>
            <p:cNvSpPr/>
            <p:nvPr/>
          </p:nvSpPr>
          <p:spPr>
            <a:xfrm>
              <a:off x="0" y="0"/>
              <a:ext cx="6630193" cy="2419350"/>
            </a:xfrm>
            <a:custGeom>
              <a:rect b="b" l="l" r="r" t="t"/>
              <a:pathLst>
                <a:path extrusionOk="0" h="2419350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9" name="Google Shape;349;p9"/>
            <p:cNvSpPr txBox="1"/>
            <p:nvPr/>
          </p:nvSpPr>
          <p:spPr>
            <a:xfrm>
              <a:off x="0" y="-104775"/>
              <a:ext cx="6630193" cy="252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Interfaz amigable, integración con sistemas LMS, y mecánicas adaptativas según progreso del alumno.</a:t>
              </a:r>
              <a:endParaRPr/>
            </a:p>
          </p:txBody>
        </p:sp>
      </p:grpSp>
      <p:grpSp>
        <p:nvGrpSpPr>
          <p:cNvPr id="350" name="Google Shape;350;p9"/>
          <p:cNvGrpSpPr/>
          <p:nvPr/>
        </p:nvGrpSpPr>
        <p:grpSpPr>
          <a:xfrm>
            <a:off x="6666160" y="4039492"/>
            <a:ext cx="3544044" cy="471487"/>
            <a:chOff x="0" y="-38100"/>
            <a:chExt cx="4725392" cy="628650"/>
          </a:xfrm>
        </p:grpSpPr>
        <p:sp>
          <p:nvSpPr>
            <p:cNvPr id="351" name="Google Shape;351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2" name="Google Shape;352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Ejemplos Destacados</a:t>
              </a:r>
              <a:endParaRPr/>
            </a:p>
          </p:txBody>
        </p:sp>
      </p:grpSp>
      <p:grpSp>
        <p:nvGrpSpPr>
          <p:cNvPr id="353" name="Google Shape;353;p9"/>
          <p:cNvGrpSpPr/>
          <p:nvPr/>
        </p:nvGrpSpPr>
        <p:grpSpPr>
          <a:xfrm>
            <a:off x="6666160" y="4715917"/>
            <a:ext cx="4972645" cy="985837"/>
            <a:chOff x="0" y="-104775"/>
            <a:chExt cx="6630193" cy="1314450"/>
          </a:xfrm>
        </p:grpSpPr>
        <p:sp>
          <p:nvSpPr>
            <p:cNvPr id="354" name="Google Shape;354;p9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5" name="Google Shape;355;p9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Kahoot: juegos de preguntas en tiempo real.</a:t>
              </a:r>
              <a:endParaRPr/>
            </a:p>
          </p:txBody>
        </p:sp>
      </p:grpSp>
      <p:grpSp>
        <p:nvGrpSpPr>
          <p:cNvPr id="356" name="Google Shape;356;p9"/>
          <p:cNvGrpSpPr/>
          <p:nvPr/>
        </p:nvGrpSpPr>
        <p:grpSpPr>
          <a:xfrm>
            <a:off x="6666160" y="5722293"/>
            <a:ext cx="4972645" cy="985837"/>
            <a:chOff x="0" y="-104775"/>
            <a:chExt cx="6630193" cy="1314450"/>
          </a:xfrm>
        </p:grpSpPr>
        <p:sp>
          <p:nvSpPr>
            <p:cNvPr id="357" name="Google Shape;357;p9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8" name="Google Shape;358;p9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Classcraft: educación a través de un RPG colaborativo.</a:t>
              </a:r>
              <a:endParaRPr/>
            </a:p>
          </p:txBody>
        </p:sp>
      </p:grpSp>
      <p:grpSp>
        <p:nvGrpSpPr>
          <p:cNvPr id="359" name="Google Shape;359;p9"/>
          <p:cNvGrpSpPr/>
          <p:nvPr/>
        </p:nvGrpSpPr>
        <p:grpSpPr>
          <a:xfrm>
            <a:off x="6666160" y="6728669"/>
            <a:ext cx="4972645" cy="985837"/>
            <a:chOff x="0" y="-104775"/>
            <a:chExt cx="6630193" cy="1314450"/>
          </a:xfrm>
        </p:grpSpPr>
        <p:sp>
          <p:nvSpPr>
            <p:cNvPr id="360" name="Google Shape;360;p9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1" name="Google Shape;361;p9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Duolingo: aprendizaje de idiomas con recompensas y niveles.</a:t>
              </a:r>
              <a:endParaRPr/>
            </a:p>
          </p:txBody>
        </p:sp>
      </p:grpSp>
      <p:grpSp>
        <p:nvGrpSpPr>
          <p:cNvPr id="362" name="Google Shape;362;p9"/>
          <p:cNvGrpSpPr/>
          <p:nvPr/>
        </p:nvGrpSpPr>
        <p:grpSpPr>
          <a:xfrm>
            <a:off x="12340084" y="4039492"/>
            <a:ext cx="3544044" cy="471487"/>
            <a:chOff x="0" y="-38100"/>
            <a:chExt cx="4725392" cy="628650"/>
          </a:xfrm>
        </p:grpSpPr>
        <p:sp>
          <p:nvSpPr>
            <p:cNvPr id="363" name="Google Shape;363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4" name="Google Shape;364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Elementos Comunes</a:t>
              </a:r>
              <a:endParaRPr/>
            </a:p>
          </p:txBody>
        </p:sp>
      </p:grpSp>
      <p:grpSp>
        <p:nvGrpSpPr>
          <p:cNvPr id="365" name="Google Shape;365;p9"/>
          <p:cNvGrpSpPr/>
          <p:nvPr/>
        </p:nvGrpSpPr>
        <p:grpSpPr>
          <a:xfrm>
            <a:off x="12340084" y="4715917"/>
            <a:ext cx="4972645" cy="1439466"/>
            <a:chOff x="0" y="-104775"/>
            <a:chExt cx="6630193" cy="1919288"/>
          </a:xfrm>
        </p:grpSpPr>
        <p:sp>
          <p:nvSpPr>
            <p:cNvPr id="366" name="Google Shape;366;p9"/>
            <p:cNvSpPr/>
            <p:nvPr/>
          </p:nvSpPr>
          <p:spPr>
            <a:xfrm>
              <a:off x="0" y="0"/>
              <a:ext cx="6630193" cy="1814513"/>
            </a:xfrm>
            <a:custGeom>
              <a:rect b="b" l="l" r="r" t="t"/>
              <a:pathLst>
                <a:path extrusionOk="0" h="1814513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7" name="Google Shape;367;p9"/>
            <p:cNvSpPr txBox="1"/>
            <p:nvPr/>
          </p:nvSpPr>
          <p:spPr>
            <a:xfrm>
              <a:off x="0" y="-104775"/>
              <a:ext cx="6630193" cy="1919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Puntos, insignias y rankings que incentivan la participación y mejora continua.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377" name="Google Shape;37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sp>
        <p:nvSpPr>
          <p:cNvPr descr="preencoded.png" id="378" name="Google Shape;378;p10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9" name="Google Shape;379;p10"/>
          <p:cNvGrpSpPr/>
          <p:nvPr/>
        </p:nvGrpSpPr>
        <p:grpSpPr>
          <a:xfrm>
            <a:off x="7850237" y="875259"/>
            <a:ext cx="9445526" cy="1814809"/>
            <a:chOff x="0" y="-57150"/>
            <a:chExt cx="12594035" cy="2419747"/>
          </a:xfrm>
        </p:grpSpPr>
        <p:sp>
          <p:nvSpPr>
            <p:cNvPr id="380" name="Google Shape;380;p10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1" name="Google Shape;381;p10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Ventajas y Desafíos de las Plataformas Gamificadas</a:t>
              </a:r>
              <a:endParaRPr/>
            </a:p>
          </p:txBody>
        </p:sp>
      </p:grpSp>
      <p:grpSp>
        <p:nvGrpSpPr>
          <p:cNvPr id="382" name="Google Shape;382;p10"/>
          <p:cNvGrpSpPr/>
          <p:nvPr/>
        </p:nvGrpSpPr>
        <p:grpSpPr>
          <a:xfrm>
            <a:off x="7845475" y="3110507"/>
            <a:ext cx="9455086" cy="2767774"/>
            <a:chOff x="0" y="0"/>
            <a:chExt cx="12606782" cy="3690366"/>
          </a:xfrm>
        </p:grpSpPr>
        <p:sp>
          <p:nvSpPr>
            <p:cNvPr id="383" name="Google Shape;383;p10"/>
            <p:cNvSpPr/>
            <p:nvPr/>
          </p:nvSpPr>
          <p:spPr>
            <a:xfrm>
              <a:off x="6350" y="6350"/>
              <a:ext cx="12594082" cy="3677666"/>
            </a:xfrm>
            <a:custGeom>
              <a:rect b="b" l="l" r="r" t="t"/>
              <a:pathLst>
                <a:path extrusionOk="0" h="3677666" w="12594082">
                  <a:moveTo>
                    <a:pt x="0" y="567055"/>
                  </a:moveTo>
                  <a:cubicBezTo>
                    <a:pt x="0" y="253873"/>
                    <a:pt x="254508" y="0"/>
                    <a:pt x="568452" y="0"/>
                  </a:cubicBezTo>
                  <a:lnTo>
                    <a:pt x="12025630" y="0"/>
                  </a:lnTo>
                  <a:cubicBezTo>
                    <a:pt x="12339574" y="0"/>
                    <a:pt x="12594082" y="253873"/>
                    <a:pt x="12594082" y="567055"/>
                  </a:cubicBezTo>
                  <a:lnTo>
                    <a:pt x="12594082" y="3110611"/>
                  </a:lnTo>
                  <a:cubicBezTo>
                    <a:pt x="12594082" y="3423793"/>
                    <a:pt x="12339574" y="3677666"/>
                    <a:pt x="12025630" y="3677666"/>
                  </a:cubicBezTo>
                  <a:lnTo>
                    <a:pt x="568452" y="3677666"/>
                  </a:lnTo>
                  <a:cubicBezTo>
                    <a:pt x="254508" y="3677666"/>
                    <a:pt x="0" y="3423793"/>
                    <a:pt x="0" y="3110611"/>
                  </a:cubicBezTo>
                  <a:close/>
                </a:path>
              </a:pathLst>
            </a:custGeom>
            <a:solidFill>
              <a:srgbClr val="626C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0" y="0"/>
              <a:ext cx="12606782" cy="3690366"/>
            </a:xfrm>
            <a:custGeom>
              <a:rect b="b" l="l" r="r" t="t"/>
              <a:pathLst>
                <a:path extrusionOk="0" h="3690366" w="12606782">
                  <a:moveTo>
                    <a:pt x="0" y="573405"/>
                  </a:moveTo>
                  <a:cubicBezTo>
                    <a:pt x="0" y="256667"/>
                    <a:pt x="257302" y="0"/>
                    <a:pt x="574802" y="0"/>
                  </a:cubicBezTo>
                  <a:lnTo>
                    <a:pt x="12031980" y="0"/>
                  </a:lnTo>
                  <a:lnTo>
                    <a:pt x="12031980" y="6350"/>
                  </a:lnTo>
                  <a:lnTo>
                    <a:pt x="12031980" y="0"/>
                  </a:lnTo>
                  <a:cubicBezTo>
                    <a:pt x="12349353" y="0"/>
                    <a:pt x="12606782" y="256667"/>
                    <a:pt x="12606782" y="573405"/>
                  </a:cubicBezTo>
                  <a:lnTo>
                    <a:pt x="12600432" y="573405"/>
                  </a:lnTo>
                  <a:lnTo>
                    <a:pt x="12606782" y="573405"/>
                  </a:lnTo>
                  <a:lnTo>
                    <a:pt x="12606782" y="3116961"/>
                  </a:lnTo>
                  <a:lnTo>
                    <a:pt x="12600432" y="3116961"/>
                  </a:lnTo>
                  <a:lnTo>
                    <a:pt x="12606782" y="3116961"/>
                  </a:lnTo>
                  <a:cubicBezTo>
                    <a:pt x="12606782" y="3433699"/>
                    <a:pt x="12349480" y="3690366"/>
                    <a:pt x="12031980" y="3690366"/>
                  </a:cubicBezTo>
                  <a:lnTo>
                    <a:pt x="12031980" y="3684016"/>
                  </a:lnTo>
                  <a:lnTo>
                    <a:pt x="12031980" y="3690366"/>
                  </a:lnTo>
                  <a:lnTo>
                    <a:pt x="574802" y="3690366"/>
                  </a:lnTo>
                  <a:lnTo>
                    <a:pt x="574802" y="3684016"/>
                  </a:lnTo>
                  <a:lnTo>
                    <a:pt x="574802" y="3690366"/>
                  </a:lnTo>
                  <a:cubicBezTo>
                    <a:pt x="257302" y="3690366"/>
                    <a:pt x="0" y="3433572"/>
                    <a:pt x="0" y="3116961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3116961"/>
                  </a:lnTo>
                  <a:lnTo>
                    <a:pt x="6350" y="3116961"/>
                  </a:lnTo>
                  <a:lnTo>
                    <a:pt x="12700" y="3116961"/>
                  </a:lnTo>
                  <a:cubicBezTo>
                    <a:pt x="12700" y="3426587"/>
                    <a:pt x="264287" y="3677666"/>
                    <a:pt x="574802" y="3677666"/>
                  </a:cubicBezTo>
                  <a:lnTo>
                    <a:pt x="12031980" y="3677666"/>
                  </a:lnTo>
                  <a:cubicBezTo>
                    <a:pt x="12342368" y="3677666"/>
                    <a:pt x="12594082" y="3426587"/>
                    <a:pt x="12594082" y="3116961"/>
                  </a:cubicBezTo>
                  <a:lnTo>
                    <a:pt x="12594082" y="573405"/>
                  </a:lnTo>
                  <a:cubicBezTo>
                    <a:pt x="12594082" y="263779"/>
                    <a:pt x="12342368" y="12700"/>
                    <a:pt x="12031980" y="12700"/>
                  </a:cubicBezTo>
                  <a:lnTo>
                    <a:pt x="574802" y="12700"/>
                  </a:lnTo>
                  <a:lnTo>
                    <a:pt x="574802" y="6350"/>
                  </a:lnTo>
                  <a:lnTo>
                    <a:pt x="574802" y="12700"/>
                  </a:lnTo>
                  <a:cubicBezTo>
                    <a:pt x="264287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7B8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10"/>
          <p:cNvGrpSpPr/>
          <p:nvPr/>
        </p:nvGrpSpPr>
        <p:grpSpPr>
          <a:xfrm>
            <a:off x="8143280" y="3379737"/>
            <a:ext cx="3544044" cy="471487"/>
            <a:chOff x="0" y="-38100"/>
            <a:chExt cx="4725392" cy="628650"/>
          </a:xfrm>
        </p:grpSpPr>
        <p:sp>
          <p:nvSpPr>
            <p:cNvPr id="386" name="Google Shape;386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7" name="Google Shape;387;p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Ventajas</a:t>
              </a:r>
              <a:endParaRPr/>
            </a:p>
          </p:txBody>
        </p:sp>
      </p:grpSp>
      <p:grpSp>
        <p:nvGrpSpPr>
          <p:cNvPr id="388" name="Google Shape;388;p10"/>
          <p:cNvGrpSpPr/>
          <p:nvPr/>
        </p:nvGrpSpPr>
        <p:grpSpPr>
          <a:xfrm>
            <a:off x="8143280" y="3942755"/>
            <a:ext cx="8859441" cy="532210"/>
            <a:chOff x="0" y="-104775"/>
            <a:chExt cx="11812588" cy="709613"/>
          </a:xfrm>
        </p:grpSpPr>
        <p:sp>
          <p:nvSpPr>
            <p:cNvPr id="389" name="Google Shape;389;p10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0" name="Google Shape;390;p10"/>
            <p:cNvSpPr txBox="1"/>
            <p:nvPr/>
          </p:nvSpPr>
          <p:spPr>
            <a:xfrm>
              <a:off x="0" y="-104775"/>
              <a:ext cx="1181258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Mayor compromiso y motivación estudiantil.</a:t>
              </a:r>
              <a:endParaRPr/>
            </a:p>
          </p:txBody>
        </p:sp>
      </p:grpSp>
      <p:grpSp>
        <p:nvGrpSpPr>
          <p:cNvPr id="391" name="Google Shape;391;p10"/>
          <p:cNvGrpSpPr/>
          <p:nvPr/>
        </p:nvGrpSpPr>
        <p:grpSpPr>
          <a:xfrm>
            <a:off x="8143280" y="4495503"/>
            <a:ext cx="8859441" cy="532210"/>
            <a:chOff x="0" y="-104775"/>
            <a:chExt cx="11812588" cy="709613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0" y="-104775"/>
              <a:ext cx="1181258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Retroalimentación inmediata para corregir errores.</a:t>
              </a:r>
              <a:endParaRPr/>
            </a:p>
          </p:txBody>
        </p:sp>
      </p:grpSp>
      <p:grpSp>
        <p:nvGrpSpPr>
          <p:cNvPr id="394" name="Google Shape;394;p10"/>
          <p:cNvGrpSpPr/>
          <p:nvPr/>
        </p:nvGrpSpPr>
        <p:grpSpPr>
          <a:xfrm>
            <a:off x="8143280" y="5048250"/>
            <a:ext cx="8859441" cy="532210"/>
            <a:chOff x="0" y="-104775"/>
            <a:chExt cx="11812588" cy="709613"/>
          </a:xfrm>
        </p:grpSpPr>
        <p:sp>
          <p:nvSpPr>
            <p:cNvPr id="395" name="Google Shape;395;p10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10"/>
            <p:cNvSpPr txBox="1"/>
            <p:nvPr/>
          </p:nvSpPr>
          <p:spPr>
            <a:xfrm>
              <a:off x="0" y="-104775"/>
              <a:ext cx="1181258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Mejora en la retención del conocimiento.</a:t>
              </a:r>
              <a:endParaRPr/>
            </a:p>
          </p:txBody>
        </p:sp>
      </p:grpSp>
      <p:grpSp>
        <p:nvGrpSpPr>
          <p:cNvPr id="397" name="Google Shape;397;p10"/>
          <p:cNvGrpSpPr/>
          <p:nvPr/>
        </p:nvGrpSpPr>
        <p:grpSpPr>
          <a:xfrm>
            <a:off x="7845475" y="6152258"/>
            <a:ext cx="9455086" cy="3221355"/>
            <a:chOff x="0" y="0"/>
            <a:chExt cx="12606782" cy="4295140"/>
          </a:xfrm>
        </p:grpSpPr>
        <p:sp>
          <p:nvSpPr>
            <p:cNvPr id="398" name="Google Shape;398;p10"/>
            <p:cNvSpPr/>
            <p:nvPr/>
          </p:nvSpPr>
          <p:spPr>
            <a:xfrm>
              <a:off x="6350" y="6350"/>
              <a:ext cx="12594082" cy="4282440"/>
            </a:xfrm>
            <a:custGeom>
              <a:rect b="b" l="l" r="r" t="t"/>
              <a:pathLst>
                <a:path extrusionOk="0" h="4282440" w="12594082">
                  <a:moveTo>
                    <a:pt x="0" y="567055"/>
                  </a:moveTo>
                  <a:cubicBezTo>
                    <a:pt x="0" y="253873"/>
                    <a:pt x="254381" y="0"/>
                    <a:pt x="568198" y="0"/>
                  </a:cubicBezTo>
                  <a:lnTo>
                    <a:pt x="12025884" y="0"/>
                  </a:lnTo>
                  <a:cubicBezTo>
                    <a:pt x="12339701" y="0"/>
                    <a:pt x="12594082" y="253873"/>
                    <a:pt x="12594082" y="567055"/>
                  </a:cubicBezTo>
                  <a:lnTo>
                    <a:pt x="12594082" y="3715385"/>
                  </a:lnTo>
                  <a:cubicBezTo>
                    <a:pt x="12594082" y="4028567"/>
                    <a:pt x="12339701" y="4282440"/>
                    <a:pt x="12025884" y="4282440"/>
                  </a:cubicBezTo>
                  <a:lnTo>
                    <a:pt x="568198" y="4282440"/>
                  </a:lnTo>
                  <a:cubicBezTo>
                    <a:pt x="254381" y="4282440"/>
                    <a:pt x="0" y="4028567"/>
                    <a:pt x="0" y="3715385"/>
                  </a:cubicBezTo>
                  <a:close/>
                </a:path>
              </a:pathLst>
            </a:custGeom>
            <a:solidFill>
              <a:srgbClr val="8379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0" y="0"/>
              <a:ext cx="12606782" cy="4295140"/>
            </a:xfrm>
            <a:custGeom>
              <a:rect b="b" l="l" r="r" t="t"/>
              <a:pathLst>
                <a:path extrusionOk="0" h="4295140" w="12606782">
                  <a:moveTo>
                    <a:pt x="0" y="573405"/>
                  </a:moveTo>
                  <a:cubicBezTo>
                    <a:pt x="0" y="256667"/>
                    <a:pt x="257302" y="0"/>
                    <a:pt x="574548" y="0"/>
                  </a:cubicBezTo>
                  <a:lnTo>
                    <a:pt x="12032234" y="0"/>
                  </a:lnTo>
                  <a:lnTo>
                    <a:pt x="12032234" y="6350"/>
                  </a:lnTo>
                  <a:lnTo>
                    <a:pt x="12032234" y="0"/>
                  </a:lnTo>
                  <a:cubicBezTo>
                    <a:pt x="12349480" y="0"/>
                    <a:pt x="12606782" y="256667"/>
                    <a:pt x="12606782" y="573405"/>
                  </a:cubicBezTo>
                  <a:lnTo>
                    <a:pt x="12600432" y="573405"/>
                  </a:lnTo>
                  <a:lnTo>
                    <a:pt x="12606782" y="573405"/>
                  </a:lnTo>
                  <a:lnTo>
                    <a:pt x="12606782" y="3721735"/>
                  </a:lnTo>
                  <a:lnTo>
                    <a:pt x="12600432" y="3721735"/>
                  </a:lnTo>
                  <a:lnTo>
                    <a:pt x="12606782" y="3721735"/>
                  </a:lnTo>
                  <a:cubicBezTo>
                    <a:pt x="12606782" y="4038473"/>
                    <a:pt x="12349480" y="4295140"/>
                    <a:pt x="12032234" y="4295140"/>
                  </a:cubicBezTo>
                  <a:lnTo>
                    <a:pt x="12032234" y="4288790"/>
                  </a:lnTo>
                  <a:lnTo>
                    <a:pt x="12032234" y="4295140"/>
                  </a:lnTo>
                  <a:lnTo>
                    <a:pt x="574548" y="4295140"/>
                  </a:lnTo>
                  <a:lnTo>
                    <a:pt x="574548" y="4288790"/>
                  </a:lnTo>
                  <a:lnTo>
                    <a:pt x="574548" y="4295140"/>
                  </a:lnTo>
                  <a:cubicBezTo>
                    <a:pt x="257302" y="4295140"/>
                    <a:pt x="0" y="4038473"/>
                    <a:pt x="0" y="3721735"/>
                  </a:cubicBezTo>
                  <a:lnTo>
                    <a:pt x="0" y="573405"/>
                  </a:ln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12700" y="3721735"/>
                  </a:lnTo>
                  <a:lnTo>
                    <a:pt x="6350" y="3721735"/>
                  </a:lnTo>
                  <a:lnTo>
                    <a:pt x="12700" y="3721735"/>
                  </a:lnTo>
                  <a:cubicBezTo>
                    <a:pt x="12700" y="4031361"/>
                    <a:pt x="264287" y="4282440"/>
                    <a:pt x="574548" y="4282440"/>
                  </a:cubicBezTo>
                  <a:lnTo>
                    <a:pt x="12032234" y="4282440"/>
                  </a:lnTo>
                  <a:cubicBezTo>
                    <a:pt x="12342495" y="4282440"/>
                    <a:pt x="12594082" y="4031361"/>
                    <a:pt x="12594082" y="3721735"/>
                  </a:cubicBezTo>
                  <a:lnTo>
                    <a:pt x="12594082" y="573405"/>
                  </a:lnTo>
                  <a:cubicBezTo>
                    <a:pt x="12594082" y="263779"/>
                    <a:pt x="12342495" y="12700"/>
                    <a:pt x="12032234" y="12700"/>
                  </a:cubicBezTo>
                  <a:lnTo>
                    <a:pt x="574548" y="12700"/>
                  </a:lnTo>
                  <a:lnTo>
                    <a:pt x="574548" y="6350"/>
                  </a:lnTo>
                  <a:lnTo>
                    <a:pt x="574548" y="12700"/>
                  </a:lnTo>
                  <a:cubicBezTo>
                    <a:pt x="264287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9C92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10"/>
          <p:cNvGrpSpPr/>
          <p:nvPr/>
        </p:nvGrpSpPr>
        <p:grpSpPr>
          <a:xfrm>
            <a:off x="8143280" y="6421487"/>
            <a:ext cx="3544044" cy="471487"/>
            <a:chOff x="0" y="-38100"/>
            <a:chExt cx="4725392" cy="628650"/>
          </a:xfrm>
        </p:grpSpPr>
        <p:sp>
          <p:nvSpPr>
            <p:cNvPr id="401" name="Google Shape;401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2" name="Google Shape;402;p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Desafíos</a:t>
              </a:r>
              <a:endParaRPr/>
            </a:p>
          </p:txBody>
        </p:sp>
      </p:grpSp>
      <p:grpSp>
        <p:nvGrpSpPr>
          <p:cNvPr id="403" name="Google Shape;403;p10"/>
          <p:cNvGrpSpPr/>
          <p:nvPr/>
        </p:nvGrpSpPr>
        <p:grpSpPr>
          <a:xfrm>
            <a:off x="8143280" y="6984504"/>
            <a:ext cx="8859441" cy="532210"/>
            <a:chOff x="0" y="-104775"/>
            <a:chExt cx="11812588" cy="709613"/>
          </a:xfrm>
        </p:grpSpPr>
        <p:sp>
          <p:nvSpPr>
            <p:cNvPr id="404" name="Google Shape;404;p10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5" name="Google Shape;405;p10"/>
            <p:cNvSpPr txBox="1"/>
            <p:nvPr/>
          </p:nvSpPr>
          <p:spPr>
            <a:xfrm>
              <a:off x="0" y="-104775"/>
              <a:ext cx="1181258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Diseñar un equilibrio entre diversión y objetivos educativos.</a:t>
              </a:r>
              <a:endParaRPr/>
            </a:p>
          </p:txBody>
        </p:sp>
      </p:grpSp>
      <p:grpSp>
        <p:nvGrpSpPr>
          <p:cNvPr id="406" name="Google Shape;406;p10"/>
          <p:cNvGrpSpPr/>
          <p:nvPr/>
        </p:nvGrpSpPr>
        <p:grpSpPr>
          <a:xfrm>
            <a:off x="8143280" y="7537251"/>
            <a:ext cx="8859441" cy="532210"/>
            <a:chOff x="0" y="-104775"/>
            <a:chExt cx="11812588" cy="709613"/>
          </a:xfrm>
        </p:grpSpPr>
        <p:sp>
          <p:nvSpPr>
            <p:cNvPr id="407" name="Google Shape;407;p10"/>
            <p:cNvSpPr/>
            <p:nvPr/>
          </p:nvSpPr>
          <p:spPr>
            <a:xfrm>
              <a:off x="0" y="0"/>
              <a:ext cx="11812588" cy="604838"/>
            </a:xfrm>
            <a:custGeom>
              <a:rect b="b" l="l" r="r" t="t"/>
              <a:pathLst>
                <a:path extrusionOk="0"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8" name="Google Shape;408;p10"/>
            <p:cNvSpPr txBox="1"/>
            <p:nvPr/>
          </p:nvSpPr>
          <p:spPr>
            <a:xfrm>
              <a:off x="0" y="-104775"/>
              <a:ext cx="1181258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Medir efectivamente el impacto en el aprendizaje.</a:t>
              </a:r>
              <a:endParaRPr/>
            </a:p>
          </p:txBody>
        </p:sp>
      </p:grpSp>
      <p:grpSp>
        <p:nvGrpSpPr>
          <p:cNvPr id="409" name="Google Shape;409;p10"/>
          <p:cNvGrpSpPr/>
          <p:nvPr/>
        </p:nvGrpSpPr>
        <p:grpSpPr>
          <a:xfrm>
            <a:off x="8143280" y="8089999"/>
            <a:ext cx="8859441" cy="985837"/>
            <a:chOff x="0" y="-104775"/>
            <a:chExt cx="11812588" cy="1314450"/>
          </a:xfrm>
        </p:grpSpPr>
        <p:sp>
          <p:nvSpPr>
            <p:cNvPr id="410" name="Google Shape;410;p10"/>
            <p:cNvSpPr/>
            <p:nvPr/>
          </p:nvSpPr>
          <p:spPr>
            <a:xfrm>
              <a:off x="0" y="0"/>
              <a:ext cx="11812588" cy="1209675"/>
            </a:xfrm>
            <a:custGeom>
              <a:rect b="b" l="l" r="r" t="t"/>
              <a:pathLst>
                <a:path extrusionOk="0" h="1209675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1" name="Google Shape;411;p10"/>
            <p:cNvSpPr txBox="1"/>
            <p:nvPr/>
          </p:nvSpPr>
          <p:spPr>
            <a:xfrm>
              <a:off x="0" y="-104775"/>
              <a:ext cx="1181258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Adaptar plataformas a diferentes estilos y ritmos de aprendizaje.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421" name="Google Shape;421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sp>
        <p:nvSpPr>
          <p:cNvPr descr="preencoded.png" id="422" name="Google Shape;422;p11"/>
          <p:cNvSpPr/>
          <p:nvPr/>
        </p:nvSpPr>
        <p:spPr>
          <a:xfrm>
            <a:off x="11171336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3" name="Google Shape;423;p11"/>
          <p:cNvGrpSpPr/>
          <p:nvPr/>
        </p:nvGrpSpPr>
        <p:grpSpPr>
          <a:xfrm>
            <a:off x="992238" y="1255662"/>
            <a:ext cx="7088238" cy="928837"/>
            <a:chOff x="0" y="-57150"/>
            <a:chExt cx="9450984" cy="1238448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9450984" cy="1181298"/>
            </a:xfrm>
            <a:custGeom>
              <a:rect b="b" l="l" r="r" t="t"/>
              <a:pathLst>
                <a:path extrusionOk="0"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Casos de Éxito</a:t>
              </a:r>
              <a:endParaRPr/>
            </a:p>
          </p:txBody>
        </p:sp>
      </p:grpSp>
      <p:grpSp>
        <p:nvGrpSpPr>
          <p:cNvPr id="426" name="Google Shape;426;p11"/>
          <p:cNvGrpSpPr/>
          <p:nvPr/>
        </p:nvGrpSpPr>
        <p:grpSpPr>
          <a:xfrm>
            <a:off x="987475" y="2604939"/>
            <a:ext cx="647414" cy="647414"/>
            <a:chOff x="0" y="0"/>
            <a:chExt cx="863219" cy="863219"/>
          </a:xfrm>
        </p:grpSpPr>
        <p:sp>
          <p:nvSpPr>
            <p:cNvPr id="427" name="Google Shape;427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626C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431546"/>
                  </a:moveTo>
                  <a:cubicBezTo>
                    <a:pt x="0" y="193294"/>
                    <a:pt x="193294" y="0"/>
                    <a:pt x="431546" y="0"/>
                  </a:cubicBezTo>
                  <a:cubicBezTo>
                    <a:pt x="432689" y="0"/>
                    <a:pt x="433959" y="381"/>
                    <a:pt x="434975" y="1016"/>
                  </a:cubicBezTo>
                  <a:lnTo>
                    <a:pt x="431546" y="6350"/>
                  </a:lnTo>
                  <a:lnTo>
                    <a:pt x="431546" y="0"/>
                  </a:lnTo>
                  <a:lnTo>
                    <a:pt x="431546" y="6350"/>
                  </a:lnTo>
                  <a:lnTo>
                    <a:pt x="431546" y="0"/>
                  </a:lnTo>
                  <a:cubicBezTo>
                    <a:pt x="669925" y="0"/>
                    <a:pt x="863219" y="193294"/>
                    <a:pt x="863219" y="431546"/>
                  </a:cubicBezTo>
                  <a:cubicBezTo>
                    <a:pt x="863219" y="433959"/>
                    <a:pt x="861822" y="436118"/>
                    <a:pt x="859663" y="437261"/>
                  </a:cubicBezTo>
                  <a:lnTo>
                    <a:pt x="856869" y="431546"/>
                  </a:lnTo>
                  <a:lnTo>
                    <a:pt x="863219" y="431546"/>
                  </a:lnTo>
                  <a:cubicBezTo>
                    <a:pt x="863219" y="669925"/>
                    <a:pt x="669925" y="863092"/>
                    <a:pt x="431673" y="863092"/>
                  </a:cubicBezTo>
                  <a:lnTo>
                    <a:pt x="431673" y="856742"/>
                  </a:lnTo>
                  <a:lnTo>
                    <a:pt x="431673" y="850392"/>
                  </a:lnTo>
                  <a:lnTo>
                    <a:pt x="431673" y="856742"/>
                  </a:lnTo>
                  <a:lnTo>
                    <a:pt x="431673" y="863092"/>
                  </a:lnTo>
                  <a:cubicBezTo>
                    <a:pt x="193294" y="863219"/>
                    <a:pt x="0" y="669925"/>
                    <a:pt x="0" y="431546"/>
                  </a:cubicBezTo>
                  <a:moveTo>
                    <a:pt x="12700" y="431546"/>
                  </a:moveTo>
                  <a:lnTo>
                    <a:pt x="6350" y="431546"/>
                  </a:lnTo>
                  <a:lnTo>
                    <a:pt x="12700" y="431546"/>
                  </a:lnTo>
                  <a:cubicBezTo>
                    <a:pt x="12700" y="662940"/>
                    <a:pt x="200279" y="850519"/>
                    <a:pt x="431546" y="850519"/>
                  </a:cubicBezTo>
                  <a:cubicBezTo>
                    <a:pt x="435102" y="850519"/>
                    <a:pt x="437896" y="853313"/>
                    <a:pt x="437896" y="856869"/>
                  </a:cubicBezTo>
                  <a:cubicBezTo>
                    <a:pt x="437896" y="860425"/>
                    <a:pt x="435102" y="863219"/>
                    <a:pt x="431546" y="863219"/>
                  </a:cubicBezTo>
                  <a:cubicBezTo>
                    <a:pt x="427990" y="863219"/>
                    <a:pt x="425196" y="860425"/>
                    <a:pt x="425196" y="856869"/>
                  </a:cubicBezTo>
                  <a:cubicBezTo>
                    <a:pt x="425196" y="853313"/>
                    <a:pt x="427990" y="850519"/>
                    <a:pt x="431546" y="850519"/>
                  </a:cubicBezTo>
                  <a:cubicBezTo>
                    <a:pt x="662940" y="850519"/>
                    <a:pt x="850392" y="662940"/>
                    <a:pt x="850392" y="431673"/>
                  </a:cubicBezTo>
                  <a:cubicBezTo>
                    <a:pt x="850392" y="429260"/>
                    <a:pt x="851789" y="427101"/>
                    <a:pt x="853948" y="425958"/>
                  </a:cubicBezTo>
                  <a:lnTo>
                    <a:pt x="856742" y="431673"/>
                  </a:lnTo>
                  <a:lnTo>
                    <a:pt x="850392" y="431673"/>
                  </a:lnTo>
                  <a:cubicBezTo>
                    <a:pt x="850519" y="200279"/>
                    <a:pt x="662940" y="12700"/>
                    <a:pt x="431546" y="12700"/>
                  </a:cubicBezTo>
                  <a:cubicBezTo>
                    <a:pt x="430403" y="12700"/>
                    <a:pt x="429133" y="12319"/>
                    <a:pt x="428117" y="11684"/>
                  </a:cubicBezTo>
                  <a:lnTo>
                    <a:pt x="431546" y="6350"/>
                  </a:lnTo>
                  <a:lnTo>
                    <a:pt x="431546" y="12700"/>
                  </a:lnTo>
                  <a:cubicBezTo>
                    <a:pt x="200279" y="12700"/>
                    <a:pt x="12700" y="200279"/>
                    <a:pt x="12700" y="431546"/>
                  </a:cubicBezTo>
                  <a:close/>
                </a:path>
              </a:pathLst>
            </a:custGeom>
            <a:solidFill>
              <a:srgbClr val="7B8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" name="Google Shape;429;p11"/>
          <p:cNvGrpSpPr/>
          <p:nvPr/>
        </p:nvGrpSpPr>
        <p:grpSpPr>
          <a:xfrm>
            <a:off x="1098575" y="2662832"/>
            <a:ext cx="425202" cy="531614"/>
            <a:chOff x="0" y="0"/>
            <a:chExt cx="566937" cy="708818"/>
          </a:xfrm>
        </p:grpSpPr>
        <p:sp>
          <p:nvSpPr>
            <p:cNvPr id="430" name="Google Shape;430;p11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1" name="Google Shape;431;p11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endParaRPr/>
            </a:p>
          </p:txBody>
        </p:sp>
      </p:grpSp>
      <p:grpSp>
        <p:nvGrpSpPr>
          <p:cNvPr id="432" name="Google Shape;432;p11"/>
          <p:cNvGrpSpPr/>
          <p:nvPr/>
        </p:nvGrpSpPr>
        <p:grpSpPr>
          <a:xfrm>
            <a:off x="1913632" y="2678460"/>
            <a:ext cx="3624263" cy="914400"/>
            <a:chOff x="0" y="-38100"/>
            <a:chExt cx="4832350" cy="1219200"/>
          </a:xfrm>
        </p:grpSpPr>
        <p:sp>
          <p:nvSpPr>
            <p:cNvPr id="433" name="Google Shape;433;p11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4" name="Google Shape;434;p11"/>
            <p:cNvSpPr txBox="1"/>
            <p:nvPr/>
          </p:nvSpPr>
          <p:spPr>
            <a:xfrm>
              <a:off x="0" y="-38100"/>
              <a:ext cx="48323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E-learning Corporativo</a:t>
              </a:r>
              <a:endParaRPr/>
            </a:p>
          </p:txBody>
        </p:sp>
      </p:grpSp>
      <p:grpSp>
        <p:nvGrpSpPr>
          <p:cNvPr id="435" name="Google Shape;435;p11"/>
          <p:cNvGrpSpPr/>
          <p:nvPr/>
        </p:nvGrpSpPr>
        <p:grpSpPr>
          <a:xfrm>
            <a:off x="1913632" y="3684389"/>
            <a:ext cx="3624263" cy="1439466"/>
            <a:chOff x="0" y="-104775"/>
            <a:chExt cx="4832350" cy="1919288"/>
          </a:xfrm>
        </p:grpSpPr>
        <p:sp>
          <p:nvSpPr>
            <p:cNvPr id="436" name="Google Shape;436;p11"/>
            <p:cNvSpPr/>
            <p:nvPr/>
          </p:nvSpPr>
          <p:spPr>
            <a:xfrm>
              <a:off x="0" y="0"/>
              <a:ext cx="4832350" cy="1814513"/>
            </a:xfrm>
            <a:custGeom>
              <a:rect b="b" l="l" r="r" t="t"/>
              <a:pathLst>
                <a:path extrusionOk="0"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7" name="Google Shape;437;p11"/>
            <p:cNvSpPr txBox="1"/>
            <p:nvPr/>
          </p:nvSpPr>
          <p:spPr>
            <a:xfrm>
              <a:off x="0" y="-104775"/>
              <a:ext cx="4832350" cy="1919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Programas que lograron un 60% más de retención en capacitaciones.</a:t>
              </a:r>
              <a:endParaRPr/>
            </a:p>
          </p:txBody>
        </p:sp>
      </p:grpSp>
      <p:grpSp>
        <p:nvGrpSpPr>
          <p:cNvPr id="438" name="Google Shape;438;p11"/>
          <p:cNvGrpSpPr/>
          <p:nvPr/>
        </p:nvGrpSpPr>
        <p:grpSpPr>
          <a:xfrm>
            <a:off x="5887491" y="2604939"/>
            <a:ext cx="647415" cy="647414"/>
            <a:chOff x="0" y="0"/>
            <a:chExt cx="863219" cy="863219"/>
          </a:xfrm>
        </p:grpSpPr>
        <p:sp>
          <p:nvSpPr>
            <p:cNvPr id="439" name="Google Shape;439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8379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431546"/>
                  </a:moveTo>
                  <a:cubicBezTo>
                    <a:pt x="0" y="193294"/>
                    <a:pt x="193294" y="0"/>
                    <a:pt x="431546" y="0"/>
                  </a:cubicBezTo>
                  <a:cubicBezTo>
                    <a:pt x="432689" y="0"/>
                    <a:pt x="433959" y="381"/>
                    <a:pt x="434975" y="1016"/>
                  </a:cubicBezTo>
                  <a:lnTo>
                    <a:pt x="431546" y="6350"/>
                  </a:lnTo>
                  <a:lnTo>
                    <a:pt x="431546" y="0"/>
                  </a:lnTo>
                  <a:lnTo>
                    <a:pt x="431546" y="6350"/>
                  </a:lnTo>
                  <a:lnTo>
                    <a:pt x="431546" y="0"/>
                  </a:lnTo>
                  <a:cubicBezTo>
                    <a:pt x="669925" y="0"/>
                    <a:pt x="863219" y="193294"/>
                    <a:pt x="863219" y="431546"/>
                  </a:cubicBezTo>
                  <a:cubicBezTo>
                    <a:pt x="863219" y="433959"/>
                    <a:pt x="861822" y="436118"/>
                    <a:pt x="859663" y="437261"/>
                  </a:cubicBezTo>
                  <a:lnTo>
                    <a:pt x="856869" y="431546"/>
                  </a:lnTo>
                  <a:lnTo>
                    <a:pt x="863219" y="431546"/>
                  </a:lnTo>
                  <a:cubicBezTo>
                    <a:pt x="863219" y="669925"/>
                    <a:pt x="669925" y="863092"/>
                    <a:pt x="431673" y="863092"/>
                  </a:cubicBezTo>
                  <a:lnTo>
                    <a:pt x="431673" y="856742"/>
                  </a:lnTo>
                  <a:lnTo>
                    <a:pt x="431673" y="850392"/>
                  </a:lnTo>
                  <a:lnTo>
                    <a:pt x="431673" y="856742"/>
                  </a:lnTo>
                  <a:lnTo>
                    <a:pt x="431673" y="863092"/>
                  </a:lnTo>
                  <a:cubicBezTo>
                    <a:pt x="193294" y="863219"/>
                    <a:pt x="0" y="669925"/>
                    <a:pt x="0" y="431546"/>
                  </a:cubicBezTo>
                  <a:moveTo>
                    <a:pt x="12700" y="431546"/>
                  </a:moveTo>
                  <a:lnTo>
                    <a:pt x="6350" y="431546"/>
                  </a:lnTo>
                  <a:lnTo>
                    <a:pt x="12700" y="431546"/>
                  </a:lnTo>
                  <a:cubicBezTo>
                    <a:pt x="12700" y="662940"/>
                    <a:pt x="200279" y="850519"/>
                    <a:pt x="431546" y="850519"/>
                  </a:cubicBezTo>
                  <a:cubicBezTo>
                    <a:pt x="435102" y="850519"/>
                    <a:pt x="437896" y="853313"/>
                    <a:pt x="437896" y="856869"/>
                  </a:cubicBezTo>
                  <a:cubicBezTo>
                    <a:pt x="437896" y="860425"/>
                    <a:pt x="435102" y="863219"/>
                    <a:pt x="431546" y="863219"/>
                  </a:cubicBezTo>
                  <a:cubicBezTo>
                    <a:pt x="427990" y="863219"/>
                    <a:pt x="425196" y="860425"/>
                    <a:pt x="425196" y="856869"/>
                  </a:cubicBezTo>
                  <a:cubicBezTo>
                    <a:pt x="425196" y="853313"/>
                    <a:pt x="427990" y="850519"/>
                    <a:pt x="431546" y="850519"/>
                  </a:cubicBezTo>
                  <a:cubicBezTo>
                    <a:pt x="662940" y="850519"/>
                    <a:pt x="850392" y="662940"/>
                    <a:pt x="850392" y="431673"/>
                  </a:cubicBezTo>
                  <a:cubicBezTo>
                    <a:pt x="850392" y="429260"/>
                    <a:pt x="851789" y="427101"/>
                    <a:pt x="853948" y="425958"/>
                  </a:cubicBezTo>
                  <a:lnTo>
                    <a:pt x="856742" y="431673"/>
                  </a:lnTo>
                  <a:lnTo>
                    <a:pt x="850392" y="431673"/>
                  </a:lnTo>
                  <a:cubicBezTo>
                    <a:pt x="850519" y="200279"/>
                    <a:pt x="662940" y="12700"/>
                    <a:pt x="431546" y="12700"/>
                  </a:cubicBezTo>
                  <a:cubicBezTo>
                    <a:pt x="430403" y="12700"/>
                    <a:pt x="429133" y="12319"/>
                    <a:pt x="428117" y="11684"/>
                  </a:cubicBezTo>
                  <a:lnTo>
                    <a:pt x="431546" y="6350"/>
                  </a:lnTo>
                  <a:lnTo>
                    <a:pt x="431546" y="12700"/>
                  </a:lnTo>
                  <a:cubicBezTo>
                    <a:pt x="200279" y="12700"/>
                    <a:pt x="12700" y="200279"/>
                    <a:pt x="12700" y="431546"/>
                  </a:cubicBezTo>
                  <a:close/>
                </a:path>
              </a:pathLst>
            </a:custGeom>
            <a:solidFill>
              <a:srgbClr val="9C92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11"/>
          <p:cNvGrpSpPr/>
          <p:nvPr/>
        </p:nvGrpSpPr>
        <p:grpSpPr>
          <a:xfrm>
            <a:off x="5998592" y="2662832"/>
            <a:ext cx="425203" cy="531614"/>
            <a:chOff x="0" y="0"/>
            <a:chExt cx="566937" cy="708818"/>
          </a:xfrm>
        </p:grpSpPr>
        <p:sp>
          <p:nvSpPr>
            <p:cNvPr id="442" name="Google Shape;442;p11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3" name="Google Shape;443;p11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/>
            </a:p>
          </p:txBody>
        </p:sp>
      </p:grpSp>
      <p:grpSp>
        <p:nvGrpSpPr>
          <p:cNvPr id="444" name="Google Shape;444;p11"/>
          <p:cNvGrpSpPr/>
          <p:nvPr/>
        </p:nvGrpSpPr>
        <p:grpSpPr>
          <a:xfrm>
            <a:off x="6813649" y="2678460"/>
            <a:ext cx="3624262" cy="914400"/>
            <a:chOff x="0" y="-38100"/>
            <a:chExt cx="4832350" cy="1219200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1"/>
            <p:cNvSpPr txBox="1"/>
            <p:nvPr/>
          </p:nvSpPr>
          <p:spPr>
            <a:xfrm>
              <a:off x="0" y="-38100"/>
              <a:ext cx="48323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Gamificación en Educación</a:t>
              </a:r>
              <a:endParaRPr/>
            </a:p>
          </p:txBody>
        </p:sp>
      </p:grpSp>
      <p:grpSp>
        <p:nvGrpSpPr>
          <p:cNvPr id="447" name="Google Shape;447;p11"/>
          <p:cNvGrpSpPr/>
          <p:nvPr/>
        </p:nvGrpSpPr>
        <p:grpSpPr>
          <a:xfrm>
            <a:off x="6813649" y="3684389"/>
            <a:ext cx="3624262" cy="1893093"/>
            <a:chOff x="0" y="-104775"/>
            <a:chExt cx="4832350" cy="2524125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4832350" cy="2419350"/>
            </a:xfrm>
            <a:custGeom>
              <a:rect b="b" l="l" r="r" t="t"/>
              <a:pathLst>
                <a:path extrusionOk="0" h="241935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1"/>
            <p:cNvSpPr txBox="1"/>
            <p:nvPr/>
          </p:nvSpPr>
          <p:spPr>
            <a:xfrm>
              <a:off x="0" y="-104775"/>
              <a:ext cx="4832350" cy="252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Incremento del 40% en compromiso de estudiantes usando plataformas gamificadas.</a:t>
              </a:r>
              <a:endParaRPr/>
            </a:p>
          </p:txBody>
        </p:sp>
      </p:grpSp>
      <p:grpSp>
        <p:nvGrpSpPr>
          <p:cNvPr id="450" name="Google Shape;450;p11"/>
          <p:cNvGrpSpPr/>
          <p:nvPr/>
        </p:nvGrpSpPr>
        <p:grpSpPr>
          <a:xfrm>
            <a:off x="987475" y="6139755"/>
            <a:ext cx="647414" cy="647414"/>
            <a:chOff x="0" y="0"/>
            <a:chExt cx="863219" cy="863219"/>
          </a:xfrm>
        </p:grpSpPr>
        <p:sp>
          <p:nvSpPr>
            <p:cNvPr id="451" name="Google Shape;451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E8AF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431546"/>
                  </a:moveTo>
                  <a:cubicBezTo>
                    <a:pt x="0" y="193294"/>
                    <a:pt x="193294" y="0"/>
                    <a:pt x="431546" y="0"/>
                  </a:cubicBezTo>
                  <a:cubicBezTo>
                    <a:pt x="432689" y="0"/>
                    <a:pt x="433959" y="381"/>
                    <a:pt x="434975" y="1016"/>
                  </a:cubicBezTo>
                  <a:lnTo>
                    <a:pt x="431546" y="6350"/>
                  </a:lnTo>
                  <a:lnTo>
                    <a:pt x="431546" y="0"/>
                  </a:lnTo>
                  <a:lnTo>
                    <a:pt x="431546" y="6350"/>
                  </a:lnTo>
                  <a:lnTo>
                    <a:pt x="431546" y="0"/>
                  </a:lnTo>
                  <a:cubicBezTo>
                    <a:pt x="669925" y="0"/>
                    <a:pt x="863219" y="193294"/>
                    <a:pt x="863219" y="431546"/>
                  </a:cubicBezTo>
                  <a:cubicBezTo>
                    <a:pt x="863219" y="433959"/>
                    <a:pt x="861822" y="436118"/>
                    <a:pt x="859663" y="437261"/>
                  </a:cubicBezTo>
                  <a:lnTo>
                    <a:pt x="856869" y="431546"/>
                  </a:lnTo>
                  <a:lnTo>
                    <a:pt x="863219" y="431546"/>
                  </a:lnTo>
                  <a:cubicBezTo>
                    <a:pt x="863219" y="669925"/>
                    <a:pt x="669925" y="863092"/>
                    <a:pt x="431673" y="863092"/>
                  </a:cubicBezTo>
                  <a:lnTo>
                    <a:pt x="431673" y="856742"/>
                  </a:lnTo>
                  <a:lnTo>
                    <a:pt x="431673" y="850392"/>
                  </a:lnTo>
                  <a:lnTo>
                    <a:pt x="431673" y="856742"/>
                  </a:lnTo>
                  <a:lnTo>
                    <a:pt x="431673" y="863092"/>
                  </a:lnTo>
                  <a:cubicBezTo>
                    <a:pt x="193294" y="863219"/>
                    <a:pt x="0" y="669925"/>
                    <a:pt x="0" y="431546"/>
                  </a:cubicBezTo>
                  <a:moveTo>
                    <a:pt x="12700" y="431546"/>
                  </a:moveTo>
                  <a:lnTo>
                    <a:pt x="6350" y="431546"/>
                  </a:lnTo>
                  <a:lnTo>
                    <a:pt x="12700" y="431546"/>
                  </a:lnTo>
                  <a:cubicBezTo>
                    <a:pt x="12700" y="662940"/>
                    <a:pt x="200279" y="850519"/>
                    <a:pt x="431546" y="850519"/>
                  </a:cubicBezTo>
                  <a:cubicBezTo>
                    <a:pt x="435102" y="850519"/>
                    <a:pt x="437896" y="853313"/>
                    <a:pt x="437896" y="856869"/>
                  </a:cubicBezTo>
                  <a:cubicBezTo>
                    <a:pt x="437896" y="860425"/>
                    <a:pt x="435102" y="863219"/>
                    <a:pt x="431546" y="863219"/>
                  </a:cubicBezTo>
                  <a:cubicBezTo>
                    <a:pt x="427990" y="863219"/>
                    <a:pt x="425196" y="860425"/>
                    <a:pt x="425196" y="856869"/>
                  </a:cubicBezTo>
                  <a:cubicBezTo>
                    <a:pt x="425196" y="853313"/>
                    <a:pt x="427990" y="850519"/>
                    <a:pt x="431546" y="850519"/>
                  </a:cubicBezTo>
                  <a:cubicBezTo>
                    <a:pt x="662940" y="850519"/>
                    <a:pt x="850392" y="662940"/>
                    <a:pt x="850392" y="431673"/>
                  </a:cubicBezTo>
                  <a:cubicBezTo>
                    <a:pt x="850392" y="429260"/>
                    <a:pt x="851789" y="427101"/>
                    <a:pt x="853948" y="425958"/>
                  </a:cubicBezTo>
                  <a:lnTo>
                    <a:pt x="856742" y="431673"/>
                  </a:lnTo>
                  <a:lnTo>
                    <a:pt x="850392" y="431673"/>
                  </a:lnTo>
                  <a:cubicBezTo>
                    <a:pt x="850519" y="200279"/>
                    <a:pt x="662940" y="12700"/>
                    <a:pt x="431546" y="12700"/>
                  </a:cubicBezTo>
                  <a:cubicBezTo>
                    <a:pt x="430403" y="12700"/>
                    <a:pt x="429133" y="12319"/>
                    <a:pt x="428117" y="11684"/>
                  </a:cubicBezTo>
                  <a:lnTo>
                    <a:pt x="431546" y="6350"/>
                  </a:lnTo>
                  <a:lnTo>
                    <a:pt x="431546" y="12700"/>
                  </a:lnTo>
                  <a:cubicBezTo>
                    <a:pt x="200279" y="12700"/>
                    <a:pt x="12700" y="200279"/>
                    <a:pt x="12700" y="431546"/>
                  </a:cubicBezTo>
                  <a:close/>
                </a:path>
              </a:pathLst>
            </a:custGeom>
            <a:solidFill>
              <a:srgbClr val="CE95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11"/>
          <p:cNvGrpSpPr/>
          <p:nvPr/>
        </p:nvGrpSpPr>
        <p:grpSpPr>
          <a:xfrm>
            <a:off x="1098575" y="6197650"/>
            <a:ext cx="425202" cy="531614"/>
            <a:chOff x="0" y="0"/>
            <a:chExt cx="566937" cy="708818"/>
          </a:xfrm>
        </p:grpSpPr>
        <p:sp>
          <p:nvSpPr>
            <p:cNvPr id="454" name="Google Shape;454;p11"/>
            <p:cNvSpPr/>
            <p:nvPr/>
          </p:nvSpPr>
          <p:spPr>
            <a:xfrm>
              <a:off x="0" y="0"/>
              <a:ext cx="566937" cy="708818"/>
            </a:xfrm>
            <a:custGeom>
              <a:rect b="b" l="l" r="r" t="t"/>
              <a:pathLst>
                <a:path extrusionOk="0"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5" name="Google Shape;455;p11"/>
            <p:cNvSpPr txBox="1"/>
            <p:nvPr/>
          </p:nvSpPr>
          <p:spPr>
            <a:xfrm>
              <a:off x="0" y="38100"/>
              <a:ext cx="566937" cy="670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/>
            </a:p>
          </p:txBody>
        </p:sp>
      </p:grpSp>
      <p:grpSp>
        <p:nvGrpSpPr>
          <p:cNvPr id="456" name="Google Shape;456;p11"/>
          <p:cNvGrpSpPr/>
          <p:nvPr/>
        </p:nvGrpSpPr>
        <p:grpSpPr>
          <a:xfrm>
            <a:off x="1913632" y="6213276"/>
            <a:ext cx="4165252" cy="471487"/>
            <a:chOff x="0" y="-38100"/>
            <a:chExt cx="5553670" cy="628650"/>
          </a:xfrm>
        </p:grpSpPr>
        <p:sp>
          <p:nvSpPr>
            <p:cNvPr id="457" name="Google Shape;457;p11"/>
            <p:cNvSpPr/>
            <p:nvPr/>
          </p:nvSpPr>
          <p:spPr>
            <a:xfrm>
              <a:off x="0" y="0"/>
              <a:ext cx="5553670" cy="590550"/>
            </a:xfrm>
            <a:custGeom>
              <a:rect b="b" l="l" r="r" t="t"/>
              <a:pathLst>
                <a:path extrusionOk="0" h="590550" w="5553670">
                  <a:moveTo>
                    <a:pt x="0" y="0"/>
                  </a:moveTo>
                  <a:lnTo>
                    <a:pt x="5553670" y="0"/>
                  </a:lnTo>
                  <a:lnTo>
                    <a:pt x="555367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8" name="Google Shape;458;p11"/>
            <p:cNvSpPr txBox="1"/>
            <p:nvPr/>
          </p:nvSpPr>
          <p:spPr>
            <a:xfrm>
              <a:off x="0" y="-38100"/>
              <a:ext cx="5553670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Implementación Híbrida</a:t>
              </a:r>
              <a:endParaRPr/>
            </a:p>
          </p:txBody>
        </p:sp>
      </p:grpSp>
      <p:grpSp>
        <p:nvGrpSpPr>
          <p:cNvPr id="459" name="Google Shape;459;p11"/>
          <p:cNvGrpSpPr/>
          <p:nvPr/>
        </p:nvGrpSpPr>
        <p:grpSpPr>
          <a:xfrm>
            <a:off x="1913632" y="6776294"/>
            <a:ext cx="8524132" cy="985837"/>
            <a:chOff x="0" y="-104775"/>
            <a:chExt cx="11365509" cy="1314450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1365509" cy="1209675"/>
            </a:xfrm>
            <a:custGeom>
              <a:rect b="b" l="l" r="r" t="t"/>
              <a:pathLst>
                <a:path extrusionOk="0" h="1209675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1" name="Google Shape;461;p11"/>
            <p:cNvSpPr txBox="1"/>
            <p:nvPr/>
          </p:nvSpPr>
          <p:spPr>
            <a:xfrm>
              <a:off x="0" y="-104775"/>
              <a:ext cx="1136550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Mejores resultados académicos combinando presencial y digital con elementos lúdicos.</a:t>
              </a:r>
              <a:endParaRPr/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992238" y="8002489"/>
            <a:ext cx="9445526" cy="985837"/>
            <a:chOff x="0" y="-104775"/>
            <a:chExt cx="12594035" cy="1314450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2594035" cy="1209675"/>
            </a:xfrm>
            <a:custGeom>
              <a:rect b="b" l="l" r="r" t="t"/>
              <a:pathLst>
                <a:path extrusionOk="0"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4" name="Google Shape;464;p11"/>
            <p:cNvSpPr txBox="1"/>
            <p:nvPr/>
          </p:nvSpPr>
          <p:spPr>
            <a:xfrm>
              <a:off x="0" y="-104775"/>
              <a:ext cx="12594035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Estas experiencias reflejan la eficacia de integrar tecnología y juegos para transformar la educación.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474" name="Google Shape;474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grpSp>
        <p:nvGrpSpPr>
          <p:cNvPr id="475" name="Google Shape;475;p12"/>
          <p:cNvGrpSpPr/>
          <p:nvPr/>
        </p:nvGrpSpPr>
        <p:grpSpPr>
          <a:xfrm>
            <a:off x="992238" y="2885926"/>
            <a:ext cx="13093601" cy="928837"/>
            <a:chOff x="0" y="-57150"/>
            <a:chExt cx="17458135" cy="1238448"/>
          </a:xfrm>
        </p:grpSpPr>
        <p:sp>
          <p:nvSpPr>
            <p:cNvPr id="476" name="Google Shape;476;p12"/>
            <p:cNvSpPr/>
            <p:nvPr/>
          </p:nvSpPr>
          <p:spPr>
            <a:xfrm>
              <a:off x="0" y="0"/>
              <a:ext cx="17458134" cy="1181298"/>
            </a:xfrm>
            <a:custGeom>
              <a:rect b="b" l="l" r="r" t="t"/>
              <a:pathLst>
                <a:path extrusionOk="0" h="1181298" w="17458134">
                  <a:moveTo>
                    <a:pt x="0" y="0"/>
                  </a:moveTo>
                  <a:lnTo>
                    <a:pt x="17458134" y="0"/>
                  </a:lnTo>
                  <a:lnTo>
                    <a:pt x="1745813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7" name="Google Shape;477;p12"/>
            <p:cNvSpPr txBox="1"/>
            <p:nvPr/>
          </p:nvSpPr>
          <p:spPr>
            <a:xfrm>
              <a:off x="0" y="-57150"/>
              <a:ext cx="17458135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Futuro del E-learning y la Gamificación</a:t>
              </a:r>
              <a:endParaRPr/>
            </a:p>
          </p:txBody>
        </p:sp>
      </p:grpSp>
      <p:grpSp>
        <p:nvGrpSpPr>
          <p:cNvPr id="478" name="Google Shape;478;p12"/>
          <p:cNvGrpSpPr/>
          <p:nvPr/>
        </p:nvGrpSpPr>
        <p:grpSpPr>
          <a:xfrm>
            <a:off x="992238" y="4260503"/>
            <a:ext cx="7805886" cy="985837"/>
            <a:chOff x="0" y="-104775"/>
            <a:chExt cx="10407848" cy="1314450"/>
          </a:xfrm>
        </p:grpSpPr>
        <p:sp>
          <p:nvSpPr>
            <p:cNvPr id="479" name="Google Shape;479;p12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0" name="Google Shape;480;p12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Inteligencia artificial para personalización avanzada del aprendizaje.</a:t>
              </a:r>
              <a:endParaRPr/>
            </a:p>
          </p:txBody>
        </p:sp>
      </p:grpSp>
      <p:grpSp>
        <p:nvGrpSpPr>
          <p:cNvPr id="481" name="Google Shape;481;p12"/>
          <p:cNvGrpSpPr/>
          <p:nvPr/>
        </p:nvGrpSpPr>
        <p:grpSpPr>
          <a:xfrm>
            <a:off x="992238" y="5266879"/>
            <a:ext cx="7805886" cy="985837"/>
            <a:chOff x="0" y="-104775"/>
            <a:chExt cx="10407848" cy="1314450"/>
          </a:xfrm>
        </p:grpSpPr>
        <p:sp>
          <p:nvSpPr>
            <p:cNvPr id="482" name="Google Shape;482;p12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3" name="Google Shape;483;p12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Realidad aumentada y virtual para experiencias inmersivas.</a:t>
              </a:r>
              <a:endParaRPr/>
            </a:p>
          </p:txBody>
        </p:sp>
      </p:grpSp>
      <p:grpSp>
        <p:nvGrpSpPr>
          <p:cNvPr id="484" name="Google Shape;484;p12"/>
          <p:cNvGrpSpPr/>
          <p:nvPr/>
        </p:nvGrpSpPr>
        <p:grpSpPr>
          <a:xfrm>
            <a:off x="992238" y="6273254"/>
            <a:ext cx="7805886" cy="985837"/>
            <a:chOff x="0" y="-104775"/>
            <a:chExt cx="10407848" cy="1314450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2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Análisis de datos que optimizan las trayectorias educativas.</a:t>
              </a:r>
              <a:endParaRPr/>
            </a:p>
          </p:txBody>
        </p:sp>
      </p:grpSp>
      <p:grpSp>
        <p:nvGrpSpPr>
          <p:cNvPr id="487" name="Google Shape;487;p12"/>
          <p:cNvGrpSpPr/>
          <p:nvPr/>
        </p:nvGrpSpPr>
        <p:grpSpPr>
          <a:xfrm>
            <a:off x="9499401" y="4260503"/>
            <a:ext cx="7805886" cy="985837"/>
            <a:chOff x="0" y="-104775"/>
            <a:chExt cx="10407848" cy="1314450"/>
          </a:xfrm>
        </p:grpSpPr>
        <p:sp>
          <p:nvSpPr>
            <p:cNvPr id="488" name="Google Shape;488;p12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9" name="Google Shape;489;p12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Microaprendizaje y formatos móviles para aprendizaje en cualquier momento.</a:t>
              </a:r>
              <a:endParaRPr/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9499401" y="5266879"/>
            <a:ext cx="7805886" cy="985837"/>
            <a:chOff x="0" y="-104775"/>
            <a:chExt cx="10407848" cy="1314450"/>
          </a:xfrm>
        </p:grpSpPr>
        <p:sp>
          <p:nvSpPr>
            <p:cNvPr id="491" name="Google Shape;491;p12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2" name="Google Shape;492;p12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Convergencia de metodologías pedagógicas para un impacto duradero.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1C064"/>
          </a:solidFill>
          <a:ln>
            <a:noFill/>
          </a:ln>
        </p:spPr>
      </p:sp>
      <p:sp>
        <p:nvSpPr>
          <p:cNvPr id="502" name="Google Shape;50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6EBD4"/>
          </a:solidFill>
          <a:ln>
            <a:noFill/>
          </a:ln>
        </p:spPr>
      </p:sp>
      <p:grpSp>
        <p:nvGrpSpPr>
          <p:cNvPr id="503" name="Google Shape;503;p13"/>
          <p:cNvGrpSpPr/>
          <p:nvPr/>
        </p:nvGrpSpPr>
        <p:grpSpPr>
          <a:xfrm>
            <a:off x="992238" y="2499568"/>
            <a:ext cx="7088238" cy="928837"/>
            <a:chOff x="0" y="-57150"/>
            <a:chExt cx="9450984" cy="1238448"/>
          </a:xfrm>
        </p:grpSpPr>
        <p:sp>
          <p:nvSpPr>
            <p:cNvPr id="504" name="Google Shape;504;p13"/>
            <p:cNvSpPr/>
            <p:nvPr/>
          </p:nvSpPr>
          <p:spPr>
            <a:xfrm>
              <a:off x="0" y="0"/>
              <a:ext cx="9450984" cy="1181298"/>
            </a:xfrm>
            <a:custGeom>
              <a:rect b="b" l="l" r="r" t="t"/>
              <a:pathLst>
                <a:path extrusionOk="0"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5" name="Google Shape;505;p13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Conclusiones</a:t>
              </a:r>
              <a:endParaRPr/>
            </a:p>
          </p:txBody>
        </p:sp>
      </p:grpSp>
      <p:grpSp>
        <p:nvGrpSpPr>
          <p:cNvPr id="506" name="Google Shape;506;p13"/>
          <p:cNvGrpSpPr/>
          <p:nvPr/>
        </p:nvGrpSpPr>
        <p:grpSpPr>
          <a:xfrm>
            <a:off x="992238" y="3874145"/>
            <a:ext cx="7805886" cy="985837"/>
            <a:chOff x="0" y="-104775"/>
            <a:chExt cx="10407848" cy="1314450"/>
          </a:xfrm>
        </p:grpSpPr>
        <p:sp>
          <p:nvSpPr>
            <p:cNvPr id="507" name="Google Shape;507;p13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8" name="Google Shape;508;p13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E-learning y gamificación son complementarios, potenciando resultados educativos.</a:t>
              </a:r>
              <a:endParaRPr/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992238" y="4880521"/>
            <a:ext cx="7805886" cy="985837"/>
            <a:chOff x="0" y="-104775"/>
            <a:chExt cx="10407848" cy="1314450"/>
          </a:xfrm>
        </p:grpSpPr>
        <p:sp>
          <p:nvSpPr>
            <p:cNvPr id="510" name="Google Shape;510;p13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1" name="Google Shape;511;p13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Enfoque centrado en el estudiante es clave para éxito duradero.</a:t>
              </a:r>
              <a:endParaRPr/>
            </a:p>
          </p:txBody>
        </p:sp>
      </p:grpSp>
      <p:grpSp>
        <p:nvGrpSpPr>
          <p:cNvPr id="512" name="Google Shape;512;p13"/>
          <p:cNvGrpSpPr/>
          <p:nvPr/>
        </p:nvGrpSpPr>
        <p:grpSpPr>
          <a:xfrm>
            <a:off x="992238" y="5886896"/>
            <a:ext cx="7805886" cy="532210"/>
            <a:chOff x="0" y="-104775"/>
            <a:chExt cx="10407848" cy="709613"/>
          </a:xfrm>
        </p:grpSpPr>
        <p:sp>
          <p:nvSpPr>
            <p:cNvPr id="513" name="Google Shape;513;p13"/>
            <p:cNvSpPr/>
            <p:nvPr/>
          </p:nvSpPr>
          <p:spPr>
            <a:xfrm>
              <a:off x="0" y="0"/>
              <a:ext cx="10407848" cy="604838"/>
            </a:xfrm>
            <a:custGeom>
              <a:rect b="b" l="l" r="r" t="t"/>
              <a:pathLst>
                <a:path extrusionOk="0"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4" name="Google Shape;514;p13"/>
            <p:cNvSpPr txBox="1"/>
            <p:nvPr/>
          </p:nvSpPr>
          <p:spPr>
            <a:xfrm>
              <a:off x="0" y="-104775"/>
              <a:ext cx="10407848" cy="709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Formación continua de educadores como pilar esencial.</a:t>
              </a:r>
              <a:endParaRPr/>
            </a:p>
          </p:txBody>
        </p:sp>
      </p:grpSp>
      <p:grpSp>
        <p:nvGrpSpPr>
          <p:cNvPr id="515" name="Google Shape;515;p13"/>
          <p:cNvGrpSpPr/>
          <p:nvPr/>
        </p:nvGrpSpPr>
        <p:grpSpPr>
          <a:xfrm>
            <a:off x="9499401" y="3874145"/>
            <a:ext cx="7805886" cy="985837"/>
            <a:chOff x="0" y="-104775"/>
            <a:chExt cx="10407848" cy="1314450"/>
          </a:xfrm>
        </p:grpSpPr>
        <p:sp>
          <p:nvSpPr>
            <p:cNvPr id="516" name="Google Shape;516;p13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7" name="Google Shape;517;p13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Equilibrio entre tecnología y pedagogía asegura efectividad.</a:t>
              </a:r>
              <a:endParaRPr/>
            </a:p>
          </p:txBody>
        </p:sp>
      </p:grpSp>
      <p:grpSp>
        <p:nvGrpSpPr>
          <p:cNvPr id="518" name="Google Shape;518;p13"/>
          <p:cNvGrpSpPr/>
          <p:nvPr/>
        </p:nvGrpSpPr>
        <p:grpSpPr>
          <a:xfrm>
            <a:off x="9499401" y="4880521"/>
            <a:ext cx="7805886" cy="985837"/>
            <a:chOff x="0" y="-104775"/>
            <a:chExt cx="10407848" cy="1314450"/>
          </a:xfrm>
        </p:grpSpPr>
        <p:sp>
          <p:nvSpPr>
            <p:cNvPr id="519" name="Google Shape;519;p13"/>
            <p:cNvSpPr/>
            <p:nvPr/>
          </p:nvSpPr>
          <p:spPr>
            <a:xfrm>
              <a:off x="0" y="0"/>
              <a:ext cx="10407848" cy="1209675"/>
            </a:xfrm>
            <a:custGeom>
              <a:rect b="b" l="l" r="r" t="t"/>
              <a:pathLst>
                <a:path extrusionOk="0" h="120967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0" name="Google Shape;520;p13"/>
            <p:cNvSpPr txBox="1"/>
            <p:nvPr/>
          </p:nvSpPr>
          <p:spPr>
            <a:xfrm>
              <a:off x="0" y="-104775"/>
              <a:ext cx="1040784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011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El futuro del aprendizaje será personalizado, flexible y motivador para todos.</a:t>
              </a:r>
              <a:endParaRPr/>
            </a:p>
          </p:txBody>
        </p:sp>
      </p:grpSp>
      <p:grpSp>
        <p:nvGrpSpPr>
          <p:cNvPr id="521" name="Google Shape;521;p13"/>
          <p:cNvGrpSpPr/>
          <p:nvPr/>
        </p:nvGrpSpPr>
        <p:grpSpPr>
          <a:xfrm>
            <a:off x="992238" y="6758583"/>
            <a:ext cx="16303526" cy="985837"/>
            <a:chOff x="0" y="-104775"/>
            <a:chExt cx="21738035" cy="1314450"/>
          </a:xfrm>
        </p:grpSpPr>
        <p:sp>
          <p:nvSpPr>
            <p:cNvPr id="522" name="Google Shape;522;p13"/>
            <p:cNvSpPr/>
            <p:nvPr/>
          </p:nvSpPr>
          <p:spPr>
            <a:xfrm>
              <a:off x="0" y="0"/>
              <a:ext cx="21738034" cy="1209675"/>
            </a:xfrm>
            <a:custGeom>
              <a:rect b="b" l="l" r="r" t="t"/>
              <a:pathLst>
                <a:path extrusionOk="0" h="1209675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3" name="Google Shape;523;p13"/>
            <p:cNvSpPr txBox="1"/>
            <p:nvPr/>
          </p:nvSpPr>
          <p:spPr>
            <a:xfrm>
              <a:off x="0" y="-104775"/>
              <a:ext cx="21738035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403011"/>
                  </a:solidFill>
                  <a:latin typeface="Arimo"/>
                  <a:ea typeface="Arimo"/>
                  <a:cs typeface="Arimo"/>
                  <a:sym typeface="Arimo"/>
                </a:rPr>
                <a:t>Estas bases garantizarán que la transformación educativa responda a los retos del siglo XXI, inspirando a generaciones futuras.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529" name="Google Shape;529;p14"/>
          <p:cNvSpPr txBox="1"/>
          <p:nvPr/>
        </p:nvSpPr>
        <p:spPr>
          <a:xfrm>
            <a:off x="1960694" y="3860833"/>
            <a:ext cx="13506718" cy="4958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E-learning: Educación apoyada en tecnologías digitales, accesible y flexible.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Ventajas: Aprendizaje autónomo, acceso global y actualización constante.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Gamificación: Uso de dinámicas de juego en plataformas educativas para mejorar el compromiso.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Futuro: Aprendizaje personalizado, realidad aumentada y analítica educativa.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COMPROMISO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40" name="Google Shape;540;p16"/>
          <p:cNvSpPr txBox="1"/>
          <p:nvPr/>
        </p:nvSpPr>
        <p:spPr>
          <a:xfrm>
            <a:off x="3416041" y="4435592"/>
            <a:ext cx="11455919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https://www.ispring.es/blog/what-is-elearning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https://conecta.tec.mx/es/noticias/nacional/educacion/que-es-gamificacion</a:t>
            </a:r>
            <a:endParaRPr/>
          </a:p>
        </p:txBody>
      </p:sp>
      <p:pic>
        <p:nvPicPr>
          <p:cNvPr id="541" name="Google Shape;54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BD4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9" name="Google Shape;549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